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vml" ContentType="application/vnd.openxmlformats-officedocument.vmlDrawing"/>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theme/themeOverride1.xml" ContentType="application/vnd.openxmlformats-officedocument.themeOverride+xml"/>
  <Override PartName="/ppt/drawings/drawing1.xml" ContentType="application/vnd.openxmlformats-officedocument.drawingml.chartshap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0"/>
  </p:notesMasterIdLst>
  <p:handoutMasterIdLst>
    <p:handoutMasterId r:id="rId61"/>
  </p:handoutMasterIdLst>
  <p:sldIdLst>
    <p:sldId id="803" r:id="rId2"/>
    <p:sldId id="804" r:id="rId3"/>
    <p:sldId id="4137" r:id="rId4"/>
    <p:sldId id="805" r:id="rId5"/>
    <p:sldId id="806" r:id="rId6"/>
    <p:sldId id="807" r:id="rId7"/>
    <p:sldId id="809" r:id="rId8"/>
    <p:sldId id="811" r:id="rId9"/>
    <p:sldId id="4152" r:id="rId10"/>
    <p:sldId id="814" r:id="rId11"/>
    <p:sldId id="851" r:id="rId12"/>
    <p:sldId id="4151" r:id="rId13"/>
    <p:sldId id="830" r:id="rId14"/>
    <p:sldId id="4150" r:id="rId15"/>
    <p:sldId id="810" r:id="rId16"/>
    <p:sldId id="849" r:id="rId17"/>
    <p:sldId id="4149" r:id="rId18"/>
    <p:sldId id="818" r:id="rId19"/>
    <p:sldId id="819" r:id="rId20"/>
    <p:sldId id="826" r:id="rId21"/>
    <p:sldId id="827" r:id="rId22"/>
    <p:sldId id="828" r:id="rId23"/>
    <p:sldId id="4148" r:id="rId24"/>
    <p:sldId id="821" r:id="rId25"/>
    <p:sldId id="263" r:id="rId26"/>
    <p:sldId id="4147" r:id="rId27"/>
    <p:sldId id="852" r:id="rId28"/>
    <p:sldId id="4146" r:id="rId29"/>
    <p:sldId id="824" r:id="rId30"/>
    <p:sldId id="846" r:id="rId31"/>
    <p:sldId id="4153" r:id="rId32"/>
    <p:sldId id="845" r:id="rId33"/>
    <p:sldId id="4154" r:id="rId34"/>
    <p:sldId id="822" r:id="rId35"/>
    <p:sldId id="823" r:id="rId36"/>
    <p:sldId id="4155" r:id="rId37"/>
    <p:sldId id="831" r:id="rId38"/>
    <p:sldId id="4156" r:id="rId39"/>
    <p:sldId id="833" r:id="rId40"/>
    <p:sldId id="4157" r:id="rId41"/>
    <p:sldId id="832" r:id="rId42"/>
    <p:sldId id="4158" r:id="rId43"/>
    <p:sldId id="834" r:id="rId44"/>
    <p:sldId id="4159" r:id="rId45"/>
    <p:sldId id="4167" r:id="rId46"/>
    <p:sldId id="4165" r:id="rId47"/>
    <p:sldId id="4160" r:id="rId48"/>
    <p:sldId id="4166" r:id="rId49"/>
    <p:sldId id="4161" r:id="rId50"/>
    <p:sldId id="838" r:id="rId51"/>
    <p:sldId id="4163" r:id="rId52"/>
    <p:sldId id="853" r:id="rId53"/>
    <p:sldId id="841" r:id="rId54"/>
    <p:sldId id="816" r:id="rId55"/>
    <p:sldId id="4132" r:id="rId56"/>
    <p:sldId id="4134" r:id="rId57"/>
    <p:sldId id="4136" r:id="rId58"/>
    <p:sldId id="4138" r:id="rId5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ucia Carrillo" initials="LC" lastIdx="4" clrIdx="0">
    <p:extLst>
      <p:ext uri="{19B8F6BF-5375-455C-9EA6-DF929625EA0E}">
        <p15:presenceInfo xmlns:p15="http://schemas.microsoft.com/office/powerpoint/2012/main" userId="fdd9e060fa47d7a5"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672" autoAdjust="0"/>
    <p:restoredTop sz="94660"/>
  </p:normalViewPr>
  <p:slideViewPr>
    <p:cSldViewPr snapToGrid="0">
      <p:cViewPr>
        <p:scale>
          <a:sx n="51" d="100"/>
          <a:sy n="51" d="100"/>
        </p:scale>
        <p:origin x="264" y="15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handoutMaster" Target="handoutMasters/handout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rts/_rels/chart1.xml.rels><?xml version="1.0" encoding="UTF-8" standalone="yes"?>
<Relationships xmlns="http://schemas.openxmlformats.org/package/2006/relationships"><Relationship Id="rId3" Type="http://schemas.openxmlformats.org/officeDocument/2006/relationships/oleObject" Target="https://d.docs.live.net/56dc2c34159d66d6/Documents/Trabajo/10.%20MINEDU/Resultados%20estudio%20lavado.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d.docs.live.net/56dc2c34159d66d6/Documents/Trabajo/10.%20MINEDU/Resultados%20estudio%20lavado.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3.xml"/><Relationship Id="rId1" Type="http://schemas.microsoft.com/office/2011/relationships/chartStyle" Target="style3.xml"/><Relationship Id="rId5" Type="http://schemas.openxmlformats.org/officeDocument/2006/relationships/chartUserShapes" Target="../drawings/drawing1.xml"/><Relationship Id="rId4" Type="http://schemas.openxmlformats.org/officeDocument/2006/relationships/oleObject" Target="../embeddings/oleObject1.bin"/></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'[Resultados estudio lavado.xlsx]Hoja2'!$C$34</c:f>
              <c:strCache>
                <c:ptCount val="1"/>
                <c:pt idx="0">
                  <c:v>Resultados de PISA 2018</c:v>
                </c:pt>
              </c:strCache>
            </c:strRef>
          </c:tx>
          <c:spPr>
            <a:solidFill>
              <a:srgbClr val="C0000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tx1">
                        <a:lumMod val="75000"/>
                        <a:lumOff val="25000"/>
                      </a:schemeClr>
                    </a:solidFill>
                    <a:latin typeface="+mn-lt"/>
                    <a:ea typeface="+mn-ea"/>
                    <a:cs typeface="+mn-cs"/>
                  </a:defRPr>
                </a:pPr>
                <a:endParaRPr lang="en-P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'[Resultados estudio lavado.xlsx]Hoja2'!$B$35:$B$39</c:f>
              <c:strCache>
                <c:ptCount val="5"/>
                <c:pt idx="0">
                  <c:v>20% más pobre</c:v>
                </c:pt>
                <c:pt idx="1">
                  <c:v>Quintil 2</c:v>
                </c:pt>
                <c:pt idx="2">
                  <c:v>Quintil 3</c:v>
                </c:pt>
                <c:pt idx="3">
                  <c:v>Quintil 4</c:v>
                </c:pt>
                <c:pt idx="4">
                  <c:v>20% más rico</c:v>
                </c:pt>
              </c:strCache>
            </c:strRef>
          </c:cat>
          <c:val>
            <c:numRef>
              <c:f>'[Resultados estudio lavado.xlsx]Hoja2'!$C$35:$C$39</c:f>
              <c:numCache>
                <c:formatCode>General</c:formatCode>
                <c:ptCount val="5"/>
                <c:pt idx="0">
                  <c:v>343</c:v>
                </c:pt>
                <c:pt idx="1">
                  <c:v>376</c:v>
                </c:pt>
                <c:pt idx="2">
                  <c:v>400</c:v>
                </c:pt>
                <c:pt idx="3">
                  <c:v>419</c:v>
                </c:pt>
                <c:pt idx="4">
                  <c:v>466</c:v>
                </c:pt>
              </c:numCache>
            </c:numRef>
          </c:val>
          <c:extLst>
            <c:ext xmlns:c16="http://schemas.microsoft.com/office/drawing/2014/chart" uri="{C3380CC4-5D6E-409C-BE32-E72D297353CC}">
              <c16:uniqueId val="{00000000-1113-43B2-AF1C-27305BE01A17}"/>
            </c:ext>
          </c:extLst>
        </c:ser>
        <c:ser>
          <c:idx val="1"/>
          <c:order val="1"/>
          <c:tx>
            <c:strRef>
              <c:f>'[Resultados estudio lavado.xlsx]Hoja2'!$D$34</c:f>
              <c:strCache>
                <c:ptCount val="1"/>
                <c:pt idx="0">
                  <c:v>Efectos de un cierre de 10 meses de las escuelas </c:v>
                </c:pt>
              </c:strCache>
            </c:strRef>
          </c:tx>
          <c:spPr>
            <a:solidFill>
              <a:schemeClr val="accent3">
                <a:lumMod val="40000"/>
                <a:lumOff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tx1">
                        <a:lumMod val="75000"/>
                        <a:lumOff val="25000"/>
                      </a:schemeClr>
                    </a:solidFill>
                    <a:latin typeface="+mn-lt"/>
                    <a:ea typeface="+mn-ea"/>
                    <a:cs typeface="+mn-cs"/>
                  </a:defRPr>
                </a:pPr>
                <a:endParaRPr lang="en-P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'[Resultados estudio lavado.xlsx]Hoja2'!$B$35:$B$39</c:f>
              <c:strCache>
                <c:ptCount val="5"/>
                <c:pt idx="0">
                  <c:v>20% más pobre</c:v>
                </c:pt>
                <c:pt idx="1">
                  <c:v>Quintil 2</c:v>
                </c:pt>
                <c:pt idx="2">
                  <c:v>Quintil 3</c:v>
                </c:pt>
                <c:pt idx="3">
                  <c:v>Quintil 4</c:v>
                </c:pt>
                <c:pt idx="4">
                  <c:v>20% más rico</c:v>
                </c:pt>
              </c:strCache>
            </c:strRef>
          </c:cat>
          <c:val>
            <c:numRef>
              <c:f>'[Resultados estudio lavado.xlsx]Hoja2'!$D$35:$D$39</c:f>
              <c:numCache>
                <c:formatCode>General</c:formatCode>
                <c:ptCount val="5"/>
                <c:pt idx="0">
                  <c:v>319</c:v>
                </c:pt>
                <c:pt idx="1">
                  <c:v>352</c:v>
                </c:pt>
                <c:pt idx="2">
                  <c:v>377</c:v>
                </c:pt>
                <c:pt idx="3">
                  <c:v>400</c:v>
                </c:pt>
                <c:pt idx="4">
                  <c:v>450</c:v>
                </c:pt>
              </c:numCache>
            </c:numRef>
          </c:val>
          <c:extLst>
            <c:ext xmlns:c16="http://schemas.microsoft.com/office/drawing/2014/chart" uri="{C3380CC4-5D6E-409C-BE32-E72D297353CC}">
              <c16:uniqueId val="{00000001-1113-43B2-AF1C-27305BE01A17}"/>
            </c:ext>
          </c:extLst>
        </c:ser>
        <c:dLbls>
          <c:dLblPos val="outEnd"/>
          <c:showLegendKey val="0"/>
          <c:showVal val="1"/>
          <c:showCatName val="0"/>
          <c:showSerName val="0"/>
          <c:showPercent val="0"/>
          <c:showBubbleSize val="0"/>
        </c:dLbls>
        <c:gapWidth val="77"/>
        <c:overlap val="-33"/>
        <c:axId val="1098982776"/>
        <c:axId val="1098981136"/>
      </c:barChart>
      <c:catAx>
        <c:axId val="109898277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1" i="0" u="none" strike="noStrike" kern="1200" baseline="0">
                <a:solidFill>
                  <a:schemeClr val="tx1">
                    <a:lumMod val="65000"/>
                    <a:lumOff val="35000"/>
                  </a:schemeClr>
                </a:solidFill>
                <a:latin typeface="+mn-lt"/>
                <a:ea typeface="+mn-ea"/>
                <a:cs typeface="+mn-cs"/>
              </a:defRPr>
            </a:pPr>
            <a:endParaRPr lang="en-PE"/>
          </a:p>
        </c:txPr>
        <c:crossAx val="1098981136"/>
        <c:crosses val="autoZero"/>
        <c:auto val="1"/>
        <c:lblAlgn val="ctr"/>
        <c:lblOffset val="100"/>
        <c:noMultiLvlLbl val="0"/>
      </c:catAx>
      <c:valAx>
        <c:axId val="1098981136"/>
        <c:scaling>
          <c:orientation val="minMax"/>
          <c:min val="300"/>
        </c:scaling>
        <c:delete val="1"/>
        <c:axPos val="l"/>
        <c:numFmt formatCode="General" sourceLinked="1"/>
        <c:majorTickMark val="out"/>
        <c:minorTickMark val="none"/>
        <c:tickLblPos val="nextTo"/>
        <c:crossAx val="109898277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PE"/>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a:pPr>
      <a:endParaRPr lang="en-PE"/>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2148328841769941E-2"/>
          <c:y val="0.20149663333496587"/>
          <c:w val="0.88585043874450187"/>
          <c:h val="0.52796333231441117"/>
        </c:manualLayout>
      </c:layout>
      <c:barChart>
        <c:barDir val="col"/>
        <c:grouping val="clustered"/>
        <c:varyColors val="0"/>
        <c:ser>
          <c:idx val="0"/>
          <c:order val="0"/>
          <c:tx>
            <c:strRef>
              <c:f>'[Resultados estudio lavado.xlsx]Hoja2'!$E$34</c:f>
              <c:strCache>
                <c:ptCount val="1"/>
              </c:strCache>
            </c:strRef>
          </c:tx>
          <c:spPr>
            <a:solidFill>
              <a:schemeClr val="bg1">
                <a:lumMod val="5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ysClr val="windowText" lastClr="000000"/>
                    </a:solidFill>
                    <a:latin typeface="+mn-lt"/>
                    <a:ea typeface="+mn-ea"/>
                    <a:cs typeface="+mn-cs"/>
                  </a:defRPr>
                </a:pPr>
                <a:endParaRPr lang="en-P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'[Resultados estudio lavado.xlsx]Hoja2'!$B$40:$B$42</c:f>
              <c:strCache>
                <c:ptCount val="3"/>
                <c:pt idx="0">
                  <c:v>PISA 2018</c:v>
                </c:pt>
                <c:pt idx="1">
                  <c:v>PISA 2015</c:v>
                </c:pt>
                <c:pt idx="2">
                  <c:v>PISA 2012</c:v>
                </c:pt>
              </c:strCache>
            </c:strRef>
          </c:cat>
          <c:val>
            <c:numRef>
              <c:f>'[Resultados estudio lavado.xlsx]Hoja2'!$E$40:$E$42</c:f>
              <c:numCache>
                <c:formatCode>General</c:formatCode>
                <c:ptCount val="3"/>
                <c:pt idx="0">
                  <c:v>401</c:v>
                </c:pt>
                <c:pt idx="1">
                  <c:v>398</c:v>
                </c:pt>
                <c:pt idx="2">
                  <c:v>384</c:v>
                </c:pt>
              </c:numCache>
            </c:numRef>
          </c:val>
          <c:extLst>
            <c:ext xmlns:c16="http://schemas.microsoft.com/office/drawing/2014/chart" uri="{C3380CC4-5D6E-409C-BE32-E72D297353CC}">
              <c16:uniqueId val="{00000000-6CD8-4AA7-85A4-A31E8ADE1D44}"/>
            </c:ext>
          </c:extLst>
        </c:ser>
        <c:dLbls>
          <c:dLblPos val="outEnd"/>
          <c:showLegendKey val="0"/>
          <c:showVal val="1"/>
          <c:showCatName val="0"/>
          <c:showSerName val="0"/>
          <c:showPercent val="0"/>
          <c:showBubbleSize val="0"/>
        </c:dLbls>
        <c:gapWidth val="77"/>
        <c:overlap val="-33"/>
        <c:axId val="1098982776"/>
        <c:axId val="1098981136"/>
      </c:barChart>
      <c:catAx>
        <c:axId val="109898277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1" i="0" u="none" strike="noStrike" kern="1200" baseline="0">
                <a:solidFill>
                  <a:schemeClr val="tx1">
                    <a:lumMod val="65000"/>
                    <a:lumOff val="35000"/>
                  </a:schemeClr>
                </a:solidFill>
                <a:latin typeface="+mn-lt"/>
                <a:ea typeface="+mn-ea"/>
                <a:cs typeface="+mn-cs"/>
              </a:defRPr>
            </a:pPr>
            <a:endParaRPr lang="en-PE"/>
          </a:p>
        </c:txPr>
        <c:crossAx val="1098981136"/>
        <c:crosses val="autoZero"/>
        <c:auto val="1"/>
        <c:lblAlgn val="ctr"/>
        <c:lblOffset val="100"/>
        <c:noMultiLvlLbl val="0"/>
      </c:catAx>
      <c:valAx>
        <c:axId val="1098981136"/>
        <c:scaling>
          <c:orientation val="minMax"/>
          <c:min val="300"/>
        </c:scaling>
        <c:delete val="1"/>
        <c:axPos val="l"/>
        <c:numFmt formatCode="General" sourceLinked="1"/>
        <c:majorTickMark val="out"/>
        <c:minorTickMark val="none"/>
        <c:tickLblPos val="nextTo"/>
        <c:crossAx val="1098982776"/>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a:pPr>
      <a:endParaRPr lang="en-PE"/>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col"/>
        <c:grouping val="clustered"/>
        <c:varyColors val="0"/>
        <c:ser>
          <c:idx val="1"/>
          <c:order val="1"/>
          <c:spPr>
            <a:solidFill>
              <a:schemeClr val="accent2"/>
            </a:solidFill>
            <a:ln>
              <a:noFill/>
            </a:ln>
            <a:effectLst/>
          </c:spPr>
          <c:invertIfNegative val="0"/>
          <c:dPt>
            <c:idx val="6"/>
            <c:invertIfNegative val="0"/>
            <c:bubble3D val="0"/>
            <c:spPr>
              <a:solidFill>
                <a:srgbClr val="C00000"/>
              </a:solidFill>
              <a:ln>
                <a:solidFill>
                  <a:srgbClr val="C00000"/>
                </a:solidFill>
              </a:ln>
              <a:effectLst/>
            </c:spPr>
            <c:extLst>
              <c:ext xmlns:c16="http://schemas.microsoft.com/office/drawing/2014/chart" uri="{C3380CC4-5D6E-409C-BE32-E72D297353CC}">
                <c16:uniqueId val="{00000001-FBC1-4211-843D-F74D025187AC}"/>
              </c:ext>
            </c:extLst>
          </c:dPt>
          <c:dLbls>
            <c:numFmt formatCode="#,##0.00" sourceLinked="0"/>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tx1">
                        <a:lumMod val="75000"/>
                        <a:lumOff val="25000"/>
                      </a:schemeClr>
                    </a:solidFill>
                    <a:latin typeface="+mn-lt"/>
                    <a:ea typeface="+mn-ea"/>
                    <a:cs typeface="+mn-cs"/>
                  </a:defRPr>
                </a:pPr>
                <a:endParaRPr lang="en-P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Sheet1!$A$1:$G$1</c:f>
              <c:numCache>
                <c:formatCode>General</c:formatCode>
                <c:ptCount val="7"/>
                <c:pt idx="0">
                  <c:v>2015</c:v>
                </c:pt>
                <c:pt idx="1">
                  <c:v>2016</c:v>
                </c:pt>
                <c:pt idx="2">
                  <c:v>2017</c:v>
                </c:pt>
                <c:pt idx="3">
                  <c:v>2018</c:v>
                </c:pt>
                <c:pt idx="4">
                  <c:v>2019</c:v>
                </c:pt>
                <c:pt idx="5">
                  <c:v>2020</c:v>
                </c:pt>
                <c:pt idx="6">
                  <c:v>2021</c:v>
                </c:pt>
              </c:numCache>
            </c:numRef>
          </c:cat>
          <c:val>
            <c:numRef>
              <c:f>Sheet1!$A$2:$G$2</c:f>
              <c:numCache>
                <c:formatCode>General</c:formatCode>
                <c:ptCount val="7"/>
                <c:pt idx="0">
                  <c:v>7834168</c:v>
                </c:pt>
                <c:pt idx="1">
                  <c:v>7921779</c:v>
                </c:pt>
                <c:pt idx="2">
                  <c:v>8008533</c:v>
                </c:pt>
                <c:pt idx="3">
                  <c:v>8099293</c:v>
                </c:pt>
                <c:pt idx="4">
                  <c:v>8210521</c:v>
                </c:pt>
                <c:pt idx="5">
                  <c:v>8152498</c:v>
                </c:pt>
                <c:pt idx="6">
                  <c:v>7542450</c:v>
                </c:pt>
              </c:numCache>
            </c:numRef>
          </c:val>
          <c:extLst>
            <c:ext xmlns:c16="http://schemas.microsoft.com/office/drawing/2014/chart" uri="{C3380CC4-5D6E-409C-BE32-E72D297353CC}">
              <c16:uniqueId val="{00000002-FBC1-4211-843D-F74D025187AC}"/>
            </c:ext>
          </c:extLst>
        </c:ser>
        <c:dLbls>
          <c:dLblPos val="outEnd"/>
          <c:showLegendKey val="0"/>
          <c:showVal val="1"/>
          <c:showCatName val="0"/>
          <c:showSerName val="0"/>
          <c:showPercent val="0"/>
          <c:showBubbleSize val="0"/>
        </c:dLbls>
        <c:gapWidth val="219"/>
        <c:overlap val="-27"/>
        <c:axId val="471398623"/>
        <c:axId val="471400287"/>
        <c:extLst>
          <c:ext xmlns:c15="http://schemas.microsoft.com/office/drawing/2012/chart" uri="{02D57815-91ED-43cb-92C2-25804820EDAC}">
            <c15:filteredBarSeries>
              <c15:ser>
                <c:idx val="0"/>
                <c:order val="0"/>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PE"/>
                    </a:p>
                  </c:txPr>
                  <c:dLblPos val="outEnd"/>
                  <c:showLegendKey val="0"/>
                  <c:showVal val="1"/>
                  <c:showCatName val="0"/>
                  <c:showSerName val="0"/>
                  <c:showPercent val="0"/>
                  <c:showBubbleSize val="0"/>
                  <c:showLeaderLines val="0"/>
                  <c:extLst>
                    <c:ext uri="{CE6537A1-D6FC-4f65-9D91-7224C49458BB}">
                      <c15:showLeaderLines val="1"/>
                      <c15:leaderLines>
                        <c:spPr>
                          <a:ln w="9525" cap="flat" cmpd="sng" algn="ctr">
                            <a:solidFill>
                              <a:schemeClr val="tx1">
                                <a:lumMod val="35000"/>
                                <a:lumOff val="65000"/>
                              </a:schemeClr>
                            </a:solidFill>
                            <a:round/>
                          </a:ln>
                          <a:effectLst/>
                        </c:spPr>
                      </c15:leaderLines>
                    </c:ext>
                  </c:extLst>
                </c:dLbls>
                <c:cat>
                  <c:numRef>
                    <c:extLst>
                      <c:ext uri="{02D57815-91ED-43cb-92C2-25804820EDAC}">
                        <c15:formulaRef>
                          <c15:sqref>Sheet1!$A$1:$G$1</c15:sqref>
                        </c15:formulaRef>
                      </c:ext>
                    </c:extLst>
                    <c:numCache>
                      <c:formatCode>General</c:formatCode>
                      <c:ptCount val="7"/>
                      <c:pt idx="0">
                        <c:v>2015</c:v>
                      </c:pt>
                      <c:pt idx="1">
                        <c:v>2016</c:v>
                      </c:pt>
                      <c:pt idx="2">
                        <c:v>2017</c:v>
                      </c:pt>
                      <c:pt idx="3">
                        <c:v>2018</c:v>
                      </c:pt>
                      <c:pt idx="4">
                        <c:v>2019</c:v>
                      </c:pt>
                      <c:pt idx="5">
                        <c:v>2020</c:v>
                      </c:pt>
                      <c:pt idx="6">
                        <c:v>2021</c:v>
                      </c:pt>
                    </c:numCache>
                  </c:numRef>
                </c:cat>
                <c:val>
                  <c:numRef>
                    <c:extLst>
                      <c:ext uri="{02D57815-91ED-43cb-92C2-25804820EDAC}">
                        <c15:formulaRef>
                          <c15:sqref>Sheet1!$A$1:$G$1</c15:sqref>
                        </c15:formulaRef>
                      </c:ext>
                    </c:extLst>
                    <c:numCache>
                      <c:formatCode>General</c:formatCode>
                      <c:ptCount val="7"/>
                      <c:pt idx="0">
                        <c:v>2015</c:v>
                      </c:pt>
                      <c:pt idx="1">
                        <c:v>2016</c:v>
                      </c:pt>
                      <c:pt idx="2">
                        <c:v>2017</c:v>
                      </c:pt>
                      <c:pt idx="3">
                        <c:v>2018</c:v>
                      </c:pt>
                      <c:pt idx="4">
                        <c:v>2019</c:v>
                      </c:pt>
                      <c:pt idx="5">
                        <c:v>2020</c:v>
                      </c:pt>
                      <c:pt idx="6">
                        <c:v>2021</c:v>
                      </c:pt>
                    </c:numCache>
                  </c:numRef>
                </c:val>
                <c:extLst>
                  <c:ext xmlns:c16="http://schemas.microsoft.com/office/drawing/2014/chart" uri="{C3380CC4-5D6E-409C-BE32-E72D297353CC}">
                    <c16:uniqueId val="{00000003-FBC1-4211-843D-F74D025187AC}"/>
                  </c:ext>
                </c:extLst>
              </c15:ser>
            </c15:filteredBarSeries>
          </c:ext>
        </c:extLst>
      </c:barChart>
      <c:catAx>
        <c:axId val="47139862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PE"/>
          </a:p>
        </c:txPr>
        <c:crossAx val="471400287"/>
        <c:crosses val="autoZero"/>
        <c:auto val="1"/>
        <c:lblAlgn val="ctr"/>
        <c:lblOffset val="100"/>
        <c:noMultiLvlLbl val="0"/>
      </c:catAx>
      <c:valAx>
        <c:axId val="471400287"/>
        <c:scaling>
          <c:orientation val="minMax"/>
          <c:min val="0"/>
        </c:scaling>
        <c:delete val="0"/>
        <c:axPos val="l"/>
        <c:majorGridlines>
          <c:spPr>
            <a:ln w="9525" cap="flat" cmpd="sng" algn="ctr">
              <a:solidFill>
                <a:schemeClr val="tx1">
                  <a:lumMod val="15000"/>
                  <a:lumOff val="85000"/>
                </a:schemeClr>
              </a:solidFill>
              <a:round/>
            </a:ln>
            <a:effectLst/>
          </c:spPr>
        </c:majorGridlines>
        <c:numFmt formatCode="General"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PE"/>
          </a:p>
        </c:txPr>
        <c:crossAx val="471398623"/>
        <c:crosses val="autoZero"/>
        <c:crossBetween val="between"/>
        <c:dispUnits>
          <c:builtInUnit val="millions"/>
          <c:dispUnitsLbl>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CA" dirty="0"/>
                    <a:t>Millones</a:t>
                  </a:r>
                </a:p>
              </c:rich>
            </c:tx>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PE"/>
              </a:p>
            </c:txPr>
          </c:dispUnitsLbl>
        </c:dispUnits>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PE"/>
    </a:p>
  </c:txPr>
  <c:externalData r:id="rId4">
    <c:autoUpdate val="0"/>
  </c:externalData>
  <c:userShapes r:id="rId5"/>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rawings/_rels/vmlDrawing1.vml.rels><?xml version="1.0" encoding="UTF-8" standalone="yes"?>
<Relationships xmlns="http://schemas.openxmlformats.org/package/2006/relationships"><Relationship Id="rId1" Type="http://schemas.openxmlformats.org/officeDocument/2006/relationships/image" Target="../media/image19.emf"/></Relationships>
</file>

<file path=ppt/drawings/drawing1.xml><?xml version="1.0" encoding="utf-8"?>
<c:userShapes xmlns:c="http://schemas.openxmlformats.org/drawingml/2006/chart">
  <cdr:relSizeAnchor xmlns:cdr="http://schemas.openxmlformats.org/drawingml/2006/chartDrawing">
    <cdr:from>
      <cdr:x>0.77284</cdr:x>
      <cdr:y>0.01362</cdr:y>
    </cdr:from>
    <cdr:to>
      <cdr:x>0.91829</cdr:x>
      <cdr:y>0.09541</cdr:y>
    </cdr:to>
    <cdr:cxnSp macro="">
      <cdr:nvCxnSpPr>
        <cdr:cNvPr id="2" name="Straight Arrow Connector 1">
          <a:extLst xmlns:a="http://schemas.openxmlformats.org/drawingml/2006/main">
            <a:ext uri="{FF2B5EF4-FFF2-40B4-BE49-F238E27FC236}">
              <a16:creationId xmlns:a16="http://schemas.microsoft.com/office/drawing/2014/main" id="{E8C9F949-E4FE-468C-8729-F0F0DCF888BB}"/>
            </a:ext>
          </a:extLst>
        </cdr:cNvPr>
        <cdr:cNvCxnSpPr>
          <a:cxnSpLocks xmlns:a="http://schemas.openxmlformats.org/drawingml/2006/main"/>
        </cdr:cNvCxnSpPr>
      </cdr:nvCxnSpPr>
      <cdr:spPr>
        <a:xfrm xmlns:a="http://schemas.openxmlformats.org/drawingml/2006/main">
          <a:off x="3747961" y="45695"/>
          <a:ext cx="705394" cy="274320"/>
        </a:xfrm>
        <a:prstGeom xmlns:a="http://schemas.openxmlformats.org/drawingml/2006/main" prst="straightConnector1">
          <a:avLst/>
        </a:prstGeom>
        <a:ln xmlns:a="http://schemas.openxmlformats.org/drawingml/2006/main">
          <a:tailEnd type="triangle"/>
        </a:ln>
      </cdr:spPr>
      <cdr:style>
        <a:lnRef xmlns:a="http://schemas.openxmlformats.org/drawingml/2006/main" idx="1">
          <a:schemeClr val="dk1"/>
        </a:lnRef>
        <a:fillRef xmlns:a="http://schemas.openxmlformats.org/drawingml/2006/main" idx="0">
          <a:schemeClr val="dk1"/>
        </a:fillRef>
        <a:effectRef xmlns:a="http://schemas.openxmlformats.org/drawingml/2006/main" idx="0">
          <a:schemeClr val="dk1"/>
        </a:effectRef>
        <a:fontRef xmlns:a="http://schemas.openxmlformats.org/drawingml/2006/main" idx="minor">
          <a:schemeClr val="tx1"/>
        </a:fontRef>
      </cdr:style>
    </cdr:cxn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7014D84-FE7D-4A30-9033-2C993A86FFF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a:extLst>
              <a:ext uri="{FF2B5EF4-FFF2-40B4-BE49-F238E27FC236}">
                <a16:creationId xmlns:a16="http://schemas.microsoft.com/office/drawing/2014/main" id="{5C6796CD-7C4D-4F0D-B9AB-EBA5ED0A09A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CD4C6A4-469A-4D00-B1A9-FC97847AA779}" type="datetimeFigureOut">
              <a:rPr lang="en-CA" smtClean="0"/>
              <a:t>2021-07-20</a:t>
            </a:fld>
            <a:endParaRPr lang="en-CA"/>
          </a:p>
        </p:txBody>
      </p:sp>
      <p:sp>
        <p:nvSpPr>
          <p:cNvPr id="4" name="Footer Placeholder 3">
            <a:extLst>
              <a:ext uri="{FF2B5EF4-FFF2-40B4-BE49-F238E27FC236}">
                <a16:creationId xmlns:a16="http://schemas.microsoft.com/office/drawing/2014/main" id="{C57E187C-3A2A-469F-AE4D-60BF698E84C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5" name="Slide Number Placeholder 4">
            <a:extLst>
              <a:ext uri="{FF2B5EF4-FFF2-40B4-BE49-F238E27FC236}">
                <a16:creationId xmlns:a16="http://schemas.microsoft.com/office/drawing/2014/main" id="{ADF79988-3954-4CD5-A4B1-3A72EA0FF7A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3159090-2B3F-4AE1-BBE3-950C90A6D8FE}" type="slidenum">
              <a:rPr lang="en-CA" smtClean="0"/>
              <a:t>‹#›</a:t>
            </a:fld>
            <a:endParaRPr lang="en-CA"/>
          </a:p>
        </p:txBody>
      </p:sp>
    </p:spTree>
    <p:extLst>
      <p:ext uri="{BB962C8B-B14F-4D97-AF65-F5344CB8AC3E}">
        <p14:creationId xmlns:p14="http://schemas.microsoft.com/office/powerpoint/2010/main" val="166273209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ACBAF22-97E4-4D53-B852-2F32353771A6}" type="datetimeFigureOut">
              <a:rPr lang="en-CA" smtClean="0"/>
              <a:t>2021-07-20</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F65E6A1-6EB1-410A-B622-441CF298B8F0}" type="slidenum">
              <a:rPr lang="en-CA" smtClean="0"/>
              <a:t>‹#›</a:t>
            </a:fld>
            <a:endParaRPr lang="en-CA"/>
          </a:p>
        </p:txBody>
      </p:sp>
    </p:spTree>
    <p:extLst>
      <p:ext uri="{BB962C8B-B14F-4D97-AF65-F5344CB8AC3E}">
        <p14:creationId xmlns:p14="http://schemas.microsoft.com/office/powerpoint/2010/main" val="882551897"/>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número de diapositiva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6B46077-A243-4EE0-BA0E-46BE70C08E68}" type="slidenum">
              <a:rPr kumimoji="0" lang="es-PE"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s-PE"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02788426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Cáratula con logo">
    <p:spTree>
      <p:nvGrpSpPr>
        <p:cNvPr id="1" name=""/>
        <p:cNvGrpSpPr/>
        <p:nvPr/>
      </p:nvGrpSpPr>
      <p:grpSpPr>
        <a:xfrm>
          <a:off x="0" y="0"/>
          <a:ext cx="0" cy="0"/>
          <a:chOff x="0" y="0"/>
          <a:chExt cx="0" cy="0"/>
        </a:xfrm>
      </p:grpSpPr>
      <p:grpSp>
        <p:nvGrpSpPr>
          <p:cNvPr id="30" name="Grupo 29"/>
          <p:cNvGrpSpPr/>
          <p:nvPr/>
        </p:nvGrpSpPr>
        <p:grpSpPr>
          <a:xfrm>
            <a:off x="0" y="-1246"/>
            <a:ext cx="12192000" cy="6859246"/>
            <a:chOff x="0" y="-1246"/>
            <a:chExt cx="12192000" cy="6859246"/>
          </a:xfrm>
        </p:grpSpPr>
        <p:sp>
          <p:nvSpPr>
            <p:cNvPr id="13" name="Rectángulo 12"/>
            <p:cNvSpPr/>
            <p:nvPr userDrawn="1"/>
          </p:nvSpPr>
          <p:spPr>
            <a:xfrm>
              <a:off x="0" y="-1246"/>
              <a:ext cx="12192000" cy="685924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9" name="Triángulo isósceles 8"/>
            <p:cNvSpPr/>
            <p:nvPr userDrawn="1"/>
          </p:nvSpPr>
          <p:spPr>
            <a:xfrm flipV="1">
              <a:off x="6076950" y="-1246"/>
              <a:ext cx="6115050" cy="4859069"/>
            </a:xfrm>
            <a:prstGeom prst="triangle">
              <a:avLst>
                <a:gd name="adj" fmla="val 100000"/>
              </a:avLst>
            </a:prstGeom>
            <a:solidFill>
              <a:srgbClr val="EBEC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2" name="Triángulo isósceles 11"/>
            <p:cNvSpPr/>
            <p:nvPr userDrawn="1"/>
          </p:nvSpPr>
          <p:spPr>
            <a:xfrm>
              <a:off x="6076950" y="1998931"/>
              <a:ext cx="6115050" cy="4859069"/>
            </a:xfrm>
            <a:prstGeom prst="triangle">
              <a:avLst>
                <a:gd name="adj" fmla="val 100000"/>
              </a:avLst>
            </a:prstGeom>
            <a:solidFill>
              <a:srgbClr val="CDCE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grpSp>
      <p:sp>
        <p:nvSpPr>
          <p:cNvPr id="10" name="Triángulo isósceles 9"/>
          <p:cNvSpPr/>
          <p:nvPr/>
        </p:nvSpPr>
        <p:spPr>
          <a:xfrm rot="16200000">
            <a:off x="9854851" y="2531228"/>
            <a:ext cx="2880000" cy="1794297"/>
          </a:xfrm>
          <a:prstGeom prst="triangle">
            <a:avLst>
              <a:gd name="adj" fmla="val 49991"/>
            </a:avLst>
          </a:prstGeom>
          <a:solidFill>
            <a:srgbClr val="AF0D1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cxnSp>
        <p:nvCxnSpPr>
          <p:cNvPr id="16" name="Conector recto 15"/>
          <p:cNvCxnSpPr/>
          <p:nvPr/>
        </p:nvCxnSpPr>
        <p:spPr>
          <a:xfrm>
            <a:off x="0" y="6628777"/>
            <a:ext cx="12192000" cy="0"/>
          </a:xfrm>
          <a:prstGeom prst="line">
            <a:avLst/>
          </a:prstGeom>
          <a:ln>
            <a:solidFill>
              <a:srgbClr val="E5E5E5"/>
            </a:solidFill>
          </a:ln>
        </p:spPr>
        <p:style>
          <a:lnRef idx="1">
            <a:schemeClr val="accent1"/>
          </a:lnRef>
          <a:fillRef idx="0">
            <a:schemeClr val="accent1"/>
          </a:fillRef>
          <a:effectRef idx="0">
            <a:schemeClr val="accent1"/>
          </a:effectRef>
          <a:fontRef idx="minor">
            <a:schemeClr val="tx1"/>
          </a:fontRef>
        </p:style>
      </p:cxnSp>
      <p:cxnSp>
        <p:nvCxnSpPr>
          <p:cNvPr id="19" name="Conector recto 18"/>
          <p:cNvCxnSpPr/>
          <p:nvPr/>
        </p:nvCxnSpPr>
        <p:spPr>
          <a:xfrm>
            <a:off x="0" y="6571627"/>
            <a:ext cx="12192000" cy="0"/>
          </a:xfrm>
          <a:prstGeom prst="line">
            <a:avLst/>
          </a:prstGeom>
          <a:ln>
            <a:solidFill>
              <a:srgbClr val="E5E5E5"/>
            </a:solidFill>
          </a:ln>
        </p:spPr>
        <p:style>
          <a:lnRef idx="1">
            <a:schemeClr val="accent1"/>
          </a:lnRef>
          <a:fillRef idx="0">
            <a:schemeClr val="accent1"/>
          </a:fillRef>
          <a:effectRef idx="0">
            <a:schemeClr val="accent1"/>
          </a:effectRef>
          <a:fontRef idx="minor">
            <a:schemeClr val="tx1"/>
          </a:fontRef>
        </p:style>
      </p:cxnSp>
      <p:sp>
        <p:nvSpPr>
          <p:cNvPr id="20" name="Título 19"/>
          <p:cNvSpPr>
            <a:spLocks noGrp="1"/>
          </p:cNvSpPr>
          <p:nvPr>
            <p:ph type="title" hasCustomPrompt="1"/>
          </p:nvPr>
        </p:nvSpPr>
        <p:spPr>
          <a:xfrm>
            <a:off x="661032" y="1834316"/>
            <a:ext cx="6565268" cy="1695508"/>
          </a:xfrm>
        </p:spPr>
        <p:txBody>
          <a:bodyPr>
            <a:normAutofit/>
          </a:bodyPr>
          <a:lstStyle>
            <a:lvl1pPr>
              <a:defRPr sz="4000" baseline="0">
                <a:solidFill>
                  <a:srgbClr val="AF0D15"/>
                </a:solidFill>
              </a:defRPr>
            </a:lvl1pPr>
          </a:lstStyle>
          <a:p>
            <a:r>
              <a:rPr lang="es-ES"/>
              <a:t>INGRESE SU TÍTULO AQUÍ</a:t>
            </a:r>
            <a:endParaRPr lang="es-PE"/>
          </a:p>
        </p:txBody>
      </p:sp>
      <p:pic>
        <p:nvPicPr>
          <p:cNvPr id="6" name="Imagen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41220" y="3759046"/>
            <a:ext cx="3032381" cy="660553"/>
          </a:xfrm>
          <a:prstGeom prst="rect">
            <a:avLst/>
          </a:prstGeom>
        </p:spPr>
      </p:pic>
      <p:sp>
        <p:nvSpPr>
          <p:cNvPr id="27" name="Marcador de texto 26"/>
          <p:cNvSpPr>
            <a:spLocks noGrp="1"/>
          </p:cNvSpPr>
          <p:nvPr>
            <p:ph type="body" sz="quarter" idx="10" hasCustomPrompt="1"/>
          </p:nvPr>
        </p:nvSpPr>
        <p:spPr>
          <a:xfrm>
            <a:off x="662533" y="6184674"/>
            <a:ext cx="5454650" cy="360362"/>
          </a:xfrm>
        </p:spPr>
        <p:txBody>
          <a:bodyPr anchor="ctr">
            <a:noAutofit/>
          </a:bodyPr>
          <a:lstStyle>
            <a:lvl1pPr marL="0" indent="0">
              <a:buNone/>
              <a:defRPr sz="1400" b="1">
                <a:solidFill>
                  <a:srgbClr val="5B5A5D"/>
                </a:solidFill>
              </a:defRPr>
            </a:lvl1pPr>
            <a:lvl2pPr marL="457200" indent="0">
              <a:buNone/>
              <a:defRPr/>
            </a:lvl2pPr>
            <a:lvl3pPr marL="914400" indent="0">
              <a:buNone/>
              <a:defRPr/>
            </a:lvl3pPr>
            <a:lvl4pPr marL="1371600" indent="0">
              <a:buNone/>
              <a:defRPr/>
            </a:lvl4pPr>
            <a:lvl5pPr marL="1828800" indent="0">
              <a:buNone/>
              <a:defRPr/>
            </a:lvl5pPr>
          </a:lstStyle>
          <a:p>
            <a:pPr lvl="0"/>
            <a:r>
              <a:rPr lang="es-ES"/>
              <a:t>INGRESE NOMBRE DE LA OFICINA AQUÍ</a:t>
            </a:r>
            <a:endParaRPr lang="es-PE"/>
          </a:p>
        </p:txBody>
      </p:sp>
      <p:sp>
        <p:nvSpPr>
          <p:cNvPr id="14" name="Lágrima 13"/>
          <p:cNvSpPr/>
          <p:nvPr/>
        </p:nvSpPr>
        <p:spPr>
          <a:xfrm rot="5400000">
            <a:off x="11852300" y="6515100"/>
            <a:ext cx="339698" cy="339698"/>
          </a:xfrm>
          <a:prstGeom prst="teardrop">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4" name="Marcador de número de diapositiva 3"/>
          <p:cNvSpPr>
            <a:spLocks noGrp="1"/>
          </p:cNvSpPr>
          <p:nvPr>
            <p:ph type="sldNum" sz="quarter" idx="13"/>
          </p:nvPr>
        </p:nvSpPr>
        <p:spPr>
          <a:xfrm>
            <a:off x="11820525" y="6595944"/>
            <a:ext cx="396000" cy="192206"/>
          </a:xfrm>
          <a:effectLst/>
        </p:spPr>
        <p:txBody>
          <a:bodyPr/>
          <a:lstStyle>
            <a:lvl1pPr>
              <a:defRPr>
                <a:solidFill>
                  <a:schemeClr val="bg1">
                    <a:lumMod val="65000"/>
                  </a:schemeClr>
                </a:solidFill>
                <a:effectLst/>
              </a:defRPr>
            </a:lvl1pPr>
          </a:lstStyle>
          <a:p>
            <a:fld id="{DAF31D20-51B2-49A6-91FA-1FC48A60B42D}" type="slidenum">
              <a:rPr lang="es-PE" smtClean="0"/>
              <a:t>‹#›</a:t>
            </a:fld>
            <a:endParaRPr lang="es-PE"/>
          </a:p>
        </p:txBody>
      </p:sp>
      <p:sp>
        <p:nvSpPr>
          <p:cNvPr id="7" name="Marcador de texto 6"/>
          <p:cNvSpPr>
            <a:spLocks noGrp="1"/>
          </p:cNvSpPr>
          <p:nvPr>
            <p:ph type="body" sz="quarter" idx="14" hasCustomPrompt="1"/>
          </p:nvPr>
        </p:nvSpPr>
        <p:spPr>
          <a:xfrm>
            <a:off x="9430626" y="6451599"/>
            <a:ext cx="1897774" cy="332345"/>
          </a:xfrm>
          <a:solidFill>
            <a:srgbClr val="CDCED3"/>
          </a:solidFill>
        </p:spPr>
        <p:txBody>
          <a:bodyPr anchor="ctr">
            <a:noAutofit/>
          </a:bodyPr>
          <a:lstStyle>
            <a:lvl1pPr marL="0" indent="0" algn="ctr">
              <a:buNone/>
              <a:defRPr sz="1200" b="1" baseline="0">
                <a:solidFill>
                  <a:schemeClr val="bg1"/>
                </a:solidFill>
              </a:defRPr>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es-ES"/>
              <a:t>Fecha de actualización</a:t>
            </a:r>
            <a:endParaRPr lang="es-PE"/>
          </a:p>
        </p:txBody>
      </p:sp>
    </p:spTree>
    <p:extLst>
      <p:ext uri="{BB962C8B-B14F-4D97-AF65-F5344CB8AC3E}">
        <p14:creationId xmlns:p14="http://schemas.microsoft.com/office/powerpoint/2010/main" val="32125173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Carátula con lema">
    <p:spTree>
      <p:nvGrpSpPr>
        <p:cNvPr id="1" name=""/>
        <p:cNvGrpSpPr/>
        <p:nvPr/>
      </p:nvGrpSpPr>
      <p:grpSpPr>
        <a:xfrm>
          <a:off x="0" y="0"/>
          <a:ext cx="0" cy="0"/>
          <a:chOff x="0" y="0"/>
          <a:chExt cx="0" cy="0"/>
        </a:xfrm>
      </p:grpSpPr>
      <p:sp>
        <p:nvSpPr>
          <p:cNvPr id="11" name="Rectángulo 10"/>
          <p:cNvSpPr/>
          <p:nvPr/>
        </p:nvSpPr>
        <p:spPr>
          <a:xfrm>
            <a:off x="0" y="-5374"/>
            <a:ext cx="12192000" cy="6863374"/>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grpSp>
        <p:nvGrpSpPr>
          <p:cNvPr id="6" name="Grupo 5"/>
          <p:cNvGrpSpPr/>
          <p:nvPr/>
        </p:nvGrpSpPr>
        <p:grpSpPr>
          <a:xfrm>
            <a:off x="5257800" y="-5374"/>
            <a:ext cx="6934200" cy="6863374"/>
            <a:chOff x="5257800" y="-5374"/>
            <a:chExt cx="6934200" cy="6863374"/>
          </a:xfrm>
        </p:grpSpPr>
        <p:sp>
          <p:nvSpPr>
            <p:cNvPr id="4" name="Triángulo isósceles 3"/>
            <p:cNvSpPr/>
            <p:nvPr userDrawn="1"/>
          </p:nvSpPr>
          <p:spPr>
            <a:xfrm>
              <a:off x="5257800" y="3095625"/>
              <a:ext cx="6934200" cy="3762375"/>
            </a:xfrm>
            <a:prstGeom prst="triangle">
              <a:avLst>
                <a:gd name="adj" fmla="val 100000"/>
              </a:avLst>
            </a:prstGeom>
            <a:solidFill>
              <a:srgbClr val="CDCE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2" name="Triángulo isósceles 11"/>
            <p:cNvSpPr/>
            <p:nvPr userDrawn="1"/>
          </p:nvSpPr>
          <p:spPr>
            <a:xfrm flipV="1">
              <a:off x="5257800" y="-5374"/>
              <a:ext cx="6934200" cy="6063273"/>
            </a:xfrm>
            <a:prstGeom prst="triangle">
              <a:avLst>
                <a:gd name="adj" fmla="val 100000"/>
              </a:avLst>
            </a:prstGeom>
            <a:solidFill>
              <a:srgbClr val="EBEC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5" name="Triángulo isósceles 4"/>
            <p:cNvSpPr/>
            <p:nvPr userDrawn="1"/>
          </p:nvSpPr>
          <p:spPr>
            <a:xfrm rot="16200000">
              <a:off x="9666734" y="3532633"/>
              <a:ext cx="2962274" cy="2088258"/>
            </a:xfrm>
            <a:prstGeom prst="triangle">
              <a:avLst>
                <a:gd name="adj" fmla="val 61735"/>
              </a:avLst>
            </a:prstGeom>
            <a:solidFill>
              <a:srgbClr val="AF0D1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grpSp>
      <p:sp>
        <p:nvSpPr>
          <p:cNvPr id="14" name="Lágrima 13"/>
          <p:cNvSpPr/>
          <p:nvPr/>
        </p:nvSpPr>
        <p:spPr>
          <a:xfrm rot="5400000">
            <a:off x="11852300" y="6515100"/>
            <a:ext cx="339698" cy="339698"/>
          </a:xfrm>
          <a:prstGeom prst="teardrop">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pic>
        <p:nvPicPr>
          <p:cNvPr id="8" name="Imagen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88820" y="301472"/>
            <a:ext cx="2598439" cy="566026"/>
          </a:xfrm>
          <a:prstGeom prst="rect">
            <a:avLst/>
          </a:prstGeom>
        </p:spPr>
      </p:pic>
      <p:cxnSp>
        <p:nvCxnSpPr>
          <p:cNvPr id="10" name="Conector recto 9"/>
          <p:cNvCxnSpPr/>
          <p:nvPr/>
        </p:nvCxnSpPr>
        <p:spPr>
          <a:xfrm flipH="1">
            <a:off x="-11220" y="4218321"/>
            <a:ext cx="10152000" cy="0"/>
          </a:xfrm>
          <a:prstGeom prst="line">
            <a:avLst/>
          </a:prstGeom>
          <a:ln>
            <a:solidFill>
              <a:schemeClr val="bg1">
                <a:lumMod val="85000"/>
              </a:schemeClr>
            </a:solidFill>
            <a:prstDash val="sysDash"/>
          </a:ln>
        </p:spPr>
        <p:style>
          <a:lnRef idx="1">
            <a:schemeClr val="accent3"/>
          </a:lnRef>
          <a:fillRef idx="0">
            <a:schemeClr val="accent3"/>
          </a:fillRef>
          <a:effectRef idx="0">
            <a:schemeClr val="accent3"/>
          </a:effectRef>
          <a:fontRef idx="minor">
            <a:schemeClr val="tx1"/>
          </a:fontRef>
        </p:style>
      </p:cxnSp>
      <p:sp>
        <p:nvSpPr>
          <p:cNvPr id="2" name="Título 1"/>
          <p:cNvSpPr>
            <a:spLocks noGrp="1"/>
          </p:cNvSpPr>
          <p:nvPr>
            <p:ph type="ctrTitle"/>
          </p:nvPr>
        </p:nvSpPr>
        <p:spPr>
          <a:xfrm>
            <a:off x="588025" y="2200493"/>
            <a:ext cx="7455243" cy="1862903"/>
          </a:xfrm>
        </p:spPr>
        <p:txBody>
          <a:bodyPr anchor="b">
            <a:normAutofit/>
          </a:bodyPr>
          <a:lstStyle>
            <a:lvl1pPr algn="l">
              <a:defRPr sz="4400" spc="-150" baseline="0">
                <a:solidFill>
                  <a:schemeClr val="tx2"/>
                </a:solidFill>
                <a:latin typeface="Arial" panose="020B0604020202020204" pitchFamily="34" charset="0"/>
                <a:cs typeface="Arial" panose="020B0604020202020204" pitchFamily="34" charset="0"/>
              </a:defRPr>
            </a:lvl1pPr>
          </a:lstStyle>
          <a:p>
            <a:r>
              <a:rPr lang="es-ES"/>
              <a:t>Haga clic para modificar el estilo de título del patrón</a:t>
            </a:r>
            <a:endParaRPr lang="es-PE"/>
          </a:p>
        </p:txBody>
      </p:sp>
      <p:sp>
        <p:nvSpPr>
          <p:cNvPr id="3" name="Subtítulo 2"/>
          <p:cNvSpPr>
            <a:spLocks noGrp="1"/>
          </p:cNvSpPr>
          <p:nvPr>
            <p:ph type="subTitle" idx="1"/>
          </p:nvPr>
        </p:nvSpPr>
        <p:spPr>
          <a:xfrm>
            <a:off x="588025" y="4415549"/>
            <a:ext cx="7455243" cy="854126"/>
          </a:xfrm>
        </p:spPr>
        <p:txBody>
          <a:bodyPr>
            <a:normAutofit/>
          </a:bodyPr>
          <a:lstStyle>
            <a:lvl1pPr marL="0" indent="0" algn="l">
              <a:buNone/>
              <a:defRPr sz="1800">
                <a:solidFill>
                  <a:schemeClr val="bg1">
                    <a:lumMod val="50000"/>
                  </a:schemeClr>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PE"/>
          </a:p>
        </p:txBody>
      </p:sp>
      <p:pic>
        <p:nvPicPr>
          <p:cNvPr id="18" name="Imagen 1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8026" y="5986640"/>
            <a:ext cx="2599234" cy="565245"/>
          </a:xfrm>
          <a:prstGeom prst="rect">
            <a:avLst/>
          </a:prstGeom>
        </p:spPr>
      </p:pic>
      <p:sp>
        <p:nvSpPr>
          <p:cNvPr id="19" name="Triángulo isósceles 18"/>
          <p:cNvSpPr/>
          <p:nvPr/>
        </p:nvSpPr>
        <p:spPr>
          <a:xfrm rot="5400000" flipH="1">
            <a:off x="-71463" y="4101552"/>
            <a:ext cx="484413" cy="341487"/>
          </a:xfrm>
          <a:prstGeom prst="triangle">
            <a:avLst>
              <a:gd name="adj" fmla="val 61735"/>
            </a:avLst>
          </a:prstGeom>
          <a:solidFill>
            <a:srgbClr val="CDCE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3" name="Marcador de número de diapositiva 12"/>
          <p:cNvSpPr>
            <a:spLocks noGrp="1"/>
          </p:cNvSpPr>
          <p:nvPr>
            <p:ph type="sldNum" sz="quarter" idx="12"/>
          </p:nvPr>
        </p:nvSpPr>
        <p:spPr>
          <a:xfrm>
            <a:off x="11820525" y="6586419"/>
            <a:ext cx="396000" cy="192206"/>
          </a:xfrm>
          <a:effectLst/>
        </p:spPr>
        <p:txBody>
          <a:bodyPr/>
          <a:lstStyle>
            <a:lvl1pPr>
              <a:defRPr>
                <a:solidFill>
                  <a:schemeClr val="bg1">
                    <a:lumMod val="65000"/>
                  </a:schemeClr>
                </a:solidFill>
              </a:defRPr>
            </a:lvl1pPr>
          </a:lstStyle>
          <a:p>
            <a:fld id="{DAF31D20-51B2-49A6-91FA-1FC48A60B42D}" type="slidenum">
              <a:rPr lang="es-PE" smtClean="0"/>
              <a:t>‹#›</a:t>
            </a:fld>
            <a:endParaRPr lang="es-PE"/>
          </a:p>
        </p:txBody>
      </p:sp>
    </p:spTree>
    <p:extLst>
      <p:ext uri="{BB962C8B-B14F-4D97-AF65-F5344CB8AC3E}">
        <p14:creationId xmlns:p14="http://schemas.microsoft.com/office/powerpoint/2010/main" val="17023612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Contenidos sin separacion de titulo">
    <p:spTree>
      <p:nvGrpSpPr>
        <p:cNvPr id="1" name=""/>
        <p:cNvGrpSpPr/>
        <p:nvPr/>
      </p:nvGrpSpPr>
      <p:grpSpPr>
        <a:xfrm>
          <a:off x="0" y="0"/>
          <a:ext cx="0" cy="0"/>
          <a:chOff x="0" y="0"/>
          <a:chExt cx="0" cy="0"/>
        </a:xfrm>
      </p:grpSpPr>
      <p:sp>
        <p:nvSpPr>
          <p:cNvPr id="10" name="Forma libre 9"/>
          <p:cNvSpPr/>
          <p:nvPr/>
        </p:nvSpPr>
        <p:spPr>
          <a:xfrm>
            <a:off x="138327" y="164307"/>
            <a:ext cx="11925300" cy="6557166"/>
          </a:xfrm>
          <a:custGeom>
            <a:avLst/>
            <a:gdLst>
              <a:gd name="connsiteX0" fmla="*/ 0 w 11925300"/>
              <a:gd name="connsiteY0" fmla="*/ 0 h 6557166"/>
              <a:gd name="connsiteX1" fmla="*/ 8436245 w 11925300"/>
              <a:gd name="connsiteY1" fmla="*/ 0 h 6557166"/>
              <a:gd name="connsiteX2" fmla="*/ 9420122 w 11925300"/>
              <a:gd name="connsiteY2" fmla="*/ 721517 h 6557166"/>
              <a:gd name="connsiteX3" fmla="*/ 11925300 w 11925300"/>
              <a:gd name="connsiteY3" fmla="*/ 721517 h 6557166"/>
              <a:gd name="connsiteX4" fmla="*/ 11925300 w 11925300"/>
              <a:gd name="connsiteY4" fmla="*/ 6557166 h 6557166"/>
              <a:gd name="connsiteX5" fmla="*/ 0 w 11925300"/>
              <a:gd name="connsiteY5" fmla="*/ 6557166 h 6557166"/>
              <a:gd name="connsiteX6" fmla="*/ 0 w 11925300"/>
              <a:gd name="connsiteY6" fmla="*/ 875271 h 6557166"/>
              <a:gd name="connsiteX7" fmla="*/ 0 w 11925300"/>
              <a:gd name="connsiteY7" fmla="*/ 721517 h 6557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925300" h="6557166">
                <a:moveTo>
                  <a:pt x="0" y="0"/>
                </a:moveTo>
                <a:lnTo>
                  <a:pt x="8436245" y="0"/>
                </a:lnTo>
                <a:lnTo>
                  <a:pt x="9420122" y="721517"/>
                </a:lnTo>
                <a:lnTo>
                  <a:pt x="11925300" y="721517"/>
                </a:lnTo>
                <a:lnTo>
                  <a:pt x="11925300" y="6557166"/>
                </a:lnTo>
                <a:lnTo>
                  <a:pt x="0" y="6557166"/>
                </a:lnTo>
                <a:lnTo>
                  <a:pt x="0" y="875271"/>
                </a:lnTo>
                <a:lnTo>
                  <a:pt x="0" y="721517"/>
                </a:lnTo>
                <a:close/>
              </a:path>
            </a:pathLst>
          </a:cu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s-PE"/>
          </a:p>
        </p:txBody>
      </p:sp>
      <p:sp>
        <p:nvSpPr>
          <p:cNvPr id="2" name="Título 1"/>
          <p:cNvSpPr>
            <a:spLocks noGrp="1"/>
          </p:cNvSpPr>
          <p:nvPr>
            <p:ph type="title"/>
          </p:nvPr>
        </p:nvSpPr>
        <p:spPr>
          <a:xfrm>
            <a:off x="314324" y="183229"/>
            <a:ext cx="8916762" cy="735804"/>
          </a:xfrm>
        </p:spPr>
        <p:txBody>
          <a:bodyPr/>
          <a:lstStyle>
            <a:lvl1pPr>
              <a:defRPr>
                <a:solidFill>
                  <a:schemeClr val="tx2"/>
                </a:solidFill>
              </a:defRPr>
            </a:lvl1pPr>
          </a:lstStyle>
          <a:p>
            <a:r>
              <a:rPr lang="es-ES"/>
              <a:t>Haga clic para modificar el estilo de título del patrón</a:t>
            </a:r>
            <a:endParaRPr lang="es-PE"/>
          </a:p>
        </p:txBody>
      </p:sp>
      <p:sp>
        <p:nvSpPr>
          <p:cNvPr id="3" name="Marcador de contenido 2"/>
          <p:cNvSpPr>
            <a:spLocks noGrp="1"/>
          </p:cNvSpPr>
          <p:nvPr>
            <p:ph idx="1"/>
          </p:nvPr>
        </p:nvSpPr>
        <p:spPr>
          <a:xfrm>
            <a:off x="314324" y="1133475"/>
            <a:ext cx="11591925" cy="5337174"/>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p:cNvSpPr>
            <a:spLocks noGrp="1"/>
          </p:cNvSpPr>
          <p:nvPr>
            <p:ph type="dt" sz="half" idx="10"/>
          </p:nvPr>
        </p:nvSpPr>
        <p:spPr>
          <a:xfrm>
            <a:off x="314324" y="6527800"/>
            <a:ext cx="2743200" cy="187325"/>
          </a:xfrm>
        </p:spPr>
        <p:txBody>
          <a:bodyPr/>
          <a:lstStyle/>
          <a:p>
            <a:endParaRPr lang="es-PE"/>
          </a:p>
        </p:txBody>
      </p:sp>
      <p:sp>
        <p:nvSpPr>
          <p:cNvPr id="5" name="Marcador de pie de página 4"/>
          <p:cNvSpPr>
            <a:spLocks noGrp="1"/>
          </p:cNvSpPr>
          <p:nvPr>
            <p:ph type="ftr" sz="quarter" idx="11"/>
          </p:nvPr>
        </p:nvSpPr>
        <p:spPr>
          <a:xfrm>
            <a:off x="3305175" y="6519636"/>
            <a:ext cx="5581650" cy="187326"/>
          </a:xfrm>
        </p:spPr>
        <p:txBody>
          <a:bodyPr/>
          <a:lstStyle/>
          <a:p>
            <a:endParaRPr lang="es-PE"/>
          </a:p>
        </p:txBody>
      </p:sp>
      <p:cxnSp>
        <p:nvCxnSpPr>
          <p:cNvPr id="11" name="Conector recto 10"/>
          <p:cNvCxnSpPr/>
          <p:nvPr/>
        </p:nvCxnSpPr>
        <p:spPr>
          <a:xfrm flipH="1">
            <a:off x="152400" y="951705"/>
            <a:ext cx="11916000" cy="0"/>
          </a:xfrm>
          <a:prstGeom prst="line">
            <a:avLst/>
          </a:prstGeom>
          <a:ln>
            <a:solidFill>
              <a:schemeClr val="bg1">
                <a:lumMod val="85000"/>
              </a:schemeClr>
            </a:solidFill>
          </a:ln>
        </p:spPr>
        <p:style>
          <a:lnRef idx="1">
            <a:schemeClr val="accent3"/>
          </a:lnRef>
          <a:fillRef idx="0">
            <a:schemeClr val="accent3"/>
          </a:fillRef>
          <a:effectRef idx="0">
            <a:schemeClr val="accent3"/>
          </a:effectRef>
          <a:fontRef idx="minor">
            <a:schemeClr val="tx1"/>
          </a:fontRef>
        </p:style>
      </p:cxnSp>
      <p:sp>
        <p:nvSpPr>
          <p:cNvPr id="12" name="Lágrima 11"/>
          <p:cNvSpPr/>
          <p:nvPr/>
        </p:nvSpPr>
        <p:spPr>
          <a:xfrm rot="5400000">
            <a:off x="11852300" y="6515100"/>
            <a:ext cx="339698" cy="339698"/>
          </a:xfrm>
          <a:prstGeom prst="teardrop">
            <a:avLst/>
          </a:prstGeom>
          <a:solidFill>
            <a:srgbClr val="CDCE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6" name="Marcador de número de diapositiva 5"/>
          <p:cNvSpPr>
            <a:spLocks noGrp="1"/>
          </p:cNvSpPr>
          <p:nvPr>
            <p:ph type="sldNum" sz="quarter" idx="12"/>
          </p:nvPr>
        </p:nvSpPr>
        <p:spPr>
          <a:xfrm>
            <a:off x="11820749" y="6577012"/>
            <a:ext cx="396000" cy="187326"/>
          </a:xfrm>
        </p:spPr>
        <p:txBody>
          <a:bodyPr/>
          <a:lstStyle/>
          <a:p>
            <a:fld id="{DAF31D20-51B2-49A6-91FA-1FC48A60B42D}" type="slidenum">
              <a:rPr lang="es-PE" smtClean="0"/>
              <a:t>‹#›</a:t>
            </a:fld>
            <a:endParaRPr lang="es-PE"/>
          </a:p>
        </p:txBody>
      </p:sp>
    </p:spTree>
    <p:extLst>
      <p:ext uri="{BB962C8B-B14F-4D97-AF65-F5344CB8AC3E}">
        <p14:creationId xmlns:p14="http://schemas.microsoft.com/office/powerpoint/2010/main" val="9851070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aratula o encabezado">
    <p:spTree>
      <p:nvGrpSpPr>
        <p:cNvPr id="1" name=""/>
        <p:cNvGrpSpPr/>
        <p:nvPr/>
      </p:nvGrpSpPr>
      <p:grpSpPr>
        <a:xfrm>
          <a:off x="0" y="0"/>
          <a:ext cx="0" cy="0"/>
          <a:chOff x="0" y="0"/>
          <a:chExt cx="0" cy="0"/>
        </a:xfrm>
      </p:grpSpPr>
      <p:sp>
        <p:nvSpPr>
          <p:cNvPr id="19" name="Rectángulo 18"/>
          <p:cNvSpPr/>
          <p:nvPr/>
        </p:nvSpPr>
        <p:spPr>
          <a:xfrm>
            <a:off x="-139700" y="-139700"/>
            <a:ext cx="12458699" cy="7137400"/>
          </a:xfrm>
          <a:prstGeom prst="rect">
            <a:avLst/>
          </a:pr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grpSp>
        <p:nvGrpSpPr>
          <p:cNvPr id="4" name="Grupo 3"/>
          <p:cNvGrpSpPr/>
          <p:nvPr/>
        </p:nvGrpSpPr>
        <p:grpSpPr>
          <a:xfrm>
            <a:off x="-5463" y="-6907"/>
            <a:ext cx="12192000" cy="6864907"/>
            <a:chOff x="7237" y="-6907"/>
            <a:chExt cx="12192000" cy="6864907"/>
          </a:xfrm>
        </p:grpSpPr>
        <p:sp>
          <p:nvSpPr>
            <p:cNvPr id="8" name="Rectángulo 7"/>
            <p:cNvSpPr/>
            <p:nvPr userDrawn="1"/>
          </p:nvSpPr>
          <p:spPr>
            <a:xfrm>
              <a:off x="7237" y="4267200"/>
              <a:ext cx="12192000" cy="2590799"/>
            </a:xfrm>
            <a:prstGeom prst="rect">
              <a:avLst/>
            </a:prstGeom>
            <a:solidFill>
              <a:srgbClr val="E5E5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PE"/>
            </a:p>
          </p:txBody>
        </p:sp>
        <p:sp>
          <p:nvSpPr>
            <p:cNvPr id="7" name="Rectángulo 6"/>
            <p:cNvSpPr/>
            <p:nvPr userDrawn="1"/>
          </p:nvSpPr>
          <p:spPr>
            <a:xfrm>
              <a:off x="7237" y="-6905"/>
              <a:ext cx="12192000" cy="4216400"/>
            </a:xfrm>
            <a:prstGeom prst="rect">
              <a:avLst/>
            </a:prstGeom>
            <a:solidFill>
              <a:srgbClr val="C8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PE"/>
            </a:p>
          </p:txBody>
        </p:sp>
        <p:sp>
          <p:nvSpPr>
            <p:cNvPr id="21" name="Triángulo isósceles 20"/>
            <p:cNvSpPr/>
            <p:nvPr userDrawn="1"/>
          </p:nvSpPr>
          <p:spPr>
            <a:xfrm>
              <a:off x="5257417" y="3169920"/>
              <a:ext cx="6941820" cy="3688080"/>
            </a:xfrm>
            <a:prstGeom prst="triangle">
              <a:avLst>
                <a:gd name="adj" fmla="val 100000"/>
              </a:avLst>
            </a:prstGeom>
            <a:solidFill>
              <a:srgbClr val="EBEC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2" name="Triángulo isósceles 21"/>
            <p:cNvSpPr/>
            <p:nvPr userDrawn="1"/>
          </p:nvSpPr>
          <p:spPr>
            <a:xfrm flipV="1">
              <a:off x="5470777" y="-6907"/>
              <a:ext cx="6728460" cy="6064805"/>
            </a:xfrm>
            <a:prstGeom prst="triangle">
              <a:avLst>
                <a:gd name="adj" fmla="val 100000"/>
              </a:avLst>
            </a:prstGeom>
            <a:solidFill>
              <a:srgbClr val="AF0D1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3" name="Triángulo isósceles 22"/>
            <p:cNvSpPr/>
            <p:nvPr userDrawn="1"/>
          </p:nvSpPr>
          <p:spPr>
            <a:xfrm rot="16200000">
              <a:off x="9667969" y="3526631"/>
              <a:ext cx="2962274" cy="2100262"/>
            </a:xfrm>
            <a:prstGeom prst="triangle">
              <a:avLst>
                <a:gd name="adj" fmla="val 6173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grpSp>
      <p:sp>
        <p:nvSpPr>
          <p:cNvPr id="16" name="Rectángulo 15"/>
          <p:cNvSpPr/>
          <p:nvPr/>
        </p:nvSpPr>
        <p:spPr>
          <a:xfrm>
            <a:off x="9147173" y="5828839"/>
            <a:ext cx="2304000" cy="612000"/>
          </a:xfrm>
          <a:prstGeom prst="rect">
            <a:avLst/>
          </a:prstGeom>
          <a:solidFill>
            <a:schemeClr val="bg1"/>
          </a:solidFill>
          <a:ln>
            <a:noFill/>
          </a:ln>
          <a:effectLst>
            <a:outerShdw blurRad="76200" dir="13500000" sy="23000" kx="1200000" algn="b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cxnSp>
        <p:nvCxnSpPr>
          <p:cNvPr id="11" name="Conector recto 10"/>
          <p:cNvCxnSpPr/>
          <p:nvPr/>
        </p:nvCxnSpPr>
        <p:spPr>
          <a:xfrm flipH="1">
            <a:off x="-4763" y="6526513"/>
            <a:ext cx="12204000" cy="0"/>
          </a:xfrm>
          <a:prstGeom prst="line">
            <a:avLst/>
          </a:prstGeom>
          <a:ln>
            <a:solidFill>
              <a:schemeClr val="bg1"/>
            </a:solidFill>
          </a:ln>
        </p:spPr>
        <p:style>
          <a:lnRef idx="1">
            <a:schemeClr val="accent3"/>
          </a:lnRef>
          <a:fillRef idx="0">
            <a:schemeClr val="accent3"/>
          </a:fillRef>
          <a:effectRef idx="0">
            <a:schemeClr val="accent3"/>
          </a:effectRef>
          <a:fontRef idx="minor">
            <a:schemeClr val="tx1"/>
          </a:fontRef>
        </p:style>
      </p:cxnSp>
      <p:pic>
        <p:nvPicPr>
          <p:cNvPr id="12" name="Imagen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04325" y="5886502"/>
            <a:ext cx="2190750" cy="496632"/>
          </a:xfrm>
          <a:prstGeom prst="rect">
            <a:avLst/>
          </a:prstGeom>
        </p:spPr>
      </p:pic>
      <p:sp>
        <p:nvSpPr>
          <p:cNvPr id="6" name="Marcador de texto 5"/>
          <p:cNvSpPr>
            <a:spLocks noGrp="1"/>
          </p:cNvSpPr>
          <p:nvPr>
            <p:ph type="body" sz="quarter" idx="10" hasCustomPrompt="1"/>
          </p:nvPr>
        </p:nvSpPr>
        <p:spPr>
          <a:xfrm>
            <a:off x="808190" y="5932336"/>
            <a:ext cx="1414593" cy="381000"/>
          </a:xfrm>
        </p:spPr>
        <p:txBody>
          <a:bodyPr anchor="ctr">
            <a:noAutofit/>
          </a:bodyPr>
          <a:lstStyle>
            <a:lvl1pPr marL="0" indent="0">
              <a:buNone/>
              <a:defRPr sz="1100" baseline="0">
                <a:solidFill>
                  <a:schemeClr val="bg1">
                    <a:lumMod val="50000"/>
                  </a:schemeClr>
                </a:solidFill>
              </a:defRPr>
            </a:lvl1pPr>
            <a:lvl2pPr marL="457200" indent="0">
              <a:buNone/>
              <a:defRPr sz="1050">
                <a:solidFill>
                  <a:schemeClr val="bg1">
                    <a:lumMod val="50000"/>
                  </a:schemeClr>
                </a:solidFill>
              </a:defRPr>
            </a:lvl2pPr>
            <a:lvl3pPr marL="914400" indent="0">
              <a:buNone/>
              <a:defRPr sz="1000">
                <a:solidFill>
                  <a:schemeClr val="bg1">
                    <a:lumMod val="50000"/>
                  </a:schemeClr>
                </a:solidFill>
              </a:defRPr>
            </a:lvl3pPr>
            <a:lvl4pPr marL="1371600" indent="0">
              <a:buNone/>
              <a:defRPr sz="900">
                <a:solidFill>
                  <a:schemeClr val="bg1">
                    <a:lumMod val="50000"/>
                  </a:schemeClr>
                </a:solidFill>
              </a:defRPr>
            </a:lvl4pPr>
            <a:lvl5pPr marL="1828800" indent="0">
              <a:buNone/>
              <a:defRPr sz="900">
                <a:solidFill>
                  <a:schemeClr val="bg1">
                    <a:lumMod val="50000"/>
                  </a:schemeClr>
                </a:solidFill>
              </a:defRPr>
            </a:lvl5pPr>
          </a:lstStyle>
          <a:p>
            <a:pPr lvl="0"/>
            <a:r>
              <a:rPr lang="es-ES"/>
              <a:t>Ingrese fecha aquí</a:t>
            </a:r>
            <a:endParaRPr lang="es-PE"/>
          </a:p>
        </p:txBody>
      </p:sp>
      <p:cxnSp>
        <p:nvCxnSpPr>
          <p:cNvPr id="15" name="Conector recto 14"/>
          <p:cNvCxnSpPr/>
          <p:nvPr/>
        </p:nvCxnSpPr>
        <p:spPr>
          <a:xfrm flipH="1">
            <a:off x="-4763" y="6583663"/>
            <a:ext cx="12204000" cy="0"/>
          </a:xfrm>
          <a:prstGeom prst="line">
            <a:avLst/>
          </a:prstGeom>
          <a:ln>
            <a:solidFill>
              <a:schemeClr val="bg1"/>
            </a:solidFill>
          </a:ln>
        </p:spPr>
        <p:style>
          <a:lnRef idx="1">
            <a:schemeClr val="accent3"/>
          </a:lnRef>
          <a:fillRef idx="0">
            <a:schemeClr val="accent3"/>
          </a:fillRef>
          <a:effectRef idx="0">
            <a:schemeClr val="accent3"/>
          </a:effectRef>
          <a:fontRef idx="minor">
            <a:schemeClr val="tx1"/>
          </a:fontRef>
        </p:style>
      </p:cxnSp>
      <p:sp>
        <p:nvSpPr>
          <p:cNvPr id="2" name="Título 1"/>
          <p:cNvSpPr>
            <a:spLocks noGrp="1"/>
          </p:cNvSpPr>
          <p:nvPr>
            <p:ph type="title"/>
          </p:nvPr>
        </p:nvSpPr>
        <p:spPr>
          <a:xfrm>
            <a:off x="1983675" y="2095612"/>
            <a:ext cx="8115300" cy="1962150"/>
          </a:xfrm>
        </p:spPr>
        <p:txBody>
          <a:bodyPr anchor="ctr">
            <a:normAutofit/>
          </a:bodyPr>
          <a:lstStyle>
            <a:lvl1pPr algn="ctr">
              <a:defRPr sz="4800">
                <a:solidFill>
                  <a:schemeClr val="bg1"/>
                </a:solidFill>
                <a:effectLst>
                  <a:outerShdw blurRad="38100" dist="38100" dir="2700000" algn="tl">
                    <a:srgbClr val="000000">
                      <a:alpha val="43137"/>
                    </a:srgbClr>
                  </a:outerShdw>
                </a:effectLst>
              </a:defRPr>
            </a:lvl1pPr>
          </a:lstStyle>
          <a:p>
            <a:r>
              <a:rPr lang="es-ES"/>
              <a:t>Haga clic para modificar el estilo de título del patrón</a:t>
            </a:r>
            <a:endParaRPr lang="es-PE"/>
          </a:p>
        </p:txBody>
      </p:sp>
      <p:sp>
        <p:nvSpPr>
          <p:cNvPr id="3" name="Marcador de texto 2"/>
          <p:cNvSpPr>
            <a:spLocks noGrp="1"/>
          </p:cNvSpPr>
          <p:nvPr>
            <p:ph type="body" idx="1"/>
          </p:nvPr>
        </p:nvSpPr>
        <p:spPr>
          <a:xfrm>
            <a:off x="1983675" y="4398145"/>
            <a:ext cx="8103573" cy="742847"/>
          </a:xfrm>
        </p:spPr>
        <p:txBody>
          <a:bodyPr/>
          <a:lstStyle>
            <a:lvl1pPr marL="0" indent="0" algn="ctr">
              <a:buNone/>
              <a:defRPr sz="2400" b="1">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el estilo de texto del patrón</a:t>
            </a:r>
          </a:p>
        </p:txBody>
      </p:sp>
      <p:sp>
        <p:nvSpPr>
          <p:cNvPr id="14" name="Rectángulo 13"/>
          <p:cNvSpPr/>
          <p:nvPr/>
        </p:nvSpPr>
        <p:spPr>
          <a:xfrm>
            <a:off x="4337050" y="412750"/>
            <a:ext cx="3556000" cy="806450"/>
          </a:xfrm>
          <a:prstGeom prst="rect">
            <a:avLst/>
          </a:prstGeom>
          <a:solidFill>
            <a:schemeClr val="bg1"/>
          </a:solidFill>
          <a:ln>
            <a:noFill/>
          </a:ln>
          <a:effectLst>
            <a:outerShdw blurRad="76200" dir="13500000" sy="23000" kx="1200000" algn="b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pic>
        <p:nvPicPr>
          <p:cNvPr id="13" name="Imagen 1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451350" y="446956"/>
            <a:ext cx="3399364" cy="740494"/>
          </a:xfrm>
          <a:prstGeom prst="rect">
            <a:avLst/>
          </a:prstGeom>
        </p:spPr>
      </p:pic>
      <p:sp>
        <p:nvSpPr>
          <p:cNvPr id="10" name="Marcador de número de diapositiva 9"/>
          <p:cNvSpPr>
            <a:spLocks noGrp="1"/>
          </p:cNvSpPr>
          <p:nvPr>
            <p:ph type="sldNum" sz="quarter" idx="13"/>
          </p:nvPr>
        </p:nvSpPr>
        <p:spPr>
          <a:xfrm>
            <a:off x="11782425" y="6614994"/>
            <a:ext cx="396000" cy="192206"/>
          </a:xfrm>
          <a:effectLst/>
        </p:spPr>
        <p:txBody>
          <a:bodyPr/>
          <a:lstStyle>
            <a:lvl1pPr>
              <a:defRPr>
                <a:solidFill>
                  <a:schemeClr val="bg1">
                    <a:lumMod val="65000"/>
                  </a:schemeClr>
                </a:solidFill>
              </a:defRPr>
            </a:lvl1pPr>
          </a:lstStyle>
          <a:p>
            <a:fld id="{DAF31D20-51B2-49A6-91FA-1FC48A60B42D}" type="slidenum">
              <a:rPr lang="es-PE" smtClean="0"/>
              <a:t>‹#›</a:t>
            </a:fld>
            <a:endParaRPr lang="es-PE"/>
          </a:p>
        </p:txBody>
      </p:sp>
    </p:spTree>
    <p:extLst>
      <p:ext uri="{BB962C8B-B14F-4D97-AF65-F5344CB8AC3E}">
        <p14:creationId xmlns:p14="http://schemas.microsoft.com/office/powerpoint/2010/main" val="15770405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os objetos">
    <p:spTree>
      <p:nvGrpSpPr>
        <p:cNvPr id="1" name=""/>
        <p:cNvGrpSpPr/>
        <p:nvPr/>
      </p:nvGrpSpPr>
      <p:grpSpPr>
        <a:xfrm>
          <a:off x="0" y="0"/>
          <a:ext cx="0" cy="0"/>
          <a:chOff x="0" y="0"/>
          <a:chExt cx="0" cy="0"/>
        </a:xfrm>
      </p:grpSpPr>
      <p:sp>
        <p:nvSpPr>
          <p:cNvPr id="8" name="Forma libre 7"/>
          <p:cNvSpPr/>
          <p:nvPr/>
        </p:nvSpPr>
        <p:spPr>
          <a:xfrm>
            <a:off x="138327" y="164307"/>
            <a:ext cx="11925300" cy="6557166"/>
          </a:xfrm>
          <a:custGeom>
            <a:avLst/>
            <a:gdLst>
              <a:gd name="connsiteX0" fmla="*/ 0 w 11925300"/>
              <a:gd name="connsiteY0" fmla="*/ 0 h 6557166"/>
              <a:gd name="connsiteX1" fmla="*/ 8436245 w 11925300"/>
              <a:gd name="connsiteY1" fmla="*/ 0 h 6557166"/>
              <a:gd name="connsiteX2" fmla="*/ 9420122 w 11925300"/>
              <a:gd name="connsiteY2" fmla="*/ 721517 h 6557166"/>
              <a:gd name="connsiteX3" fmla="*/ 11925300 w 11925300"/>
              <a:gd name="connsiteY3" fmla="*/ 721517 h 6557166"/>
              <a:gd name="connsiteX4" fmla="*/ 11925300 w 11925300"/>
              <a:gd name="connsiteY4" fmla="*/ 6557166 h 6557166"/>
              <a:gd name="connsiteX5" fmla="*/ 0 w 11925300"/>
              <a:gd name="connsiteY5" fmla="*/ 6557166 h 6557166"/>
              <a:gd name="connsiteX6" fmla="*/ 0 w 11925300"/>
              <a:gd name="connsiteY6" fmla="*/ 875271 h 6557166"/>
              <a:gd name="connsiteX7" fmla="*/ 0 w 11925300"/>
              <a:gd name="connsiteY7" fmla="*/ 721517 h 6557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925300" h="6557166">
                <a:moveTo>
                  <a:pt x="0" y="0"/>
                </a:moveTo>
                <a:lnTo>
                  <a:pt x="8436245" y="0"/>
                </a:lnTo>
                <a:lnTo>
                  <a:pt x="9420122" y="721517"/>
                </a:lnTo>
                <a:lnTo>
                  <a:pt x="11925300" y="721517"/>
                </a:lnTo>
                <a:lnTo>
                  <a:pt x="11925300" y="6557166"/>
                </a:lnTo>
                <a:lnTo>
                  <a:pt x="0" y="6557166"/>
                </a:lnTo>
                <a:lnTo>
                  <a:pt x="0" y="875271"/>
                </a:lnTo>
                <a:lnTo>
                  <a:pt x="0" y="721517"/>
                </a:lnTo>
                <a:close/>
              </a:path>
            </a:pathLst>
          </a:cu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s-PE"/>
          </a:p>
        </p:txBody>
      </p:sp>
      <p:sp>
        <p:nvSpPr>
          <p:cNvPr id="2" name="Título 1"/>
          <p:cNvSpPr>
            <a:spLocks noGrp="1"/>
          </p:cNvSpPr>
          <p:nvPr>
            <p:ph type="title" hasCustomPrompt="1"/>
          </p:nvPr>
        </p:nvSpPr>
        <p:spPr>
          <a:xfrm>
            <a:off x="508001" y="180022"/>
            <a:ext cx="8483600" cy="1001078"/>
          </a:xfrm>
        </p:spPr>
        <p:txBody>
          <a:bodyPr/>
          <a:lstStyle>
            <a:lvl1pPr>
              <a:defRPr sz="3200">
                <a:solidFill>
                  <a:schemeClr val="tx2"/>
                </a:solidFill>
              </a:defRPr>
            </a:lvl1pPr>
          </a:lstStyle>
          <a:p>
            <a:r>
              <a:rPr lang="es-ES"/>
              <a:t>Haga clic para modificar el título</a:t>
            </a:r>
            <a:endParaRPr lang="es-PE"/>
          </a:p>
        </p:txBody>
      </p:sp>
      <p:sp>
        <p:nvSpPr>
          <p:cNvPr id="5" name="Marcador de fecha 4"/>
          <p:cNvSpPr>
            <a:spLocks noGrp="1"/>
          </p:cNvSpPr>
          <p:nvPr>
            <p:ph type="dt" sz="half" idx="10"/>
          </p:nvPr>
        </p:nvSpPr>
        <p:spPr>
          <a:xfrm>
            <a:off x="142353" y="6559498"/>
            <a:ext cx="2743200" cy="161977"/>
          </a:xfrm>
        </p:spPr>
        <p:txBody>
          <a:bodyPr/>
          <a:lstStyle/>
          <a:p>
            <a:endParaRPr lang="es-PE"/>
          </a:p>
        </p:txBody>
      </p:sp>
      <p:sp>
        <p:nvSpPr>
          <p:cNvPr id="6" name="Marcador de pie de página 5"/>
          <p:cNvSpPr>
            <a:spLocks noGrp="1"/>
          </p:cNvSpPr>
          <p:nvPr>
            <p:ph type="ftr" sz="quarter" idx="11"/>
          </p:nvPr>
        </p:nvSpPr>
        <p:spPr>
          <a:xfrm>
            <a:off x="4038600" y="6559498"/>
            <a:ext cx="4114800" cy="161977"/>
          </a:xfrm>
        </p:spPr>
        <p:txBody>
          <a:bodyPr/>
          <a:lstStyle/>
          <a:p>
            <a:endParaRPr lang="es-PE"/>
          </a:p>
        </p:txBody>
      </p:sp>
      <p:sp>
        <p:nvSpPr>
          <p:cNvPr id="3" name="Lágrima 2"/>
          <p:cNvSpPr/>
          <p:nvPr/>
        </p:nvSpPr>
        <p:spPr>
          <a:xfrm rot="5400000">
            <a:off x="11852300" y="6515100"/>
            <a:ext cx="339698" cy="339698"/>
          </a:xfrm>
          <a:prstGeom prst="teardrop">
            <a:avLst/>
          </a:prstGeom>
          <a:solidFill>
            <a:srgbClr val="CDCE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7" name="Marcador de número de diapositiva 6"/>
          <p:cNvSpPr>
            <a:spLocks noGrp="1"/>
          </p:cNvSpPr>
          <p:nvPr>
            <p:ph type="sldNum" sz="quarter" idx="12"/>
          </p:nvPr>
        </p:nvSpPr>
        <p:spPr>
          <a:xfrm>
            <a:off x="11806149" y="6595217"/>
            <a:ext cx="432000" cy="161977"/>
          </a:xfrm>
        </p:spPr>
        <p:txBody>
          <a:bodyPr/>
          <a:lstStyle/>
          <a:p>
            <a:fld id="{DAF31D20-51B2-49A6-91FA-1FC48A60B42D}" type="slidenum">
              <a:rPr lang="es-PE" smtClean="0"/>
              <a:t>‹#›</a:t>
            </a:fld>
            <a:endParaRPr lang="es-PE"/>
          </a:p>
        </p:txBody>
      </p:sp>
    </p:spTree>
    <p:extLst>
      <p:ext uri="{BB962C8B-B14F-4D97-AF65-F5344CB8AC3E}">
        <p14:creationId xmlns:p14="http://schemas.microsoft.com/office/powerpoint/2010/main" val="9245999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contenido Solo el título">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355600" y="199072"/>
            <a:ext cx="8831943" cy="721517"/>
          </a:xfrm>
        </p:spPr>
        <p:txBody>
          <a:bodyPr/>
          <a:lstStyle>
            <a:lvl1pPr>
              <a:defRPr sz="3200">
                <a:solidFill>
                  <a:schemeClr val="tx2"/>
                </a:solidFill>
              </a:defRPr>
            </a:lvl1pPr>
          </a:lstStyle>
          <a:p>
            <a:r>
              <a:rPr lang="es-ES"/>
              <a:t>Haga clic para modificar el título</a:t>
            </a:r>
            <a:endParaRPr lang="es-PE"/>
          </a:p>
        </p:txBody>
      </p:sp>
      <p:sp>
        <p:nvSpPr>
          <p:cNvPr id="3" name="Marcador de fecha 2"/>
          <p:cNvSpPr>
            <a:spLocks noGrp="1"/>
          </p:cNvSpPr>
          <p:nvPr>
            <p:ph type="dt" sz="half" idx="10"/>
          </p:nvPr>
        </p:nvSpPr>
        <p:spPr>
          <a:xfrm>
            <a:off x="142354" y="6559498"/>
            <a:ext cx="2743200" cy="161977"/>
          </a:xfrm>
        </p:spPr>
        <p:txBody>
          <a:bodyPr/>
          <a:lstStyle/>
          <a:p>
            <a:endParaRPr lang="es-PE"/>
          </a:p>
        </p:txBody>
      </p:sp>
      <p:sp>
        <p:nvSpPr>
          <p:cNvPr id="4" name="Marcador de pie de página 3"/>
          <p:cNvSpPr>
            <a:spLocks noGrp="1"/>
          </p:cNvSpPr>
          <p:nvPr>
            <p:ph type="ftr" sz="quarter" idx="11"/>
          </p:nvPr>
        </p:nvSpPr>
        <p:spPr>
          <a:xfrm>
            <a:off x="4038600" y="6559498"/>
            <a:ext cx="4114800" cy="161977"/>
          </a:xfrm>
        </p:spPr>
        <p:txBody>
          <a:bodyPr/>
          <a:lstStyle/>
          <a:p>
            <a:endParaRPr lang="es-PE"/>
          </a:p>
        </p:txBody>
      </p:sp>
      <p:sp>
        <p:nvSpPr>
          <p:cNvPr id="5" name="Marcador de número de diapositiva 4"/>
          <p:cNvSpPr>
            <a:spLocks noGrp="1"/>
          </p:cNvSpPr>
          <p:nvPr>
            <p:ph type="sldNum" sz="quarter" idx="12"/>
          </p:nvPr>
        </p:nvSpPr>
        <p:spPr>
          <a:xfrm>
            <a:off x="11808614" y="6559497"/>
            <a:ext cx="432000" cy="252000"/>
          </a:xfrm>
        </p:spPr>
        <p:txBody>
          <a:bodyPr/>
          <a:lstStyle>
            <a:lvl1pPr>
              <a:defRPr sz="1050"/>
            </a:lvl1pPr>
          </a:lstStyle>
          <a:p>
            <a:fld id="{DAF31D20-51B2-49A6-91FA-1FC48A60B42D}" type="slidenum">
              <a:rPr lang="es-PE" smtClean="0"/>
              <a:t>‹#›</a:t>
            </a:fld>
            <a:endParaRPr lang="es-PE"/>
          </a:p>
        </p:txBody>
      </p:sp>
    </p:spTree>
    <p:extLst>
      <p:ext uri="{BB962C8B-B14F-4D97-AF65-F5344CB8AC3E}">
        <p14:creationId xmlns:p14="http://schemas.microsoft.com/office/powerpoint/2010/main" val="3220454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ogo MINEDU">
    <p:spTree>
      <p:nvGrpSpPr>
        <p:cNvPr id="1" name=""/>
        <p:cNvGrpSpPr/>
        <p:nvPr/>
      </p:nvGrpSpPr>
      <p:grpSpPr>
        <a:xfrm>
          <a:off x="0" y="0"/>
          <a:ext cx="0" cy="0"/>
          <a:chOff x="0" y="0"/>
          <a:chExt cx="0" cy="0"/>
        </a:xfrm>
      </p:grpSpPr>
      <p:sp>
        <p:nvSpPr>
          <p:cNvPr id="7" name="Rectángulo 6"/>
          <p:cNvSpPr/>
          <p:nvPr/>
        </p:nvSpPr>
        <p:spPr>
          <a:xfrm>
            <a:off x="0" y="0"/>
            <a:ext cx="12192000" cy="685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9" name="Lágrima 8"/>
          <p:cNvSpPr/>
          <p:nvPr/>
        </p:nvSpPr>
        <p:spPr>
          <a:xfrm rot="5400000">
            <a:off x="11852300" y="6515100"/>
            <a:ext cx="339698" cy="339698"/>
          </a:xfrm>
          <a:prstGeom prst="teardrop">
            <a:avLst/>
          </a:prstGeom>
          <a:solidFill>
            <a:srgbClr val="CDCE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4" name="Marcador de número de diapositiva 3"/>
          <p:cNvSpPr>
            <a:spLocks noGrp="1"/>
          </p:cNvSpPr>
          <p:nvPr>
            <p:ph type="sldNum" sz="quarter" idx="12"/>
          </p:nvPr>
        </p:nvSpPr>
        <p:spPr>
          <a:xfrm>
            <a:off x="11833562" y="6576894"/>
            <a:ext cx="396000" cy="216000"/>
          </a:xfrm>
        </p:spPr>
        <p:txBody>
          <a:bodyPr/>
          <a:lstStyle>
            <a:lvl1pPr>
              <a:defRPr sz="1050"/>
            </a:lvl1pPr>
          </a:lstStyle>
          <a:p>
            <a:fld id="{DAF31D20-51B2-49A6-91FA-1FC48A60B42D}" type="slidenum">
              <a:rPr lang="es-PE" smtClean="0"/>
              <a:t>‹#›</a:t>
            </a:fld>
            <a:endParaRPr lang="es-PE"/>
          </a:p>
        </p:txBody>
      </p:sp>
      <p:pic>
        <p:nvPicPr>
          <p:cNvPr id="6" name="Imagen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24975" y="260350"/>
            <a:ext cx="2436411" cy="530731"/>
          </a:xfrm>
          <a:prstGeom prst="rect">
            <a:avLst/>
          </a:prstGeom>
        </p:spPr>
      </p:pic>
    </p:spTree>
    <p:extLst>
      <p:ext uri="{BB962C8B-B14F-4D97-AF65-F5344CB8AC3E}">
        <p14:creationId xmlns:p14="http://schemas.microsoft.com/office/powerpoint/2010/main" val="529650990"/>
      </p:ext>
    </p:extLst>
  </p:cSld>
  <p:clrMapOvr>
    <a:masterClrMapping/>
  </p:clrMapOvr>
  <p:extLst>
    <p:ext uri="{DCECCB84-F9BA-43D5-87BE-67443E8EF086}">
      <p15:sldGuideLst xmlns:p15="http://schemas.microsoft.com/office/powerpoint/2012/main">
        <p15:guide id="1" orient="horz" pos="164">
          <p15:clr>
            <a:srgbClr val="FBAE40"/>
          </p15:clr>
        </p15:guide>
        <p15:guide id="2" pos="279">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308927" y="1135019"/>
            <a:ext cx="3932237" cy="1437363"/>
          </a:xfrm>
        </p:spPr>
        <p:txBody>
          <a:bodyPr anchor="b"/>
          <a:lstStyle>
            <a:lvl1pPr>
              <a:defRPr sz="3200">
                <a:solidFill>
                  <a:schemeClr val="tx1">
                    <a:lumMod val="65000"/>
                    <a:lumOff val="35000"/>
                  </a:schemeClr>
                </a:solidFill>
              </a:defRPr>
            </a:lvl1pPr>
          </a:lstStyle>
          <a:p>
            <a:r>
              <a:rPr lang="es-ES"/>
              <a:t>Haga clic para modificar el estilo de título del patrón</a:t>
            </a:r>
            <a:endParaRPr lang="es-PE"/>
          </a:p>
        </p:txBody>
      </p:sp>
      <p:sp>
        <p:nvSpPr>
          <p:cNvPr id="3" name="Marcador de posición de imagen 2"/>
          <p:cNvSpPr>
            <a:spLocks noGrp="1"/>
          </p:cNvSpPr>
          <p:nvPr>
            <p:ph type="pic" idx="1"/>
          </p:nvPr>
        </p:nvSpPr>
        <p:spPr>
          <a:xfrm>
            <a:off x="4426857" y="1135018"/>
            <a:ext cx="7474857" cy="5248953"/>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s-PE"/>
          </a:p>
        </p:txBody>
      </p:sp>
      <p:sp>
        <p:nvSpPr>
          <p:cNvPr id="4" name="Marcador de texto 3"/>
          <p:cNvSpPr>
            <a:spLocks noGrp="1"/>
          </p:cNvSpPr>
          <p:nvPr>
            <p:ph type="body" sz="half" idx="2"/>
          </p:nvPr>
        </p:nvSpPr>
        <p:spPr>
          <a:xfrm>
            <a:off x="308927" y="2732793"/>
            <a:ext cx="3932237" cy="3651179"/>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el estilo de texto del patrón</a:t>
            </a:r>
          </a:p>
        </p:txBody>
      </p:sp>
      <p:sp>
        <p:nvSpPr>
          <p:cNvPr id="5" name="Marcador de fecha 4"/>
          <p:cNvSpPr>
            <a:spLocks noGrp="1"/>
          </p:cNvSpPr>
          <p:nvPr>
            <p:ph type="dt" sz="half" idx="10"/>
          </p:nvPr>
        </p:nvSpPr>
        <p:spPr>
          <a:xfrm>
            <a:off x="150511" y="6544383"/>
            <a:ext cx="2743200" cy="177092"/>
          </a:xfrm>
        </p:spPr>
        <p:txBody>
          <a:bodyPr/>
          <a:lstStyle/>
          <a:p>
            <a:endParaRPr lang="es-PE"/>
          </a:p>
        </p:txBody>
      </p:sp>
      <p:sp>
        <p:nvSpPr>
          <p:cNvPr id="6" name="Marcador de pie de página 5"/>
          <p:cNvSpPr>
            <a:spLocks noGrp="1"/>
          </p:cNvSpPr>
          <p:nvPr>
            <p:ph type="ftr" sz="quarter" idx="11"/>
          </p:nvPr>
        </p:nvSpPr>
        <p:spPr>
          <a:xfrm>
            <a:off x="4038600" y="6544383"/>
            <a:ext cx="4114800" cy="177092"/>
          </a:xfrm>
        </p:spPr>
        <p:txBody>
          <a:bodyPr/>
          <a:lstStyle/>
          <a:p>
            <a:endParaRPr lang="es-PE"/>
          </a:p>
        </p:txBody>
      </p:sp>
      <p:sp>
        <p:nvSpPr>
          <p:cNvPr id="7" name="Marcador de número de diapositiva 6"/>
          <p:cNvSpPr>
            <a:spLocks noGrp="1"/>
          </p:cNvSpPr>
          <p:nvPr>
            <p:ph type="sldNum" sz="quarter" idx="12"/>
          </p:nvPr>
        </p:nvSpPr>
        <p:spPr>
          <a:xfrm>
            <a:off x="11796710" y="6562725"/>
            <a:ext cx="432000" cy="216000"/>
          </a:xfrm>
        </p:spPr>
        <p:txBody>
          <a:bodyPr/>
          <a:lstStyle>
            <a:lvl1pPr>
              <a:defRPr sz="1050"/>
            </a:lvl1pPr>
          </a:lstStyle>
          <a:p>
            <a:fld id="{DAF31D20-51B2-49A6-91FA-1FC48A60B42D}" type="slidenum">
              <a:rPr lang="es-PE" smtClean="0"/>
              <a:t>‹#›</a:t>
            </a:fld>
            <a:endParaRPr lang="es-PE"/>
          </a:p>
        </p:txBody>
      </p:sp>
      <p:sp>
        <p:nvSpPr>
          <p:cNvPr id="9" name="Marcador de texto 8"/>
          <p:cNvSpPr>
            <a:spLocks noGrp="1"/>
          </p:cNvSpPr>
          <p:nvPr>
            <p:ph type="body" sz="quarter" idx="13" hasCustomPrompt="1"/>
          </p:nvPr>
        </p:nvSpPr>
        <p:spPr>
          <a:xfrm>
            <a:off x="308926" y="161729"/>
            <a:ext cx="8922159" cy="752672"/>
          </a:xfrm>
        </p:spPr>
        <p:txBody>
          <a:bodyPr anchor="ctr">
            <a:noAutofit/>
          </a:bodyPr>
          <a:lstStyle>
            <a:lvl1pPr marL="0" indent="0">
              <a:buNone/>
              <a:defRPr sz="3200" b="1" spc="-100" baseline="0">
                <a:solidFill>
                  <a:schemeClr val="tx2"/>
                </a:solidFill>
              </a:defRPr>
            </a:lvl1pPr>
            <a:lvl2pPr marL="457200" indent="0">
              <a:buNone/>
              <a:defRPr sz="2400"/>
            </a:lvl2pPr>
            <a:lvl3pPr marL="914400" indent="0">
              <a:buNone/>
              <a:defRPr sz="2000"/>
            </a:lvl3pPr>
            <a:lvl4pPr marL="1371600" indent="0">
              <a:buNone/>
              <a:defRPr sz="1800"/>
            </a:lvl4pPr>
            <a:lvl5pPr marL="1828800" indent="0">
              <a:buNone/>
              <a:defRPr sz="1800"/>
            </a:lvl5pPr>
          </a:lstStyle>
          <a:p>
            <a:pPr lvl="0"/>
            <a:r>
              <a:rPr lang="es-ES"/>
              <a:t>Haga clic para modificar el texto</a:t>
            </a:r>
          </a:p>
        </p:txBody>
      </p:sp>
    </p:spTree>
    <p:extLst>
      <p:ext uri="{BB962C8B-B14F-4D97-AF65-F5344CB8AC3E}">
        <p14:creationId xmlns:p14="http://schemas.microsoft.com/office/powerpoint/2010/main" val="2095934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parador de temas">
    <p:spTree>
      <p:nvGrpSpPr>
        <p:cNvPr id="1" name=""/>
        <p:cNvGrpSpPr/>
        <p:nvPr/>
      </p:nvGrpSpPr>
      <p:grpSpPr>
        <a:xfrm>
          <a:off x="0" y="0"/>
          <a:ext cx="0" cy="0"/>
          <a:chOff x="0" y="0"/>
          <a:chExt cx="0" cy="0"/>
        </a:xfrm>
      </p:grpSpPr>
      <p:grpSp>
        <p:nvGrpSpPr>
          <p:cNvPr id="13" name="Grupo 12"/>
          <p:cNvGrpSpPr/>
          <p:nvPr/>
        </p:nvGrpSpPr>
        <p:grpSpPr>
          <a:xfrm>
            <a:off x="0" y="-1246"/>
            <a:ext cx="12192000" cy="6859246"/>
            <a:chOff x="0" y="-1246"/>
            <a:chExt cx="12192000" cy="6859246"/>
          </a:xfrm>
        </p:grpSpPr>
        <p:sp>
          <p:nvSpPr>
            <p:cNvPr id="14" name="Rectángulo 13"/>
            <p:cNvSpPr/>
            <p:nvPr userDrawn="1"/>
          </p:nvSpPr>
          <p:spPr>
            <a:xfrm>
              <a:off x="0" y="-1246"/>
              <a:ext cx="12192000" cy="6859246"/>
            </a:xfrm>
            <a:prstGeom prst="rect">
              <a:avLst/>
            </a:prstGeom>
            <a:pattFill prst="lgConfetti">
              <a:fgClr>
                <a:srgbClr val="EBECEE"/>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5" name="Triángulo isósceles 14"/>
            <p:cNvSpPr/>
            <p:nvPr userDrawn="1"/>
          </p:nvSpPr>
          <p:spPr>
            <a:xfrm flipV="1">
              <a:off x="6076950" y="-1246"/>
              <a:ext cx="6115050" cy="4859069"/>
            </a:xfrm>
            <a:prstGeom prst="triangle">
              <a:avLst>
                <a:gd name="adj" fmla="val 10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6" name="Triángulo isósceles 15"/>
            <p:cNvSpPr/>
            <p:nvPr userDrawn="1"/>
          </p:nvSpPr>
          <p:spPr>
            <a:xfrm>
              <a:off x="6076950" y="1998931"/>
              <a:ext cx="6115050" cy="4859069"/>
            </a:xfrm>
            <a:prstGeom prst="triangle">
              <a:avLst>
                <a:gd name="adj" fmla="val 10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grpSp>
      <p:sp>
        <p:nvSpPr>
          <p:cNvPr id="17" name="Triángulo isósceles 16"/>
          <p:cNvSpPr/>
          <p:nvPr/>
        </p:nvSpPr>
        <p:spPr>
          <a:xfrm rot="16200000">
            <a:off x="9854851" y="2531228"/>
            <a:ext cx="2880000" cy="1794297"/>
          </a:xfrm>
          <a:prstGeom prst="triangle">
            <a:avLst>
              <a:gd name="adj" fmla="val 49991"/>
            </a:avLst>
          </a:prstGeom>
          <a:solidFill>
            <a:srgbClr val="AF0D1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 name="Título 1"/>
          <p:cNvSpPr>
            <a:spLocks noGrp="1"/>
          </p:cNvSpPr>
          <p:nvPr>
            <p:ph type="title"/>
          </p:nvPr>
        </p:nvSpPr>
        <p:spPr>
          <a:xfrm>
            <a:off x="1333500" y="2343376"/>
            <a:ext cx="5865586" cy="2200275"/>
          </a:xfrm>
        </p:spPr>
        <p:txBody>
          <a:bodyPr>
            <a:noAutofit/>
          </a:bodyPr>
          <a:lstStyle>
            <a:lvl1pPr algn="l">
              <a:defRPr sz="3600">
                <a:solidFill>
                  <a:schemeClr val="tx2"/>
                </a:solidFill>
                <a:effectLst/>
              </a:defRPr>
            </a:lvl1pPr>
          </a:lstStyle>
          <a:p>
            <a:r>
              <a:rPr lang="es-ES"/>
              <a:t>Haga clic para modificar el estilo de título del patrón</a:t>
            </a:r>
            <a:endParaRPr lang="es-PE"/>
          </a:p>
        </p:txBody>
      </p:sp>
      <p:cxnSp>
        <p:nvCxnSpPr>
          <p:cNvPr id="8" name="Conector recto 7"/>
          <p:cNvCxnSpPr/>
          <p:nvPr/>
        </p:nvCxnSpPr>
        <p:spPr>
          <a:xfrm flipH="1">
            <a:off x="0" y="827388"/>
            <a:ext cx="12204000" cy="0"/>
          </a:xfrm>
          <a:prstGeom prst="line">
            <a:avLst/>
          </a:prstGeom>
          <a:ln w="12700">
            <a:solidFill>
              <a:schemeClr val="bg1"/>
            </a:solidFill>
          </a:ln>
        </p:spPr>
        <p:style>
          <a:lnRef idx="1">
            <a:schemeClr val="accent3"/>
          </a:lnRef>
          <a:fillRef idx="0">
            <a:schemeClr val="accent3"/>
          </a:fillRef>
          <a:effectRef idx="0">
            <a:schemeClr val="accent3"/>
          </a:effectRef>
          <a:fontRef idx="minor">
            <a:schemeClr val="tx1"/>
          </a:fontRef>
        </p:style>
      </p:cxnSp>
      <p:cxnSp>
        <p:nvCxnSpPr>
          <p:cNvPr id="9" name="Conector recto 8"/>
          <p:cNvCxnSpPr/>
          <p:nvPr/>
        </p:nvCxnSpPr>
        <p:spPr>
          <a:xfrm flipH="1">
            <a:off x="0" y="5961363"/>
            <a:ext cx="12204000" cy="0"/>
          </a:xfrm>
          <a:prstGeom prst="line">
            <a:avLst/>
          </a:prstGeom>
          <a:ln w="12700">
            <a:solidFill>
              <a:schemeClr val="bg1"/>
            </a:solidFill>
          </a:ln>
        </p:spPr>
        <p:style>
          <a:lnRef idx="1">
            <a:schemeClr val="accent3"/>
          </a:lnRef>
          <a:fillRef idx="0">
            <a:schemeClr val="accent3"/>
          </a:fillRef>
          <a:effectRef idx="0">
            <a:schemeClr val="accent3"/>
          </a:effectRef>
          <a:fontRef idx="minor">
            <a:schemeClr val="tx1"/>
          </a:fontRef>
        </p:style>
      </p:cxnSp>
      <p:sp>
        <p:nvSpPr>
          <p:cNvPr id="11" name="Rectángulo 10"/>
          <p:cNvSpPr/>
          <p:nvPr/>
        </p:nvSpPr>
        <p:spPr>
          <a:xfrm>
            <a:off x="870857" y="2343376"/>
            <a:ext cx="319314" cy="2200275"/>
          </a:xfrm>
          <a:prstGeom prst="rect">
            <a:avLst/>
          </a:prstGeom>
          <a:solidFill>
            <a:srgbClr val="AF0D1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0" name="Rectángulo 9"/>
          <p:cNvSpPr/>
          <p:nvPr/>
        </p:nvSpPr>
        <p:spPr>
          <a:xfrm>
            <a:off x="782865" y="2343376"/>
            <a:ext cx="319314" cy="22002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5" name="Marcador de número de diapositiva 4"/>
          <p:cNvSpPr>
            <a:spLocks noGrp="1"/>
          </p:cNvSpPr>
          <p:nvPr>
            <p:ph type="sldNum" sz="quarter" idx="12"/>
          </p:nvPr>
        </p:nvSpPr>
        <p:spPr>
          <a:xfrm>
            <a:off x="11820525" y="6586419"/>
            <a:ext cx="396000" cy="192206"/>
          </a:xfrm>
          <a:effectLst/>
        </p:spPr>
        <p:txBody>
          <a:bodyPr/>
          <a:lstStyle>
            <a:lvl1pPr>
              <a:defRPr>
                <a:solidFill>
                  <a:schemeClr val="bg1">
                    <a:lumMod val="65000"/>
                  </a:schemeClr>
                </a:solidFill>
                <a:effectLst/>
              </a:defRPr>
            </a:lvl1pPr>
          </a:lstStyle>
          <a:p>
            <a:fld id="{DAF31D20-51B2-49A6-91FA-1FC48A60B42D}" type="slidenum">
              <a:rPr lang="es-PE" smtClean="0"/>
              <a:t>‹#›</a:t>
            </a:fld>
            <a:endParaRPr lang="es-PE"/>
          </a:p>
        </p:txBody>
      </p:sp>
    </p:spTree>
    <p:extLst>
      <p:ext uri="{BB962C8B-B14F-4D97-AF65-F5344CB8AC3E}">
        <p14:creationId xmlns:p14="http://schemas.microsoft.com/office/powerpoint/2010/main" val="2644054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Logos finales">
    <p:spTree>
      <p:nvGrpSpPr>
        <p:cNvPr id="1" name=""/>
        <p:cNvGrpSpPr/>
        <p:nvPr/>
      </p:nvGrpSpPr>
      <p:grpSpPr>
        <a:xfrm>
          <a:off x="0" y="0"/>
          <a:ext cx="0" cy="0"/>
          <a:chOff x="0" y="0"/>
          <a:chExt cx="0" cy="0"/>
        </a:xfrm>
      </p:grpSpPr>
      <p:sp>
        <p:nvSpPr>
          <p:cNvPr id="3" name="Rectángulo 2"/>
          <p:cNvSpPr/>
          <p:nvPr/>
        </p:nvSpPr>
        <p:spPr>
          <a:xfrm>
            <a:off x="9467850" y="6734175"/>
            <a:ext cx="2733675" cy="133350"/>
          </a:xfrm>
          <a:prstGeom prst="rect">
            <a:avLst/>
          </a:prstGeom>
          <a:solidFill>
            <a:srgbClr val="CDCE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7" name="Rectángulo 6"/>
          <p:cNvSpPr/>
          <p:nvPr/>
        </p:nvSpPr>
        <p:spPr>
          <a:xfrm>
            <a:off x="0" y="161925"/>
            <a:ext cx="12192000" cy="656272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pic>
        <p:nvPicPr>
          <p:cNvPr id="8" name="Imagen 7" descr="1.png"/>
          <p:cNvPicPr>
            <a:picLocks noChangeAspect="1"/>
          </p:cNvPicPr>
          <p:nvPr/>
        </p:nvPicPr>
        <p:blipFill rotWithShape="1">
          <a:blip r:embed="rId2" cstate="print">
            <a:extLst>
              <a:ext uri="{28A0092B-C50C-407E-A947-70E740481C1C}">
                <a14:useLocalDpi xmlns:a14="http://schemas.microsoft.com/office/drawing/2010/main" val="0"/>
              </a:ext>
            </a:extLst>
          </a:blip>
          <a:srcRect l="1225" t="7069" r="640" b="2772"/>
          <a:stretch/>
        </p:blipFill>
        <p:spPr>
          <a:xfrm>
            <a:off x="669660" y="5820570"/>
            <a:ext cx="2292615" cy="499131"/>
          </a:xfrm>
          <a:prstGeom prst="rect">
            <a:avLst/>
          </a:prstGeom>
        </p:spPr>
      </p:pic>
      <p:pic>
        <p:nvPicPr>
          <p:cNvPr id="2" name="Imagen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344792" y="5820570"/>
            <a:ext cx="2295212" cy="499131"/>
          </a:xfrm>
          <a:prstGeom prst="rect">
            <a:avLst/>
          </a:prstGeom>
        </p:spPr>
      </p:pic>
      <p:grpSp>
        <p:nvGrpSpPr>
          <p:cNvPr id="6" name="Grupo 5"/>
          <p:cNvGrpSpPr/>
          <p:nvPr/>
        </p:nvGrpSpPr>
        <p:grpSpPr>
          <a:xfrm>
            <a:off x="3733801" y="1230389"/>
            <a:ext cx="4724400" cy="3666016"/>
            <a:chOff x="1383621" y="1155245"/>
            <a:chExt cx="7043738" cy="5465763"/>
          </a:xfrm>
        </p:grpSpPr>
        <p:sp>
          <p:nvSpPr>
            <p:cNvPr id="9" name="Freeform 5"/>
            <p:cNvSpPr>
              <a:spLocks/>
            </p:cNvSpPr>
            <p:nvPr/>
          </p:nvSpPr>
          <p:spPr bwMode="auto">
            <a:xfrm>
              <a:off x="5369834" y="4916033"/>
              <a:ext cx="1028700" cy="1704975"/>
            </a:xfrm>
            <a:custGeom>
              <a:avLst/>
              <a:gdLst>
                <a:gd name="T0" fmla="*/ 78 w 1943"/>
                <a:gd name="T1" fmla="*/ 3046 h 3223"/>
                <a:gd name="T2" fmla="*/ 34 w 1943"/>
                <a:gd name="T3" fmla="*/ 2804 h 3223"/>
                <a:gd name="T4" fmla="*/ 20 w 1943"/>
                <a:gd name="T5" fmla="*/ 2664 h 3223"/>
                <a:gd name="T6" fmla="*/ 0 w 1943"/>
                <a:gd name="T7" fmla="*/ 2405 h 3223"/>
                <a:gd name="T8" fmla="*/ 26 w 1943"/>
                <a:gd name="T9" fmla="*/ 2268 h 3223"/>
                <a:gd name="T10" fmla="*/ 85 w 1943"/>
                <a:gd name="T11" fmla="*/ 1797 h 3223"/>
                <a:gd name="T12" fmla="*/ 109 w 1943"/>
                <a:gd name="T13" fmla="*/ 1666 h 3223"/>
                <a:gd name="T14" fmla="*/ 157 w 1943"/>
                <a:gd name="T15" fmla="*/ 1525 h 3223"/>
                <a:gd name="T16" fmla="*/ 216 w 1943"/>
                <a:gd name="T17" fmla="*/ 1305 h 3223"/>
                <a:gd name="T18" fmla="*/ 307 w 1943"/>
                <a:gd name="T19" fmla="*/ 1025 h 3223"/>
                <a:gd name="T20" fmla="*/ 394 w 1943"/>
                <a:gd name="T21" fmla="*/ 769 h 3223"/>
                <a:gd name="T22" fmla="*/ 448 w 1943"/>
                <a:gd name="T23" fmla="*/ 627 h 3223"/>
                <a:gd name="T24" fmla="*/ 649 w 1943"/>
                <a:gd name="T25" fmla="*/ 228 h 3223"/>
                <a:gd name="T26" fmla="*/ 829 w 1943"/>
                <a:gd name="T27" fmla="*/ 58 h 3223"/>
                <a:gd name="T28" fmla="*/ 1031 w 1943"/>
                <a:gd name="T29" fmla="*/ 51 h 3223"/>
                <a:gd name="T30" fmla="*/ 1094 w 1943"/>
                <a:gd name="T31" fmla="*/ 153 h 3223"/>
                <a:gd name="T32" fmla="*/ 1188 w 1943"/>
                <a:gd name="T33" fmla="*/ 206 h 3223"/>
                <a:gd name="T34" fmla="*/ 1551 w 1943"/>
                <a:gd name="T35" fmla="*/ 2 h 3223"/>
                <a:gd name="T36" fmla="*/ 1781 w 1943"/>
                <a:gd name="T37" fmla="*/ 38 h 3223"/>
                <a:gd name="T38" fmla="*/ 1915 w 1943"/>
                <a:gd name="T39" fmla="*/ 169 h 3223"/>
                <a:gd name="T40" fmla="*/ 1943 w 1943"/>
                <a:gd name="T41" fmla="*/ 341 h 3223"/>
                <a:gd name="T42" fmla="*/ 1873 w 1943"/>
                <a:gd name="T43" fmla="*/ 781 h 3223"/>
                <a:gd name="T44" fmla="*/ 1787 w 1943"/>
                <a:gd name="T45" fmla="*/ 1021 h 3223"/>
                <a:gd name="T46" fmla="*/ 1744 w 1943"/>
                <a:gd name="T47" fmla="*/ 1109 h 3223"/>
                <a:gd name="T48" fmla="*/ 1688 w 1943"/>
                <a:gd name="T49" fmla="*/ 1205 h 3223"/>
                <a:gd name="T50" fmla="*/ 1636 w 1943"/>
                <a:gd name="T51" fmla="*/ 1305 h 3223"/>
                <a:gd name="T52" fmla="*/ 1547 w 1943"/>
                <a:gd name="T53" fmla="*/ 1447 h 3223"/>
                <a:gd name="T54" fmla="*/ 1477 w 1943"/>
                <a:gd name="T55" fmla="*/ 1512 h 3223"/>
                <a:gd name="T56" fmla="*/ 1379 w 1943"/>
                <a:gd name="T57" fmla="*/ 1633 h 3223"/>
                <a:gd name="T58" fmla="*/ 1287 w 1943"/>
                <a:gd name="T59" fmla="*/ 1695 h 3223"/>
                <a:gd name="T60" fmla="*/ 1240 w 1943"/>
                <a:gd name="T61" fmla="*/ 1745 h 3223"/>
                <a:gd name="T62" fmla="*/ 1148 w 1943"/>
                <a:gd name="T63" fmla="*/ 1796 h 3223"/>
                <a:gd name="T64" fmla="*/ 913 w 1943"/>
                <a:gd name="T65" fmla="*/ 1842 h 3223"/>
                <a:gd name="T66" fmla="*/ 753 w 1943"/>
                <a:gd name="T67" fmla="*/ 1780 h 3223"/>
                <a:gd name="T68" fmla="*/ 724 w 1943"/>
                <a:gd name="T69" fmla="*/ 1665 h 3223"/>
                <a:gd name="T70" fmla="*/ 818 w 1943"/>
                <a:gd name="T71" fmla="*/ 1584 h 3223"/>
                <a:gd name="T72" fmla="*/ 930 w 1943"/>
                <a:gd name="T73" fmla="*/ 1538 h 3223"/>
                <a:gd name="T74" fmla="*/ 1096 w 1943"/>
                <a:gd name="T75" fmla="*/ 1335 h 3223"/>
                <a:gd name="T76" fmla="*/ 1287 w 1943"/>
                <a:gd name="T77" fmla="*/ 910 h 3223"/>
                <a:gd name="T78" fmla="*/ 1322 w 1943"/>
                <a:gd name="T79" fmla="*/ 838 h 3223"/>
                <a:gd name="T80" fmla="*/ 1400 w 1943"/>
                <a:gd name="T81" fmla="*/ 583 h 3223"/>
                <a:gd name="T82" fmla="*/ 1417 w 1943"/>
                <a:gd name="T83" fmla="*/ 513 h 3223"/>
                <a:gd name="T84" fmla="*/ 1428 w 1943"/>
                <a:gd name="T85" fmla="*/ 438 h 3223"/>
                <a:gd name="T86" fmla="*/ 1451 w 1943"/>
                <a:gd name="T87" fmla="*/ 259 h 3223"/>
                <a:gd name="T88" fmla="*/ 1388 w 1943"/>
                <a:gd name="T89" fmla="*/ 277 h 3223"/>
                <a:gd name="T90" fmla="*/ 1078 w 1943"/>
                <a:gd name="T91" fmla="*/ 591 h 3223"/>
                <a:gd name="T92" fmla="*/ 1009 w 1943"/>
                <a:gd name="T93" fmla="*/ 677 h 3223"/>
                <a:gd name="T94" fmla="*/ 972 w 1943"/>
                <a:gd name="T95" fmla="*/ 758 h 3223"/>
                <a:gd name="T96" fmla="*/ 724 w 1943"/>
                <a:gd name="T97" fmla="*/ 1285 h 3223"/>
                <a:gd name="T98" fmla="*/ 658 w 1943"/>
                <a:gd name="T99" fmla="*/ 1558 h 3223"/>
                <a:gd name="T100" fmla="*/ 595 w 1943"/>
                <a:gd name="T101" fmla="*/ 2373 h 3223"/>
                <a:gd name="T102" fmla="*/ 580 w 1943"/>
                <a:gd name="T103" fmla="*/ 3054 h 3223"/>
                <a:gd name="T104" fmla="*/ 559 w 1943"/>
                <a:gd name="T105" fmla="*/ 3089 h 3223"/>
                <a:gd name="T106" fmla="*/ 492 w 1943"/>
                <a:gd name="T107" fmla="*/ 3182 h 3223"/>
                <a:gd name="T108" fmla="*/ 328 w 1943"/>
                <a:gd name="T109" fmla="*/ 3223 h 3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943" h="3223">
                  <a:moveTo>
                    <a:pt x="207" y="3172"/>
                  </a:moveTo>
                  <a:lnTo>
                    <a:pt x="158" y="3138"/>
                  </a:lnTo>
                  <a:lnTo>
                    <a:pt x="105" y="3084"/>
                  </a:lnTo>
                  <a:lnTo>
                    <a:pt x="78" y="3046"/>
                  </a:lnTo>
                  <a:lnTo>
                    <a:pt x="57" y="3004"/>
                  </a:lnTo>
                  <a:lnTo>
                    <a:pt x="44" y="2956"/>
                  </a:lnTo>
                  <a:lnTo>
                    <a:pt x="34" y="2873"/>
                  </a:lnTo>
                  <a:lnTo>
                    <a:pt x="34" y="2804"/>
                  </a:lnTo>
                  <a:lnTo>
                    <a:pt x="36" y="2742"/>
                  </a:lnTo>
                  <a:lnTo>
                    <a:pt x="30" y="2683"/>
                  </a:lnTo>
                  <a:lnTo>
                    <a:pt x="23" y="2665"/>
                  </a:lnTo>
                  <a:lnTo>
                    <a:pt x="20" y="2664"/>
                  </a:lnTo>
                  <a:lnTo>
                    <a:pt x="16" y="2660"/>
                  </a:lnTo>
                  <a:lnTo>
                    <a:pt x="8" y="2629"/>
                  </a:lnTo>
                  <a:lnTo>
                    <a:pt x="1" y="2547"/>
                  </a:lnTo>
                  <a:lnTo>
                    <a:pt x="0" y="2405"/>
                  </a:lnTo>
                  <a:lnTo>
                    <a:pt x="7" y="2317"/>
                  </a:lnTo>
                  <a:lnTo>
                    <a:pt x="13" y="2282"/>
                  </a:lnTo>
                  <a:lnTo>
                    <a:pt x="19" y="2277"/>
                  </a:lnTo>
                  <a:lnTo>
                    <a:pt x="26" y="2268"/>
                  </a:lnTo>
                  <a:lnTo>
                    <a:pt x="34" y="2222"/>
                  </a:lnTo>
                  <a:lnTo>
                    <a:pt x="36" y="2192"/>
                  </a:lnTo>
                  <a:lnTo>
                    <a:pt x="42" y="2100"/>
                  </a:lnTo>
                  <a:lnTo>
                    <a:pt x="85" y="1797"/>
                  </a:lnTo>
                  <a:lnTo>
                    <a:pt x="102" y="1728"/>
                  </a:lnTo>
                  <a:lnTo>
                    <a:pt x="109" y="1701"/>
                  </a:lnTo>
                  <a:lnTo>
                    <a:pt x="109" y="1678"/>
                  </a:lnTo>
                  <a:lnTo>
                    <a:pt x="109" y="1666"/>
                  </a:lnTo>
                  <a:lnTo>
                    <a:pt x="116" y="1642"/>
                  </a:lnTo>
                  <a:lnTo>
                    <a:pt x="122" y="1632"/>
                  </a:lnTo>
                  <a:lnTo>
                    <a:pt x="131" y="1614"/>
                  </a:lnTo>
                  <a:lnTo>
                    <a:pt x="157" y="1525"/>
                  </a:lnTo>
                  <a:lnTo>
                    <a:pt x="171" y="1466"/>
                  </a:lnTo>
                  <a:lnTo>
                    <a:pt x="184" y="1408"/>
                  </a:lnTo>
                  <a:lnTo>
                    <a:pt x="209" y="1321"/>
                  </a:lnTo>
                  <a:lnTo>
                    <a:pt x="216" y="1305"/>
                  </a:lnTo>
                  <a:lnTo>
                    <a:pt x="233" y="1263"/>
                  </a:lnTo>
                  <a:lnTo>
                    <a:pt x="260" y="1161"/>
                  </a:lnTo>
                  <a:lnTo>
                    <a:pt x="291" y="1061"/>
                  </a:lnTo>
                  <a:lnTo>
                    <a:pt x="307" y="1025"/>
                  </a:lnTo>
                  <a:lnTo>
                    <a:pt x="322" y="992"/>
                  </a:lnTo>
                  <a:lnTo>
                    <a:pt x="350" y="902"/>
                  </a:lnTo>
                  <a:lnTo>
                    <a:pt x="364" y="853"/>
                  </a:lnTo>
                  <a:lnTo>
                    <a:pt x="394" y="769"/>
                  </a:lnTo>
                  <a:lnTo>
                    <a:pt x="404" y="749"/>
                  </a:lnTo>
                  <a:lnTo>
                    <a:pt x="426" y="706"/>
                  </a:lnTo>
                  <a:lnTo>
                    <a:pt x="440" y="651"/>
                  </a:lnTo>
                  <a:lnTo>
                    <a:pt x="448" y="627"/>
                  </a:lnTo>
                  <a:lnTo>
                    <a:pt x="487" y="534"/>
                  </a:lnTo>
                  <a:lnTo>
                    <a:pt x="574" y="356"/>
                  </a:lnTo>
                  <a:lnTo>
                    <a:pt x="632" y="254"/>
                  </a:lnTo>
                  <a:lnTo>
                    <a:pt x="649" y="228"/>
                  </a:lnTo>
                  <a:lnTo>
                    <a:pt x="694" y="172"/>
                  </a:lnTo>
                  <a:lnTo>
                    <a:pt x="747" y="118"/>
                  </a:lnTo>
                  <a:lnTo>
                    <a:pt x="803" y="74"/>
                  </a:lnTo>
                  <a:lnTo>
                    <a:pt x="829" y="58"/>
                  </a:lnTo>
                  <a:lnTo>
                    <a:pt x="865" y="38"/>
                  </a:lnTo>
                  <a:lnTo>
                    <a:pt x="927" y="17"/>
                  </a:lnTo>
                  <a:lnTo>
                    <a:pt x="982" y="22"/>
                  </a:lnTo>
                  <a:lnTo>
                    <a:pt x="1031" y="51"/>
                  </a:lnTo>
                  <a:lnTo>
                    <a:pt x="1053" y="75"/>
                  </a:lnTo>
                  <a:lnTo>
                    <a:pt x="1067" y="92"/>
                  </a:lnTo>
                  <a:lnTo>
                    <a:pt x="1086" y="121"/>
                  </a:lnTo>
                  <a:lnTo>
                    <a:pt x="1094" y="153"/>
                  </a:lnTo>
                  <a:lnTo>
                    <a:pt x="1096" y="193"/>
                  </a:lnTo>
                  <a:lnTo>
                    <a:pt x="1094" y="219"/>
                  </a:lnTo>
                  <a:lnTo>
                    <a:pt x="1089" y="304"/>
                  </a:lnTo>
                  <a:lnTo>
                    <a:pt x="1188" y="206"/>
                  </a:lnTo>
                  <a:lnTo>
                    <a:pt x="1241" y="156"/>
                  </a:lnTo>
                  <a:lnTo>
                    <a:pt x="1345" y="78"/>
                  </a:lnTo>
                  <a:lnTo>
                    <a:pt x="1449" y="28"/>
                  </a:lnTo>
                  <a:lnTo>
                    <a:pt x="1551" y="2"/>
                  </a:lnTo>
                  <a:lnTo>
                    <a:pt x="1603" y="0"/>
                  </a:lnTo>
                  <a:lnTo>
                    <a:pt x="1647" y="0"/>
                  </a:lnTo>
                  <a:lnTo>
                    <a:pt x="1719" y="12"/>
                  </a:lnTo>
                  <a:lnTo>
                    <a:pt x="1781" y="38"/>
                  </a:lnTo>
                  <a:lnTo>
                    <a:pt x="1839" y="82"/>
                  </a:lnTo>
                  <a:lnTo>
                    <a:pt x="1871" y="115"/>
                  </a:lnTo>
                  <a:lnTo>
                    <a:pt x="1889" y="134"/>
                  </a:lnTo>
                  <a:lnTo>
                    <a:pt x="1915" y="169"/>
                  </a:lnTo>
                  <a:lnTo>
                    <a:pt x="1930" y="206"/>
                  </a:lnTo>
                  <a:lnTo>
                    <a:pt x="1938" y="254"/>
                  </a:lnTo>
                  <a:lnTo>
                    <a:pt x="1941" y="285"/>
                  </a:lnTo>
                  <a:lnTo>
                    <a:pt x="1943" y="341"/>
                  </a:lnTo>
                  <a:lnTo>
                    <a:pt x="1935" y="478"/>
                  </a:lnTo>
                  <a:lnTo>
                    <a:pt x="1917" y="621"/>
                  </a:lnTo>
                  <a:lnTo>
                    <a:pt x="1889" y="740"/>
                  </a:lnTo>
                  <a:lnTo>
                    <a:pt x="1873" y="781"/>
                  </a:lnTo>
                  <a:lnTo>
                    <a:pt x="1843" y="857"/>
                  </a:lnTo>
                  <a:lnTo>
                    <a:pt x="1816" y="940"/>
                  </a:lnTo>
                  <a:lnTo>
                    <a:pt x="1806" y="975"/>
                  </a:lnTo>
                  <a:lnTo>
                    <a:pt x="1787" y="1021"/>
                  </a:lnTo>
                  <a:lnTo>
                    <a:pt x="1780" y="1025"/>
                  </a:lnTo>
                  <a:lnTo>
                    <a:pt x="1774" y="1030"/>
                  </a:lnTo>
                  <a:lnTo>
                    <a:pt x="1754" y="1076"/>
                  </a:lnTo>
                  <a:lnTo>
                    <a:pt x="1744" y="1109"/>
                  </a:lnTo>
                  <a:lnTo>
                    <a:pt x="1732" y="1142"/>
                  </a:lnTo>
                  <a:lnTo>
                    <a:pt x="1706" y="1192"/>
                  </a:lnTo>
                  <a:lnTo>
                    <a:pt x="1698" y="1200"/>
                  </a:lnTo>
                  <a:lnTo>
                    <a:pt x="1688" y="1205"/>
                  </a:lnTo>
                  <a:lnTo>
                    <a:pt x="1675" y="1223"/>
                  </a:lnTo>
                  <a:lnTo>
                    <a:pt x="1675" y="1233"/>
                  </a:lnTo>
                  <a:lnTo>
                    <a:pt x="1670" y="1247"/>
                  </a:lnTo>
                  <a:lnTo>
                    <a:pt x="1636" y="1305"/>
                  </a:lnTo>
                  <a:lnTo>
                    <a:pt x="1611" y="1339"/>
                  </a:lnTo>
                  <a:lnTo>
                    <a:pt x="1562" y="1408"/>
                  </a:lnTo>
                  <a:lnTo>
                    <a:pt x="1548" y="1440"/>
                  </a:lnTo>
                  <a:lnTo>
                    <a:pt x="1547" y="1447"/>
                  </a:lnTo>
                  <a:lnTo>
                    <a:pt x="1526" y="1469"/>
                  </a:lnTo>
                  <a:lnTo>
                    <a:pt x="1512" y="1479"/>
                  </a:lnTo>
                  <a:lnTo>
                    <a:pt x="1498" y="1489"/>
                  </a:lnTo>
                  <a:lnTo>
                    <a:pt x="1477" y="1512"/>
                  </a:lnTo>
                  <a:lnTo>
                    <a:pt x="1476" y="1521"/>
                  </a:lnTo>
                  <a:lnTo>
                    <a:pt x="1472" y="1534"/>
                  </a:lnTo>
                  <a:lnTo>
                    <a:pt x="1434" y="1580"/>
                  </a:lnTo>
                  <a:lnTo>
                    <a:pt x="1379" y="1633"/>
                  </a:lnTo>
                  <a:lnTo>
                    <a:pt x="1331" y="1669"/>
                  </a:lnTo>
                  <a:lnTo>
                    <a:pt x="1318" y="1673"/>
                  </a:lnTo>
                  <a:lnTo>
                    <a:pt x="1309" y="1675"/>
                  </a:lnTo>
                  <a:lnTo>
                    <a:pt x="1287" y="1695"/>
                  </a:lnTo>
                  <a:lnTo>
                    <a:pt x="1279" y="1709"/>
                  </a:lnTo>
                  <a:lnTo>
                    <a:pt x="1269" y="1724"/>
                  </a:lnTo>
                  <a:lnTo>
                    <a:pt x="1248" y="1744"/>
                  </a:lnTo>
                  <a:lnTo>
                    <a:pt x="1240" y="1745"/>
                  </a:lnTo>
                  <a:lnTo>
                    <a:pt x="1230" y="1747"/>
                  </a:lnTo>
                  <a:lnTo>
                    <a:pt x="1191" y="1767"/>
                  </a:lnTo>
                  <a:lnTo>
                    <a:pt x="1171" y="1781"/>
                  </a:lnTo>
                  <a:lnTo>
                    <a:pt x="1148" y="1796"/>
                  </a:lnTo>
                  <a:lnTo>
                    <a:pt x="1094" y="1819"/>
                  </a:lnTo>
                  <a:lnTo>
                    <a:pt x="1035" y="1835"/>
                  </a:lnTo>
                  <a:lnTo>
                    <a:pt x="973" y="1842"/>
                  </a:lnTo>
                  <a:lnTo>
                    <a:pt x="913" y="1842"/>
                  </a:lnTo>
                  <a:lnTo>
                    <a:pt x="855" y="1833"/>
                  </a:lnTo>
                  <a:lnTo>
                    <a:pt x="805" y="1817"/>
                  </a:lnTo>
                  <a:lnTo>
                    <a:pt x="766" y="1794"/>
                  </a:lnTo>
                  <a:lnTo>
                    <a:pt x="753" y="1780"/>
                  </a:lnTo>
                  <a:lnTo>
                    <a:pt x="740" y="1764"/>
                  </a:lnTo>
                  <a:lnTo>
                    <a:pt x="726" y="1731"/>
                  </a:lnTo>
                  <a:lnTo>
                    <a:pt x="720" y="1698"/>
                  </a:lnTo>
                  <a:lnTo>
                    <a:pt x="724" y="1665"/>
                  </a:lnTo>
                  <a:lnTo>
                    <a:pt x="737" y="1636"/>
                  </a:lnTo>
                  <a:lnTo>
                    <a:pt x="757" y="1611"/>
                  </a:lnTo>
                  <a:lnTo>
                    <a:pt x="785" y="1594"/>
                  </a:lnTo>
                  <a:lnTo>
                    <a:pt x="818" y="1584"/>
                  </a:lnTo>
                  <a:lnTo>
                    <a:pt x="837" y="1584"/>
                  </a:lnTo>
                  <a:lnTo>
                    <a:pt x="851" y="1583"/>
                  </a:lnTo>
                  <a:lnTo>
                    <a:pt x="881" y="1573"/>
                  </a:lnTo>
                  <a:lnTo>
                    <a:pt x="930" y="1538"/>
                  </a:lnTo>
                  <a:lnTo>
                    <a:pt x="973" y="1493"/>
                  </a:lnTo>
                  <a:lnTo>
                    <a:pt x="1009" y="1453"/>
                  </a:lnTo>
                  <a:lnTo>
                    <a:pt x="1077" y="1368"/>
                  </a:lnTo>
                  <a:lnTo>
                    <a:pt x="1096" y="1335"/>
                  </a:lnTo>
                  <a:lnTo>
                    <a:pt x="1161" y="1214"/>
                  </a:lnTo>
                  <a:lnTo>
                    <a:pt x="1246" y="1031"/>
                  </a:lnTo>
                  <a:lnTo>
                    <a:pt x="1280" y="938"/>
                  </a:lnTo>
                  <a:lnTo>
                    <a:pt x="1287" y="910"/>
                  </a:lnTo>
                  <a:lnTo>
                    <a:pt x="1293" y="884"/>
                  </a:lnTo>
                  <a:lnTo>
                    <a:pt x="1307" y="850"/>
                  </a:lnTo>
                  <a:lnTo>
                    <a:pt x="1315" y="845"/>
                  </a:lnTo>
                  <a:lnTo>
                    <a:pt x="1322" y="838"/>
                  </a:lnTo>
                  <a:lnTo>
                    <a:pt x="1346" y="765"/>
                  </a:lnTo>
                  <a:lnTo>
                    <a:pt x="1361" y="710"/>
                  </a:lnTo>
                  <a:lnTo>
                    <a:pt x="1375" y="657"/>
                  </a:lnTo>
                  <a:lnTo>
                    <a:pt x="1400" y="583"/>
                  </a:lnTo>
                  <a:lnTo>
                    <a:pt x="1408" y="576"/>
                  </a:lnTo>
                  <a:lnTo>
                    <a:pt x="1414" y="572"/>
                  </a:lnTo>
                  <a:lnTo>
                    <a:pt x="1418" y="537"/>
                  </a:lnTo>
                  <a:lnTo>
                    <a:pt x="1417" y="513"/>
                  </a:lnTo>
                  <a:lnTo>
                    <a:pt x="1414" y="487"/>
                  </a:lnTo>
                  <a:lnTo>
                    <a:pt x="1417" y="451"/>
                  </a:lnTo>
                  <a:lnTo>
                    <a:pt x="1423" y="447"/>
                  </a:lnTo>
                  <a:lnTo>
                    <a:pt x="1428" y="438"/>
                  </a:lnTo>
                  <a:lnTo>
                    <a:pt x="1443" y="385"/>
                  </a:lnTo>
                  <a:lnTo>
                    <a:pt x="1449" y="347"/>
                  </a:lnTo>
                  <a:lnTo>
                    <a:pt x="1456" y="294"/>
                  </a:lnTo>
                  <a:lnTo>
                    <a:pt x="1451" y="259"/>
                  </a:lnTo>
                  <a:lnTo>
                    <a:pt x="1440" y="252"/>
                  </a:lnTo>
                  <a:lnTo>
                    <a:pt x="1431" y="252"/>
                  </a:lnTo>
                  <a:lnTo>
                    <a:pt x="1423" y="254"/>
                  </a:lnTo>
                  <a:lnTo>
                    <a:pt x="1388" y="277"/>
                  </a:lnTo>
                  <a:lnTo>
                    <a:pt x="1313" y="339"/>
                  </a:lnTo>
                  <a:lnTo>
                    <a:pt x="1195" y="452"/>
                  </a:lnTo>
                  <a:lnTo>
                    <a:pt x="1099" y="557"/>
                  </a:lnTo>
                  <a:lnTo>
                    <a:pt x="1078" y="591"/>
                  </a:lnTo>
                  <a:lnTo>
                    <a:pt x="1053" y="631"/>
                  </a:lnTo>
                  <a:lnTo>
                    <a:pt x="1031" y="652"/>
                  </a:lnTo>
                  <a:lnTo>
                    <a:pt x="1022" y="660"/>
                  </a:lnTo>
                  <a:lnTo>
                    <a:pt x="1009" y="677"/>
                  </a:lnTo>
                  <a:lnTo>
                    <a:pt x="1008" y="686"/>
                  </a:lnTo>
                  <a:lnTo>
                    <a:pt x="1006" y="696"/>
                  </a:lnTo>
                  <a:lnTo>
                    <a:pt x="986" y="734"/>
                  </a:lnTo>
                  <a:lnTo>
                    <a:pt x="972" y="758"/>
                  </a:lnTo>
                  <a:lnTo>
                    <a:pt x="933" y="814"/>
                  </a:lnTo>
                  <a:lnTo>
                    <a:pt x="852" y="963"/>
                  </a:lnTo>
                  <a:lnTo>
                    <a:pt x="779" y="1130"/>
                  </a:lnTo>
                  <a:lnTo>
                    <a:pt x="724" y="1285"/>
                  </a:lnTo>
                  <a:lnTo>
                    <a:pt x="711" y="1346"/>
                  </a:lnTo>
                  <a:lnTo>
                    <a:pt x="685" y="1476"/>
                  </a:lnTo>
                  <a:lnTo>
                    <a:pt x="667" y="1538"/>
                  </a:lnTo>
                  <a:lnTo>
                    <a:pt x="658" y="1558"/>
                  </a:lnTo>
                  <a:lnTo>
                    <a:pt x="644" y="1623"/>
                  </a:lnTo>
                  <a:lnTo>
                    <a:pt x="625" y="1768"/>
                  </a:lnTo>
                  <a:lnTo>
                    <a:pt x="605" y="2040"/>
                  </a:lnTo>
                  <a:lnTo>
                    <a:pt x="595" y="2373"/>
                  </a:lnTo>
                  <a:lnTo>
                    <a:pt x="595" y="2556"/>
                  </a:lnTo>
                  <a:lnTo>
                    <a:pt x="593" y="2781"/>
                  </a:lnTo>
                  <a:lnTo>
                    <a:pt x="586" y="2988"/>
                  </a:lnTo>
                  <a:lnTo>
                    <a:pt x="580" y="3054"/>
                  </a:lnTo>
                  <a:lnTo>
                    <a:pt x="576" y="3060"/>
                  </a:lnTo>
                  <a:lnTo>
                    <a:pt x="569" y="3061"/>
                  </a:lnTo>
                  <a:lnTo>
                    <a:pt x="559" y="3076"/>
                  </a:lnTo>
                  <a:lnTo>
                    <a:pt x="559" y="3089"/>
                  </a:lnTo>
                  <a:lnTo>
                    <a:pt x="554" y="3102"/>
                  </a:lnTo>
                  <a:lnTo>
                    <a:pt x="527" y="3146"/>
                  </a:lnTo>
                  <a:lnTo>
                    <a:pt x="505" y="3169"/>
                  </a:lnTo>
                  <a:lnTo>
                    <a:pt x="492" y="3182"/>
                  </a:lnTo>
                  <a:lnTo>
                    <a:pt x="461" y="3202"/>
                  </a:lnTo>
                  <a:lnTo>
                    <a:pt x="425" y="3215"/>
                  </a:lnTo>
                  <a:lnTo>
                    <a:pt x="387" y="3223"/>
                  </a:lnTo>
                  <a:lnTo>
                    <a:pt x="328" y="3223"/>
                  </a:lnTo>
                  <a:lnTo>
                    <a:pt x="246" y="3197"/>
                  </a:lnTo>
                  <a:lnTo>
                    <a:pt x="207" y="3172"/>
                  </a:lnTo>
                  <a:close/>
                </a:path>
              </a:pathLst>
            </a:custGeom>
            <a:solidFill>
              <a:srgbClr val="C00000"/>
            </a:solidFill>
            <a:ln>
              <a:noFill/>
            </a:ln>
          </p:spPr>
          <p:txBody>
            <a:bodyPr vert="horz" wrap="square" lIns="91440" tIns="45720" rIns="91440" bIns="45720" numCol="1" anchor="t" anchorCtr="0" compatLnSpc="1">
              <a:prstTxWarp prst="textNoShape">
                <a:avLst/>
              </a:prstTxWarp>
            </a:bodyPr>
            <a:lstStyle/>
            <a:p>
              <a:endParaRPr lang="es-PE"/>
            </a:p>
          </p:txBody>
        </p:sp>
        <p:sp>
          <p:nvSpPr>
            <p:cNvPr id="10" name="Freeform 6"/>
            <p:cNvSpPr>
              <a:spLocks/>
            </p:cNvSpPr>
            <p:nvPr/>
          </p:nvSpPr>
          <p:spPr bwMode="auto">
            <a:xfrm>
              <a:off x="2188484" y="4747758"/>
              <a:ext cx="1047750" cy="1443038"/>
            </a:xfrm>
            <a:custGeom>
              <a:avLst/>
              <a:gdLst>
                <a:gd name="T0" fmla="*/ 450 w 1979"/>
                <a:gd name="T1" fmla="*/ 2669 h 2728"/>
                <a:gd name="T2" fmla="*/ 295 w 1979"/>
                <a:gd name="T3" fmla="*/ 2607 h 2728"/>
                <a:gd name="T4" fmla="*/ 154 w 1979"/>
                <a:gd name="T5" fmla="*/ 2514 h 2728"/>
                <a:gd name="T6" fmla="*/ 113 w 1979"/>
                <a:gd name="T7" fmla="*/ 2450 h 2728"/>
                <a:gd name="T8" fmla="*/ 22 w 1979"/>
                <a:gd name="T9" fmla="*/ 2250 h 2728"/>
                <a:gd name="T10" fmla="*/ 0 w 1979"/>
                <a:gd name="T11" fmla="*/ 2005 h 2728"/>
                <a:gd name="T12" fmla="*/ 51 w 1979"/>
                <a:gd name="T13" fmla="*/ 1828 h 2728"/>
                <a:gd name="T14" fmla="*/ 287 w 1979"/>
                <a:gd name="T15" fmla="*/ 1583 h 2728"/>
                <a:gd name="T16" fmla="*/ 595 w 1979"/>
                <a:gd name="T17" fmla="*/ 1524 h 2728"/>
                <a:gd name="T18" fmla="*/ 964 w 1979"/>
                <a:gd name="T19" fmla="*/ 1652 h 2728"/>
                <a:gd name="T20" fmla="*/ 1098 w 1979"/>
                <a:gd name="T21" fmla="*/ 2014 h 2728"/>
                <a:gd name="T22" fmla="*/ 981 w 1979"/>
                <a:gd name="T23" fmla="*/ 2247 h 2728"/>
                <a:gd name="T24" fmla="*/ 689 w 1979"/>
                <a:gd name="T25" fmla="*/ 2256 h 2728"/>
                <a:gd name="T26" fmla="*/ 632 w 1979"/>
                <a:gd name="T27" fmla="*/ 2113 h 2728"/>
                <a:gd name="T28" fmla="*/ 663 w 1979"/>
                <a:gd name="T29" fmla="*/ 1835 h 2728"/>
                <a:gd name="T30" fmla="*/ 509 w 1979"/>
                <a:gd name="T31" fmla="*/ 1732 h 2728"/>
                <a:gd name="T32" fmla="*/ 455 w 1979"/>
                <a:gd name="T33" fmla="*/ 1742 h 2728"/>
                <a:gd name="T34" fmla="*/ 373 w 1979"/>
                <a:gd name="T35" fmla="*/ 1796 h 2728"/>
                <a:gd name="T36" fmla="*/ 291 w 1979"/>
                <a:gd name="T37" fmla="*/ 1902 h 2728"/>
                <a:gd name="T38" fmla="*/ 294 w 1979"/>
                <a:gd name="T39" fmla="*/ 2191 h 2728"/>
                <a:gd name="T40" fmla="*/ 379 w 1979"/>
                <a:gd name="T41" fmla="*/ 2329 h 2728"/>
                <a:gd name="T42" fmla="*/ 617 w 1979"/>
                <a:gd name="T43" fmla="*/ 2469 h 2728"/>
                <a:gd name="T44" fmla="*/ 1044 w 1979"/>
                <a:gd name="T45" fmla="*/ 2442 h 2728"/>
                <a:gd name="T46" fmla="*/ 1342 w 1979"/>
                <a:gd name="T47" fmla="*/ 2162 h 2728"/>
                <a:gd name="T48" fmla="*/ 1354 w 1979"/>
                <a:gd name="T49" fmla="*/ 1820 h 2728"/>
                <a:gd name="T50" fmla="*/ 1072 w 1979"/>
                <a:gd name="T51" fmla="*/ 1542 h 2728"/>
                <a:gd name="T52" fmla="*/ 812 w 1979"/>
                <a:gd name="T53" fmla="*/ 1437 h 2728"/>
                <a:gd name="T54" fmla="*/ 497 w 1979"/>
                <a:gd name="T55" fmla="*/ 1261 h 2728"/>
                <a:gd name="T56" fmla="*/ 301 w 1979"/>
                <a:gd name="T57" fmla="*/ 996 h 2728"/>
                <a:gd name="T58" fmla="*/ 287 w 1979"/>
                <a:gd name="T59" fmla="*/ 668 h 2728"/>
                <a:gd name="T60" fmla="*/ 536 w 1979"/>
                <a:gd name="T61" fmla="*/ 335 h 2728"/>
                <a:gd name="T62" fmla="*/ 956 w 1979"/>
                <a:gd name="T63" fmla="*/ 86 h 2728"/>
                <a:gd name="T64" fmla="*/ 1155 w 1979"/>
                <a:gd name="T65" fmla="*/ 31 h 2728"/>
                <a:gd name="T66" fmla="*/ 1422 w 1979"/>
                <a:gd name="T67" fmla="*/ 0 h 2728"/>
                <a:gd name="T68" fmla="*/ 1780 w 1979"/>
                <a:gd name="T69" fmla="*/ 116 h 2728"/>
                <a:gd name="T70" fmla="*/ 1920 w 1979"/>
                <a:gd name="T71" fmla="*/ 306 h 2728"/>
                <a:gd name="T72" fmla="*/ 1871 w 1979"/>
                <a:gd name="T73" fmla="*/ 611 h 2728"/>
                <a:gd name="T74" fmla="*/ 1590 w 1979"/>
                <a:gd name="T75" fmla="*/ 766 h 2728"/>
                <a:gd name="T76" fmla="*/ 1475 w 1979"/>
                <a:gd name="T77" fmla="*/ 742 h 2728"/>
                <a:gd name="T78" fmla="*/ 1430 w 1979"/>
                <a:gd name="T79" fmla="*/ 719 h 2728"/>
                <a:gd name="T80" fmla="*/ 1495 w 1979"/>
                <a:gd name="T81" fmla="*/ 456 h 2728"/>
                <a:gd name="T82" fmla="*/ 1518 w 1979"/>
                <a:gd name="T83" fmla="*/ 407 h 2728"/>
                <a:gd name="T84" fmla="*/ 1495 w 1979"/>
                <a:gd name="T85" fmla="*/ 256 h 2728"/>
                <a:gd name="T86" fmla="*/ 1283 w 1979"/>
                <a:gd name="T87" fmla="*/ 237 h 2728"/>
                <a:gd name="T88" fmla="*/ 1023 w 1979"/>
                <a:gd name="T89" fmla="*/ 341 h 2728"/>
                <a:gd name="T90" fmla="*/ 943 w 1979"/>
                <a:gd name="T91" fmla="*/ 408 h 2728"/>
                <a:gd name="T92" fmla="*/ 870 w 1979"/>
                <a:gd name="T93" fmla="*/ 496 h 2728"/>
                <a:gd name="T94" fmla="*/ 794 w 1979"/>
                <a:gd name="T95" fmla="*/ 662 h 2728"/>
                <a:gd name="T96" fmla="*/ 859 w 1979"/>
                <a:gd name="T97" fmla="*/ 889 h 2728"/>
                <a:gd name="T98" fmla="*/ 992 w 1979"/>
                <a:gd name="T99" fmla="*/ 982 h 2728"/>
                <a:gd name="T100" fmla="*/ 1279 w 1979"/>
                <a:gd name="T101" fmla="*/ 1111 h 2728"/>
                <a:gd name="T102" fmla="*/ 1691 w 1979"/>
                <a:gd name="T103" fmla="*/ 1307 h 2728"/>
                <a:gd name="T104" fmla="*/ 1927 w 1979"/>
                <a:gd name="T105" fmla="*/ 1573 h 2728"/>
                <a:gd name="T106" fmla="*/ 1963 w 1979"/>
                <a:gd name="T107" fmla="*/ 1704 h 2728"/>
                <a:gd name="T108" fmla="*/ 1972 w 1979"/>
                <a:gd name="T109" fmla="*/ 1932 h 2728"/>
                <a:gd name="T110" fmla="*/ 1893 w 1979"/>
                <a:gd name="T111" fmla="*/ 2158 h 2728"/>
                <a:gd name="T112" fmla="*/ 1776 w 1979"/>
                <a:gd name="T113" fmla="*/ 2316 h 2728"/>
                <a:gd name="T114" fmla="*/ 1387 w 1979"/>
                <a:gd name="T115" fmla="*/ 2596 h 2728"/>
                <a:gd name="T116" fmla="*/ 1171 w 1979"/>
                <a:gd name="T117" fmla="*/ 2678 h 2728"/>
                <a:gd name="T118" fmla="*/ 769 w 1979"/>
                <a:gd name="T119" fmla="*/ 2728 h 2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979" h="2728">
                  <a:moveTo>
                    <a:pt x="559" y="2711"/>
                  </a:moveTo>
                  <a:lnTo>
                    <a:pt x="519" y="2702"/>
                  </a:lnTo>
                  <a:lnTo>
                    <a:pt x="462" y="2683"/>
                  </a:lnTo>
                  <a:lnTo>
                    <a:pt x="454" y="2676"/>
                  </a:lnTo>
                  <a:lnTo>
                    <a:pt x="450" y="2669"/>
                  </a:lnTo>
                  <a:lnTo>
                    <a:pt x="432" y="2659"/>
                  </a:lnTo>
                  <a:lnTo>
                    <a:pt x="424" y="2659"/>
                  </a:lnTo>
                  <a:lnTo>
                    <a:pt x="406" y="2656"/>
                  </a:lnTo>
                  <a:lnTo>
                    <a:pt x="354" y="2637"/>
                  </a:lnTo>
                  <a:lnTo>
                    <a:pt x="295" y="2607"/>
                  </a:lnTo>
                  <a:lnTo>
                    <a:pt x="241" y="2573"/>
                  </a:lnTo>
                  <a:lnTo>
                    <a:pt x="221" y="2555"/>
                  </a:lnTo>
                  <a:lnTo>
                    <a:pt x="182" y="2524"/>
                  </a:lnTo>
                  <a:lnTo>
                    <a:pt x="160" y="2515"/>
                  </a:lnTo>
                  <a:lnTo>
                    <a:pt x="154" y="2514"/>
                  </a:lnTo>
                  <a:lnTo>
                    <a:pt x="146" y="2501"/>
                  </a:lnTo>
                  <a:lnTo>
                    <a:pt x="144" y="2491"/>
                  </a:lnTo>
                  <a:lnTo>
                    <a:pt x="143" y="2480"/>
                  </a:lnTo>
                  <a:lnTo>
                    <a:pt x="125" y="2459"/>
                  </a:lnTo>
                  <a:lnTo>
                    <a:pt x="113" y="2450"/>
                  </a:lnTo>
                  <a:lnTo>
                    <a:pt x="98" y="2436"/>
                  </a:lnTo>
                  <a:lnTo>
                    <a:pt x="66" y="2374"/>
                  </a:lnTo>
                  <a:lnTo>
                    <a:pt x="55" y="2336"/>
                  </a:lnTo>
                  <a:lnTo>
                    <a:pt x="43" y="2299"/>
                  </a:lnTo>
                  <a:lnTo>
                    <a:pt x="22" y="2250"/>
                  </a:lnTo>
                  <a:lnTo>
                    <a:pt x="15" y="2244"/>
                  </a:lnTo>
                  <a:lnTo>
                    <a:pt x="9" y="2234"/>
                  </a:lnTo>
                  <a:lnTo>
                    <a:pt x="2" y="2142"/>
                  </a:lnTo>
                  <a:lnTo>
                    <a:pt x="0" y="2073"/>
                  </a:lnTo>
                  <a:lnTo>
                    <a:pt x="0" y="2005"/>
                  </a:lnTo>
                  <a:lnTo>
                    <a:pt x="9" y="1912"/>
                  </a:lnTo>
                  <a:lnTo>
                    <a:pt x="15" y="1903"/>
                  </a:lnTo>
                  <a:lnTo>
                    <a:pt x="22" y="1899"/>
                  </a:lnTo>
                  <a:lnTo>
                    <a:pt x="41" y="1858"/>
                  </a:lnTo>
                  <a:lnTo>
                    <a:pt x="51" y="1828"/>
                  </a:lnTo>
                  <a:lnTo>
                    <a:pt x="62" y="1798"/>
                  </a:lnTo>
                  <a:lnTo>
                    <a:pt x="102" y="1735"/>
                  </a:lnTo>
                  <a:lnTo>
                    <a:pt x="163" y="1671"/>
                  </a:lnTo>
                  <a:lnTo>
                    <a:pt x="241" y="1612"/>
                  </a:lnTo>
                  <a:lnTo>
                    <a:pt x="287" y="1583"/>
                  </a:lnTo>
                  <a:lnTo>
                    <a:pt x="311" y="1570"/>
                  </a:lnTo>
                  <a:lnTo>
                    <a:pt x="357" y="1550"/>
                  </a:lnTo>
                  <a:lnTo>
                    <a:pt x="437" y="1533"/>
                  </a:lnTo>
                  <a:lnTo>
                    <a:pt x="517" y="1529"/>
                  </a:lnTo>
                  <a:lnTo>
                    <a:pt x="595" y="1524"/>
                  </a:lnTo>
                  <a:lnTo>
                    <a:pt x="715" y="1527"/>
                  </a:lnTo>
                  <a:lnTo>
                    <a:pt x="804" y="1547"/>
                  </a:lnTo>
                  <a:lnTo>
                    <a:pt x="879" y="1586"/>
                  </a:lnTo>
                  <a:lnTo>
                    <a:pt x="916" y="1615"/>
                  </a:lnTo>
                  <a:lnTo>
                    <a:pt x="964" y="1652"/>
                  </a:lnTo>
                  <a:lnTo>
                    <a:pt x="1033" y="1732"/>
                  </a:lnTo>
                  <a:lnTo>
                    <a:pt x="1076" y="1814"/>
                  </a:lnTo>
                  <a:lnTo>
                    <a:pt x="1096" y="1909"/>
                  </a:lnTo>
                  <a:lnTo>
                    <a:pt x="1099" y="1964"/>
                  </a:lnTo>
                  <a:lnTo>
                    <a:pt x="1098" y="2014"/>
                  </a:lnTo>
                  <a:lnTo>
                    <a:pt x="1085" y="2100"/>
                  </a:lnTo>
                  <a:lnTo>
                    <a:pt x="1062" y="2168"/>
                  </a:lnTo>
                  <a:lnTo>
                    <a:pt x="1026" y="2218"/>
                  </a:lnTo>
                  <a:lnTo>
                    <a:pt x="1003" y="2236"/>
                  </a:lnTo>
                  <a:lnTo>
                    <a:pt x="981" y="2247"/>
                  </a:lnTo>
                  <a:lnTo>
                    <a:pt x="929" y="2264"/>
                  </a:lnTo>
                  <a:lnTo>
                    <a:pt x="869" y="2275"/>
                  </a:lnTo>
                  <a:lnTo>
                    <a:pt x="805" y="2275"/>
                  </a:lnTo>
                  <a:lnTo>
                    <a:pt x="743" y="2269"/>
                  </a:lnTo>
                  <a:lnTo>
                    <a:pt x="689" y="2256"/>
                  </a:lnTo>
                  <a:lnTo>
                    <a:pt x="647" y="2236"/>
                  </a:lnTo>
                  <a:lnTo>
                    <a:pt x="621" y="2210"/>
                  </a:lnTo>
                  <a:lnTo>
                    <a:pt x="617" y="2194"/>
                  </a:lnTo>
                  <a:lnTo>
                    <a:pt x="615" y="2175"/>
                  </a:lnTo>
                  <a:lnTo>
                    <a:pt x="632" y="2113"/>
                  </a:lnTo>
                  <a:lnTo>
                    <a:pt x="647" y="2080"/>
                  </a:lnTo>
                  <a:lnTo>
                    <a:pt x="663" y="2043"/>
                  </a:lnTo>
                  <a:lnTo>
                    <a:pt x="681" y="1968"/>
                  </a:lnTo>
                  <a:lnTo>
                    <a:pt x="681" y="1897"/>
                  </a:lnTo>
                  <a:lnTo>
                    <a:pt x="663" y="1835"/>
                  </a:lnTo>
                  <a:lnTo>
                    <a:pt x="647" y="1809"/>
                  </a:lnTo>
                  <a:lnTo>
                    <a:pt x="628" y="1786"/>
                  </a:lnTo>
                  <a:lnTo>
                    <a:pt x="588" y="1752"/>
                  </a:lnTo>
                  <a:lnTo>
                    <a:pt x="545" y="1733"/>
                  </a:lnTo>
                  <a:lnTo>
                    <a:pt x="509" y="1732"/>
                  </a:lnTo>
                  <a:lnTo>
                    <a:pt x="496" y="1740"/>
                  </a:lnTo>
                  <a:lnTo>
                    <a:pt x="487" y="1746"/>
                  </a:lnTo>
                  <a:lnTo>
                    <a:pt x="468" y="1750"/>
                  </a:lnTo>
                  <a:lnTo>
                    <a:pt x="461" y="1746"/>
                  </a:lnTo>
                  <a:lnTo>
                    <a:pt x="455" y="1742"/>
                  </a:lnTo>
                  <a:lnTo>
                    <a:pt x="442" y="1743"/>
                  </a:lnTo>
                  <a:lnTo>
                    <a:pt x="437" y="1749"/>
                  </a:lnTo>
                  <a:lnTo>
                    <a:pt x="418" y="1768"/>
                  </a:lnTo>
                  <a:lnTo>
                    <a:pt x="389" y="1788"/>
                  </a:lnTo>
                  <a:lnTo>
                    <a:pt x="373" y="1796"/>
                  </a:lnTo>
                  <a:lnTo>
                    <a:pt x="344" y="1825"/>
                  </a:lnTo>
                  <a:lnTo>
                    <a:pt x="336" y="1841"/>
                  </a:lnTo>
                  <a:lnTo>
                    <a:pt x="316" y="1870"/>
                  </a:lnTo>
                  <a:lnTo>
                    <a:pt x="297" y="1889"/>
                  </a:lnTo>
                  <a:lnTo>
                    <a:pt x="291" y="1902"/>
                  </a:lnTo>
                  <a:lnTo>
                    <a:pt x="281" y="1985"/>
                  </a:lnTo>
                  <a:lnTo>
                    <a:pt x="280" y="2043"/>
                  </a:lnTo>
                  <a:lnTo>
                    <a:pt x="280" y="2087"/>
                  </a:lnTo>
                  <a:lnTo>
                    <a:pt x="282" y="2149"/>
                  </a:lnTo>
                  <a:lnTo>
                    <a:pt x="294" y="2191"/>
                  </a:lnTo>
                  <a:lnTo>
                    <a:pt x="314" y="2228"/>
                  </a:lnTo>
                  <a:lnTo>
                    <a:pt x="330" y="2250"/>
                  </a:lnTo>
                  <a:lnTo>
                    <a:pt x="349" y="2276"/>
                  </a:lnTo>
                  <a:lnTo>
                    <a:pt x="376" y="2319"/>
                  </a:lnTo>
                  <a:lnTo>
                    <a:pt x="379" y="2329"/>
                  </a:lnTo>
                  <a:lnTo>
                    <a:pt x="383" y="2338"/>
                  </a:lnTo>
                  <a:lnTo>
                    <a:pt x="425" y="2371"/>
                  </a:lnTo>
                  <a:lnTo>
                    <a:pt x="524" y="2431"/>
                  </a:lnTo>
                  <a:lnTo>
                    <a:pt x="583" y="2459"/>
                  </a:lnTo>
                  <a:lnTo>
                    <a:pt x="617" y="2469"/>
                  </a:lnTo>
                  <a:lnTo>
                    <a:pt x="725" y="2478"/>
                  </a:lnTo>
                  <a:lnTo>
                    <a:pt x="853" y="2475"/>
                  </a:lnTo>
                  <a:lnTo>
                    <a:pt x="975" y="2460"/>
                  </a:lnTo>
                  <a:lnTo>
                    <a:pt x="1021" y="2450"/>
                  </a:lnTo>
                  <a:lnTo>
                    <a:pt x="1044" y="2442"/>
                  </a:lnTo>
                  <a:lnTo>
                    <a:pt x="1095" y="2417"/>
                  </a:lnTo>
                  <a:lnTo>
                    <a:pt x="1172" y="2365"/>
                  </a:lnTo>
                  <a:lnTo>
                    <a:pt x="1266" y="2277"/>
                  </a:lnTo>
                  <a:lnTo>
                    <a:pt x="1319" y="2207"/>
                  </a:lnTo>
                  <a:lnTo>
                    <a:pt x="1342" y="2162"/>
                  </a:lnTo>
                  <a:lnTo>
                    <a:pt x="1348" y="2142"/>
                  </a:lnTo>
                  <a:lnTo>
                    <a:pt x="1358" y="2103"/>
                  </a:lnTo>
                  <a:lnTo>
                    <a:pt x="1367" y="2007"/>
                  </a:lnTo>
                  <a:lnTo>
                    <a:pt x="1365" y="1906"/>
                  </a:lnTo>
                  <a:lnTo>
                    <a:pt x="1354" y="1820"/>
                  </a:lnTo>
                  <a:lnTo>
                    <a:pt x="1344" y="1789"/>
                  </a:lnTo>
                  <a:lnTo>
                    <a:pt x="1327" y="1756"/>
                  </a:lnTo>
                  <a:lnTo>
                    <a:pt x="1260" y="1678"/>
                  </a:lnTo>
                  <a:lnTo>
                    <a:pt x="1170" y="1604"/>
                  </a:lnTo>
                  <a:lnTo>
                    <a:pt x="1072" y="1542"/>
                  </a:lnTo>
                  <a:lnTo>
                    <a:pt x="1027" y="1523"/>
                  </a:lnTo>
                  <a:lnTo>
                    <a:pt x="946" y="1491"/>
                  </a:lnTo>
                  <a:lnTo>
                    <a:pt x="909" y="1473"/>
                  </a:lnTo>
                  <a:lnTo>
                    <a:pt x="877" y="1457"/>
                  </a:lnTo>
                  <a:lnTo>
                    <a:pt x="812" y="1437"/>
                  </a:lnTo>
                  <a:lnTo>
                    <a:pt x="775" y="1425"/>
                  </a:lnTo>
                  <a:lnTo>
                    <a:pt x="702" y="1395"/>
                  </a:lnTo>
                  <a:lnTo>
                    <a:pt x="630" y="1357"/>
                  </a:lnTo>
                  <a:lnTo>
                    <a:pt x="560" y="1311"/>
                  </a:lnTo>
                  <a:lnTo>
                    <a:pt x="497" y="1261"/>
                  </a:lnTo>
                  <a:lnTo>
                    <a:pt x="438" y="1206"/>
                  </a:lnTo>
                  <a:lnTo>
                    <a:pt x="388" y="1149"/>
                  </a:lnTo>
                  <a:lnTo>
                    <a:pt x="346" y="1088"/>
                  </a:lnTo>
                  <a:lnTo>
                    <a:pt x="330" y="1058"/>
                  </a:lnTo>
                  <a:lnTo>
                    <a:pt x="301" y="996"/>
                  </a:lnTo>
                  <a:lnTo>
                    <a:pt x="274" y="904"/>
                  </a:lnTo>
                  <a:lnTo>
                    <a:pt x="265" y="845"/>
                  </a:lnTo>
                  <a:lnTo>
                    <a:pt x="265" y="786"/>
                  </a:lnTo>
                  <a:lnTo>
                    <a:pt x="272" y="727"/>
                  </a:lnTo>
                  <a:lnTo>
                    <a:pt x="287" y="668"/>
                  </a:lnTo>
                  <a:lnTo>
                    <a:pt x="310" y="609"/>
                  </a:lnTo>
                  <a:lnTo>
                    <a:pt x="324" y="580"/>
                  </a:lnTo>
                  <a:lnTo>
                    <a:pt x="347" y="541"/>
                  </a:lnTo>
                  <a:lnTo>
                    <a:pt x="429" y="440"/>
                  </a:lnTo>
                  <a:lnTo>
                    <a:pt x="536" y="335"/>
                  </a:lnTo>
                  <a:lnTo>
                    <a:pt x="641" y="249"/>
                  </a:lnTo>
                  <a:lnTo>
                    <a:pt x="684" y="221"/>
                  </a:lnTo>
                  <a:lnTo>
                    <a:pt x="843" y="136"/>
                  </a:lnTo>
                  <a:lnTo>
                    <a:pt x="936" y="93"/>
                  </a:lnTo>
                  <a:lnTo>
                    <a:pt x="956" y="86"/>
                  </a:lnTo>
                  <a:lnTo>
                    <a:pt x="1000" y="69"/>
                  </a:lnTo>
                  <a:lnTo>
                    <a:pt x="1026" y="59"/>
                  </a:lnTo>
                  <a:lnTo>
                    <a:pt x="1093" y="41"/>
                  </a:lnTo>
                  <a:lnTo>
                    <a:pt x="1125" y="35"/>
                  </a:lnTo>
                  <a:lnTo>
                    <a:pt x="1155" y="31"/>
                  </a:lnTo>
                  <a:lnTo>
                    <a:pt x="1204" y="18"/>
                  </a:lnTo>
                  <a:lnTo>
                    <a:pt x="1216" y="12"/>
                  </a:lnTo>
                  <a:lnTo>
                    <a:pt x="1233" y="5"/>
                  </a:lnTo>
                  <a:lnTo>
                    <a:pt x="1314" y="0"/>
                  </a:lnTo>
                  <a:lnTo>
                    <a:pt x="1422" y="0"/>
                  </a:lnTo>
                  <a:lnTo>
                    <a:pt x="1518" y="8"/>
                  </a:lnTo>
                  <a:lnTo>
                    <a:pt x="1548" y="17"/>
                  </a:lnTo>
                  <a:lnTo>
                    <a:pt x="1630" y="43"/>
                  </a:lnTo>
                  <a:lnTo>
                    <a:pt x="1727" y="86"/>
                  </a:lnTo>
                  <a:lnTo>
                    <a:pt x="1780" y="116"/>
                  </a:lnTo>
                  <a:lnTo>
                    <a:pt x="1823" y="151"/>
                  </a:lnTo>
                  <a:lnTo>
                    <a:pt x="1858" y="188"/>
                  </a:lnTo>
                  <a:lnTo>
                    <a:pt x="1887" y="231"/>
                  </a:lnTo>
                  <a:lnTo>
                    <a:pt x="1910" y="279"/>
                  </a:lnTo>
                  <a:lnTo>
                    <a:pt x="1920" y="306"/>
                  </a:lnTo>
                  <a:lnTo>
                    <a:pt x="1933" y="354"/>
                  </a:lnTo>
                  <a:lnTo>
                    <a:pt x="1943" y="443"/>
                  </a:lnTo>
                  <a:lnTo>
                    <a:pt x="1931" y="519"/>
                  </a:lnTo>
                  <a:lnTo>
                    <a:pt x="1897" y="584"/>
                  </a:lnTo>
                  <a:lnTo>
                    <a:pt x="1871" y="611"/>
                  </a:lnTo>
                  <a:lnTo>
                    <a:pt x="1831" y="647"/>
                  </a:lnTo>
                  <a:lnTo>
                    <a:pt x="1751" y="701"/>
                  </a:lnTo>
                  <a:lnTo>
                    <a:pt x="1679" y="741"/>
                  </a:lnTo>
                  <a:lnTo>
                    <a:pt x="1655" y="753"/>
                  </a:lnTo>
                  <a:lnTo>
                    <a:pt x="1590" y="766"/>
                  </a:lnTo>
                  <a:lnTo>
                    <a:pt x="1525" y="767"/>
                  </a:lnTo>
                  <a:lnTo>
                    <a:pt x="1489" y="761"/>
                  </a:lnTo>
                  <a:lnTo>
                    <a:pt x="1478" y="754"/>
                  </a:lnTo>
                  <a:lnTo>
                    <a:pt x="1476" y="748"/>
                  </a:lnTo>
                  <a:lnTo>
                    <a:pt x="1475" y="742"/>
                  </a:lnTo>
                  <a:lnTo>
                    <a:pt x="1466" y="737"/>
                  </a:lnTo>
                  <a:lnTo>
                    <a:pt x="1461" y="740"/>
                  </a:lnTo>
                  <a:lnTo>
                    <a:pt x="1455" y="742"/>
                  </a:lnTo>
                  <a:lnTo>
                    <a:pt x="1443" y="740"/>
                  </a:lnTo>
                  <a:lnTo>
                    <a:pt x="1430" y="719"/>
                  </a:lnTo>
                  <a:lnTo>
                    <a:pt x="1423" y="675"/>
                  </a:lnTo>
                  <a:lnTo>
                    <a:pt x="1427" y="626"/>
                  </a:lnTo>
                  <a:lnTo>
                    <a:pt x="1435" y="607"/>
                  </a:lnTo>
                  <a:lnTo>
                    <a:pt x="1462" y="552"/>
                  </a:lnTo>
                  <a:lnTo>
                    <a:pt x="1495" y="456"/>
                  </a:lnTo>
                  <a:lnTo>
                    <a:pt x="1497" y="431"/>
                  </a:lnTo>
                  <a:lnTo>
                    <a:pt x="1497" y="423"/>
                  </a:lnTo>
                  <a:lnTo>
                    <a:pt x="1505" y="410"/>
                  </a:lnTo>
                  <a:lnTo>
                    <a:pt x="1512" y="408"/>
                  </a:lnTo>
                  <a:lnTo>
                    <a:pt x="1518" y="407"/>
                  </a:lnTo>
                  <a:lnTo>
                    <a:pt x="1527" y="397"/>
                  </a:lnTo>
                  <a:lnTo>
                    <a:pt x="1531" y="370"/>
                  </a:lnTo>
                  <a:lnTo>
                    <a:pt x="1525" y="319"/>
                  </a:lnTo>
                  <a:lnTo>
                    <a:pt x="1508" y="270"/>
                  </a:lnTo>
                  <a:lnTo>
                    <a:pt x="1495" y="256"/>
                  </a:lnTo>
                  <a:lnTo>
                    <a:pt x="1484" y="246"/>
                  </a:lnTo>
                  <a:lnTo>
                    <a:pt x="1459" y="234"/>
                  </a:lnTo>
                  <a:lnTo>
                    <a:pt x="1403" y="228"/>
                  </a:lnTo>
                  <a:lnTo>
                    <a:pt x="1337" y="233"/>
                  </a:lnTo>
                  <a:lnTo>
                    <a:pt x="1283" y="237"/>
                  </a:lnTo>
                  <a:lnTo>
                    <a:pt x="1184" y="259"/>
                  </a:lnTo>
                  <a:lnTo>
                    <a:pt x="1154" y="272"/>
                  </a:lnTo>
                  <a:lnTo>
                    <a:pt x="1099" y="300"/>
                  </a:lnTo>
                  <a:lnTo>
                    <a:pt x="1044" y="329"/>
                  </a:lnTo>
                  <a:lnTo>
                    <a:pt x="1023" y="341"/>
                  </a:lnTo>
                  <a:lnTo>
                    <a:pt x="994" y="365"/>
                  </a:lnTo>
                  <a:lnTo>
                    <a:pt x="991" y="374"/>
                  </a:lnTo>
                  <a:lnTo>
                    <a:pt x="988" y="383"/>
                  </a:lnTo>
                  <a:lnTo>
                    <a:pt x="962" y="401"/>
                  </a:lnTo>
                  <a:lnTo>
                    <a:pt x="943" y="408"/>
                  </a:lnTo>
                  <a:lnTo>
                    <a:pt x="925" y="419"/>
                  </a:lnTo>
                  <a:lnTo>
                    <a:pt x="895" y="447"/>
                  </a:lnTo>
                  <a:lnTo>
                    <a:pt x="887" y="463"/>
                  </a:lnTo>
                  <a:lnTo>
                    <a:pt x="883" y="478"/>
                  </a:lnTo>
                  <a:lnTo>
                    <a:pt x="870" y="496"/>
                  </a:lnTo>
                  <a:lnTo>
                    <a:pt x="863" y="499"/>
                  </a:lnTo>
                  <a:lnTo>
                    <a:pt x="853" y="502"/>
                  </a:lnTo>
                  <a:lnTo>
                    <a:pt x="830" y="541"/>
                  </a:lnTo>
                  <a:lnTo>
                    <a:pt x="808" y="600"/>
                  </a:lnTo>
                  <a:lnTo>
                    <a:pt x="794" y="662"/>
                  </a:lnTo>
                  <a:lnTo>
                    <a:pt x="792" y="689"/>
                  </a:lnTo>
                  <a:lnTo>
                    <a:pt x="794" y="715"/>
                  </a:lnTo>
                  <a:lnTo>
                    <a:pt x="810" y="781"/>
                  </a:lnTo>
                  <a:lnTo>
                    <a:pt x="834" y="848"/>
                  </a:lnTo>
                  <a:lnTo>
                    <a:pt x="859" y="889"/>
                  </a:lnTo>
                  <a:lnTo>
                    <a:pt x="869" y="895"/>
                  </a:lnTo>
                  <a:lnTo>
                    <a:pt x="883" y="899"/>
                  </a:lnTo>
                  <a:lnTo>
                    <a:pt x="906" y="920"/>
                  </a:lnTo>
                  <a:lnTo>
                    <a:pt x="926" y="938"/>
                  </a:lnTo>
                  <a:lnTo>
                    <a:pt x="992" y="982"/>
                  </a:lnTo>
                  <a:lnTo>
                    <a:pt x="1075" y="1026"/>
                  </a:lnTo>
                  <a:lnTo>
                    <a:pt x="1155" y="1064"/>
                  </a:lnTo>
                  <a:lnTo>
                    <a:pt x="1188" y="1075"/>
                  </a:lnTo>
                  <a:lnTo>
                    <a:pt x="1253" y="1097"/>
                  </a:lnTo>
                  <a:lnTo>
                    <a:pt x="1279" y="1111"/>
                  </a:lnTo>
                  <a:lnTo>
                    <a:pt x="1304" y="1124"/>
                  </a:lnTo>
                  <a:lnTo>
                    <a:pt x="1368" y="1147"/>
                  </a:lnTo>
                  <a:lnTo>
                    <a:pt x="1429" y="1167"/>
                  </a:lnTo>
                  <a:lnTo>
                    <a:pt x="1561" y="1231"/>
                  </a:lnTo>
                  <a:lnTo>
                    <a:pt x="1691" y="1307"/>
                  </a:lnTo>
                  <a:lnTo>
                    <a:pt x="1800" y="1389"/>
                  </a:lnTo>
                  <a:lnTo>
                    <a:pt x="1841" y="1429"/>
                  </a:lnTo>
                  <a:lnTo>
                    <a:pt x="1861" y="1452"/>
                  </a:lnTo>
                  <a:lnTo>
                    <a:pt x="1898" y="1510"/>
                  </a:lnTo>
                  <a:lnTo>
                    <a:pt x="1927" y="1573"/>
                  </a:lnTo>
                  <a:lnTo>
                    <a:pt x="1943" y="1634"/>
                  </a:lnTo>
                  <a:lnTo>
                    <a:pt x="1944" y="1660"/>
                  </a:lnTo>
                  <a:lnTo>
                    <a:pt x="1946" y="1677"/>
                  </a:lnTo>
                  <a:lnTo>
                    <a:pt x="1956" y="1701"/>
                  </a:lnTo>
                  <a:lnTo>
                    <a:pt x="1963" y="1704"/>
                  </a:lnTo>
                  <a:lnTo>
                    <a:pt x="1966" y="1706"/>
                  </a:lnTo>
                  <a:lnTo>
                    <a:pt x="1973" y="1723"/>
                  </a:lnTo>
                  <a:lnTo>
                    <a:pt x="1979" y="1771"/>
                  </a:lnTo>
                  <a:lnTo>
                    <a:pt x="1979" y="1856"/>
                  </a:lnTo>
                  <a:lnTo>
                    <a:pt x="1972" y="1932"/>
                  </a:lnTo>
                  <a:lnTo>
                    <a:pt x="1965" y="1953"/>
                  </a:lnTo>
                  <a:lnTo>
                    <a:pt x="1946" y="1995"/>
                  </a:lnTo>
                  <a:lnTo>
                    <a:pt x="1924" y="2070"/>
                  </a:lnTo>
                  <a:lnTo>
                    <a:pt x="1916" y="2105"/>
                  </a:lnTo>
                  <a:lnTo>
                    <a:pt x="1893" y="2158"/>
                  </a:lnTo>
                  <a:lnTo>
                    <a:pt x="1884" y="2169"/>
                  </a:lnTo>
                  <a:lnTo>
                    <a:pt x="1862" y="2191"/>
                  </a:lnTo>
                  <a:lnTo>
                    <a:pt x="1836" y="2231"/>
                  </a:lnTo>
                  <a:lnTo>
                    <a:pt x="1822" y="2259"/>
                  </a:lnTo>
                  <a:lnTo>
                    <a:pt x="1776" y="2316"/>
                  </a:lnTo>
                  <a:lnTo>
                    <a:pt x="1714" y="2377"/>
                  </a:lnTo>
                  <a:lnTo>
                    <a:pt x="1639" y="2439"/>
                  </a:lnTo>
                  <a:lnTo>
                    <a:pt x="1558" y="2498"/>
                  </a:lnTo>
                  <a:lnTo>
                    <a:pt x="1473" y="2551"/>
                  </a:lnTo>
                  <a:lnTo>
                    <a:pt x="1387" y="2596"/>
                  </a:lnTo>
                  <a:lnTo>
                    <a:pt x="1306" y="2629"/>
                  </a:lnTo>
                  <a:lnTo>
                    <a:pt x="1269" y="2640"/>
                  </a:lnTo>
                  <a:lnTo>
                    <a:pt x="1233" y="2650"/>
                  </a:lnTo>
                  <a:lnTo>
                    <a:pt x="1180" y="2672"/>
                  </a:lnTo>
                  <a:lnTo>
                    <a:pt x="1171" y="2678"/>
                  </a:lnTo>
                  <a:lnTo>
                    <a:pt x="1157" y="2686"/>
                  </a:lnTo>
                  <a:lnTo>
                    <a:pt x="1072" y="2704"/>
                  </a:lnTo>
                  <a:lnTo>
                    <a:pt x="948" y="2719"/>
                  </a:lnTo>
                  <a:lnTo>
                    <a:pt x="820" y="2728"/>
                  </a:lnTo>
                  <a:lnTo>
                    <a:pt x="769" y="2728"/>
                  </a:lnTo>
                  <a:lnTo>
                    <a:pt x="660" y="2724"/>
                  </a:lnTo>
                  <a:lnTo>
                    <a:pt x="559" y="2711"/>
                  </a:lnTo>
                  <a:close/>
                </a:path>
              </a:pathLst>
            </a:custGeom>
            <a:solidFill>
              <a:srgbClr val="C00000"/>
            </a:solidFill>
            <a:ln>
              <a:noFill/>
            </a:ln>
          </p:spPr>
          <p:txBody>
            <a:bodyPr vert="horz" wrap="square" lIns="91440" tIns="45720" rIns="91440" bIns="45720" numCol="1" anchor="t" anchorCtr="0" compatLnSpc="1">
              <a:prstTxWarp prst="textNoShape">
                <a:avLst/>
              </a:prstTxWarp>
            </a:bodyPr>
            <a:lstStyle/>
            <a:p>
              <a:endParaRPr lang="es-PE"/>
            </a:p>
          </p:txBody>
        </p:sp>
        <p:sp>
          <p:nvSpPr>
            <p:cNvPr id="11" name="Freeform 7"/>
            <p:cNvSpPr>
              <a:spLocks/>
            </p:cNvSpPr>
            <p:nvPr/>
          </p:nvSpPr>
          <p:spPr bwMode="auto">
            <a:xfrm>
              <a:off x="6303284" y="4963658"/>
              <a:ext cx="771525" cy="1136650"/>
            </a:xfrm>
            <a:custGeom>
              <a:avLst/>
              <a:gdLst>
                <a:gd name="T0" fmla="*/ 637 w 1456"/>
                <a:gd name="T1" fmla="*/ 2061 h 2149"/>
                <a:gd name="T2" fmla="*/ 510 w 1456"/>
                <a:gd name="T3" fmla="*/ 1908 h 2149"/>
                <a:gd name="T4" fmla="*/ 480 w 1456"/>
                <a:gd name="T5" fmla="*/ 1851 h 2149"/>
                <a:gd name="T6" fmla="*/ 461 w 1456"/>
                <a:gd name="T7" fmla="*/ 1704 h 2149"/>
                <a:gd name="T8" fmla="*/ 472 w 1456"/>
                <a:gd name="T9" fmla="*/ 1397 h 2149"/>
                <a:gd name="T10" fmla="*/ 516 w 1456"/>
                <a:gd name="T11" fmla="*/ 1296 h 2149"/>
                <a:gd name="T12" fmla="*/ 577 w 1456"/>
                <a:gd name="T13" fmla="*/ 1080 h 2149"/>
                <a:gd name="T14" fmla="*/ 703 w 1456"/>
                <a:gd name="T15" fmla="*/ 797 h 2149"/>
                <a:gd name="T16" fmla="*/ 782 w 1456"/>
                <a:gd name="T17" fmla="*/ 669 h 2149"/>
                <a:gd name="T18" fmla="*/ 745 w 1456"/>
                <a:gd name="T19" fmla="*/ 631 h 2149"/>
                <a:gd name="T20" fmla="*/ 625 w 1456"/>
                <a:gd name="T21" fmla="*/ 707 h 2149"/>
                <a:gd name="T22" fmla="*/ 524 w 1456"/>
                <a:gd name="T23" fmla="*/ 961 h 2149"/>
                <a:gd name="T24" fmla="*/ 465 w 1456"/>
                <a:gd name="T25" fmla="*/ 1044 h 2149"/>
                <a:gd name="T26" fmla="*/ 451 w 1456"/>
                <a:gd name="T27" fmla="*/ 1072 h 2149"/>
                <a:gd name="T28" fmla="*/ 334 w 1456"/>
                <a:gd name="T29" fmla="*/ 1210 h 2149"/>
                <a:gd name="T30" fmla="*/ 266 w 1456"/>
                <a:gd name="T31" fmla="*/ 1250 h 2149"/>
                <a:gd name="T32" fmla="*/ 235 w 1456"/>
                <a:gd name="T33" fmla="*/ 1259 h 2149"/>
                <a:gd name="T34" fmla="*/ 174 w 1456"/>
                <a:gd name="T35" fmla="*/ 1282 h 2149"/>
                <a:gd name="T36" fmla="*/ 36 w 1456"/>
                <a:gd name="T37" fmla="*/ 1252 h 2149"/>
                <a:gd name="T38" fmla="*/ 0 w 1456"/>
                <a:gd name="T39" fmla="*/ 1201 h 2149"/>
                <a:gd name="T40" fmla="*/ 144 w 1456"/>
                <a:gd name="T41" fmla="*/ 1043 h 2149"/>
                <a:gd name="T42" fmla="*/ 337 w 1456"/>
                <a:gd name="T43" fmla="*/ 807 h 2149"/>
                <a:gd name="T44" fmla="*/ 392 w 1456"/>
                <a:gd name="T45" fmla="*/ 687 h 2149"/>
                <a:gd name="T46" fmla="*/ 439 w 1456"/>
                <a:gd name="T47" fmla="*/ 574 h 2149"/>
                <a:gd name="T48" fmla="*/ 403 w 1456"/>
                <a:gd name="T49" fmla="*/ 458 h 2149"/>
                <a:gd name="T50" fmla="*/ 343 w 1456"/>
                <a:gd name="T51" fmla="*/ 327 h 2149"/>
                <a:gd name="T52" fmla="*/ 340 w 1456"/>
                <a:gd name="T53" fmla="*/ 162 h 2149"/>
                <a:gd name="T54" fmla="*/ 400 w 1456"/>
                <a:gd name="T55" fmla="*/ 52 h 2149"/>
                <a:gd name="T56" fmla="*/ 474 w 1456"/>
                <a:gd name="T57" fmla="*/ 6 h 2149"/>
                <a:gd name="T58" fmla="*/ 583 w 1456"/>
                <a:gd name="T59" fmla="*/ 2 h 2149"/>
                <a:gd name="T60" fmla="*/ 700 w 1456"/>
                <a:gd name="T61" fmla="*/ 54 h 2149"/>
                <a:gd name="T62" fmla="*/ 739 w 1456"/>
                <a:gd name="T63" fmla="*/ 178 h 2149"/>
                <a:gd name="T64" fmla="*/ 704 w 1456"/>
                <a:gd name="T65" fmla="*/ 320 h 2149"/>
                <a:gd name="T66" fmla="*/ 652 w 1456"/>
                <a:gd name="T67" fmla="*/ 395 h 2149"/>
                <a:gd name="T68" fmla="*/ 644 w 1456"/>
                <a:gd name="T69" fmla="*/ 467 h 2149"/>
                <a:gd name="T70" fmla="*/ 759 w 1456"/>
                <a:gd name="T71" fmla="*/ 450 h 2149"/>
                <a:gd name="T72" fmla="*/ 952 w 1456"/>
                <a:gd name="T73" fmla="*/ 314 h 2149"/>
                <a:gd name="T74" fmla="*/ 1148 w 1456"/>
                <a:gd name="T75" fmla="*/ 175 h 2149"/>
                <a:gd name="T76" fmla="*/ 1287 w 1456"/>
                <a:gd name="T77" fmla="*/ 163 h 2149"/>
                <a:gd name="T78" fmla="*/ 1385 w 1456"/>
                <a:gd name="T79" fmla="*/ 208 h 2149"/>
                <a:gd name="T80" fmla="*/ 1447 w 1456"/>
                <a:gd name="T81" fmla="*/ 286 h 2149"/>
                <a:gd name="T82" fmla="*/ 1453 w 1456"/>
                <a:gd name="T83" fmla="*/ 412 h 2149"/>
                <a:gd name="T84" fmla="*/ 1419 w 1456"/>
                <a:gd name="T85" fmla="*/ 584 h 2149"/>
                <a:gd name="T86" fmla="*/ 1315 w 1456"/>
                <a:gd name="T87" fmla="*/ 768 h 2149"/>
                <a:gd name="T88" fmla="*/ 1224 w 1456"/>
                <a:gd name="T89" fmla="*/ 936 h 2149"/>
                <a:gd name="T90" fmla="*/ 1146 w 1456"/>
                <a:gd name="T91" fmla="*/ 1079 h 2149"/>
                <a:gd name="T92" fmla="*/ 1099 w 1456"/>
                <a:gd name="T93" fmla="*/ 1151 h 2149"/>
                <a:gd name="T94" fmla="*/ 1069 w 1456"/>
                <a:gd name="T95" fmla="*/ 1250 h 2149"/>
                <a:gd name="T96" fmla="*/ 991 w 1456"/>
                <a:gd name="T97" fmla="*/ 1420 h 2149"/>
                <a:gd name="T98" fmla="*/ 955 w 1456"/>
                <a:gd name="T99" fmla="*/ 1531 h 2149"/>
                <a:gd name="T100" fmla="*/ 942 w 1456"/>
                <a:gd name="T101" fmla="*/ 1580 h 2149"/>
                <a:gd name="T102" fmla="*/ 919 w 1456"/>
                <a:gd name="T103" fmla="*/ 1615 h 2149"/>
                <a:gd name="T104" fmla="*/ 910 w 1456"/>
                <a:gd name="T105" fmla="*/ 1843 h 2149"/>
                <a:gd name="T106" fmla="*/ 952 w 1456"/>
                <a:gd name="T107" fmla="*/ 1937 h 2149"/>
                <a:gd name="T108" fmla="*/ 989 w 1456"/>
                <a:gd name="T109" fmla="*/ 1999 h 2149"/>
                <a:gd name="T110" fmla="*/ 966 w 1456"/>
                <a:gd name="T111" fmla="*/ 2116 h 2149"/>
                <a:gd name="T112" fmla="*/ 903 w 1456"/>
                <a:gd name="T113" fmla="*/ 2149 h 2149"/>
                <a:gd name="T114" fmla="*/ 753 w 1456"/>
                <a:gd name="T115" fmla="*/ 2129 h 2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456" h="2149">
                  <a:moveTo>
                    <a:pt x="753" y="2129"/>
                  </a:moveTo>
                  <a:lnTo>
                    <a:pt x="714" y="2113"/>
                  </a:lnTo>
                  <a:lnTo>
                    <a:pt x="637" y="2061"/>
                  </a:lnTo>
                  <a:lnTo>
                    <a:pt x="567" y="1998"/>
                  </a:lnTo>
                  <a:lnTo>
                    <a:pt x="518" y="1934"/>
                  </a:lnTo>
                  <a:lnTo>
                    <a:pt x="510" y="1908"/>
                  </a:lnTo>
                  <a:lnTo>
                    <a:pt x="504" y="1890"/>
                  </a:lnTo>
                  <a:lnTo>
                    <a:pt x="487" y="1858"/>
                  </a:lnTo>
                  <a:lnTo>
                    <a:pt x="480" y="1851"/>
                  </a:lnTo>
                  <a:lnTo>
                    <a:pt x="474" y="1845"/>
                  </a:lnTo>
                  <a:lnTo>
                    <a:pt x="467" y="1805"/>
                  </a:lnTo>
                  <a:lnTo>
                    <a:pt x="461" y="1704"/>
                  </a:lnTo>
                  <a:lnTo>
                    <a:pt x="459" y="1538"/>
                  </a:lnTo>
                  <a:lnTo>
                    <a:pt x="465" y="1437"/>
                  </a:lnTo>
                  <a:lnTo>
                    <a:pt x="472" y="1397"/>
                  </a:lnTo>
                  <a:lnTo>
                    <a:pt x="477" y="1390"/>
                  </a:lnTo>
                  <a:lnTo>
                    <a:pt x="487" y="1377"/>
                  </a:lnTo>
                  <a:lnTo>
                    <a:pt x="516" y="1296"/>
                  </a:lnTo>
                  <a:lnTo>
                    <a:pt x="530" y="1243"/>
                  </a:lnTo>
                  <a:lnTo>
                    <a:pt x="559" y="1132"/>
                  </a:lnTo>
                  <a:lnTo>
                    <a:pt x="577" y="1080"/>
                  </a:lnTo>
                  <a:lnTo>
                    <a:pt x="609" y="1018"/>
                  </a:lnTo>
                  <a:lnTo>
                    <a:pt x="691" y="831"/>
                  </a:lnTo>
                  <a:lnTo>
                    <a:pt x="703" y="797"/>
                  </a:lnTo>
                  <a:lnTo>
                    <a:pt x="711" y="772"/>
                  </a:lnTo>
                  <a:lnTo>
                    <a:pt x="747" y="720"/>
                  </a:lnTo>
                  <a:lnTo>
                    <a:pt x="782" y="669"/>
                  </a:lnTo>
                  <a:lnTo>
                    <a:pt x="792" y="645"/>
                  </a:lnTo>
                  <a:lnTo>
                    <a:pt x="788" y="640"/>
                  </a:lnTo>
                  <a:lnTo>
                    <a:pt x="745" y="631"/>
                  </a:lnTo>
                  <a:lnTo>
                    <a:pt x="713" y="631"/>
                  </a:lnTo>
                  <a:lnTo>
                    <a:pt x="635" y="631"/>
                  </a:lnTo>
                  <a:lnTo>
                    <a:pt x="625" y="707"/>
                  </a:lnTo>
                  <a:lnTo>
                    <a:pt x="618" y="743"/>
                  </a:lnTo>
                  <a:lnTo>
                    <a:pt x="577" y="850"/>
                  </a:lnTo>
                  <a:lnTo>
                    <a:pt x="524" y="961"/>
                  </a:lnTo>
                  <a:lnTo>
                    <a:pt x="488" y="1021"/>
                  </a:lnTo>
                  <a:lnTo>
                    <a:pt x="471" y="1043"/>
                  </a:lnTo>
                  <a:lnTo>
                    <a:pt x="465" y="1044"/>
                  </a:lnTo>
                  <a:lnTo>
                    <a:pt x="459" y="1046"/>
                  </a:lnTo>
                  <a:lnTo>
                    <a:pt x="451" y="1060"/>
                  </a:lnTo>
                  <a:lnTo>
                    <a:pt x="451" y="1072"/>
                  </a:lnTo>
                  <a:lnTo>
                    <a:pt x="445" y="1089"/>
                  </a:lnTo>
                  <a:lnTo>
                    <a:pt x="399" y="1148"/>
                  </a:lnTo>
                  <a:lnTo>
                    <a:pt x="334" y="1210"/>
                  </a:lnTo>
                  <a:lnTo>
                    <a:pt x="292" y="1242"/>
                  </a:lnTo>
                  <a:lnTo>
                    <a:pt x="272" y="1250"/>
                  </a:lnTo>
                  <a:lnTo>
                    <a:pt x="266" y="1250"/>
                  </a:lnTo>
                  <a:lnTo>
                    <a:pt x="258" y="1246"/>
                  </a:lnTo>
                  <a:lnTo>
                    <a:pt x="240" y="1252"/>
                  </a:lnTo>
                  <a:lnTo>
                    <a:pt x="235" y="1259"/>
                  </a:lnTo>
                  <a:lnTo>
                    <a:pt x="229" y="1265"/>
                  </a:lnTo>
                  <a:lnTo>
                    <a:pt x="212" y="1273"/>
                  </a:lnTo>
                  <a:lnTo>
                    <a:pt x="174" y="1282"/>
                  </a:lnTo>
                  <a:lnTo>
                    <a:pt x="111" y="1279"/>
                  </a:lnTo>
                  <a:lnTo>
                    <a:pt x="53" y="1263"/>
                  </a:lnTo>
                  <a:lnTo>
                    <a:pt x="36" y="1252"/>
                  </a:lnTo>
                  <a:lnTo>
                    <a:pt x="22" y="1237"/>
                  </a:lnTo>
                  <a:lnTo>
                    <a:pt x="1" y="1210"/>
                  </a:lnTo>
                  <a:lnTo>
                    <a:pt x="0" y="1201"/>
                  </a:lnTo>
                  <a:lnTo>
                    <a:pt x="9" y="1187"/>
                  </a:lnTo>
                  <a:lnTo>
                    <a:pt x="86" y="1101"/>
                  </a:lnTo>
                  <a:lnTo>
                    <a:pt x="144" y="1043"/>
                  </a:lnTo>
                  <a:lnTo>
                    <a:pt x="187" y="998"/>
                  </a:lnTo>
                  <a:lnTo>
                    <a:pt x="269" y="902"/>
                  </a:lnTo>
                  <a:lnTo>
                    <a:pt x="337" y="807"/>
                  </a:lnTo>
                  <a:lnTo>
                    <a:pt x="380" y="729"/>
                  </a:lnTo>
                  <a:lnTo>
                    <a:pt x="387" y="703"/>
                  </a:lnTo>
                  <a:lnTo>
                    <a:pt x="392" y="687"/>
                  </a:lnTo>
                  <a:lnTo>
                    <a:pt x="408" y="657"/>
                  </a:lnTo>
                  <a:lnTo>
                    <a:pt x="423" y="627"/>
                  </a:lnTo>
                  <a:lnTo>
                    <a:pt x="439" y="574"/>
                  </a:lnTo>
                  <a:lnTo>
                    <a:pt x="439" y="527"/>
                  </a:lnTo>
                  <a:lnTo>
                    <a:pt x="421" y="481"/>
                  </a:lnTo>
                  <a:lnTo>
                    <a:pt x="403" y="458"/>
                  </a:lnTo>
                  <a:lnTo>
                    <a:pt x="386" y="434"/>
                  </a:lnTo>
                  <a:lnTo>
                    <a:pt x="360" y="383"/>
                  </a:lnTo>
                  <a:lnTo>
                    <a:pt x="343" y="327"/>
                  </a:lnTo>
                  <a:lnTo>
                    <a:pt x="333" y="271"/>
                  </a:lnTo>
                  <a:lnTo>
                    <a:pt x="333" y="216"/>
                  </a:lnTo>
                  <a:lnTo>
                    <a:pt x="340" y="162"/>
                  </a:lnTo>
                  <a:lnTo>
                    <a:pt x="357" y="113"/>
                  </a:lnTo>
                  <a:lnTo>
                    <a:pt x="383" y="71"/>
                  </a:lnTo>
                  <a:lnTo>
                    <a:pt x="400" y="52"/>
                  </a:lnTo>
                  <a:lnTo>
                    <a:pt x="415" y="38"/>
                  </a:lnTo>
                  <a:lnTo>
                    <a:pt x="444" y="18"/>
                  </a:lnTo>
                  <a:lnTo>
                    <a:pt x="474" y="6"/>
                  </a:lnTo>
                  <a:lnTo>
                    <a:pt x="510" y="0"/>
                  </a:lnTo>
                  <a:lnTo>
                    <a:pt x="533" y="0"/>
                  </a:lnTo>
                  <a:lnTo>
                    <a:pt x="583" y="2"/>
                  </a:lnTo>
                  <a:lnTo>
                    <a:pt x="644" y="16"/>
                  </a:lnTo>
                  <a:lnTo>
                    <a:pt x="675" y="32"/>
                  </a:lnTo>
                  <a:lnTo>
                    <a:pt x="700" y="54"/>
                  </a:lnTo>
                  <a:lnTo>
                    <a:pt x="719" y="81"/>
                  </a:lnTo>
                  <a:lnTo>
                    <a:pt x="736" y="133"/>
                  </a:lnTo>
                  <a:lnTo>
                    <a:pt x="739" y="178"/>
                  </a:lnTo>
                  <a:lnTo>
                    <a:pt x="737" y="203"/>
                  </a:lnTo>
                  <a:lnTo>
                    <a:pt x="724" y="262"/>
                  </a:lnTo>
                  <a:lnTo>
                    <a:pt x="704" y="320"/>
                  </a:lnTo>
                  <a:lnTo>
                    <a:pt x="678" y="365"/>
                  </a:lnTo>
                  <a:lnTo>
                    <a:pt x="664" y="379"/>
                  </a:lnTo>
                  <a:lnTo>
                    <a:pt x="652" y="395"/>
                  </a:lnTo>
                  <a:lnTo>
                    <a:pt x="641" y="430"/>
                  </a:lnTo>
                  <a:lnTo>
                    <a:pt x="635" y="450"/>
                  </a:lnTo>
                  <a:lnTo>
                    <a:pt x="644" y="467"/>
                  </a:lnTo>
                  <a:lnTo>
                    <a:pt x="661" y="468"/>
                  </a:lnTo>
                  <a:lnTo>
                    <a:pt x="693" y="467"/>
                  </a:lnTo>
                  <a:lnTo>
                    <a:pt x="759" y="450"/>
                  </a:lnTo>
                  <a:lnTo>
                    <a:pt x="830" y="412"/>
                  </a:lnTo>
                  <a:lnTo>
                    <a:pt x="909" y="353"/>
                  </a:lnTo>
                  <a:lnTo>
                    <a:pt x="952" y="314"/>
                  </a:lnTo>
                  <a:lnTo>
                    <a:pt x="1005" y="267"/>
                  </a:lnTo>
                  <a:lnTo>
                    <a:pt x="1083" y="206"/>
                  </a:lnTo>
                  <a:lnTo>
                    <a:pt x="1148" y="175"/>
                  </a:lnTo>
                  <a:lnTo>
                    <a:pt x="1217" y="163"/>
                  </a:lnTo>
                  <a:lnTo>
                    <a:pt x="1260" y="163"/>
                  </a:lnTo>
                  <a:lnTo>
                    <a:pt x="1287" y="163"/>
                  </a:lnTo>
                  <a:lnTo>
                    <a:pt x="1326" y="167"/>
                  </a:lnTo>
                  <a:lnTo>
                    <a:pt x="1357" y="182"/>
                  </a:lnTo>
                  <a:lnTo>
                    <a:pt x="1385" y="208"/>
                  </a:lnTo>
                  <a:lnTo>
                    <a:pt x="1404" y="229"/>
                  </a:lnTo>
                  <a:lnTo>
                    <a:pt x="1423" y="251"/>
                  </a:lnTo>
                  <a:lnTo>
                    <a:pt x="1447" y="286"/>
                  </a:lnTo>
                  <a:lnTo>
                    <a:pt x="1456" y="320"/>
                  </a:lnTo>
                  <a:lnTo>
                    <a:pt x="1456" y="373"/>
                  </a:lnTo>
                  <a:lnTo>
                    <a:pt x="1453" y="412"/>
                  </a:lnTo>
                  <a:lnTo>
                    <a:pt x="1449" y="457"/>
                  </a:lnTo>
                  <a:lnTo>
                    <a:pt x="1439" y="525"/>
                  </a:lnTo>
                  <a:lnTo>
                    <a:pt x="1419" y="584"/>
                  </a:lnTo>
                  <a:lnTo>
                    <a:pt x="1384" y="651"/>
                  </a:lnTo>
                  <a:lnTo>
                    <a:pt x="1359" y="693"/>
                  </a:lnTo>
                  <a:lnTo>
                    <a:pt x="1315" y="768"/>
                  </a:lnTo>
                  <a:lnTo>
                    <a:pt x="1275" y="847"/>
                  </a:lnTo>
                  <a:lnTo>
                    <a:pt x="1240" y="912"/>
                  </a:lnTo>
                  <a:lnTo>
                    <a:pt x="1224" y="936"/>
                  </a:lnTo>
                  <a:lnTo>
                    <a:pt x="1208" y="959"/>
                  </a:lnTo>
                  <a:lnTo>
                    <a:pt x="1179" y="1017"/>
                  </a:lnTo>
                  <a:lnTo>
                    <a:pt x="1146" y="1079"/>
                  </a:lnTo>
                  <a:lnTo>
                    <a:pt x="1122" y="1113"/>
                  </a:lnTo>
                  <a:lnTo>
                    <a:pt x="1112" y="1124"/>
                  </a:lnTo>
                  <a:lnTo>
                    <a:pt x="1099" y="1151"/>
                  </a:lnTo>
                  <a:lnTo>
                    <a:pt x="1099" y="1164"/>
                  </a:lnTo>
                  <a:lnTo>
                    <a:pt x="1097" y="1183"/>
                  </a:lnTo>
                  <a:lnTo>
                    <a:pt x="1069" y="1250"/>
                  </a:lnTo>
                  <a:lnTo>
                    <a:pt x="1030" y="1327"/>
                  </a:lnTo>
                  <a:lnTo>
                    <a:pt x="999" y="1388"/>
                  </a:lnTo>
                  <a:lnTo>
                    <a:pt x="991" y="1420"/>
                  </a:lnTo>
                  <a:lnTo>
                    <a:pt x="985" y="1445"/>
                  </a:lnTo>
                  <a:lnTo>
                    <a:pt x="969" y="1489"/>
                  </a:lnTo>
                  <a:lnTo>
                    <a:pt x="955" y="1531"/>
                  </a:lnTo>
                  <a:lnTo>
                    <a:pt x="952" y="1556"/>
                  </a:lnTo>
                  <a:lnTo>
                    <a:pt x="952" y="1563"/>
                  </a:lnTo>
                  <a:lnTo>
                    <a:pt x="942" y="1580"/>
                  </a:lnTo>
                  <a:lnTo>
                    <a:pt x="933" y="1586"/>
                  </a:lnTo>
                  <a:lnTo>
                    <a:pt x="927" y="1592"/>
                  </a:lnTo>
                  <a:lnTo>
                    <a:pt x="919" y="1615"/>
                  </a:lnTo>
                  <a:lnTo>
                    <a:pt x="912" y="1682"/>
                  </a:lnTo>
                  <a:lnTo>
                    <a:pt x="909" y="1754"/>
                  </a:lnTo>
                  <a:lnTo>
                    <a:pt x="910" y="1843"/>
                  </a:lnTo>
                  <a:lnTo>
                    <a:pt x="920" y="1905"/>
                  </a:lnTo>
                  <a:lnTo>
                    <a:pt x="939" y="1927"/>
                  </a:lnTo>
                  <a:lnTo>
                    <a:pt x="952" y="1937"/>
                  </a:lnTo>
                  <a:lnTo>
                    <a:pt x="965" y="1946"/>
                  </a:lnTo>
                  <a:lnTo>
                    <a:pt x="981" y="1964"/>
                  </a:lnTo>
                  <a:lnTo>
                    <a:pt x="989" y="1999"/>
                  </a:lnTo>
                  <a:lnTo>
                    <a:pt x="985" y="2039"/>
                  </a:lnTo>
                  <a:lnTo>
                    <a:pt x="979" y="2068"/>
                  </a:lnTo>
                  <a:lnTo>
                    <a:pt x="966" y="2116"/>
                  </a:lnTo>
                  <a:lnTo>
                    <a:pt x="959" y="2126"/>
                  </a:lnTo>
                  <a:lnTo>
                    <a:pt x="946" y="2137"/>
                  </a:lnTo>
                  <a:lnTo>
                    <a:pt x="903" y="2149"/>
                  </a:lnTo>
                  <a:lnTo>
                    <a:pt x="847" y="2149"/>
                  </a:lnTo>
                  <a:lnTo>
                    <a:pt x="783" y="2139"/>
                  </a:lnTo>
                  <a:lnTo>
                    <a:pt x="753" y="2129"/>
                  </a:lnTo>
                  <a:close/>
                </a:path>
              </a:pathLst>
            </a:custGeom>
            <a:solidFill>
              <a:srgbClr val="C00000"/>
            </a:solidFill>
            <a:ln>
              <a:noFill/>
            </a:ln>
          </p:spPr>
          <p:txBody>
            <a:bodyPr vert="horz" wrap="square" lIns="91440" tIns="45720" rIns="91440" bIns="45720" numCol="1" anchor="t" anchorCtr="0" compatLnSpc="1">
              <a:prstTxWarp prst="textNoShape">
                <a:avLst/>
              </a:prstTxWarp>
            </a:bodyPr>
            <a:lstStyle/>
            <a:p>
              <a:endParaRPr lang="es-PE"/>
            </a:p>
          </p:txBody>
        </p:sp>
        <p:sp>
          <p:nvSpPr>
            <p:cNvPr id="12" name="Freeform 8"/>
            <p:cNvSpPr>
              <a:spLocks/>
            </p:cNvSpPr>
            <p:nvPr/>
          </p:nvSpPr>
          <p:spPr bwMode="auto">
            <a:xfrm>
              <a:off x="3314021" y="5319258"/>
              <a:ext cx="265113" cy="728663"/>
            </a:xfrm>
            <a:custGeom>
              <a:avLst/>
              <a:gdLst>
                <a:gd name="T0" fmla="*/ 160 w 502"/>
                <a:gd name="T1" fmla="*/ 1336 h 1376"/>
                <a:gd name="T2" fmla="*/ 62 w 502"/>
                <a:gd name="T3" fmla="*/ 1228 h 1376"/>
                <a:gd name="T4" fmla="*/ 27 w 502"/>
                <a:gd name="T5" fmla="*/ 1142 h 1376"/>
                <a:gd name="T6" fmla="*/ 13 w 502"/>
                <a:gd name="T7" fmla="*/ 1117 h 1376"/>
                <a:gd name="T8" fmla="*/ 0 w 502"/>
                <a:gd name="T9" fmla="*/ 976 h 1376"/>
                <a:gd name="T10" fmla="*/ 7 w 502"/>
                <a:gd name="T11" fmla="*/ 703 h 1376"/>
                <a:gd name="T12" fmla="*/ 21 w 502"/>
                <a:gd name="T13" fmla="*/ 681 h 1376"/>
                <a:gd name="T14" fmla="*/ 26 w 502"/>
                <a:gd name="T15" fmla="*/ 638 h 1376"/>
                <a:gd name="T16" fmla="*/ 27 w 502"/>
                <a:gd name="T17" fmla="*/ 590 h 1376"/>
                <a:gd name="T18" fmla="*/ 47 w 502"/>
                <a:gd name="T19" fmla="*/ 541 h 1376"/>
                <a:gd name="T20" fmla="*/ 91 w 502"/>
                <a:gd name="T21" fmla="*/ 366 h 1376"/>
                <a:gd name="T22" fmla="*/ 118 w 502"/>
                <a:gd name="T23" fmla="*/ 311 h 1376"/>
                <a:gd name="T24" fmla="*/ 125 w 502"/>
                <a:gd name="T25" fmla="*/ 284 h 1376"/>
                <a:gd name="T26" fmla="*/ 150 w 502"/>
                <a:gd name="T27" fmla="*/ 204 h 1376"/>
                <a:gd name="T28" fmla="*/ 216 w 502"/>
                <a:gd name="T29" fmla="*/ 82 h 1376"/>
                <a:gd name="T30" fmla="*/ 294 w 502"/>
                <a:gd name="T31" fmla="*/ 20 h 1376"/>
                <a:gd name="T32" fmla="*/ 350 w 502"/>
                <a:gd name="T33" fmla="*/ 0 h 1376"/>
                <a:gd name="T34" fmla="*/ 387 w 502"/>
                <a:gd name="T35" fmla="*/ 16 h 1376"/>
                <a:gd name="T36" fmla="*/ 433 w 502"/>
                <a:gd name="T37" fmla="*/ 49 h 1376"/>
                <a:gd name="T38" fmla="*/ 479 w 502"/>
                <a:gd name="T39" fmla="*/ 119 h 1376"/>
                <a:gd name="T40" fmla="*/ 501 w 502"/>
                <a:gd name="T41" fmla="*/ 201 h 1376"/>
                <a:gd name="T42" fmla="*/ 494 w 502"/>
                <a:gd name="T43" fmla="*/ 279 h 1376"/>
                <a:gd name="T44" fmla="*/ 478 w 502"/>
                <a:gd name="T45" fmla="*/ 315 h 1376"/>
                <a:gd name="T46" fmla="*/ 439 w 502"/>
                <a:gd name="T47" fmla="*/ 471 h 1376"/>
                <a:gd name="T48" fmla="*/ 393 w 502"/>
                <a:gd name="T49" fmla="*/ 646 h 1376"/>
                <a:gd name="T50" fmla="*/ 366 w 502"/>
                <a:gd name="T51" fmla="*/ 754 h 1376"/>
                <a:gd name="T52" fmla="*/ 341 w 502"/>
                <a:gd name="T53" fmla="*/ 1050 h 1376"/>
                <a:gd name="T54" fmla="*/ 354 w 502"/>
                <a:gd name="T55" fmla="*/ 1168 h 1376"/>
                <a:gd name="T56" fmla="*/ 387 w 502"/>
                <a:gd name="T57" fmla="*/ 1215 h 1376"/>
                <a:gd name="T58" fmla="*/ 428 w 502"/>
                <a:gd name="T59" fmla="*/ 1296 h 1376"/>
                <a:gd name="T60" fmla="*/ 425 w 502"/>
                <a:gd name="T61" fmla="*/ 1336 h 1376"/>
                <a:gd name="T62" fmla="*/ 397 w 502"/>
                <a:gd name="T63" fmla="*/ 1368 h 1376"/>
                <a:gd name="T64" fmla="*/ 331 w 502"/>
                <a:gd name="T65" fmla="*/ 1376 h 1376"/>
                <a:gd name="T66" fmla="*/ 214 w 502"/>
                <a:gd name="T67" fmla="*/ 1363 h 1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02" h="1376">
                  <a:moveTo>
                    <a:pt x="187" y="1352"/>
                  </a:moveTo>
                  <a:lnTo>
                    <a:pt x="160" y="1336"/>
                  </a:lnTo>
                  <a:lnTo>
                    <a:pt x="106" y="1287"/>
                  </a:lnTo>
                  <a:lnTo>
                    <a:pt x="62" y="1228"/>
                  </a:lnTo>
                  <a:lnTo>
                    <a:pt x="33" y="1169"/>
                  </a:lnTo>
                  <a:lnTo>
                    <a:pt x="27" y="1142"/>
                  </a:lnTo>
                  <a:lnTo>
                    <a:pt x="23" y="1130"/>
                  </a:lnTo>
                  <a:lnTo>
                    <a:pt x="13" y="1117"/>
                  </a:lnTo>
                  <a:lnTo>
                    <a:pt x="6" y="1097"/>
                  </a:lnTo>
                  <a:lnTo>
                    <a:pt x="0" y="976"/>
                  </a:lnTo>
                  <a:lnTo>
                    <a:pt x="0" y="821"/>
                  </a:lnTo>
                  <a:lnTo>
                    <a:pt x="7" y="703"/>
                  </a:lnTo>
                  <a:lnTo>
                    <a:pt x="14" y="687"/>
                  </a:lnTo>
                  <a:lnTo>
                    <a:pt x="21" y="681"/>
                  </a:lnTo>
                  <a:lnTo>
                    <a:pt x="27" y="654"/>
                  </a:lnTo>
                  <a:lnTo>
                    <a:pt x="26" y="638"/>
                  </a:lnTo>
                  <a:lnTo>
                    <a:pt x="23" y="620"/>
                  </a:lnTo>
                  <a:lnTo>
                    <a:pt x="27" y="590"/>
                  </a:lnTo>
                  <a:lnTo>
                    <a:pt x="33" y="580"/>
                  </a:lnTo>
                  <a:lnTo>
                    <a:pt x="47" y="541"/>
                  </a:lnTo>
                  <a:lnTo>
                    <a:pt x="69" y="452"/>
                  </a:lnTo>
                  <a:lnTo>
                    <a:pt x="91" y="366"/>
                  </a:lnTo>
                  <a:lnTo>
                    <a:pt x="106" y="327"/>
                  </a:lnTo>
                  <a:lnTo>
                    <a:pt x="118" y="311"/>
                  </a:lnTo>
                  <a:lnTo>
                    <a:pt x="122" y="299"/>
                  </a:lnTo>
                  <a:lnTo>
                    <a:pt x="125" y="284"/>
                  </a:lnTo>
                  <a:lnTo>
                    <a:pt x="134" y="255"/>
                  </a:lnTo>
                  <a:lnTo>
                    <a:pt x="150" y="204"/>
                  </a:lnTo>
                  <a:lnTo>
                    <a:pt x="181" y="132"/>
                  </a:lnTo>
                  <a:lnTo>
                    <a:pt x="216" y="82"/>
                  </a:lnTo>
                  <a:lnTo>
                    <a:pt x="262" y="42"/>
                  </a:lnTo>
                  <a:lnTo>
                    <a:pt x="294" y="20"/>
                  </a:lnTo>
                  <a:lnTo>
                    <a:pt x="320" y="4"/>
                  </a:lnTo>
                  <a:lnTo>
                    <a:pt x="350" y="0"/>
                  </a:lnTo>
                  <a:lnTo>
                    <a:pt x="373" y="7"/>
                  </a:lnTo>
                  <a:lnTo>
                    <a:pt x="387" y="16"/>
                  </a:lnTo>
                  <a:lnTo>
                    <a:pt x="405" y="24"/>
                  </a:lnTo>
                  <a:lnTo>
                    <a:pt x="433" y="49"/>
                  </a:lnTo>
                  <a:lnTo>
                    <a:pt x="459" y="82"/>
                  </a:lnTo>
                  <a:lnTo>
                    <a:pt x="479" y="119"/>
                  </a:lnTo>
                  <a:lnTo>
                    <a:pt x="494" y="160"/>
                  </a:lnTo>
                  <a:lnTo>
                    <a:pt x="501" y="201"/>
                  </a:lnTo>
                  <a:lnTo>
                    <a:pt x="502" y="242"/>
                  </a:lnTo>
                  <a:lnTo>
                    <a:pt x="494" y="279"/>
                  </a:lnTo>
                  <a:lnTo>
                    <a:pt x="487" y="296"/>
                  </a:lnTo>
                  <a:lnTo>
                    <a:pt x="478" y="315"/>
                  </a:lnTo>
                  <a:lnTo>
                    <a:pt x="452" y="412"/>
                  </a:lnTo>
                  <a:lnTo>
                    <a:pt x="439" y="471"/>
                  </a:lnTo>
                  <a:lnTo>
                    <a:pt x="413" y="589"/>
                  </a:lnTo>
                  <a:lnTo>
                    <a:pt x="393" y="646"/>
                  </a:lnTo>
                  <a:lnTo>
                    <a:pt x="384" y="668"/>
                  </a:lnTo>
                  <a:lnTo>
                    <a:pt x="366" y="754"/>
                  </a:lnTo>
                  <a:lnTo>
                    <a:pt x="345" y="933"/>
                  </a:lnTo>
                  <a:lnTo>
                    <a:pt x="341" y="1050"/>
                  </a:lnTo>
                  <a:lnTo>
                    <a:pt x="341" y="1111"/>
                  </a:lnTo>
                  <a:lnTo>
                    <a:pt x="354" y="1168"/>
                  </a:lnTo>
                  <a:lnTo>
                    <a:pt x="373" y="1199"/>
                  </a:lnTo>
                  <a:lnTo>
                    <a:pt x="387" y="1215"/>
                  </a:lnTo>
                  <a:lnTo>
                    <a:pt x="407" y="1242"/>
                  </a:lnTo>
                  <a:lnTo>
                    <a:pt x="428" y="1296"/>
                  </a:lnTo>
                  <a:lnTo>
                    <a:pt x="428" y="1320"/>
                  </a:lnTo>
                  <a:lnTo>
                    <a:pt x="425" y="1336"/>
                  </a:lnTo>
                  <a:lnTo>
                    <a:pt x="416" y="1358"/>
                  </a:lnTo>
                  <a:lnTo>
                    <a:pt x="397" y="1368"/>
                  </a:lnTo>
                  <a:lnTo>
                    <a:pt x="360" y="1374"/>
                  </a:lnTo>
                  <a:lnTo>
                    <a:pt x="331" y="1376"/>
                  </a:lnTo>
                  <a:lnTo>
                    <a:pt x="289" y="1375"/>
                  </a:lnTo>
                  <a:lnTo>
                    <a:pt x="214" y="1363"/>
                  </a:lnTo>
                  <a:lnTo>
                    <a:pt x="187" y="1352"/>
                  </a:lnTo>
                  <a:close/>
                </a:path>
              </a:pathLst>
            </a:custGeom>
            <a:solidFill>
              <a:srgbClr val="C00000"/>
            </a:solidFill>
            <a:ln>
              <a:noFill/>
            </a:ln>
          </p:spPr>
          <p:txBody>
            <a:bodyPr vert="horz" wrap="square" lIns="91440" tIns="45720" rIns="91440" bIns="45720" numCol="1" anchor="t" anchorCtr="0" compatLnSpc="1">
              <a:prstTxWarp prst="textNoShape">
                <a:avLst/>
              </a:prstTxWarp>
            </a:bodyPr>
            <a:lstStyle/>
            <a:p>
              <a:endParaRPr lang="es-PE"/>
            </a:p>
          </p:txBody>
        </p:sp>
        <p:sp>
          <p:nvSpPr>
            <p:cNvPr id="13" name="Freeform 9"/>
            <p:cNvSpPr>
              <a:spLocks noEditPoints="1"/>
            </p:cNvSpPr>
            <p:nvPr/>
          </p:nvSpPr>
          <p:spPr bwMode="auto">
            <a:xfrm>
              <a:off x="3668034" y="5030333"/>
              <a:ext cx="669925" cy="1000125"/>
            </a:xfrm>
            <a:custGeom>
              <a:avLst/>
              <a:gdLst>
                <a:gd name="T0" fmla="*/ 408 w 1264"/>
                <a:gd name="T1" fmla="*/ 1860 h 1889"/>
                <a:gd name="T2" fmla="*/ 297 w 1264"/>
                <a:gd name="T3" fmla="*/ 1829 h 1889"/>
                <a:gd name="T4" fmla="*/ 140 w 1264"/>
                <a:gd name="T5" fmla="*/ 1716 h 1889"/>
                <a:gd name="T6" fmla="*/ 55 w 1264"/>
                <a:gd name="T7" fmla="*/ 1548 h 1889"/>
                <a:gd name="T8" fmla="*/ 6 w 1264"/>
                <a:gd name="T9" fmla="*/ 1398 h 1889"/>
                <a:gd name="T10" fmla="*/ 6 w 1264"/>
                <a:gd name="T11" fmla="*/ 1089 h 1889"/>
                <a:gd name="T12" fmla="*/ 36 w 1264"/>
                <a:gd name="T13" fmla="*/ 997 h 1889"/>
                <a:gd name="T14" fmla="*/ 81 w 1264"/>
                <a:gd name="T15" fmla="*/ 786 h 1889"/>
                <a:gd name="T16" fmla="*/ 147 w 1264"/>
                <a:gd name="T17" fmla="*/ 629 h 1889"/>
                <a:gd name="T18" fmla="*/ 204 w 1264"/>
                <a:gd name="T19" fmla="*/ 503 h 1889"/>
                <a:gd name="T20" fmla="*/ 346 w 1264"/>
                <a:gd name="T21" fmla="*/ 311 h 1889"/>
                <a:gd name="T22" fmla="*/ 628 w 1264"/>
                <a:gd name="T23" fmla="*/ 84 h 1889"/>
                <a:gd name="T24" fmla="*/ 766 w 1264"/>
                <a:gd name="T25" fmla="*/ 36 h 1889"/>
                <a:gd name="T26" fmla="*/ 804 w 1264"/>
                <a:gd name="T27" fmla="*/ 17 h 1889"/>
                <a:gd name="T28" fmla="*/ 904 w 1264"/>
                <a:gd name="T29" fmla="*/ 0 h 1889"/>
                <a:gd name="T30" fmla="*/ 1093 w 1264"/>
                <a:gd name="T31" fmla="*/ 61 h 1889"/>
                <a:gd name="T32" fmla="*/ 1194 w 1264"/>
                <a:gd name="T33" fmla="*/ 180 h 1889"/>
                <a:gd name="T34" fmla="*/ 1226 w 1264"/>
                <a:gd name="T35" fmla="*/ 386 h 1889"/>
                <a:gd name="T36" fmla="*/ 1207 w 1264"/>
                <a:gd name="T37" fmla="*/ 580 h 1889"/>
                <a:gd name="T38" fmla="*/ 1116 w 1264"/>
                <a:gd name="T39" fmla="*/ 766 h 1889"/>
                <a:gd name="T40" fmla="*/ 863 w 1264"/>
                <a:gd name="T41" fmla="*/ 1071 h 1889"/>
                <a:gd name="T42" fmla="*/ 678 w 1264"/>
                <a:gd name="T43" fmla="*/ 1187 h 1889"/>
                <a:gd name="T44" fmla="*/ 603 w 1264"/>
                <a:gd name="T45" fmla="*/ 1207 h 1889"/>
                <a:gd name="T46" fmla="*/ 583 w 1264"/>
                <a:gd name="T47" fmla="*/ 1231 h 1889"/>
                <a:gd name="T48" fmla="*/ 444 w 1264"/>
                <a:gd name="T49" fmla="*/ 1241 h 1889"/>
                <a:gd name="T50" fmla="*/ 454 w 1264"/>
                <a:gd name="T51" fmla="*/ 1490 h 1889"/>
                <a:gd name="T52" fmla="*/ 482 w 1264"/>
                <a:gd name="T53" fmla="*/ 1544 h 1889"/>
                <a:gd name="T54" fmla="*/ 528 w 1264"/>
                <a:gd name="T55" fmla="*/ 1637 h 1889"/>
                <a:gd name="T56" fmla="*/ 642 w 1264"/>
                <a:gd name="T57" fmla="*/ 1709 h 1889"/>
                <a:gd name="T58" fmla="*/ 703 w 1264"/>
                <a:gd name="T59" fmla="*/ 1682 h 1889"/>
                <a:gd name="T60" fmla="*/ 750 w 1264"/>
                <a:gd name="T61" fmla="*/ 1656 h 1889"/>
                <a:gd name="T62" fmla="*/ 899 w 1264"/>
                <a:gd name="T63" fmla="*/ 1515 h 1889"/>
                <a:gd name="T64" fmla="*/ 992 w 1264"/>
                <a:gd name="T65" fmla="*/ 1374 h 1889"/>
                <a:gd name="T66" fmla="*/ 1112 w 1264"/>
                <a:gd name="T67" fmla="*/ 1215 h 1889"/>
                <a:gd name="T68" fmla="*/ 1155 w 1264"/>
                <a:gd name="T69" fmla="*/ 1200 h 1889"/>
                <a:gd name="T70" fmla="*/ 1253 w 1264"/>
                <a:gd name="T71" fmla="*/ 1283 h 1889"/>
                <a:gd name="T72" fmla="*/ 1262 w 1264"/>
                <a:gd name="T73" fmla="*/ 1395 h 1889"/>
                <a:gd name="T74" fmla="*/ 1149 w 1264"/>
                <a:gd name="T75" fmla="*/ 1565 h 1889"/>
                <a:gd name="T76" fmla="*/ 922 w 1264"/>
                <a:gd name="T77" fmla="*/ 1770 h 1889"/>
                <a:gd name="T78" fmla="*/ 756 w 1264"/>
                <a:gd name="T79" fmla="*/ 1833 h 1889"/>
                <a:gd name="T80" fmla="*/ 631 w 1264"/>
                <a:gd name="T81" fmla="*/ 1855 h 1889"/>
                <a:gd name="T82" fmla="*/ 560 w 1264"/>
                <a:gd name="T83" fmla="*/ 1869 h 1889"/>
                <a:gd name="T84" fmla="*/ 464 w 1264"/>
                <a:gd name="T85" fmla="*/ 1889 h 1889"/>
                <a:gd name="T86" fmla="*/ 546 w 1264"/>
                <a:gd name="T87" fmla="*/ 986 h 1889"/>
                <a:gd name="T88" fmla="*/ 724 w 1264"/>
                <a:gd name="T89" fmla="*/ 842 h 1889"/>
                <a:gd name="T90" fmla="*/ 796 w 1264"/>
                <a:gd name="T91" fmla="*/ 742 h 1889"/>
                <a:gd name="T92" fmla="*/ 867 w 1264"/>
                <a:gd name="T93" fmla="*/ 616 h 1889"/>
                <a:gd name="T94" fmla="*/ 893 w 1264"/>
                <a:gd name="T95" fmla="*/ 395 h 1889"/>
                <a:gd name="T96" fmla="*/ 876 w 1264"/>
                <a:gd name="T97" fmla="*/ 281 h 1889"/>
                <a:gd name="T98" fmla="*/ 763 w 1264"/>
                <a:gd name="T99" fmla="*/ 363 h 1889"/>
                <a:gd name="T100" fmla="*/ 648 w 1264"/>
                <a:gd name="T101" fmla="*/ 553 h 1889"/>
                <a:gd name="T102" fmla="*/ 602 w 1264"/>
                <a:gd name="T103" fmla="*/ 629 h 1889"/>
                <a:gd name="T104" fmla="*/ 570 w 1264"/>
                <a:gd name="T105" fmla="*/ 730 h 1889"/>
                <a:gd name="T106" fmla="*/ 498 w 1264"/>
                <a:gd name="T107" fmla="*/ 938 h 1889"/>
                <a:gd name="T108" fmla="*/ 505 w 1264"/>
                <a:gd name="T109" fmla="*/ 1002 h 18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264" h="1889">
                  <a:moveTo>
                    <a:pt x="426" y="1875"/>
                  </a:moveTo>
                  <a:lnTo>
                    <a:pt x="423" y="1869"/>
                  </a:lnTo>
                  <a:lnTo>
                    <a:pt x="408" y="1860"/>
                  </a:lnTo>
                  <a:lnTo>
                    <a:pt x="395" y="1859"/>
                  </a:lnTo>
                  <a:lnTo>
                    <a:pt x="366" y="1855"/>
                  </a:lnTo>
                  <a:lnTo>
                    <a:pt x="297" y="1829"/>
                  </a:lnTo>
                  <a:lnTo>
                    <a:pt x="225" y="1788"/>
                  </a:lnTo>
                  <a:lnTo>
                    <a:pt x="161" y="1741"/>
                  </a:lnTo>
                  <a:lnTo>
                    <a:pt x="140" y="1716"/>
                  </a:lnTo>
                  <a:lnTo>
                    <a:pt x="115" y="1682"/>
                  </a:lnTo>
                  <a:lnTo>
                    <a:pt x="69" y="1591"/>
                  </a:lnTo>
                  <a:lnTo>
                    <a:pt x="55" y="1548"/>
                  </a:lnTo>
                  <a:lnTo>
                    <a:pt x="29" y="1465"/>
                  </a:lnTo>
                  <a:lnTo>
                    <a:pt x="11" y="1420"/>
                  </a:lnTo>
                  <a:lnTo>
                    <a:pt x="6" y="1398"/>
                  </a:lnTo>
                  <a:lnTo>
                    <a:pt x="0" y="1299"/>
                  </a:lnTo>
                  <a:lnTo>
                    <a:pt x="0" y="1177"/>
                  </a:lnTo>
                  <a:lnTo>
                    <a:pt x="6" y="1089"/>
                  </a:lnTo>
                  <a:lnTo>
                    <a:pt x="11" y="1080"/>
                  </a:lnTo>
                  <a:lnTo>
                    <a:pt x="17" y="1071"/>
                  </a:lnTo>
                  <a:lnTo>
                    <a:pt x="36" y="997"/>
                  </a:lnTo>
                  <a:lnTo>
                    <a:pt x="46" y="940"/>
                  </a:lnTo>
                  <a:lnTo>
                    <a:pt x="56" y="883"/>
                  </a:lnTo>
                  <a:lnTo>
                    <a:pt x="81" y="786"/>
                  </a:lnTo>
                  <a:lnTo>
                    <a:pt x="91" y="765"/>
                  </a:lnTo>
                  <a:lnTo>
                    <a:pt x="117" y="714"/>
                  </a:lnTo>
                  <a:lnTo>
                    <a:pt x="147" y="629"/>
                  </a:lnTo>
                  <a:lnTo>
                    <a:pt x="174" y="552"/>
                  </a:lnTo>
                  <a:lnTo>
                    <a:pt x="190" y="521"/>
                  </a:lnTo>
                  <a:lnTo>
                    <a:pt x="204" y="503"/>
                  </a:lnTo>
                  <a:lnTo>
                    <a:pt x="228" y="458"/>
                  </a:lnTo>
                  <a:lnTo>
                    <a:pt x="252" y="418"/>
                  </a:lnTo>
                  <a:lnTo>
                    <a:pt x="346" y="311"/>
                  </a:lnTo>
                  <a:lnTo>
                    <a:pt x="465" y="197"/>
                  </a:lnTo>
                  <a:lnTo>
                    <a:pt x="582" y="108"/>
                  </a:lnTo>
                  <a:lnTo>
                    <a:pt x="628" y="84"/>
                  </a:lnTo>
                  <a:lnTo>
                    <a:pt x="670" y="65"/>
                  </a:lnTo>
                  <a:lnTo>
                    <a:pt x="746" y="38"/>
                  </a:lnTo>
                  <a:lnTo>
                    <a:pt x="766" y="36"/>
                  </a:lnTo>
                  <a:lnTo>
                    <a:pt x="782" y="35"/>
                  </a:lnTo>
                  <a:lnTo>
                    <a:pt x="802" y="25"/>
                  </a:lnTo>
                  <a:lnTo>
                    <a:pt x="804" y="17"/>
                  </a:lnTo>
                  <a:lnTo>
                    <a:pt x="809" y="10"/>
                  </a:lnTo>
                  <a:lnTo>
                    <a:pt x="864" y="0"/>
                  </a:lnTo>
                  <a:lnTo>
                    <a:pt x="904" y="0"/>
                  </a:lnTo>
                  <a:lnTo>
                    <a:pt x="946" y="2"/>
                  </a:lnTo>
                  <a:lnTo>
                    <a:pt x="1024" y="20"/>
                  </a:lnTo>
                  <a:lnTo>
                    <a:pt x="1093" y="61"/>
                  </a:lnTo>
                  <a:lnTo>
                    <a:pt x="1154" y="121"/>
                  </a:lnTo>
                  <a:lnTo>
                    <a:pt x="1182" y="160"/>
                  </a:lnTo>
                  <a:lnTo>
                    <a:pt x="1194" y="180"/>
                  </a:lnTo>
                  <a:lnTo>
                    <a:pt x="1211" y="219"/>
                  </a:lnTo>
                  <a:lnTo>
                    <a:pt x="1224" y="295"/>
                  </a:lnTo>
                  <a:lnTo>
                    <a:pt x="1226" y="386"/>
                  </a:lnTo>
                  <a:lnTo>
                    <a:pt x="1226" y="441"/>
                  </a:lnTo>
                  <a:lnTo>
                    <a:pt x="1221" y="518"/>
                  </a:lnTo>
                  <a:lnTo>
                    <a:pt x="1207" y="580"/>
                  </a:lnTo>
                  <a:lnTo>
                    <a:pt x="1172" y="657"/>
                  </a:lnTo>
                  <a:lnTo>
                    <a:pt x="1146" y="710"/>
                  </a:lnTo>
                  <a:lnTo>
                    <a:pt x="1116" y="766"/>
                  </a:lnTo>
                  <a:lnTo>
                    <a:pt x="1046" y="874"/>
                  </a:lnTo>
                  <a:lnTo>
                    <a:pt x="961" y="975"/>
                  </a:lnTo>
                  <a:lnTo>
                    <a:pt x="863" y="1071"/>
                  </a:lnTo>
                  <a:lnTo>
                    <a:pt x="809" y="1116"/>
                  </a:lnTo>
                  <a:lnTo>
                    <a:pt x="766" y="1145"/>
                  </a:lnTo>
                  <a:lnTo>
                    <a:pt x="678" y="1187"/>
                  </a:lnTo>
                  <a:lnTo>
                    <a:pt x="629" y="1204"/>
                  </a:lnTo>
                  <a:lnTo>
                    <a:pt x="615" y="1205"/>
                  </a:lnTo>
                  <a:lnTo>
                    <a:pt x="603" y="1207"/>
                  </a:lnTo>
                  <a:lnTo>
                    <a:pt x="589" y="1217"/>
                  </a:lnTo>
                  <a:lnTo>
                    <a:pt x="588" y="1224"/>
                  </a:lnTo>
                  <a:lnTo>
                    <a:pt x="583" y="1231"/>
                  </a:lnTo>
                  <a:lnTo>
                    <a:pt x="544" y="1240"/>
                  </a:lnTo>
                  <a:lnTo>
                    <a:pt x="516" y="1241"/>
                  </a:lnTo>
                  <a:lnTo>
                    <a:pt x="444" y="1241"/>
                  </a:lnTo>
                  <a:lnTo>
                    <a:pt x="444" y="1365"/>
                  </a:lnTo>
                  <a:lnTo>
                    <a:pt x="445" y="1417"/>
                  </a:lnTo>
                  <a:lnTo>
                    <a:pt x="454" y="1490"/>
                  </a:lnTo>
                  <a:lnTo>
                    <a:pt x="459" y="1502"/>
                  </a:lnTo>
                  <a:lnTo>
                    <a:pt x="467" y="1509"/>
                  </a:lnTo>
                  <a:lnTo>
                    <a:pt x="482" y="1544"/>
                  </a:lnTo>
                  <a:lnTo>
                    <a:pt x="488" y="1565"/>
                  </a:lnTo>
                  <a:lnTo>
                    <a:pt x="495" y="1588"/>
                  </a:lnTo>
                  <a:lnTo>
                    <a:pt x="528" y="1637"/>
                  </a:lnTo>
                  <a:lnTo>
                    <a:pt x="575" y="1680"/>
                  </a:lnTo>
                  <a:lnTo>
                    <a:pt x="622" y="1706"/>
                  </a:lnTo>
                  <a:lnTo>
                    <a:pt x="642" y="1709"/>
                  </a:lnTo>
                  <a:lnTo>
                    <a:pt x="657" y="1708"/>
                  </a:lnTo>
                  <a:lnTo>
                    <a:pt x="690" y="1693"/>
                  </a:lnTo>
                  <a:lnTo>
                    <a:pt x="703" y="1682"/>
                  </a:lnTo>
                  <a:lnTo>
                    <a:pt x="714" y="1672"/>
                  </a:lnTo>
                  <a:lnTo>
                    <a:pt x="739" y="1657"/>
                  </a:lnTo>
                  <a:lnTo>
                    <a:pt x="750" y="1656"/>
                  </a:lnTo>
                  <a:lnTo>
                    <a:pt x="765" y="1650"/>
                  </a:lnTo>
                  <a:lnTo>
                    <a:pt x="825" y="1596"/>
                  </a:lnTo>
                  <a:lnTo>
                    <a:pt x="899" y="1515"/>
                  </a:lnTo>
                  <a:lnTo>
                    <a:pt x="961" y="1434"/>
                  </a:lnTo>
                  <a:lnTo>
                    <a:pt x="976" y="1405"/>
                  </a:lnTo>
                  <a:lnTo>
                    <a:pt x="992" y="1374"/>
                  </a:lnTo>
                  <a:lnTo>
                    <a:pt x="1031" y="1310"/>
                  </a:lnTo>
                  <a:lnTo>
                    <a:pt x="1073" y="1256"/>
                  </a:lnTo>
                  <a:lnTo>
                    <a:pt x="1112" y="1215"/>
                  </a:lnTo>
                  <a:lnTo>
                    <a:pt x="1128" y="1205"/>
                  </a:lnTo>
                  <a:lnTo>
                    <a:pt x="1136" y="1201"/>
                  </a:lnTo>
                  <a:lnTo>
                    <a:pt x="1155" y="1200"/>
                  </a:lnTo>
                  <a:lnTo>
                    <a:pt x="1185" y="1210"/>
                  </a:lnTo>
                  <a:lnTo>
                    <a:pt x="1224" y="1240"/>
                  </a:lnTo>
                  <a:lnTo>
                    <a:pt x="1253" y="1283"/>
                  </a:lnTo>
                  <a:lnTo>
                    <a:pt x="1259" y="1308"/>
                  </a:lnTo>
                  <a:lnTo>
                    <a:pt x="1264" y="1345"/>
                  </a:lnTo>
                  <a:lnTo>
                    <a:pt x="1262" y="1395"/>
                  </a:lnTo>
                  <a:lnTo>
                    <a:pt x="1251" y="1427"/>
                  </a:lnTo>
                  <a:lnTo>
                    <a:pt x="1223" y="1479"/>
                  </a:lnTo>
                  <a:lnTo>
                    <a:pt x="1149" y="1565"/>
                  </a:lnTo>
                  <a:lnTo>
                    <a:pt x="1093" y="1621"/>
                  </a:lnTo>
                  <a:lnTo>
                    <a:pt x="1008" y="1704"/>
                  </a:lnTo>
                  <a:lnTo>
                    <a:pt x="922" y="1770"/>
                  </a:lnTo>
                  <a:lnTo>
                    <a:pt x="868" y="1796"/>
                  </a:lnTo>
                  <a:lnTo>
                    <a:pt x="840" y="1807"/>
                  </a:lnTo>
                  <a:lnTo>
                    <a:pt x="756" y="1833"/>
                  </a:lnTo>
                  <a:lnTo>
                    <a:pt x="714" y="1848"/>
                  </a:lnTo>
                  <a:lnTo>
                    <a:pt x="680" y="1855"/>
                  </a:lnTo>
                  <a:lnTo>
                    <a:pt x="631" y="1855"/>
                  </a:lnTo>
                  <a:lnTo>
                    <a:pt x="606" y="1855"/>
                  </a:lnTo>
                  <a:lnTo>
                    <a:pt x="569" y="1862"/>
                  </a:lnTo>
                  <a:lnTo>
                    <a:pt x="560" y="1869"/>
                  </a:lnTo>
                  <a:lnTo>
                    <a:pt x="553" y="1878"/>
                  </a:lnTo>
                  <a:lnTo>
                    <a:pt x="513" y="1888"/>
                  </a:lnTo>
                  <a:lnTo>
                    <a:pt x="464" y="1889"/>
                  </a:lnTo>
                  <a:lnTo>
                    <a:pt x="429" y="1882"/>
                  </a:lnTo>
                  <a:lnTo>
                    <a:pt x="426" y="1875"/>
                  </a:lnTo>
                  <a:close/>
                  <a:moveTo>
                    <a:pt x="546" y="986"/>
                  </a:moveTo>
                  <a:lnTo>
                    <a:pt x="570" y="974"/>
                  </a:lnTo>
                  <a:lnTo>
                    <a:pt x="645" y="914"/>
                  </a:lnTo>
                  <a:lnTo>
                    <a:pt x="724" y="842"/>
                  </a:lnTo>
                  <a:lnTo>
                    <a:pt x="779" y="783"/>
                  </a:lnTo>
                  <a:lnTo>
                    <a:pt x="786" y="770"/>
                  </a:lnTo>
                  <a:lnTo>
                    <a:pt x="796" y="742"/>
                  </a:lnTo>
                  <a:lnTo>
                    <a:pt x="834" y="681"/>
                  </a:lnTo>
                  <a:lnTo>
                    <a:pt x="848" y="660"/>
                  </a:lnTo>
                  <a:lnTo>
                    <a:pt x="867" y="616"/>
                  </a:lnTo>
                  <a:lnTo>
                    <a:pt x="884" y="540"/>
                  </a:lnTo>
                  <a:lnTo>
                    <a:pt x="890" y="457"/>
                  </a:lnTo>
                  <a:lnTo>
                    <a:pt x="893" y="395"/>
                  </a:lnTo>
                  <a:lnTo>
                    <a:pt x="887" y="301"/>
                  </a:lnTo>
                  <a:lnTo>
                    <a:pt x="881" y="285"/>
                  </a:lnTo>
                  <a:lnTo>
                    <a:pt x="876" y="281"/>
                  </a:lnTo>
                  <a:lnTo>
                    <a:pt x="858" y="284"/>
                  </a:lnTo>
                  <a:lnTo>
                    <a:pt x="821" y="305"/>
                  </a:lnTo>
                  <a:lnTo>
                    <a:pt x="763" y="363"/>
                  </a:lnTo>
                  <a:lnTo>
                    <a:pt x="709" y="436"/>
                  </a:lnTo>
                  <a:lnTo>
                    <a:pt x="688" y="477"/>
                  </a:lnTo>
                  <a:lnTo>
                    <a:pt x="648" y="553"/>
                  </a:lnTo>
                  <a:lnTo>
                    <a:pt x="625" y="585"/>
                  </a:lnTo>
                  <a:lnTo>
                    <a:pt x="618" y="592"/>
                  </a:lnTo>
                  <a:lnTo>
                    <a:pt x="602" y="629"/>
                  </a:lnTo>
                  <a:lnTo>
                    <a:pt x="596" y="652"/>
                  </a:lnTo>
                  <a:lnTo>
                    <a:pt x="590" y="677"/>
                  </a:lnTo>
                  <a:lnTo>
                    <a:pt x="570" y="730"/>
                  </a:lnTo>
                  <a:lnTo>
                    <a:pt x="559" y="750"/>
                  </a:lnTo>
                  <a:lnTo>
                    <a:pt x="537" y="801"/>
                  </a:lnTo>
                  <a:lnTo>
                    <a:pt x="498" y="938"/>
                  </a:lnTo>
                  <a:lnTo>
                    <a:pt x="487" y="1001"/>
                  </a:lnTo>
                  <a:lnTo>
                    <a:pt x="488" y="1008"/>
                  </a:lnTo>
                  <a:lnTo>
                    <a:pt x="505" y="1002"/>
                  </a:lnTo>
                  <a:lnTo>
                    <a:pt x="546" y="986"/>
                  </a:lnTo>
                  <a:close/>
                </a:path>
              </a:pathLst>
            </a:custGeom>
            <a:solidFill>
              <a:srgbClr val="C00000"/>
            </a:solidFill>
            <a:ln>
              <a:noFill/>
            </a:ln>
          </p:spPr>
          <p:txBody>
            <a:bodyPr vert="horz" wrap="square" lIns="91440" tIns="45720" rIns="91440" bIns="45720" numCol="1" anchor="t" anchorCtr="0" compatLnSpc="1">
              <a:prstTxWarp prst="textNoShape">
                <a:avLst/>
              </a:prstTxWarp>
            </a:bodyPr>
            <a:lstStyle/>
            <a:p>
              <a:endParaRPr lang="es-PE"/>
            </a:p>
          </p:txBody>
        </p:sp>
        <p:sp>
          <p:nvSpPr>
            <p:cNvPr id="14" name="Freeform 10"/>
            <p:cNvSpPr>
              <a:spLocks noEditPoints="1"/>
            </p:cNvSpPr>
            <p:nvPr/>
          </p:nvSpPr>
          <p:spPr bwMode="auto">
            <a:xfrm>
              <a:off x="4380821" y="4887458"/>
              <a:ext cx="1160463" cy="1044575"/>
            </a:xfrm>
            <a:custGeom>
              <a:avLst/>
              <a:gdLst>
                <a:gd name="T0" fmla="*/ 82 w 2195"/>
                <a:gd name="T1" fmla="*/ 1808 h 1973"/>
                <a:gd name="T2" fmla="*/ 4 w 2195"/>
                <a:gd name="T3" fmla="*/ 1585 h 1973"/>
                <a:gd name="T4" fmla="*/ 40 w 2195"/>
                <a:gd name="T5" fmla="*/ 1111 h 1973"/>
                <a:gd name="T6" fmla="*/ 135 w 2195"/>
                <a:gd name="T7" fmla="*/ 802 h 1973"/>
                <a:gd name="T8" fmla="*/ 202 w 2195"/>
                <a:gd name="T9" fmla="*/ 644 h 1973"/>
                <a:gd name="T10" fmla="*/ 376 w 2195"/>
                <a:gd name="T11" fmla="*/ 356 h 1973"/>
                <a:gd name="T12" fmla="*/ 592 w 2195"/>
                <a:gd name="T13" fmla="*/ 354 h 1973"/>
                <a:gd name="T14" fmla="*/ 657 w 2195"/>
                <a:gd name="T15" fmla="*/ 625 h 1973"/>
                <a:gd name="T16" fmla="*/ 660 w 2195"/>
                <a:gd name="T17" fmla="*/ 710 h 1973"/>
                <a:gd name="T18" fmla="*/ 854 w 2195"/>
                <a:gd name="T19" fmla="*/ 394 h 1973"/>
                <a:gd name="T20" fmla="*/ 1030 w 2195"/>
                <a:gd name="T21" fmla="*/ 226 h 1973"/>
                <a:gd name="T22" fmla="*/ 1293 w 2195"/>
                <a:gd name="T23" fmla="*/ 187 h 1973"/>
                <a:gd name="T24" fmla="*/ 1357 w 2195"/>
                <a:gd name="T25" fmla="*/ 235 h 1973"/>
                <a:gd name="T26" fmla="*/ 1414 w 2195"/>
                <a:gd name="T27" fmla="*/ 474 h 1973"/>
                <a:gd name="T28" fmla="*/ 1457 w 2195"/>
                <a:gd name="T29" fmla="*/ 492 h 1973"/>
                <a:gd name="T30" fmla="*/ 1587 w 2195"/>
                <a:gd name="T31" fmla="*/ 266 h 1973"/>
                <a:gd name="T32" fmla="*/ 1727 w 2195"/>
                <a:gd name="T33" fmla="*/ 122 h 1973"/>
                <a:gd name="T34" fmla="*/ 1833 w 2195"/>
                <a:gd name="T35" fmla="*/ 43 h 1973"/>
                <a:gd name="T36" fmla="*/ 1944 w 2195"/>
                <a:gd name="T37" fmla="*/ 0 h 1973"/>
                <a:gd name="T38" fmla="*/ 2095 w 2195"/>
                <a:gd name="T39" fmla="*/ 53 h 1973"/>
                <a:gd name="T40" fmla="*/ 2172 w 2195"/>
                <a:gd name="T41" fmla="*/ 158 h 1973"/>
                <a:gd name="T42" fmla="*/ 2195 w 2195"/>
                <a:gd name="T43" fmla="*/ 288 h 1973"/>
                <a:gd name="T44" fmla="*/ 2026 w 2195"/>
                <a:gd name="T45" fmla="*/ 698 h 1973"/>
                <a:gd name="T46" fmla="*/ 1913 w 2195"/>
                <a:gd name="T47" fmla="*/ 989 h 1973"/>
                <a:gd name="T48" fmla="*/ 1865 w 2195"/>
                <a:gd name="T49" fmla="*/ 1097 h 1973"/>
                <a:gd name="T50" fmla="*/ 1845 w 2195"/>
                <a:gd name="T51" fmla="*/ 1433 h 1973"/>
                <a:gd name="T52" fmla="*/ 1910 w 2195"/>
                <a:gd name="T53" fmla="*/ 1608 h 1973"/>
                <a:gd name="T54" fmla="*/ 1714 w 2195"/>
                <a:gd name="T55" fmla="*/ 1636 h 1973"/>
                <a:gd name="T56" fmla="*/ 1505 w 2195"/>
                <a:gd name="T57" fmla="*/ 1428 h 1973"/>
                <a:gd name="T58" fmla="*/ 1508 w 2195"/>
                <a:gd name="T59" fmla="*/ 973 h 1973"/>
                <a:gd name="T60" fmla="*/ 1656 w 2195"/>
                <a:gd name="T61" fmla="*/ 573 h 1973"/>
                <a:gd name="T62" fmla="*/ 1774 w 2195"/>
                <a:gd name="T63" fmla="*/ 285 h 1973"/>
                <a:gd name="T64" fmla="*/ 1682 w 2195"/>
                <a:gd name="T65" fmla="*/ 392 h 1973"/>
                <a:gd name="T66" fmla="*/ 1423 w 2195"/>
                <a:gd name="T67" fmla="*/ 893 h 1973"/>
                <a:gd name="T68" fmla="*/ 1365 w 2195"/>
                <a:gd name="T69" fmla="*/ 1065 h 1973"/>
                <a:gd name="T70" fmla="*/ 1303 w 2195"/>
                <a:gd name="T71" fmla="*/ 1241 h 1973"/>
                <a:gd name="T72" fmla="*/ 1257 w 2195"/>
                <a:gd name="T73" fmla="*/ 1437 h 1973"/>
                <a:gd name="T74" fmla="*/ 1194 w 2195"/>
                <a:gd name="T75" fmla="*/ 1613 h 1973"/>
                <a:gd name="T76" fmla="*/ 1060 w 2195"/>
                <a:gd name="T77" fmla="*/ 1725 h 1973"/>
                <a:gd name="T78" fmla="*/ 880 w 2195"/>
                <a:gd name="T79" fmla="*/ 1663 h 1973"/>
                <a:gd name="T80" fmla="*/ 809 w 2195"/>
                <a:gd name="T81" fmla="*/ 1510 h 1973"/>
                <a:gd name="T82" fmla="*/ 775 w 2195"/>
                <a:gd name="T83" fmla="*/ 1395 h 1973"/>
                <a:gd name="T84" fmla="*/ 809 w 2195"/>
                <a:gd name="T85" fmla="*/ 1199 h 1973"/>
                <a:gd name="T86" fmla="*/ 883 w 2195"/>
                <a:gd name="T87" fmla="*/ 835 h 1973"/>
                <a:gd name="T88" fmla="*/ 982 w 2195"/>
                <a:gd name="T89" fmla="*/ 566 h 1973"/>
                <a:gd name="T90" fmla="*/ 936 w 2195"/>
                <a:gd name="T91" fmla="*/ 521 h 1973"/>
                <a:gd name="T92" fmla="*/ 883 w 2195"/>
                <a:gd name="T93" fmla="*/ 610 h 1973"/>
                <a:gd name="T94" fmla="*/ 637 w 2195"/>
                <a:gd name="T95" fmla="*/ 1106 h 1973"/>
                <a:gd name="T96" fmla="*/ 529 w 2195"/>
                <a:gd name="T97" fmla="*/ 1447 h 1973"/>
                <a:gd name="T98" fmla="*/ 484 w 2195"/>
                <a:gd name="T99" fmla="*/ 1569 h 1973"/>
                <a:gd name="T100" fmla="*/ 461 w 2195"/>
                <a:gd name="T101" fmla="*/ 1954 h 1973"/>
                <a:gd name="T102" fmla="*/ 269 w 2195"/>
                <a:gd name="T103" fmla="*/ 1965 h 1973"/>
                <a:gd name="T104" fmla="*/ 1324 w 2195"/>
                <a:gd name="T105" fmla="*/ 720 h 1973"/>
                <a:gd name="T106" fmla="*/ 1331 w 2195"/>
                <a:gd name="T107" fmla="*/ 763 h 1973"/>
                <a:gd name="T108" fmla="*/ 1413 w 2195"/>
                <a:gd name="T109" fmla="*/ 572 h 1973"/>
                <a:gd name="T110" fmla="*/ 1385 w 2195"/>
                <a:gd name="T111" fmla="*/ 595 h 19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195" h="1973">
                  <a:moveTo>
                    <a:pt x="269" y="1965"/>
                  </a:moveTo>
                  <a:lnTo>
                    <a:pt x="246" y="1955"/>
                  </a:lnTo>
                  <a:lnTo>
                    <a:pt x="192" y="1918"/>
                  </a:lnTo>
                  <a:lnTo>
                    <a:pt x="134" y="1865"/>
                  </a:lnTo>
                  <a:lnTo>
                    <a:pt x="82" y="1808"/>
                  </a:lnTo>
                  <a:lnTo>
                    <a:pt x="62" y="1781"/>
                  </a:lnTo>
                  <a:lnTo>
                    <a:pt x="46" y="1757"/>
                  </a:lnTo>
                  <a:lnTo>
                    <a:pt x="25" y="1715"/>
                  </a:lnTo>
                  <a:lnTo>
                    <a:pt x="12" y="1663"/>
                  </a:lnTo>
                  <a:lnTo>
                    <a:pt x="4" y="1585"/>
                  </a:lnTo>
                  <a:lnTo>
                    <a:pt x="3" y="1530"/>
                  </a:lnTo>
                  <a:lnTo>
                    <a:pt x="0" y="1466"/>
                  </a:lnTo>
                  <a:lnTo>
                    <a:pt x="6" y="1330"/>
                  </a:lnTo>
                  <a:lnTo>
                    <a:pt x="19" y="1207"/>
                  </a:lnTo>
                  <a:lnTo>
                    <a:pt x="40" y="1111"/>
                  </a:lnTo>
                  <a:lnTo>
                    <a:pt x="53" y="1083"/>
                  </a:lnTo>
                  <a:lnTo>
                    <a:pt x="71" y="1029"/>
                  </a:lnTo>
                  <a:lnTo>
                    <a:pt x="99" y="926"/>
                  </a:lnTo>
                  <a:lnTo>
                    <a:pt x="112" y="875"/>
                  </a:lnTo>
                  <a:lnTo>
                    <a:pt x="135" y="802"/>
                  </a:lnTo>
                  <a:lnTo>
                    <a:pt x="143" y="790"/>
                  </a:lnTo>
                  <a:lnTo>
                    <a:pt x="150" y="782"/>
                  </a:lnTo>
                  <a:lnTo>
                    <a:pt x="173" y="726"/>
                  </a:lnTo>
                  <a:lnTo>
                    <a:pt x="186" y="688"/>
                  </a:lnTo>
                  <a:lnTo>
                    <a:pt x="202" y="644"/>
                  </a:lnTo>
                  <a:lnTo>
                    <a:pt x="243" y="547"/>
                  </a:lnTo>
                  <a:lnTo>
                    <a:pt x="292" y="456"/>
                  </a:lnTo>
                  <a:lnTo>
                    <a:pt x="338" y="389"/>
                  </a:lnTo>
                  <a:lnTo>
                    <a:pt x="357" y="370"/>
                  </a:lnTo>
                  <a:lnTo>
                    <a:pt x="376" y="356"/>
                  </a:lnTo>
                  <a:lnTo>
                    <a:pt x="438" y="332"/>
                  </a:lnTo>
                  <a:lnTo>
                    <a:pt x="472" y="328"/>
                  </a:lnTo>
                  <a:lnTo>
                    <a:pt x="500" y="325"/>
                  </a:lnTo>
                  <a:lnTo>
                    <a:pt x="550" y="332"/>
                  </a:lnTo>
                  <a:lnTo>
                    <a:pt x="592" y="354"/>
                  </a:lnTo>
                  <a:lnTo>
                    <a:pt x="624" y="387"/>
                  </a:lnTo>
                  <a:lnTo>
                    <a:pt x="648" y="432"/>
                  </a:lnTo>
                  <a:lnTo>
                    <a:pt x="661" y="487"/>
                  </a:lnTo>
                  <a:lnTo>
                    <a:pt x="664" y="551"/>
                  </a:lnTo>
                  <a:lnTo>
                    <a:pt x="657" y="625"/>
                  </a:lnTo>
                  <a:lnTo>
                    <a:pt x="648" y="665"/>
                  </a:lnTo>
                  <a:lnTo>
                    <a:pt x="638" y="711"/>
                  </a:lnTo>
                  <a:lnTo>
                    <a:pt x="639" y="730"/>
                  </a:lnTo>
                  <a:lnTo>
                    <a:pt x="650" y="720"/>
                  </a:lnTo>
                  <a:lnTo>
                    <a:pt x="660" y="710"/>
                  </a:lnTo>
                  <a:lnTo>
                    <a:pt x="690" y="661"/>
                  </a:lnTo>
                  <a:lnTo>
                    <a:pt x="730" y="583"/>
                  </a:lnTo>
                  <a:lnTo>
                    <a:pt x="752" y="541"/>
                  </a:lnTo>
                  <a:lnTo>
                    <a:pt x="818" y="439"/>
                  </a:lnTo>
                  <a:lnTo>
                    <a:pt x="854" y="394"/>
                  </a:lnTo>
                  <a:lnTo>
                    <a:pt x="917" y="315"/>
                  </a:lnTo>
                  <a:lnTo>
                    <a:pt x="935" y="285"/>
                  </a:lnTo>
                  <a:lnTo>
                    <a:pt x="940" y="276"/>
                  </a:lnTo>
                  <a:lnTo>
                    <a:pt x="992" y="245"/>
                  </a:lnTo>
                  <a:lnTo>
                    <a:pt x="1030" y="226"/>
                  </a:lnTo>
                  <a:lnTo>
                    <a:pt x="1067" y="209"/>
                  </a:lnTo>
                  <a:lnTo>
                    <a:pt x="1155" y="186"/>
                  </a:lnTo>
                  <a:lnTo>
                    <a:pt x="1237" y="176"/>
                  </a:lnTo>
                  <a:lnTo>
                    <a:pt x="1279" y="178"/>
                  </a:lnTo>
                  <a:lnTo>
                    <a:pt x="1293" y="187"/>
                  </a:lnTo>
                  <a:lnTo>
                    <a:pt x="1295" y="193"/>
                  </a:lnTo>
                  <a:lnTo>
                    <a:pt x="1298" y="199"/>
                  </a:lnTo>
                  <a:lnTo>
                    <a:pt x="1319" y="216"/>
                  </a:lnTo>
                  <a:lnTo>
                    <a:pt x="1335" y="223"/>
                  </a:lnTo>
                  <a:lnTo>
                    <a:pt x="1357" y="235"/>
                  </a:lnTo>
                  <a:lnTo>
                    <a:pt x="1390" y="271"/>
                  </a:lnTo>
                  <a:lnTo>
                    <a:pt x="1410" y="324"/>
                  </a:lnTo>
                  <a:lnTo>
                    <a:pt x="1417" y="393"/>
                  </a:lnTo>
                  <a:lnTo>
                    <a:pt x="1416" y="436"/>
                  </a:lnTo>
                  <a:lnTo>
                    <a:pt x="1414" y="474"/>
                  </a:lnTo>
                  <a:lnTo>
                    <a:pt x="1419" y="523"/>
                  </a:lnTo>
                  <a:lnTo>
                    <a:pt x="1426" y="537"/>
                  </a:lnTo>
                  <a:lnTo>
                    <a:pt x="1433" y="536"/>
                  </a:lnTo>
                  <a:lnTo>
                    <a:pt x="1446" y="517"/>
                  </a:lnTo>
                  <a:lnTo>
                    <a:pt x="1457" y="492"/>
                  </a:lnTo>
                  <a:lnTo>
                    <a:pt x="1483" y="439"/>
                  </a:lnTo>
                  <a:lnTo>
                    <a:pt x="1529" y="367"/>
                  </a:lnTo>
                  <a:lnTo>
                    <a:pt x="1571" y="305"/>
                  </a:lnTo>
                  <a:lnTo>
                    <a:pt x="1583" y="278"/>
                  </a:lnTo>
                  <a:lnTo>
                    <a:pt x="1587" y="266"/>
                  </a:lnTo>
                  <a:lnTo>
                    <a:pt x="1620" y="220"/>
                  </a:lnTo>
                  <a:lnTo>
                    <a:pt x="1668" y="167"/>
                  </a:lnTo>
                  <a:lnTo>
                    <a:pt x="1708" y="128"/>
                  </a:lnTo>
                  <a:lnTo>
                    <a:pt x="1718" y="125"/>
                  </a:lnTo>
                  <a:lnTo>
                    <a:pt x="1727" y="122"/>
                  </a:lnTo>
                  <a:lnTo>
                    <a:pt x="1748" y="104"/>
                  </a:lnTo>
                  <a:lnTo>
                    <a:pt x="1757" y="91"/>
                  </a:lnTo>
                  <a:lnTo>
                    <a:pt x="1770" y="75"/>
                  </a:lnTo>
                  <a:lnTo>
                    <a:pt x="1810" y="50"/>
                  </a:lnTo>
                  <a:lnTo>
                    <a:pt x="1833" y="43"/>
                  </a:lnTo>
                  <a:lnTo>
                    <a:pt x="1856" y="37"/>
                  </a:lnTo>
                  <a:lnTo>
                    <a:pt x="1891" y="21"/>
                  </a:lnTo>
                  <a:lnTo>
                    <a:pt x="1898" y="14"/>
                  </a:lnTo>
                  <a:lnTo>
                    <a:pt x="1905" y="7"/>
                  </a:lnTo>
                  <a:lnTo>
                    <a:pt x="1944" y="0"/>
                  </a:lnTo>
                  <a:lnTo>
                    <a:pt x="1992" y="0"/>
                  </a:lnTo>
                  <a:lnTo>
                    <a:pt x="2029" y="6"/>
                  </a:lnTo>
                  <a:lnTo>
                    <a:pt x="2036" y="13"/>
                  </a:lnTo>
                  <a:lnTo>
                    <a:pt x="2054" y="29"/>
                  </a:lnTo>
                  <a:lnTo>
                    <a:pt x="2095" y="53"/>
                  </a:lnTo>
                  <a:lnTo>
                    <a:pt x="2119" y="66"/>
                  </a:lnTo>
                  <a:lnTo>
                    <a:pt x="2150" y="102"/>
                  </a:lnTo>
                  <a:lnTo>
                    <a:pt x="2156" y="121"/>
                  </a:lnTo>
                  <a:lnTo>
                    <a:pt x="2159" y="137"/>
                  </a:lnTo>
                  <a:lnTo>
                    <a:pt x="2172" y="158"/>
                  </a:lnTo>
                  <a:lnTo>
                    <a:pt x="2179" y="161"/>
                  </a:lnTo>
                  <a:lnTo>
                    <a:pt x="2182" y="161"/>
                  </a:lnTo>
                  <a:lnTo>
                    <a:pt x="2189" y="176"/>
                  </a:lnTo>
                  <a:lnTo>
                    <a:pt x="2195" y="216"/>
                  </a:lnTo>
                  <a:lnTo>
                    <a:pt x="2195" y="288"/>
                  </a:lnTo>
                  <a:lnTo>
                    <a:pt x="2186" y="353"/>
                  </a:lnTo>
                  <a:lnTo>
                    <a:pt x="2179" y="373"/>
                  </a:lnTo>
                  <a:lnTo>
                    <a:pt x="2149" y="433"/>
                  </a:lnTo>
                  <a:lnTo>
                    <a:pt x="2087" y="566"/>
                  </a:lnTo>
                  <a:lnTo>
                    <a:pt x="2026" y="698"/>
                  </a:lnTo>
                  <a:lnTo>
                    <a:pt x="1995" y="760"/>
                  </a:lnTo>
                  <a:lnTo>
                    <a:pt x="1976" y="803"/>
                  </a:lnTo>
                  <a:lnTo>
                    <a:pt x="1950" y="877"/>
                  </a:lnTo>
                  <a:lnTo>
                    <a:pt x="1927" y="949"/>
                  </a:lnTo>
                  <a:lnTo>
                    <a:pt x="1913" y="989"/>
                  </a:lnTo>
                  <a:lnTo>
                    <a:pt x="1902" y="1011"/>
                  </a:lnTo>
                  <a:lnTo>
                    <a:pt x="1900" y="1025"/>
                  </a:lnTo>
                  <a:lnTo>
                    <a:pt x="1892" y="1039"/>
                  </a:lnTo>
                  <a:lnTo>
                    <a:pt x="1877" y="1071"/>
                  </a:lnTo>
                  <a:lnTo>
                    <a:pt x="1865" y="1097"/>
                  </a:lnTo>
                  <a:lnTo>
                    <a:pt x="1846" y="1185"/>
                  </a:lnTo>
                  <a:lnTo>
                    <a:pt x="1833" y="1290"/>
                  </a:lnTo>
                  <a:lnTo>
                    <a:pt x="1832" y="1382"/>
                  </a:lnTo>
                  <a:lnTo>
                    <a:pt x="1836" y="1410"/>
                  </a:lnTo>
                  <a:lnTo>
                    <a:pt x="1845" y="1433"/>
                  </a:lnTo>
                  <a:lnTo>
                    <a:pt x="1874" y="1483"/>
                  </a:lnTo>
                  <a:lnTo>
                    <a:pt x="1890" y="1502"/>
                  </a:lnTo>
                  <a:lnTo>
                    <a:pt x="1907" y="1523"/>
                  </a:lnTo>
                  <a:lnTo>
                    <a:pt x="1920" y="1568"/>
                  </a:lnTo>
                  <a:lnTo>
                    <a:pt x="1910" y="1608"/>
                  </a:lnTo>
                  <a:lnTo>
                    <a:pt x="1878" y="1638"/>
                  </a:lnTo>
                  <a:lnTo>
                    <a:pt x="1854" y="1646"/>
                  </a:lnTo>
                  <a:lnTo>
                    <a:pt x="1825" y="1650"/>
                  </a:lnTo>
                  <a:lnTo>
                    <a:pt x="1769" y="1649"/>
                  </a:lnTo>
                  <a:lnTo>
                    <a:pt x="1714" y="1636"/>
                  </a:lnTo>
                  <a:lnTo>
                    <a:pt x="1661" y="1611"/>
                  </a:lnTo>
                  <a:lnTo>
                    <a:pt x="1610" y="1577"/>
                  </a:lnTo>
                  <a:lnTo>
                    <a:pt x="1567" y="1533"/>
                  </a:lnTo>
                  <a:lnTo>
                    <a:pt x="1531" y="1484"/>
                  </a:lnTo>
                  <a:lnTo>
                    <a:pt x="1505" y="1428"/>
                  </a:lnTo>
                  <a:lnTo>
                    <a:pt x="1496" y="1399"/>
                  </a:lnTo>
                  <a:lnTo>
                    <a:pt x="1485" y="1345"/>
                  </a:lnTo>
                  <a:lnTo>
                    <a:pt x="1476" y="1219"/>
                  </a:lnTo>
                  <a:lnTo>
                    <a:pt x="1485" y="1090"/>
                  </a:lnTo>
                  <a:lnTo>
                    <a:pt x="1508" y="973"/>
                  </a:lnTo>
                  <a:lnTo>
                    <a:pt x="1527" y="926"/>
                  </a:lnTo>
                  <a:lnTo>
                    <a:pt x="1544" y="880"/>
                  </a:lnTo>
                  <a:lnTo>
                    <a:pt x="1566" y="809"/>
                  </a:lnTo>
                  <a:lnTo>
                    <a:pt x="1584" y="743"/>
                  </a:lnTo>
                  <a:lnTo>
                    <a:pt x="1656" y="573"/>
                  </a:lnTo>
                  <a:lnTo>
                    <a:pt x="1720" y="438"/>
                  </a:lnTo>
                  <a:lnTo>
                    <a:pt x="1744" y="384"/>
                  </a:lnTo>
                  <a:lnTo>
                    <a:pt x="1773" y="315"/>
                  </a:lnTo>
                  <a:lnTo>
                    <a:pt x="1779" y="291"/>
                  </a:lnTo>
                  <a:lnTo>
                    <a:pt x="1774" y="285"/>
                  </a:lnTo>
                  <a:lnTo>
                    <a:pt x="1757" y="295"/>
                  </a:lnTo>
                  <a:lnTo>
                    <a:pt x="1735" y="315"/>
                  </a:lnTo>
                  <a:lnTo>
                    <a:pt x="1701" y="353"/>
                  </a:lnTo>
                  <a:lnTo>
                    <a:pt x="1691" y="371"/>
                  </a:lnTo>
                  <a:lnTo>
                    <a:pt x="1682" y="392"/>
                  </a:lnTo>
                  <a:lnTo>
                    <a:pt x="1649" y="438"/>
                  </a:lnTo>
                  <a:lnTo>
                    <a:pt x="1612" y="498"/>
                  </a:lnTo>
                  <a:lnTo>
                    <a:pt x="1495" y="730"/>
                  </a:lnTo>
                  <a:lnTo>
                    <a:pt x="1447" y="835"/>
                  </a:lnTo>
                  <a:lnTo>
                    <a:pt x="1423" y="893"/>
                  </a:lnTo>
                  <a:lnTo>
                    <a:pt x="1396" y="957"/>
                  </a:lnTo>
                  <a:lnTo>
                    <a:pt x="1384" y="986"/>
                  </a:lnTo>
                  <a:lnTo>
                    <a:pt x="1368" y="1038"/>
                  </a:lnTo>
                  <a:lnTo>
                    <a:pt x="1367" y="1054"/>
                  </a:lnTo>
                  <a:lnTo>
                    <a:pt x="1365" y="1065"/>
                  </a:lnTo>
                  <a:lnTo>
                    <a:pt x="1352" y="1103"/>
                  </a:lnTo>
                  <a:lnTo>
                    <a:pt x="1342" y="1120"/>
                  </a:lnTo>
                  <a:lnTo>
                    <a:pt x="1331" y="1140"/>
                  </a:lnTo>
                  <a:lnTo>
                    <a:pt x="1311" y="1205"/>
                  </a:lnTo>
                  <a:lnTo>
                    <a:pt x="1303" y="1241"/>
                  </a:lnTo>
                  <a:lnTo>
                    <a:pt x="1289" y="1313"/>
                  </a:lnTo>
                  <a:lnTo>
                    <a:pt x="1272" y="1366"/>
                  </a:lnTo>
                  <a:lnTo>
                    <a:pt x="1257" y="1405"/>
                  </a:lnTo>
                  <a:lnTo>
                    <a:pt x="1257" y="1428"/>
                  </a:lnTo>
                  <a:lnTo>
                    <a:pt x="1257" y="1437"/>
                  </a:lnTo>
                  <a:lnTo>
                    <a:pt x="1250" y="1466"/>
                  </a:lnTo>
                  <a:lnTo>
                    <a:pt x="1243" y="1482"/>
                  </a:lnTo>
                  <a:lnTo>
                    <a:pt x="1224" y="1526"/>
                  </a:lnTo>
                  <a:lnTo>
                    <a:pt x="1205" y="1584"/>
                  </a:lnTo>
                  <a:lnTo>
                    <a:pt x="1194" y="1613"/>
                  </a:lnTo>
                  <a:lnTo>
                    <a:pt x="1159" y="1670"/>
                  </a:lnTo>
                  <a:lnTo>
                    <a:pt x="1142" y="1690"/>
                  </a:lnTo>
                  <a:lnTo>
                    <a:pt x="1128" y="1703"/>
                  </a:lnTo>
                  <a:lnTo>
                    <a:pt x="1103" y="1719"/>
                  </a:lnTo>
                  <a:lnTo>
                    <a:pt x="1060" y="1725"/>
                  </a:lnTo>
                  <a:lnTo>
                    <a:pt x="1012" y="1719"/>
                  </a:lnTo>
                  <a:lnTo>
                    <a:pt x="991" y="1716"/>
                  </a:lnTo>
                  <a:lnTo>
                    <a:pt x="949" y="1703"/>
                  </a:lnTo>
                  <a:lnTo>
                    <a:pt x="913" y="1686"/>
                  </a:lnTo>
                  <a:lnTo>
                    <a:pt x="880" y="1663"/>
                  </a:lnTo>
                  <a:lnTo>
                    <a:pt x="854" y="1634"/>
                  </a:lnTo>
                  <a:lnTo>
                    <a:pt x="832" y="1602"/>
                  </a:lnTo>
                  <a:lnTo>
                    <a:pt x="817" y="1568"/>
                  </a:lnTo>
                  <a:lnTo>
                    <a:pt x="809" y="1530"/>
                  </a:lnTo>
                  <a:lnTo>
                    <a:pt x="809" y="1510"/>
                  </a:lnTo>
                  <a:lnTo>
                    <a:pt x="808" y="1482"/>
                  </a:lnTo>
                  <a:lnTo>
                    <a:pt x="798" y="1443"/>
                  </a:lnTo>
                  <a:lnTo>
                    <a:pt x="791" y="1438"/>
                  </a:lnTo>
                  <a:lnTo>
                    <a:pt x="784" y="1434"/>
                  </a:lnTo>
                  <a:lnTo>
                    <a:pt x="775" y="1395"/>
                  </a:lnTo>
                  <a:lnTo>
                    <a:pt x="773" y="1340"/>
                  </a:lnTo>
                  <a:lnTo>
                    <a:pt x="782" y="1296"/>
                  </a:lnTo>
                  <a:lnTo>
                    <a:pt x="789" y="1287"/>
                  </a:lnTo>
                  <a:lnTo>
                    <a:pt x="795" y="1276"/>
                  </a:lnTo>
                  <a:lnTo>
                    <a:pt x="809" y="1199"/>
                  </a:lnTo>
                  <a:lnTo>
                    <a:pt x="817" y="1147"/>
                  </a:lnTo>
                  <a:lnTo>
                    <a:pt x="827" y="1051"/>
                  </a:lnTo>
                  <a:lnTo>
                    <a:pt x="854" y="917"/>
                  </a:lnTo>
                  <a:lnTo>
                    <a:pt x="873" y="854"/>
                  </a:lnTo>
                  <a:lnTo>
                    <a:pt x="883" y="835"/>
                  </a:lnTo>
                  <a:lnTo>
                    <a:pt x="899" y="798"/>
                  </a:lnTo>
                  <a:lnTo>
                    <a:pt x="926" y="710"/>
                  </a:lnTo>
                  <a:lnTo>
                    <a:pt x="940" y="664"/>
                  </a:lnTo>
                  <a:lnTo>
                    <a:pt x="971" y="586"/>
                  </a:lnTo>
                  <a:lnTo>
                    <a:pt x="982" y="566"/>
                  </a:lnTo>
                  <a:lnTo>
                    <a:pt x="1000" y="525"/>
                  </a:lnTo>
                  <a:lnTo>
                    <a:pt x="1014" y="475"/>
                  </a:lnTo>
                  <a:lnTo>
                    <a:pt x="1025" y="422"/>
                  </a:lnTo>
                  <a:lnTo>
                    <a:pt x="962" y="492"/>
                  </a:lnTo>
                  <a:lnTo>
                    <a:pt x="936" y="521"/>
                  </a:lnTo>
                  <a:lnTo>
                    <a:pt x="903" y="573"/>
                  </a:lnTo>
                  <a:lnTo>
                    <a:pt x="899" y="587"/>
                  </a:lnTo>
                  <a:lnTo>
                    <a:pt x="897" y="596"/>
                  </a:lnTo>
                  <a:lnTo>
                    <a:pt x="889" y="609"/>
                  </a:lnTo>
                  <a:lnTo>
                    <a:pt x="883" y="610"/>
                  </a:lnTo>
                  <a:lnTo>
                    <a:pt x="870" y="623"/>
                  </a:lnTo>
                  <a:lnTo>
                    <a:pt x="802" y="746"/>
                  </a:lnTo>
                  <a:lnTo>
                    <a:pt x="716" y="917"/>
                  </a:lnTo>
                  <a:lnTo>
                    <a:pt x="648" y="1067"/>
                  </a:lnTo>
                  <a:lnTo>
                    <a:pt x="637" y="1106"/>
                  </a:lnTo>
                  <a:lnTo>
                    <a:pt x="622" y="1158"/>
                  </a:lnTo>
                  <a:lnTo>
                    <a:pt x="602" y="1205"/>
                  </a:lnTo>
                  <a:lnTo>
                    <a:pt x="580" y="1253"/>
                  </a:lnTo>
                  <a:lnTo>
                    <a:pt x="542" y="1379"/>
                  </a:lnTo>
                  <a:lnTo>
                    <a:pt x="529" y="1447"/>
                  </a:lnTo>
                  <a:lnTo>
                    <a:pt x="521" y="1477"/>
                  </a:lnTo>
                  <a:lnTo>
                    <a:pt x="504" y="1523"/>
                  </a:lnTo>
                  <a:lnTo>
                    <a:pt x="495" y="1532"/>
                  </a:lnTo>
                  <a:lnTo>
                    <a:pt x="491" y="1538"/>
                  </a:lnTo>
                  <a:lnTo>
                    <a:pt x="484" y="1569"/>
                  </a:lnTo>
                  <a:lnTo>
                    <a:pt x="475" y="1656"/>
                  </a:lnTo>
                  <a:lnTo>
                    <a:pt x="474" y="1742"/>
                  </a:lnTo>
                  <a:lnTo>
                    <a:pt x="474" y="1823"/>
                  </a:lnTo>
                  <a:lnTo>
                    <a:pt x="467" y="1937"/>
                  </a:lnTo>
                  <a:lnTo>
                    <a:pt x="461" y="1954"/>
                  </a:lnTo>
                  <a:lnTo>
                    <a:pt x="451" y="1960"/>
                  </a:lnTo>
                  <a:lnTo>
                    <a:pt x="402" y="1968"/>
                  </a:lnTo>
                  <a:lnTo>
                    <a:pt x="340" y="1973"/>
                  </a:lnTo>
                  <a:lnTo>
                    <a:pt x="284" y="1970"/>
                  </a:lnTo>
                  <a:lnTo>
                    <a:pt x="269" y="1965"/>
                  </a:lnTo>
                  <a:close/>
                  <a:moveTo>
                    <a:pt x="1349" y="734"/>
                  </a:moveTo>
                  <a:lnTo>
                    <a:pt x="1348" y="728"/>
                  </a:lnTo>
                  <a:lnTo>
                    <a:pt x="1338" y="720"/>
                  </a:lnTo>
                  <a:lnTo>
                    <a:pt x="1331" y="718"/>
                  </a:lnTo>
                  <a:lnTo>
                    <a:pt x="1324" y="720"/>
                  </a:lnTo>
                  <a:lnTo>
                    <a:pt x="1313" y="736"/>
                  </a:lnTo>
                  <a:lnTo>
                    <a:pt x="1313" y="747"/>
                  </a:lnTo>
                  <a:lnTo>
                    <a:pt x="1313" y="757"/>
                  </a:lnTo>
                  <a:lnTo>
                    <a:pt x="1324" y="766"/>
                  </a:lnTo>
                  <a:lnTo>
                    <a:pt x="1331" y="763"/>
                  </a:lnTo>
                  <a:lnTo>
                    <a:pt x="1338" y="759"/>
                  </a:lnTo>
                  <a:lnTo>
                    <a:pt x="1348" y="743"/>
                  </a:lnTo>
                  <a:lnTo>
                    <a:pt x="1349" y="734"/>
                  </a:lnTo>
                  <a:close/>
                  <a:moveTo>
                    <a:pt x="1410" y="582"/>
                  </a:moveTo>
                  <a:lnTo>
                    <a:pt x="1413" y="572"/>
                  </a:lnTo>
                  <a:lnTo>
                    <a:pt x="1410" y="563"/>
                  </a:lnTo>
                  <a:lnTo>
                    <a:pt x="1403" y="566"/>
                  </a:lnTo>
                  <a:lnTo>
                    <a:pt x="1396" y="570"/>
                  </a:lnTo>
                  <a:lnTo>
                    <a:pt x="1385" y="586"/>
                  </a:lnTo>
                  <a:lnTo>
                    <a:pt x="1385" y="595"/>
                  </a:lnTo>
                  <a:lnTo>
                    <a:pt x="1385" y="603"/>
                  </a:lnTo>
                  <a:lnTo>
                    <a:pt x="1390" y="610"/>
                  </a:lnTo>
                  <a:lnTo>
                    <a:pt x="1400" y="603"/>
                  </a:lnTo>
                  <a:lnTo>
                    <a:pt x="1410" y="582"/>
                  </a:lnTo>
                  <a:close/>
                </a:path>
              </a:pathLst>
            </a:custGeom>
            <a:solidFill>
              <a:srgbClr val="C00000"/>
            </a:solidFill>
            <a:ln>
              <a:noFill/>
            </a:ln>
          </p:spPr>
          <p:txBody>
            <a:bodyPr vert="horz" wrap="square" lIns="91440" tIns="45720" rIns="91440" bIns="45720" numCol="1" anchor="t" anchorCtr="0" compatLnSpc="1">
              <a:prstTxWarp prst="textNoShape">
                <a:avLst/>
              </a:prstTxWarp>
            </a:bodyPr>
            <a:lstStyle/>
            <a:p>
              <a:endParaRPr lang="es-PE"/>
            </a:p>
          </p:txBody>
        </p:sp>
        <p:sp>
          <p:nvSpPr>
            <p:cNvPr id="15" name="Freeform 11"/>
            <p:cNvSpPr>
              <a:spLocks noEditPoints="1"/>
            </p:cNvSpPr>
            <p:nvPr/>
          </p:nvSpPr>
          <p:spPr bwMode="auto">
            <a:xfrm>
              <a:off x="7057346" y="4954133"/>
              <a:ext cx="730250" cy="946150"/>
            </a:xfrm>
            <a:custGeom>
              <a:avLst/>
              <a:gdLst>
                <a:gd name="T0" fmla="*/ 262 w 1381"/>
                <a:gd name="T1" fmla="*/ 1754 h 1787"/>
                <a:gd name="T2" fmla="*/ 107 w 1381"/>
                <a:gd name="T3" fmla="*/ 1614 h 1787"/>
                <a:gd name="T4" fmla="*/ 26 w 1381"/>
                <a:gd name="T5" fmla="*/ 1495 h 1787"/>
                <a:gd name="T6" fmla="*/ 8 w 1381"/>
                <a:gd name="T7" fmla="*/ 1083 h 1787"/>
                <a:gd name="T8" fmla="*/ 64 w 1381"/>
                <a:gd name="T9" fmla="*/ 845 h 1787"/>
                <a:gd name="T10" fmla="*/ 199 w 1381"/>
                <a:gd name="T11" fmla="*/ 567 h 1787"/>
                <a:gd name="T12" fmla="*/ 362 w 1381"/>
                <a:gd name="T13" fmla="*/ 339 h 1787"/>
                <a:gd name="T14" fmla="*/ 516 w 1381"/>
                <a:gd name="T15" fmla="*/ 192 h 1787"/>
                <a:gd name="T16" fmla="*/ 746 w 1381"/>
                <a:gd name="T17" fmla="*/ 53 h 1787"/>
                <a:gd name="T18" fmla="*/ 990 w 1381"/>
                <a:gd name="T19" fmla="*/ 0 h 1787"/>
                <a:gd name="T20" fmla="*/ 1126 w 1381"/>
                <a:gd name="T21" fmla="*/ 7 h 1787"/>
                <a:gd name="T22" fmla="*/ 1265 w 1381"/>
                <a:gd name="T23" fmla="*/ 72 h 1787"/>
                <a:gd name="T24" fmla="*/ 1338 w 1381"/>
                <a:gd name="T25" fmla="*/ 197 h 1787"/>
                <a:gd name="T26" fmla="*/ 1366 w 1381"/>
                <a:gd name="T27" fmla="*/ 300 h 1787"/>
                <a:gd name="T28" fmla="*/ 1381 w 1381"/>
                <a:gd name="T29" fmla="*/ 343 h 1787"/>
                <a:gd name="T30" fmla="*/ 1332 w 1381"/>
                <a:gd name="T31" fmla="*/ 500 h 1787"/>
                <a:gd name="T32" fmla="*/ 1276 w 1381"/>
                <a:gd name="T33" fmla="*/ 642 h 1787"/>
                <a:gd name="T34" fmla="*/ 1240 w 1381"/>
                <a:gd name="T35" fmla="*/ 713 h 1787"/>
                <a:gd name="T36" fmla="*/ 1119 w 1381"/>
                <a:gd name="T37" fmla="*/ 858 h 1787"/>
                <a:gd name="T38" fmla="*/ 942 w 1381"/>
                <a:gd name="T39" fmla="*/ 1008 h 1787"/>
                <a:gd name="T40" fmla="*/ 716 w 1381"/>
                <a:gd name="T41" fmla="*/ 1120 h 1787"/>
                <a:gd name="T42" fmla="*/ 535 w 1381"/>
                <a:gd name="T43" fmla="*/ 1152 h 1787"/>
                <a:gd name="T44" fmla="*/ 440 w 1381"/>
                <a:gd name="T45" fmla="*/ 1177 h 1787"/>
                <a:gd name="T46" fmla="*/ 412 w 1381"/>
                <a:gd name="T47" fmla="*/ 1354 h 1787"/>
                <a:gd name="T48" fmla="*/ 445 w 1381"/>
                <a:gd name="T49" fmla="*/ 1537 h 1787"/>
                <a:gd name="T50" fmla="*/ 527 w 1381"/>
                <a:gd name="T51" fmla="*/ 1610 h 1787"/>
                <a:gd name="T52" fmla="*/ 609 w 1381"/>
                <a:gd name="T53" fmla="*/ 1619 h 1787"/>
                <a:gd name="T54" fmla="*/ 742 w 1381"/>
                <a:gd name="T55" fmla="*/ 1567 h 1787"/>
                <a:gd name="T56" fmla="*/ 1010 w 1381"/>
                <a:gd name="T57" fmla="*/ 1318 h 1787"/>
                <a:gd name="T58" fmla="*/ 1132 w 1381"/>
                <a:gd name="T59" fmla="*/ 1225 h 1787"/>
                <a:gd name="T60" fmla="*/ 1203 w 1381"/>
                <a:gd name="T61" fmla="*/ 1270 h 1787"/>
                <a:gd name="T62" fmla="*/ 1236 w 1381"/>
                <a:gd name="T63" fmla="*/ 1344 h 1787"/>
                <a:gd name="T64" fmla="*/ 1183 w 1381"/>
                <a:gd name="T65" fmla="*/ 1490 h 1787"/>
                <a:gd name="T66" fmla="*/ 1050 w 1381"/>
                <a:gd name="T67" fmla="*/ 1611 h 1787"/>
                <a:gd name="T68" fmla="*/ 886 w 1381"/>
                <a:gd name="T69" fmla="*/ 1709 h 1787"/>
                <a:gd name="T70" fmla="*/ 863 w 1381"/>
                <a:gd name="T71" fmla="*/ 1724 h 1787"/>
                <a:gd name="T72" fmla="*/ 761 w 1381"/>
                <a:gd name="T73" fmla="*/ 1767 h 1787"/>
                <a:gd name="T74" fmla="*/ 404 w 1381"/>
                <a:gd name="T75" fmla="*/ 1781 h 1787"/>
                <a:gd name="T76" fmla="*/ 745 w 1381"/>
                <a:gd name="T77" fmla="*/ 828 h 1787"/>
                <a:gd name="T78" fmla="*/ 935 w 1381"/>
                <a:gd name="T79" fmla="*/ 638 h 1787"/>
                <a:gd name="T80" fmla="*/ 985 w 1381"/>
                <a:gd name="T81" fmla="*/ 553 h 1787"/>
                <a:gd name="T82" fmla="*/ 993 w 1381"/>
                <a:gd name="T83" fmla="*/ 520 h 1787"/>
                <a:gd name="T84" fmla="*/ 1013 w 1381"/>
                <a:gd name="T85" fmla="*/ 484 h 1787"/>
                <a:gd name="T86" fmla="*/ 1033 w 1381"/>
                <a:gd name="T87" fmla="*/ 303 h 1787"/>
                <a:gd name="T88" fmla="*/ 1007 w 1381"/>
                <a:gd name="T89" fmla="*/ 274 h 1787"/>
                <a:gd name="T90" fmla="*/ 873 w 1381"/>
                <a:gd name="T91" fmla="*/ 354 h 1787"/>
                <a:gd name="T92" fmla="*/ 674 w 1381"/>
                <a:gd name="T93" fmla="*/ 609 h 1787"/>
                <a:gd name="T94" fmla="*/ 552 w 1381"/>
                <a:gd name="T95" fmla="*/ 824 h 1787"/>
                <a:gd name="T96" fmla="*/ 517 w 1381"/>
                <a:gd name="T97" fmla="*/ 894 h 1787"/>
                <a:gd name="T98" fmla="*/ 526 w 1381"/>
                <a:gd name="T99" fmla="*/ 929 h 1787"/>
                <a:gd name="T100" fmla="*/ 638 w 1381"/>
                <a:gd name="T101" fmla="*/ 887 h 17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381" h="1787">
                  <a:moveTo>
                    <a:pt x="404" y="1781"/>
                  </a:moveTo>
                  <a:lnTo>
                    <a:pt x="313" y="1768"/>
                  </a:lnTo>
                  <a:lnTo>
                    <a:pt x="262" y="1754"/>
                  </a:lnTo>
                  <a:lnTo>
                    <a:pt x="241" y="1742"/>
                  </a:lnTo>
                  <a:lnTo>
                    <a:pt x="176" y="1688"/>
                  </a:lnTo>
                  <a:lnTo>
                    <a:pt x="107" y="1614"/>
                  </a:lnTo>
                  <a:lnTo>
                    <a:pt x="51" y="1545"/>
                  </a:lnTo>
                  <a:lnTo>
                    <a:pt x="36" y="1521"/>
                  </a:lnTo>
                  <a:lnTo>
                    <a:pt x="26" y="1495"/>
                  </a:lnTo>
                  <a:lnTo>
                    <a:pt x="10" y="1423"/>
                  </a:lnTo>
                  <a:lnTo>
                    <a:pt x="0" y="1287"/>
                  </a:lnTo>
                  <a:lnTo>
                    <a:pt x="8" y="1083"/>
                  </a:lnTo>
                  <a:lnTo>
                    <a:pt x="31" y="946"/>
                  </a:lnTo>
                  <a:lnTo>
                    <a:pt x="51" y="873"/>
                  </a:lnTo>
                  <a:lnTo>
                    <a:pt x="64" y="845"/>
                  </a:lnTo>
                  <a:lnTo>
                    <a:pt x="100" y="770"/>
                  </a:lnTo>
                  <a:lnTo>
                    <a:pt x="173" y="621"/>
                  </a:lnTo>
                  <a:lnTo>
                    <a:pt x="199" y="567"/>
                  </a:lnTo>
                  <a:lnTo>
                    <a:pt x="245" y="484"/>
                  </a:lnTo>
                  <a:lnTo>
                    <a:pt x="297" y="412"/>
                  </a:lnTo>
                  <a:lnTo>
                    <a:pt x="362" y="339"/>
                  </a:lnTo>
                  <a:lnTo>
                    <a:pt x="404" y="295"/>
                  </a:lnTo>
                  <a:lnTo>
                    <a:pt x="441" y="258"/>
                  </a:lnTo>
                  <a:lnTo>
                    <a:pt x="516" y="192"/>
                  </a:lnTo>
                  <a:lnTo>
                    <a:pt x="592" y="135"/>
                  </a:lnTo>
                  <a:lnTo>
                    <a:pt x="669" y="89"/>
                  </a:lnTo>
                  <a:lnTo>
                    <a:pt x="746" y="53"/>
                  </a:lnTo>
                  <a:lnTo>
                    <a:pt x="824" y="26"/>
                  </a:lnTo>
                  <a:lnTo>
                    <a:pt x="906" y="9"/>
                  </a:lnTo>
                  <a:lnTo>
                    <a:pt x="990" y="0"/>
                  </a:lnTo>
                  <a:lnTo>
                    <a:pt x="1033" y="0"/>
                  </a:lnTo>
                  <a:lnTo>
                    <a:pt x="1066" y="0"/>
                  </a:lnTo>
                  <a:lnTo>
                    <a:pt x="1126" y="7"/>
                  </a:lnTo>
                  <a:lnTo>
                    <a:pt x="1180" y="22"/>
                  </a:lnTo>
                  <a:lnTo>
                    <a:pt x="1226" y="43"/>
                  </a:lnTo>
                  <a:lnTo>
                    <a:pt x="1265" y="72"/>
                  </a:lnTo>
                  <a:lnTo>
                    <a:pt x="1296" y="107"/>
                  </a:lnTo>
                  <a:lnTo>
                    <a:pt x="1321" y="150"/>
                  </a:lnTo>
                  <a:lnTo>
                    <a:pt x="1338" y="197"/>
                  </a:lnTo>
                  <a:lnTo>
                    <a:pt x="1343" y="225"/>
                  </a:lnTo>
                  <a:lnTo>
                    <a:pt x="1348" y="254"/>
                  </a:lnTo>
                  <a:lnTo>
                    <a:pt x="1366" y="300"/>
                  </a:lnTo>
                  <a:lnTo>
                    <a:pt x="1374" y="310"/>
                  </a:lnTo>
                  <a:lnTo>
                    <a:pt x="1381" y="317"/>
                  </a:lnTo>
                  <a:lnTo>
                    <a:pt x="1381" y="343"/>
                  </a:lnTo>
                  <a:lnTo>
                    <a:pt x="1371" y="363"/>
                  </a:lnTo>
                  <a:lnTo>
                    <a:pt x="1353" y="418"/>
                  </a:lnTo>
                  <a:lnTo>
                    <a:pt x="1332" y="500"/>
                  </a:lnTo>
                  <a:lnTo>
                    <a:pt x="1322" y="542"/>
                  </a:lnTo>
                  <a:lnTo>
                    <a:pt x="1292" y="618"/>
                  </a:lnTo>
                  <a:lnTo>
                    <a:pt x="1276" y="642"/>
                  </a:lnTo>
                  <a:lnTo>
                    <a:pt x="1262" y="662"/>
                  </a:lnTo>
                  <a:lnTo>
                    <a:pt x="1242" y="700"/>
                  </a:lnTo>
                  <a:lnTo>
                    <a:pt x="1240" y="713"/>
                  </a:lnTo>
                  <a:lnTo>
                    <a:pt x="1233" y="729"/>
                  </a:lnTo>
                  <a:lnTo>
                    <a:pt x="1168" y="808"/>
                  </a:lnTo>
                  <a:lnTo>
                    <a:pt x="1119" y="858"/>
                  </a:lnTo>
                  <a:lnTo>
                    <a:pt x="1086" y="891"/>
                  </a:lnTo>
                  <a:lnTo>
                    <a:pt x="1014" y="953"/>
                  </a:lnTo>
                  <a:lnTo>
                    <a:pt x="942" y="1008"/>
                  </a:lnTo>
                  <a:lnTo>
                    <a:pt x="867" y="1054"/>
                  </a:lnTo>
                  <a:lnTo>
                    <a:pt x="791" y="1092"/>
                  </a:lnTo>
                  <a:lnTo>
                    <a:pt x="716" y="1120"/>
                  </a:lnTo>
                  <a:lnTo>
                    <a:pt x="643" y="1141"/>
                  </a:lnTo>
                  <a:lnTo>
                    <a:pt x="569" y="1151"/>
                  </a:lnTo>
                  <a:lnTo>
                    <a:pt x="535" y="1152"/>
                  </a:lnTo>
                  <a:lnTo>
                    <a:pt x="497" y="1152"/>
                  </a:lnTo>
                  <a:lnTo>
                    <a:pt x="458" y="1162"/>
                  </a:lnTo>
                  <a:lnTo>
                    <a:pt x="440" y="1177"/>
                  </a:lnTo>
                  <a:lnTo>
                    <a:pt x="422" y="1210"/>
                  </a:lnTo>
                  <a:lnTo>
                    <a:pt x="412" y="1292"/>
                  </a:lnTo>
                  <a:lnTo>
                    <a:pt x="412" y="1354"/>
                  </a:lnTo>
                  <a:lnTo>
                    <a:pt x="414" y="1418"/>
                  </a:lnTo>
                  <a:lnTo>
                    <a:pt x="428" y="1496"/>
                  </a:lnTo>
                  <a:lnTo>
                    <a:pt x="445" y="1537"/>
                  </a:lnTo>
                  <a:lnTo>
                    <a:pt x="467" y="1570"/>
                  </a:lnTo>
                  <a:lnTo>
                    <a:pt x="494" y="1594"/>
                  </a:lnTo>
                  <a:lnTo>
                    <a:pt x="527" y="1610"/>
                  </a:lnTo>
                  <a:lnTo>
                    <a:pt x="566" y="1619"/>
                  </a:lnTo>
                  <a:lnTo>
                    <a:pt x="589" y="1620"/>
                  </a:lnTo>
                  <a:lnTo>
                    <a:pt x="609" y="1619"/>
                  </a:lnTo>
                  <a:lnTo>
                    <a:pt x="651" y="1610"/>
                  </a:lnTo>
                  <a:lnTo>
                    <a:pt x="694" y="1594"/>
                  </a:lnTo>
                  <a:lnTo>
                    <a:pt x="742" y="1567"/>
                  </a:lnTo>
                  <a:lnTo>
                    <a:pt x="818" y="1511"/>
                  </a:lnTo>
                  <a:lnTo>
                    <a:pt x="939" y="1394"/>
                  </a:lnTo>
                  <a:lnTo>
                    <a:pt x="1010" y="1318"/>
                  </a:lnTo>
                  <a:lnTo>
                    <a:pt x="1043" y="1280"/>
                  </a:lnTo>
                  <a:lnTo>
                    <a:pt x="1098" y="1236"/>
                  </a:lnTo>
                  <a:lnTo>
                    <a:pt x="1132" y="1225"/>
                  </a:lnTo>
                  <a:lnTo>
                    <a:pt x="1152" y="1228"/>
                  </a:lnTo>
                  <a:lnTo>
                    <a:pt x="1183" y="1246"/>
                  </a:lnTo>
                  <a:lnTo>
                    <a:pt x="1203" y="1270"/>
                  </a:lnTo>
                  <a:lnTo>
                    <a:pt x="1213" y="1285"/>
                  </a:lnTo>
                  <a:lnTo>
                    <a:pt x="1229" y="1313"/>
                  </a:lnTo>
                  <a:lnTo>
                    <a:pt x="1236" y="1344"/>
                  </a:lnTo>
                  <a:lnTo>
                    <a:pt x="1236" y="1374"/>
                  </a:lnTo>
                  <a:lnTo>
                    <a:pt x="1224" y="1423"/>
                  </a:lnTo>
                  <a:lnTo>
                    <a:pt x="1183" y="1490"/>
                  </a:lnTo>
                  <a:lnTo>
                    <a:pt x="1151" y="1528"/>
                  </a:lnTo>
                  <a:lnTo>
                    <a:pt x="1125" y="1552"/>
                  </a:lnTo>
                  <a:lnTo>
                    <a:pt x="1050" y="1611"/>
                  </a:lnTo>
                  <a:lnTo>
                    <a:pt x="968" y="1669"/>
                  </a:lnTo>
                  <a:lnTo>
                    <a:pt x="902" y="1705"/>
                  </a:lnTo>
                  <a:lnTo>
                    <a:pt x="886" y="1709"/>
                  </a:lnTo>
                  <a:lnTo>
                    <a:pt x="876" y="1711"/>
                  </a:lnTo>
                  <a:lnTo>
                    <a:pt x="863" y="1718"/>
                  </a:lnTo>
                  <a:lnTo>
                    <a:pt x="863" y="1724"/>
                  </a:lnTo>
                  <a:lnTo>
                    <a:pt x="860" y="1731"/>
                  </a:lnTo>
                  <a:lnTo>
                    <a:pt x="834" y="1747"/>
                  </a:lnTo>
                  <a:lnTo>
                    <a:pt x="761" y="1767"/>
                  </a:lnTo>
                  <a:lnTo>
                    <a:pt x="620" y="1784"/>
                  </a:lnTo>
                  <a:lnTo>
                    <a:pt x="467" y="1787"/>
                  </a:lnTo>
                  <a:lnTo>
                    <a:pt x="404" y="1781"/>
                  </a:lnTo>
                  <a:close/>
                  <a:moveTo>
                    <a:pt x="669" y="868"/>
                  </a:moveTo>
                  <a:lnTo>
                    <a:pt x="723" y="837"/>
                  </a:lnTo>
                  <a:lnTo>
                    <a:pt x="745" y="828"/>
                  </a:lnTo>
                  <a:lnTo>
                    <a:pt x="777" y="805"/>
                  </a:lnTo>
                  <a:lnTo>
                    <a:pt x="912" y="670"/>
                  </a:lnTo>
                  <a:lnTo>
                    <a:pt x="935" y="638"/>
                  </a:lnTo>
                  <a:lnTo>
                    <a:pt x="942" y="616"/>
                  </a:lnTo>
                  <a:lnTo>
                    <a:pt x="972" y="573"/>
                  </a:lnTo>
                  <a:lnTo>
                    <a:pt x="985" y="553"/>
                  </a:lnTo>
                  <a:lnTo>
                    <a:pt x="998" y="524"/>
                  </a:lnTo>
                  <a:lnTo>
                    <a:pt x="995" y="521"/>
                  </a:lnTo>
                  <a:lnTo>
                    <a:pt x="993" y="520"/>
                  </a:lnTo>
                  <a:lnTo>
                    <a:pt x="995" y="508"/>
                  </a:lnTo>
                  <a:lnTo>
                    <a:pt x="1003" y="500"/>
                  </a:lnTo>
                  <a:lnTo>
                    <a:pt x="1013" y="484"/>
                  </a:lnTo>
                  <a:lnTo>
                    <a:pt x="1027" y="426"/>
                  </a:lnTo>
                  <a:lnTo>
                    <a:pt x="1034" y="359"/>
                  </a:lnTo>
                  <a:lnTo>
                    <a:pt x="1033" y="303"/>
                  </a:lnTo>
                  <a:lnTo>
                    <a:pt x="1026" y="288"/>
                  </a:lnTo>
                  <a:lnTo>
                    <a:pt x="1021" y="281"/>
                  </a:lnTo>
                  <a:lnTo>
                    <a:pt x="1007" y="274"/>
                  </a:lnTo>
                  <a:lnTo>
                    <a:pt x="980" y="277"/>
                  </a:lnTo>
                  <a:lnTo>
                    <a:pt x="931" y="304"/>
                  </a:lnTo>
                  <a:lnTo>
                    <a:pt x="873" y="354"/>
                  </a:lnTo>
                  <a:lnTo>
                    <a:pt x="808" y="425"/>
                  </a:lnTo>
                  <a:lnTo>
                    <a:pt x="741" y="511"/>
                  </a:lnTo>
                  <a:lnTo>
                    <a:pt x="674" y="609"/>
                  </a:lnTo>
                  <a:lnTo>
                    <a:pt x="609" y="717"/>
                  </a:lnTo>
                  <a:lnTo>
                    <a:pt x="579" y="773"/>
                  </a:lnTo>
                  <a:lnTo>
                    <a:pt x="552" y="824"/>
                  </a:lnTo>
                  <a:lnTo>
                    <a:pt x="536" y="845"/>
                  </a:lnTo>
                  <a:lnTo>
                    <a:pt x="526" y="861"/>
                  </a:lnTo>
                  <a:lnTo>
                    <a:pt x="517" y="894"/>
                  </a:lnTo>
                  <a:lnTo>
                    <a:pt x="513" y="907"/>
                  </a:lnTo>
                  <a:lnTo>
                    <a:pt x="512" y="923"/>
                  </a:lnTo>
                  <a:lnTo>
                    <a:pt x="526" y="929"/>
                  </a:lnTo>
                  <a:lnTo>
                    <a:pt x="553" y="923"/>
                  </a:lnTo>
                  <a:lnTo>
                    <a:pt x="576" y="916"/>
                  </a:lnTo>
                  <a:lnTo>
                    <a:pt x="638" y="887"/>
                  </a:lnTo>
                  <a:lnTo>
                    <a:pt x="669" y="868"/>
                  </a:lnTo>
                  <a:close/>
                </a:path>
              </a:pathLst>
            </a:custGeom>
            <a:solidFill>
              <a:srgbClr val="C00000"/>
            </a:solidFill>
            <a:ln>
              <a:noFill/>
            </a:ln>
          </p:spPr>
          <p:txBody>
            <a:bodyPr vert="horz" wrap="square" lIns="91440" tIns="45720" rIns="91440" bIns="45720" numCol="1" anchor="t" anchorCtr="0" compatLnSpc="1">
              <a:prstTxWarp prst="textNoShape">
                <a:avLst/>
              </a:prstTxWarp>
            </a:bodyPr>
            <a:lstStyle/>
            <a:p>
              <a:endParaRPr lang="es-PE"/>
            </a:p>
          </p:txBody>
        </p:sp>
        <p:sp>
          <p:nvSpPr>
            <p:cNvPr id="16" name="Freeform 12"/>
            <p:cNvSpPr>
              <a:spLocks/>
            </p:cNvSpPr>
            <p:nvPr/>
          </p:nvSpPr>
          <p:spPr bwMode="auto">
            <a:xfrm>
              <a:off x="3452134" y="5023983"/>
              <a:ext cx="174625" cy="252413"/>
            </a:xfrm>
            <a:custGeom>
              <a:avLst/>
              <a:gdLst>
                <a:gd name="T0" fmla="*/ 66 w 331"/>
                <a:gd name="T1" fmla="*/ 437 h 476"/>
                <a:gd name="T2" fmla="*/ 48 w 331"/>
                <a:gd name="T3" fmla="*/ 419 h 476"/>
                <a:gd name="T4" fmla="*/ 24 w 331"/>
                <a:gd name="T5" fmla="*/ 377 h 476"/>
                <a:gd name="T6" fmla="*/ 8 w 331"/>
                <a:gd name="T7" fmla="*/ 332 h 476"/>
                <a:gd name="T8" fmla="*/ 0 w 331"/>
                <a:gd name="T9" fmla="*/ 283 h 476"/>
                <a:gd name="T10" fmla="*/ 1 w 331"/>
                <a:gd name="T11" fmla="*/ 234 h 476"/>
                <a:gd name="T12" fmla="*/ 11 w 331"/>
                <a:gd name="T13" fmla="*/ 187 h 476"/>
                <a:gd name="T14" fmla="*/ 30 w 331"/>
                <a:gd name="T15" fmla="*/ 141 h 476"/>
                <a:gd name="T16" fmla="*/ 57 w 331"/>
                <a:gd name="T17" fmla="*/ 98 h 476"/>
                <a:gd name="T18" fmla="*/ 74 w 331"/>
                <a:gd name="T19" fmla="*/ 79 h 476"/>
                <a:gd name="T20" fmla="*/ 97 w 331"/>
                <a:gd name="T21" fmla="*/ 54 h 476"/>
                <a:gd name="T22" fmla="*/ 136 w 331"/>
                <a:gd name="T23" fmla="*/ 21 h 476"/>
                <a:gd name="T24" fmla="*/ 169 w 331"/>
                <a:gd name="T25" fmla="*/ 4 h 476"/>
                <a:gd name="T26" fmla="*/ 200 w 331"/>
                <a:gd name="T27" fmla="*/ 0 h 476"/>
                <a:gd name="T28" fmla="*/ 217 w 331"/>
                <a:gd name="T29" fmla="*/ 4 h 476"/>
                <a:gd name="T30" fmla="*/ 230 w 331"/>
                <a:gd name="T31" fmla="*/ 8 h 476"/>
                <a:gd name="T32" fmla="*/ 257 w 331"/>
                <a:gd name="T33" fmla="*/ 28 h 476"/>
                <a:gd name="T34" fmla="*/ 293 w 331"/>
                <a:gd name="T35" fmla="*/ 76 h 476"/>
                <a:gd name="T36" fmla="*/ 325 w 331"/>
                <a:gd name="T37" fmla="*/ 157 h 476"/>
                <a:gd name="T38" fmla="*/ 331 w 331"/>
                <a:gd name="T39" fmla="*/ 214 h 476"/>
                <a:gd name="T40" fmla="*/ 325 w 331"/>
                <a:gd name="T41" fmla="*/ 244 h 476"/>
                <a:gd name="T42" fmla="*/ 318 w 331"/>
                <a:gd name="T43" fmla="*/ 256 h 476"/>
                <a:gd name="T44" fmla="*/ 301 w 331"/>
                <a:gd name="T45" fmla="*/ 285 h 476"/>
                <a:gd name="T46" fmla="*/ 279 w 331"/>
                <a:gd name="T47" fmla="*/ 344 h 476"/>
                <a:gd name="T48" fmla="*/ 270 w 331"/>
                <a:gd name="T49" fmla="*/ 367 h 476"/>
                <a:gd name="T50" fmla="*/ 249 w 331"/>
                <a:gd name="T51" fmla="*/ 407 h 476"/>
                <a:gd name="T52" fmla="*/ 224 w 331"/>
                <a:gd name="T53" fmla="*/ 439 h 476"/>
                <a:gd name="T54" fmla="*/ 197 w 331"/>
                <a:gd name="T55" fmla="*/ 460 h 476"/>
                <a:gd name="T56" fmla="*/ 168 w 331"/>
                <a:gd name="T57" fmla="*/ 473 h 476"/>
                <a:gd name="T58" fmla="*/ 138 w 331"/>
                <a:gd name="T59" fmla="*/ 476 h 476"/>
                <a:gd name="T60" fmla="*/ 108 w 331"/>
                <a:gd name="T61" fmla="*/ 469 h 476"/>
                <a:gd name="T62" fmla="*/ 79 w 331"/>
                <a:gd name="T63" fmla="*/ 450 h 476"/>
                <a:gd name="T64" fmla="*/ 66 w 331"/>
                <a:gd name="T65" fmla="*/ 437 h 4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31" h="476">
                  <a:moveTo>
                    <a:pt x="66" y="437"/>
                  </a:moveTo>
                  <a:lnTo>
                    <a:pt x="48" y="419"/>
                  </a:lnTo>
                  <a:lnTo>
                    <a:pt x="24" y="377"/>
                  </a:lnTo>
                  <a:lnTo>
                    <a:pt x="8" y="332"/>
                  </a:lnTo>
                  <a:lnTo>
                    <a:pt x="0" y="283"/>
                  </a:lnTo>
                  <a:lnTo>
                    <a:pt x="1" y="234"/>
                  </a:lnTo>
                  <a:lnTo>
                    <a:pt x="11" y="187"/>
                  </a:lnTo>
                  <a:lnTo>
                    <a:pt x="30" y="141"/>
                  </a:lnTo>
                  <a:lnTo>
                    <a:pt x="57" y="98"/>
                  </a:lnTo>
                  <a:lnTo>
                    <a:pt x="74" y="79"/>
                  </a:lnTo>
                  <a:lnTo>
                    <a:pt x="97" y="54"/>
                  </a:lnTo>
                  <a:lnTo>
                    <a:pt x="136" y="21"/>
                  </a:lnTo>
                  <a:lnTo>
                    <a:pt x="169" y="4"/>
                  </a:lnTo>
                  <a:lnTo>
                    <a:pt x="200" y="0"/>
                  </a:lnTo>
                  <a:lnTo>
                    <a:pt x="217" y="4"/>
                  </a:lnTo>
                  <a:lnTo>
                    <a:pt x="230" y="8"/>
                  </a:lnTo>
                  <a:lnTo>
                    <a:pt x="257" y="28"/>
                  </a:lnTo>
                  <a:lnTo>
                    <a:pt x="293" y="76"/>
                  </a:lnTo>
                  <a:lnTo>
                    <a:pt x="325" y="157"/>
                  </a:lnTo>
                  <a:lnTo>
                    <a:pt x="331" y="214"/>
                  </a:lnTo>
                  <a:lnTo>
                    <a:pt x="325" y="244"/>
                  </a:lnTo>
                  <a:lnTo>
                    <a:pt x="318" y="256"/>
                  </a:lnTo>
                  <a:lnTo>
                    <a:pt x="301" y="285"/>
                  </a:lnTo>
                  <a:lnTo>
                    <a:pt x="279" y="344"/>
                  </a:lnTo>
                  <a:lnTo>
                    <a:pt x="270" y="367"/>
                  </a:lnTo>
                  <a:lnTo>
                    <a:pt x="249" y="407"/>
                  </a:lnTo>
                  <a:lnTo>
                    <a:pt x="224" y="439"/>
                  </a:lnTo>
                  <a:lnTo>
                    <a:pt x="197" y="460"/>
                  </a:lnTo>
                  <a:lnTo>
                    <a:pt x="168" y="473"/>
                  </a:lnTo>
                  <a:lnTo>
                    <a:pt x="138" y="476"/>
                  </a:lnTo>
                  <a:lnTo>
                    <a:pt x="108" y="469"/>
                  </a:lnTo>
                  <a:lnTo>
                    <a:pt x="79" y="450"/>
                  </a:lnTo>
                  <a:lnTo>
                    <a:pt x="66" y="437"/>
                  </a:lnTo>
                  <a:close/>
                </a:path>
              </a:pathLst>
            </a:custGeom>
            <a:solidFill>
              <a:srgbClr val="C00000"/>
            </a:solidFill>
            <a:ln>
              <a:noFill/>
            </a:ln>
          </p:spPr>
          <p:txBody>
            <a:bodyPr vert="horz" wrap="square" lIns="91440" tIns="45720" rIns="91440" bIns="45720" numCol="1" anchor="t" anchorCtr="0" compatLnSpc="1">
              <a:prstTxWarp prst="textNoShape">
                <a:avLst/>
              </a:prstTxWarp>
            </a:bodyPr>
            <a:lstStyle/>
            <a:p>
              <a:endParaRPr lang="es-PE"/>
            </a:p>
          </p:txBody>
        </p:sp>
        <p:sp>
          <p:nvSpPr>
            <p:cNvPr id="17" name="Freeform 13"/>
            <p:cNvSpPr>
              <a:spLocks/>
            </p:cNvSpPr>
            <p:nvPr/>
          </p:nvSpPr>
          <p:spPr bwMode="auto">
            <a:xfrm>
              <a:off x="1383621" y="3396795"/>
              <a:ext cx="1128713" cy="1700213"/>
            </a:xfrm>
            <a:custGeom>
              <a:avLst/>
              <a:gdLst>
                <a:gd name="T0" fmla="*/ 193 w 2133"/>
                <a:gd name="T1" fmla="*/ 3153 h 3212"/>
                <a:gd name="T2" fmla="*/ 9 w 2133"/>
                <a:gd name="T3" fmla="*/ 2857 h 3212"/>
                <a:gd name="T4" fmla="*/ 42 w 2133"/>
                <a:gd name="T5" fmla="*/ 2118 h 3212"/>
                <a:gd name="T6" fmla="*/ 81 w 2133"/>
                <a:gd name="T7" fmla="*/ 2017 h 3212"/>
                <a:gd name="T8" fmla="*/ 172 w 2133"/>
                <a:gd name="T9" fmla="*/ 1611 h 3212"/>
                <a:gd name="T10" fmla="*/ 252 w 2133"/>
                <a:gd name="T11" fmla="*/ 1355 h 3212"/>
                <a:gd name="T12" fmla="*/ 275 w 2133"/>
                <a:gd name="T13" fmla="*/ 1246 h 3212"/>
                <a:gd name="T14" fmla="*/ 330 w 2133"/>
                <a:gd name="T15" fmla="*/ 1057 h 3212"/>
                <a:gd name="T16" fmla="*/ 339 w 2133"/>
                <a:gd name="T17" fmla="*/ 1028 h 3212"/>
                <a:gd name="T18" fmla="*/ 378 w 2133"/>
                <a:gd name="T19" fmla="*/ 950 h 3212"/>
                <a:gd name="T20" fmla="*/ 484 w 2133"/>
                <a:gd name="T21" fmla="*/ 649 h 3212"/>
                <a:gd name="T22" fmla="*/ 565 w 2133"/>
                <a:gd name="T23" fmla="*/ 475 h 3212"/>
                <a:gd name="T24" fmla="*/ 728 w 2133"/>
                <a:gd name="T25" fmla="*/ 204 h 3212"/>
                <a:gd name="T26" fmla="*/ 961 w 2133"/>
                <a:gd name="T27" fmla="*/ 20 h 3212"/>
                <a:gd name="T28" fmla="*/ 1131 w 2133"/>
                <a:gd name="T29" fmla="*/ 49 h 3212"/>
                <a:gd name="T30" fmla="*/ 1183 w 2133"/>
                <a:gd name="T31" fmla="*/ 117 h 3212"/>
                <a:gd name="T32" fmla="*/ 1184 w 2133"/>
                <a:gd name="T33" fmla="*/ 294 h 3212"/>
                <a:gd name="T34" fmla="*/ 1184 w 2133"/>
                <a:gd name="T35" fmla="*/ 308 h 3212"/>
                <a:gd name="T36" fmla="*/ 1554 w 2133"/>
                <a:gd name="T37" fmla="*/ 26 h 3212"/>
                <a:gd name="T38" fmla="*/ 1919 w 2133"/>
                <a:gd name="T39" fmla="*/ 13 h 3212"/>
                <a:gd name="T40" fmla="*/ 2090 w 2133"/>
                <a:gd name="T41" fmla="*/ 168 h 3212"/>
                <a:gd name="T42" fmla="*/ 2126 w 2133"/>
                <a:gd name="T43" fmla="*/ 504 h 3212"/>
                <a:gd name="T44" fmla="*/ 2054 w 2133"/>
                <a:gd name="T45" fmla="*/ 812 h 3212"/>
                <a:gd name="T46" fmla="*/ 1955 w 2133"/>
                <a:gd name="T47" fmla="*/ 1090 h 3212"/>
                <a:gd name="T48" fmla="*/ 1906 w 2133"/>
                <a:gd name="T49" fmla="*/ 1195 h 3212"/>
                <a:gd name="T50" fmla="*/ 1651 w 2133"/>
                <a:gd name="T51" fmla="*/ 1614 h 3212"/>
                <a:gd name="T52" fmla="*/ 1253 w 2133"/>
                <a:gd name="T53" fmla="*/ 1963 h 3212"/>
                <a:gd name="T54" fmla="*/ 1125 w 2133"/>
                <a:gd name="T55" fmla="*/ 2007 h 3212"/>
                <a:gd name="T56" fmla="*/ 960 w 2133"/>
                <a:gd name="T57" fmla="*/ 2023 h 3212"/>
                <a:gd name="T58" fmla="*/ 788 w 2133"/>
                <a:gd name="T59" fmla="*/ 1922 h 3212"/>
                <a:gd name="T60" fmla="*/ 816 w 2133"/>
                <a:gd name="T61" fmla="*/ 1760 h 3212"/>
                <a:gd name="T62" fmla="*/ 928 w 2133"/>
                <a:gd name="T63" fmla="*/ 1735 h 3212"/>
                <a:gd name="T64" fmla="*/ 1141 w 2133"/>
                <a:gd name="T65" fmla="*/ 1535 h 3212"/>
                <a:gd name="T66" fmla="*/ 1177 w 2133"/>
                <a:gd name="T67" fmla="*/ 1480 h 3212"/>
                <a:gd name="T68" fmla="*/ 1273 w 2133"/>
                <a:gd name="T69" fmla="*/ 1323 h 3212"/>
                <a:gd name="T70" fmla="*/ 1351 w 2133"/>
                <a:gd name="T71" fmla="*/ 1130 h 3212"/>
                <a:gd name="T72" fmla="*/ 1415 w 2133"/>
                <a:gd name="T73" fmla="*/ 960 h 3212"/>
                <a:gd name="T74" fmla="*/ 1523 w 2133"/>
                <a:gd name="T75" fmla="*/ 615 h 3212"/>
                <a:gd name="T76" fmla="*/ 1585 w 2133"/>
                <a:gd name="T77" fmla="*/ 271 h 3212"/>
                <a:gd name="T78" fmla="*/ 1335 w 2133"/>
                <a:gd name="T79" fmla="*/ 439 h 3212"/>
                <a:gd name="T80" fmla="*/ 1072 w 2133"/>
                <a:gd name="T81" fmla="*/ 778 h 3212"/>
                <a:gd name="T82" fmla="*/ 945 w 2133"/>
                <a:gd name="T83" fmla="*/ 1002 h 3212"/>
                <a:gd name="T84" fmla="*/ 840 w 2133"/>
                <a:gd name="T85" fmla="*/ 1227 h 3212"/>
                <a:gd name="T86" fmla="*/ 792 w 2133"/>
                <a:gd name="T87" fmla="*/ 1332 h 3212"/>
                <a:gd name="T88" fmla="*/ 713 w 2133"/>
                <a:gd name="T89" fmla="*/ 1683 h 3212"/>
                <a:gd name="T90" fmla="*/ 640 w 2133"/>
                <a:gd name="T91" fmla="*/ 2310 h 3212"/>
                <a:gd name="T92" fmla="*/ 617 w 2133"/>
                <a:gd name="T93" fmla="*/ 2423 h 3212"/>
                <a:gd name="T94" fmla="*/ 611 w 2133"/>
                <a:gd name="T95" fmla="*/ 2753 h 3212"/>
                <a:gd name="T96" fmla="*/ 641 w 2133"/>
                <a:gd name="T97" fmla="*/ 2848 h 3212"/>
                <a:gd name="T98" fmla="*/ 536 w 2133"/>
                <a:gd name="T99" fmla="*/ 3161 h 3212"/>
                <a:gd name="T100" fmla="*/ 284 w 2133"/>
                <a:gd name="T101" fmla="*/ 3204 h 3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133" h="3212">
                  <a:moveTo>
                    <a:pt x="280" y="3198"/>
                  </a:moveTo>
                  <a:lnTo>
                    <a:pt x="275" y="3191"/>
                  </a:lnTo>
                  <a:lnTo>
                    <a:pt x="238" y="3171"/>
                  </a:lnTo>
                  <a:lnTo>
                    <a:pt x="211" y="3161"/>
                  </a:lnTo>
                  <a:lnTo>
                    <a:pt x="193" y="3153"/>
                  </a:lnTo>
                  <a:lnTo>
                    <a:pt x="159" y="3133"/>
                  </a:lnTo>
                  <a:lnTo>
                    <a:pt x="113" y="3090"/>
                  </a:lnTo>
                  <a:lnTo>
                    <a:pt x="59" y="3011"/>
                  </a:lnTo>
                  <a:lnTo>
                    <a:pt x="21" y="2911"/>
                  </a:lnTo>
                  <a:lnTo>
                    <a:pt x="9" y="2857"/>
                  </a:lnTo>
                  <a:lnTo>
                    <a:pt x="5" y="2822"/>
                  </a:lnTo>
                  <a:lnTo>
                    <a:pt x="0" y="2723"/>
                  </a:lnTo>
                  <a:lnTo>
                    <a:pt x="3" y="2533"/>
                  </a:lnTo>
                  <a:lnTo>
                    <a:pt x="22" y="2265"/>
                  </a:lnTo>
                  <a:lnTo>
                    <a:pt x="42" y="2118"/>
                  </a:lnTo>
                  <a:lnTo>
                    <a:pt x="58" y="2065"/>
                  </a:lnTo>
                  <a:lnTo>
                    <a:pt x="65" y="2060"/>
                  </a:lnTo>
                  <a:lnTo>
                    <a:pt x="71" y="2058"/>
                  </a:lnTo>
                  <a:lnTo>
                    <a:pt x="80" y="2035"/>
                  </a:lnTo>
                  <a:lnTo>
                    <a:pt x="81" y="2017"/>
                  </a:lnTo>
                  <a:lnTo>
                    <a:pt x="88" y="1947"/>
                  </a:lnTo>
                  <a:lnTo>
                    <a:pt x="121" y="1773"/>
                  </a:lnTo>
                  <a:lnTo>
                    <a:pt x="144" y="1682"/>
                  </a:lnTo>
                  <a:lnTo>
                    <a:pt x="153" y="1662"/>
                  </a:lnTo>
                  <a:lnTo>
                    <a:pt x="172" y="1611"/>
                  </a:lnTo>
                  <a:lnTo>
                    <a:pt x="198" y="1510"/>
                  </a:lnTo>
                  <a:lnTo>
                    <a:pt x="209" y="1460"/>
                  </a:lnTo>
                  <a:lnTo>
                    <a:pt x="235" y="1382"/>
                  </a:lnTo>
                  <a:lnTo>
                    <a:pt x="245" y="1366"/>
                  </a:lnTo>
                  <a:lnTo>
                    <a:pt x="252" y="1355"/>
                  </a:lnTo>
                  <a:lnTo>
                    <a:pt x="260" y="1330"/>
                  </a:lnTo>
                  <a:lnTo>
                    <a:pt x="260" y="1319"/>
                  </a:lnTo>
                  <a:lnTo>
                    <a:pt x="260" y="1307"/>
                  </a:lnTo>
                  <a:lnTo>
                    <a:pt x="268" y="1266"/>
                  </a:lnTo>
                  <a:lnTo>
                    <a:pt x="275" y="1246"/>
                  </a:lnTo>
                  <a:lnTo>
                    <a:pt x="286" y="1221"/>
                  </a:lnTo>
                  <a:lnTo>
                    <a:pt x="303" y="1155"/>
                  </a:lnTo>
                  <a:lnTo>
                    <a:pt x="309" y="1123"/>
                  </a:lnTo>
                  <a:lnTo>
                    <a:pt x="314" y="1096"/>
                  </a:lnTo>
                  <a:lnTo>
                    <a:pt x="330" y="1057"/>
                  </a:lnTo>
                  <a:lnTo>
                    <a:pt x="337" y="1053"/>
                  </a:lnTo>
                  <a:lnTo>
                    <a:pt x="343" y="1051"/>
                  </a:lnTo>
                  <a:lnTo>
                    <a:pt x="345" y="1042"/>
                  </a:lnTo>
                  <a:lnTo>
                    <a:pt x="342" y="1035"/>
                  </a:lnTo>
                  <a:lnTo>
                    <a:pt x="339" y="1028"/>
                  </a:lnTo>
                  <a:lnTo>
                    <a:pt x="342" y="1018"/>
                  </a:lnTo>
                  <a:lnTo>
                    <a:pt x="347" y="1017"/>
                  </a:lnTo>
                  <a:lnTo>
                    <a:pt x="356" y="1012"/>
                  </a:lnTo>
                  <a:lnTo>
                    <a:pt x="372" y="976"/>
                  </a:lnTo>
                  <a:lnTo>
                    <a:pt x="378" y="950"/>
                  </a:lnTo>
                  <a:lnTo>
                    <a:pt x="383" y="919"/>
                  </a:lnTo>
                  <a:lnTo>
                    <a:pt x="409" y="842"/>
                  </a:lnTo>
                  <a:lnTo>
                    <a:pt x="424" y="809"/>
                  </a:lnTo>
                  <a:lnTo>
                    <a:pt x="455" y="734"/>
                  </a:lnTo>
                  <a:lnTo>
                    <a:pt x="484" y="649"/>
                  </a:lnTo>
                  <a:lnTo>
                    <a:pt x="497" y="612"/>
                  </a:lnTo>
                  <a:lnTo>
                    <a:pt x="527" y="544"/>
                  </a:lnTo>
                  <a:lnTo>
                    <a:pt x="540" y="526"/>
                  </a:lnTo>
                  <a:lnTo>
                    <a:pt x="551" y="508"/>
                  </a:lnTo>
                  <a:lnTo>
                    <a:pt x="565" y="475"/>
                  </a:lnTo>
                  <a:lnTo>
                    <a:pt x="568" y="464"/>
                  </a:lnTo>
                  <a:lnTo>
                    <a:pt x="569" y="454"/>
                  </a:lnTo>
                  <a:lnTo>
                    <a:pt x="591" y="409"/>
                  </a:lnTo>
                  <a:lnTo>
                    <a:pt x="657" y="304"/>
                  </a:lnTo>
                  <a:lnTo>
                    <a:pt x="728" y="204"/>
                  </a:lnTo>
                  <a:lnTo>
                    <a:pt x="756" y="168"/>
                  </a:lnTo>
                  <a:lnTo>
                    <a:pt x="841" y="91"/>
                  </a:lnTo>
                  <a:lnTo>
                    <a:pt x="885" y="63"/>
                  </a:lnTo>
                  <a:lnTo>
                    <a:pt x="915" y="45"/>
                  </a:lnTo>
                  <a:lnTo>
                    <a:pt x="961" y="20"/>
                  </a:lnTo>
                  <a:lnTo>
                    <a:pt x="997" y="12"/>
                  </a:lnTo>
                  <a:lnTo>
                    <a:pt x="1034" y="14"/>
                  </a:lnTo>
                  <a:lnTo>
                    <a:pt x="1059" y="20"/>
                  </a:lnTo>
                  <a:lnTo>
                    <a:pt x="1095" y="29"/>
                  </a:lnTo>
                  <a:lnTo>
                    <a:pt x="1131" y="49"/>
                  </a:lnTo>
                  <a:lnTo>
                    <a:pt x="1147" y="66"/>
                  </a:lnTo>
                  <a:lnTo>
                    <a:pt x="1153" y="78"/>
                  </a:lnTo>
                  <a:lnTo>
                    <a:pt x="1160" y="92"/>
                  </a:lnTo>
                  <a:lnTo>
                    <a:pt x="1177" y="114"/>
                  </a:lnTo>
                  <a:lnTo>
                    <a:pt x="1183" y="117"/>
                  </a:lnTo>
                  <a:lnTo>
                    <a:pt x="1187" y="118"/>
                  </a:lnTo>
                  <a:lnTo>
                    <a:pt x="1194" y="132"/>
                  </a:lnTo>
                  <a:lnTo>
                    <a:pt x="1199" y="173"/>
                  </a:lnTo>
                  <a:lnTo>
                    <a:pt x="1196" y="240"/>
                  </a:lnTo>
                  <a:lnTo>
                    <a:pt x="1184" y="294"/>
                  </a:lnTo>
                  <a:lnTo>
                    <a:pt x="1176" y="302"/>
                  </a:lnTo>
                  <a:lnTo>
                    <a:pt x="1167" y="307"/>
                  </a:lnTo>
                  <a:lnTo>
                    <a:pt x="1165" y="312"/>
                  </a:lnTo>
                  <a:lnTo>
                    <a:pt x="1170" y="312"/>
                  </a:lnTo>
                  <a:lnTo>
                    <a:pt x="1184" y="308"/>
                  </a:lnTo>
                  <a:lnTo>
                    <a:pt x="1262" y="245"/>
                  </a:lnTo>
                  <a:lnTo>
                    <a:pt x="1314" y="197"/>
                  </a:lnTo>
                  <a:lnTo>
                    <a:pt x="1377" y="140"/>
                  </a:lnTo>
                  <a:lnTo>
                    <a:pt x="1481" y="60"/>
                  </a:lnTo>
                  <a:lnTo>
                    <a:pt x="1554" y="26"/>
                  </a:lnTo>
                  <a:lnTo>
                    <a:pt x="1605" y="12"/>
                  </a:lnTo>
                  <a:lnTo>
                    <a:pt x="1688" y="0"/>
                  </a:lnTo>
                  <a:lnTo>
                    <a:pt x="1757" y="0"/>
                  </a:lnTo>
                  <a:lnTo>
                    <a:pt x="1845" y="0"/>
                  </a:lnTo>
                  <a:lnTo>
                    <a:pt x="1919" y="13"/>
                  </a:lnTo>
                  <a:lnTo>
                    <a:pt x="1958" y="30"/>
                  </a:lnTo>
                  <a:lnTo>
                    <a:pt x="1979" y="45"/>
                  </a:lnTo>
                  <a:lnTo>
                    <a:pt x="2008" y="68"/>
                  </a:lnTo>
                  <a:lnTo>
                    <a:pt x="2068" y="135"/>
                  </a:lnTo>
                  <a:lnTo>
                    <a:pt x="2090" y="168"/>
                  </a:lnTo>
                  <a:lnTo>
                    <a:pt x="2106" y="194"/>
                  </a:lnTo>
                  <a:lnTo>
                    <a:pt x="2125" y="238"/>
                  </a:lnTo>
                  <a:lnTo>
                    <a:pt x="2133" y="321"/>
                  </a:lnTo>
                  <a:lnTo>
                    <a:pt x="2130" y="431"/>
                  </a:lnTo>
                  <a:lnTo>
                    <a:pt x="2126" y="504"/>
                  </a:lnTo>
                  <a:lnTo>
                    <a:pt x="2112" y="623"/>
                  </a:lnTo>
                  <a:lnTo>
                    <a:pt x="2103" y="648"/>
                  </a:lnTo>
                  <a:lnTo>
                    <a:pt x="2093" y="670"/>
                  </a:lnTo>
                  <a:lnTo>
                    <a:pt x="2067" y="759"/>
                  </a:lnTo>
                  <a:lnTo>
                    <a:pt x="2054" y="812"/>
                  </a:lnTo>
                  <a:lnTo>
                    <a:pt x="2040" y="867"/>
                  </a:lnTo>
                  <a:lnTo>
                    <a:pt x="2004" y="975"/>
                  </a:lnTo>
                  <a:lnTo>
                    <a:pt x="1988" y="1009"/>
                  </a:lnTo>
                  <a:lnTo>
                    <a:pt x="1975" y="1038"/>
                  </a:lnTo>
                  <a:lnTo>
                    <a:pt x="1955" y="1090"/>
                  </a:lnTo>
                  <a:lnTo>
                    <a:pt x="1953" y="1104"/>
                  </a:lnTo>
                  <a:lnTo>
                    <a:pt x="1952" y="1117"/>
                  </a:lnTo>
                  <a:lnTo>
                    <a:pt x="1939" y="1146"/>
                  </a:lnTo>
                  <a:lnTo>
                    <a:pt x="1929" y="1159"/>
                  </a:lnTo>
                  <a:lnTo>
                    <a:pt x="1906" y="1195"/>
                  </a:lnTo>
                  <a:lnTo>
                    <a:pt x="1886" y="1247"/>
                  </a:lnTo>
                  <a:lnTo>
                    <a:pt x="1874" y="1273"/>
                  </a:lnTo>
                  <a:lnTo>
                    <a:pt x="1842" y="1338"/>
                  </a:lnTo>
                  <a:lnTo>
                    <a:pt x="1773" y="1450"/>
                  </a:lnTo>
                  <a:lnTo>
                    <a:pt x="1651" y="1614"/>
                  </a:lnTo>
                  <a:lnTo>
                    <a:pt x="1517" y="1767"/>
                  </a:lnTo>
                  <a:lnTo>
                    <a:pt x="1454" y="1829"/>
                  </a:lnTo>
                  <a:lnTo>
                    <a:pt x="1413" y="1862"/>
                  </a:lnTo>
                  <a:lnTo>
                    <a:pt x="1333" y="1919"/>
                  </a:lnTo>
                  <a:lnTo>
                    <a:pt x="1253" y="1963"/>
                  </a:lnTo>
                  <a:lnTo>
                    <a:pt x="1186" y="1987"/>
                  </a:lnTo>
                  <a:lnTo>
                    <a:pt x="1160" y="1989"/>
                  </a:lnTo>
                  <a:lnTo>
                    <a:pt x="1147" y="1990"/>
                  </a:lnTo>
                  <a:lnTo>
                    <a:pt x="1127" y="2000"/>
                  </a:lnTo>
                  <a:lnTo>
                    <a:pt x="1125" y="2007"/>
                  </a:lnTo>
                  <a:lnTo>
                    <a:pt x="1124" y="2010"/>
                  </a:lnTo>
                  <a:lnTo>
                    <a:pt x="1108" y="2017"/>
                  </a:lnTo>
                  <a:lnTo>
                    <a:pt x="1060" y="2023"/>
                  </a:lnTo>
                  <a:lnTo>
                    <a:pt x="1017" y="2025"/>
                  </a:lnTo>
                  <a:lnTo>
                    <a:pt x="960" y="2023"/>
                  </a:lnTo>
                  <a:lnTo>
                    <a:pt x="880" y="2004"/>
                  </a:lnTo>
                  <a:lnTo>
                    <a:pt x="846" y="1986"/>
                  </a:lnTo>
                  <a:lnTo>
                    <a:pt x="826" y="1971"/>
                  </a:lnTo>
                  <a:lnTo>
                    <a:pt x="800" y="1948"/>
                  </a:lnTo>
                  <a:lnTo>
                    <a:pt x="788" y="1922"/>
                  </a:lnTo>
                  <a:lnTo>
                    <a:pt x="784" y="1885"/>
                  </a:lnTo>
                  <a:lnTo>
                    <a:pt x="784" y="1857"/>
                  </a:lnTo>
                  <a:lnTo>
                    <a:pt x="784" y="1809"/>
                  </a:lnTo>
                  <a:lnTo>
                    <a:pt x="797" y="1773"/>
                  </a:lnTo>
                  <a:lnTo>
                    <a:pt x="816" y="1760"/>
                  </a:lnTo>
                  <a:lnTo>
                    <a:pt x="830" y="1755"/>
                  </a:lnTo>
                  <a:lnTo>
                    <a:pt x="850" y="1747"/>
                  </a:lnTo>
                  <a:lnTo>
                    <a:pt x="895" y="1738"/>
                  </a:lnTo>
                  <a:lnTo>
                    <a:pt x="911" y="1737"/>
                  </a:lnTo>
                  <a:lnTo>
                    <a:pt x="928" y="1735"/>
                  </a:lnTo>
                  <a:lnTo>
                    <a:pt x="964" y="1721"/>
                  </a:lnTo>
                  <a:lnTo>
                    <a:pt x="978" y="1709"/>
                  </a:lnTo>
                  <a:lnTo>
                    <a:pt x="1045" y="1647"/>
                  </a:lnTo>
                  <a:lnTo>
                    <a:pt x="1117" y="1569"/>
                  </a:lnTo>
                  <a:lnTo>
                    <a:pt x="1141" y="1535"/>
                  </a:lnTo>
                  <a:lnTo>
                    <a:pt x="1144" y="1526"/>
                  </a:lnTo>
                  <a:lnTo>
                    <a:pt x="1144" y="1516"/>
                  </a:lnTo>
                  <a:lnTo>
                    <a:pt x="1157" y="1496"/>
                  </a:lnTo>
                  <a:lnTo>
                    <a:pt x="1167" y="1490"/>
                  </a:lnTo>
                  <a:lnTo>
                    <a:pt x="1177" y="1480"/>
                  </a:lnTo>
                  <a:lnTo>
                    <a:pt x="1209" y="1431"/>
                  </a:lnTo>
                  <a:lnTo>
                    <a:pt x="1225" y="1400"/>
                  </a:lnTo>
                  <a:lnTo>
                    <a:pt x="1239" y="1369"/>
                  </a:lnTo>
                  <a:lnTo>
                    <a:pt x="1266" y="1326"/>
                  </a:lnTo>
                  <a:lnTo>
                    <a:pt x="1273" y="1323"/>
                  </a:lnTo>
                  <a:lnTo>
                    <a:pt x="1279" y="1318"/>
                  </a:lnTo>
                  <a:lnTo>
                    <a:pt x="1302" y="1263"/>
                  </a:lnTo>
                  <a:lnTo>
                    <a:pt x="1314" y="1224"/>
                  </a:lnTo>
                  <a:lnTo>
                    <a:pt x="1328" y="1184"/>
                  </a:lnTo>
                  <a:lnTo>
                    <a:pt x="1351" y="1130"/>
                  </a:lnTo>
                  <a:lnTo>
                    <a:pt x="1357" y="1125"/>
                  </a:lnTo>
                  <a:lnTo>
                    <a:pt x="1364" y="1120"/>
                  </a:lnTo>
                  <a:lnTo>
                    <a:pt x="1383" y="1073"/>
                  </a:lnTo>
                  <a:lnTo>
                    <a:pt x="1393" y="1038"/>
                  </a:lnTo>
                  <a:lnTo>
                    <a:pt x="1415" y="960"/>
                  </a:lnTo>
                  <a:lnTo>
                    <a:pt x="1439" y="906"/>
                  </a:lnTo>
                  <a:lnTo>
                    <a:pt x="1451" y="878"/>
                  </a:lnTo>
                  <a:lnTo>
                    <a:pt x="1481" y="780"/>
                  </a:lnTo>
                  <a:lnTo>
                    <a:pt x="1494" y="726"/>
                  </a:lnTo>
                  <a:lnTo>
                    <a:pt x="1523" y="615"/>
                  </a:lnTo>
                  <a:lnTo>
                    <a:pt x="1541" y="557"/>
                  </a:lnTo>
                  <a:lnTo>
                    <a:pt x="1550" y="534"/>
                  </a:lnTo>
                  <a:lnTo>
                    <a:pt x="1567" y="446"/>
                  </a:lnTo>
                  <a:lnTo>
                    <a:pt x="1580" y="347"/>
                  </a:lnTo>
                  <a:lnTo>
                    <a:pt x="1585" y="271"/>
                  </a:lnTo>
                  <a:lnTo>
                    <a:pt x="1583" y="258"/>
                  </a:lnTo>
                  <a:lnTo>
                    <a:pt x="1574" y="253"/>
                  </a:lnTo>
                  <a:lnTo>
                    <a:pt x="1533" y="276"/>
                  </a:lnTo>
                  <a:lnTo>
                    <a:pt x="1426" y="357"/>
                  </a:lnTo>
                  <a:lnTo>
                    <a:pt x="1335" y="439"/>
                  </a:lnTo>
                  <a:lnTo>
                    <a:pt x="1304" y="469"/>
                  </a:lnTo>
                  <a:lnTo>
                    <a:pt x="1220" y="569"/>
                  </a:lnTo>
                  <a:lnTo>
                    <a:pt x="1134" y="678"/>
                  </a:lnTo>
                  <a:lnTo>
                    <a:pt x="1078" y="760"/>
                  </a:lnTo>
                  <a:lnTo>
                    <a:pt x="1072" y="778"/>
                  </a:lnTo>
                  <a:lnTo>
                    <a:pt x="1057" y="809"/>
                  </a:lnTo>
                  <a:lnTo>
                    <a:pt x="1009" y="886"/>
                  </a:lnTo>
                  <a:lnTo>
                    <a:pt x="983" y="924"/>
                  </a:lnTo>
                  <a:lnTo>
                    <a:pt x="949" y="988"/>
                  </a:lnTo>
                  <a:lnTo>
                    <a:pt x="945" y="1002"/>
                  </a:lnTo>
                  <a:lnTo>
                    <a:pt x="944" y="1015"/>
                  </a:lnTo>
                  <a:lnTo>
                    <a:pt x="926" y="1053"/>
                  </a:lnTo>
                  <a:lnTo>
                    <a:pt x="915" y="1071"/>
                  </a:lnTo>
                  <a:lnTo>
                    <a:pt x="888" y="1112"/>
                  </a:lnTo>
                  <a:lnTo>
                    <a:pt x="840" y="1227"/>
                  </a:lnTo>
                  <a:lnTo>
                    <a:pt x="824" y="1283"/>
                  </a:lnTo>
                  <a:lnTo>
                    <a:pt x="820" y="1299"/>
                  </a:lnTo>
                  <a:lnTo>
                    <a:pt x="807" y="1320"/>
                  </a:lnTo>
                  <a:lnTo>
                    <a:pt x="801" y="1323"/>
                  </a:lnTo>
                  <a:lnTo>
                    <a:pt x="792" y="1332"/>
                  </a:lnTo>
                  <a:lnTo>
                    <a:pt x="768" y="1428"/>
                  </a:lnTo>
                  <a:lnTo>
                    <a:pt x="755" y="1499"/>
                  </a:lnTo>
                  <a:lnTo>
                    <a:pt x="742" y="1569"/>
                  </a:lnTo>
                  <a:lnTo>
                    <a:pt x="719" y="1669"/>
                  </a:lnTo>
                  <a:lnTo>
                    <a:pt x="713" y="1683"/>
                  </a:lnTo>
                  <a:lnTo>
                    <a:pt x="705" y="1702"/>
                  </a:lnTo>
                  <a:lnTo>
                    <a:pt x="682" y="1849"/>
                  </a:lnTo>
                  <a:lnTo>
                    <a:pt x="657" y="2058"/>
                  </a:lnTo>
                  <a:lnTo>
                    <a:pt x="641" y="2249"/>
                  </a:lnTo>
                  <a:lnTo>
                    <a:pt x="640" y="2310"/>
                  </a:lnTo>
                  <a:lnTo>
                    <a:pt x="638" y="2354"/>
                  </a:lnTo>
                  <a:lnTo>
                    <a:pt x="631" y="2402"/>
                  </a:lnTo>
                  <a:lnTo>
                    <a:pt x="625" y="2419"/>
                  </a:lnTo>
                  <a:lnTo>
                    <a:pt x="621" y="2420"/>
                  </a:lnTo>
                  <a:lnTo>
                    <a:pt x="617" y="2423"/>
                  </a:lnTo>
                  <a:lnTo>
                    <a:pt x="611" y="2448"/>
                  </a:lnTo>
                  <a:lnTo>
                    <a:pt x="604" y="2524"/>
                  </a:lnTo>
                  <a:lnTo>
                    <a:pt x="604" y="2600"/>
                  </a:lnTo>
                  <a:lnTo>
                    <a:pt x="604" y="2677"/>
                  </a:lnTo>
                  <a:lnTo>
                    <a:pt x="611" y="2753"/>
                  </a:lnTo>
                  <a:lnTo>
                    <a:pt x="617" y="2778"/>
                  </a:lnTo>
                  <a:lnTo>
                    <a:pt x="621" y="2780"/>
                  </a:lnTo>
                  <a:lnTo>
                    <a:pt x="627" y="2782"/>
                  </a:lnTo>
                  <a:lnTo>
                    <a:pt x="636" y="2799"/>
                  </a:lnTo>
                  <a:lnTo>
                    <a:pt x="641" y="2848"/>
                  </a:lnTo>
                  <a:lnTo>
                    <a:pt x="636" y="2937"/>
                  </a:lnTo>
                  <a:lnTo>
                    <a:pt x="617" y="3027"/>
                  </a:lnTo>
                  <a:lnTo>
                    <a:pt x="604" y="3060"/>
                  </a:lnTo>
                  <a:lnTo>
                    <a:pt x="581" y="3102"/>
                  </a:lnTo>
                  <a:lnTo>
                    <a:pt x="536" y="3161"/>
                  </a:lnTo>
                  <a:lnTo>
                    <a:pt x="484" y="3197"/>
                  </a:lnTo>
                  <a:lnTo>
                    <a:pt x="419" y="3211"/>
                  </a:lnTo>
                  <a:lnTo>
                    <a:pt x="378" y="3212"/>
                  </a:lnTo>
                  <a:lnTo>
                    <a:pt x="339" y="3211"/>
                  </a:lnTo>
                  <a:lnTo>
                    <a:pt x="284" y="3204"/>
                  </a:lnTo>
                  <a:lnTo>
                    <a:pt x="280" y="3198"/>
                  </a:lnTo>
                  <a:close/>
                </a:path>
              </a:pathLst>
            </a:custGeom>
            <a:solidFill>
              <a:srgbClr val="C00000"/>
            </a:solidFill>
            <a:ln>
              <a:noFill/>
            </a:ln>
          </p:spPr>
          <p:txBody>
            <a:bodyPr vert="horz" wrap="square" lIns="91440" tIns="45720" rIns="91440" bIns="45720" numCol="1" anchor="t" anchorCtr="0" compatLnSpc="1">
              <a:prstTxWarp prst="textNoShape">
                <a:avLst/>
              </a:prstTxWarp>
            </a:bodyPr>
            <a:lstStyle/>
            <a:p>
              <a:endParaRPr lang="es-PE"/>
            </a:p>
          </p:txBody>
        </p:sp>
        <p:sp>
          <p:nvSpPr>
            <p:cNvPr id="18" name="Freeform 14"/>
            <p:cNvSpPr>
              <a:spLocks/>
            </p:cNvSpPr>
            <p:nvPr/>
          </p:nvSpPr>
          <p:spPr bwMode="auto">
            <a:xfrm>
              <a:off x="3317196" y="3458708"/>
              <a:ext cx="858838" cy="1265238"/>
            </a:xfrm>
            <a:custGeom>
              <a:avLst/>
              <a:gdLst>
                <a:gd name="T0" fmla="*/ 824 w 1623"/>
                <a:gd name="T1" fmla="*/ 2354 h 2390"/>
                <a:gd name="T2" fmla="*/ 799 w 1623"/>
                <a:gd name="T3" fmla="*/ 2335 h 2390"/>
                <a:gd name="T4" fmla="*/ 716 w 1623"/>
                <a:gd name="T5" fmla="*/ 2292 h 2390"/>
                <a:gd name="T6" fmla="*/ 537 w 1623"/>
                <a:gd name="T7" fmla="*/ 2049 h 2390"/>
                <a:gd name="T8" fmla="*/ 524 w 1623"/>
                <a:gd name="T9" fmla="*/ 1634 h 2390"/>
                <a:gd name="T10" fmla="*/ 598 w 1623"/>
                <a:gd name="T11" fmla="*/ 1357 h 2390"/>
                <a:gd name="T12" fmla="*/ 773 w 1623"/>
                <a:gd name="T13" fmla="*/ 914 h 2390"/>
                <a:gd name="T14" fmla="*/ 854 w 1623"/>
                <a:gd name="T15" fmla="*/ 737 h 2390"/>
                <a:gd name="T16" fmla="*/ 887 w 1623"/>
                <a:gd name="T17" fmla="*/ 682 h 2390"/>
                <a:gd name="T18" fmla="*/ 804 w 1623"/>
                <a:gd name="T19" fmla="*/ 676 h 2390"/>
                <a:gd name="T20" fmla="*/ 756 w 1623"/>
                <a:gd name="T21" fmla="*/ 702 h 2390"/>
                <a:gd name="T22" fmla="*/ 701 w 1623"/>
                <a:gd name="T23" fmla="*/ 764 h 2390"/>
                <a:gd name="T24" fmla="*/ 668 w 1623"/>
                <a:gd name="T25" fmla="*/ 843 h 2390"/>
                <a:gd name="T26" fmla="*/ 642 w 1623"/>
                <a:gd name="T27" fmla="*/ 940 h 2390"/>
                <a:gd name="T28" fmla="*/ 477 w 1623"/>
                <a:gd name="T29" fmla="*/ 1226 h 2390"/>
                <a:gd name="T30" fmla="*/ 249 w 1623"/>
                <a:gd name="T31" fmla="*/ 1393 h 2390"/>
                <a:gd name="T32" fmla="*/ 20 w 1623"/>
                <a:gd name="T33" fmla="*/ 1381 h 2390"/>
                <a:gd name="T34" fmla="*/ 22 w 1623"/>
                <a:gd name="T35" fmla="*/ 1366 h 2390"/>
                <a:gd name="T36" fmla="*/ 0 w 1623"/>
                <a:gd name="T37" fmla="*/ 1311 h 2390"/>
                <a:gd name="T38" fmla="*/ 258 w 1623"/>
                <a:gd name="T39" fmla="*/ 1065 h 2390"/>
                <a:gd name="T40" fmla="*/ 298 w 1623"/>
                <a:gd name="T41" fmla="*/ 1008 h 2390"/>
                <a:gd name="T42" fmla="*/ 336 w 1623"/>
                <a:gd name="T43" fmla="*/ 954 h 2390"/>
                <a:gd name="T44" fmla="*/ 432 w 1623"/>
                <a:gd name="T45" fmla="*/ 774 h 2390"/>
                <a:gd name="T46" fmla="*/ 481 w 1623"/>
                <a:gd name="T47" fmla="*/ 648 h 2390"/>
                <a:gd name="T48" fmla="*/ 432 w 1623"/>
                <a:gd name="T49" fmla="*/ 486 h 2390"/>
                <a:gd name="T50" fmla="*/ 370 w 1623"/>
                <a:gd name="T51" fmla="*/ 293 h 2390"/>
                <a:gd name="T52" fmla="*/ 387 w 1623"/>
                <a:gd name="T53" fmla="*/ 134 h 2390"/>
                <a:gd name="T54" fmla="*/ 495 w 1623"/>
                <a:gd name="T55" fmla="*/ 18 h 2390"/>
                <a:gd name="T56" fmla="*/ 635 w 1623"/>
                <a:gd name="T57" fmla="*/ 0 h 2390"/>
                <a:gd name="T58" fmla="*/ 763 w 1623"/>
                <a:gd name="T59" fmla="*/ 56 h 2390"/>
                <a:gd name="T60" fmla="*/ 818 w 1623"/>
                <a:gd name="T61" fmla="*/ 181 h 2390"/>
                <a:gd name="T62" fmla="*/ 760 w 1623"/>
                <a:gd name="T63" fmla="*/ 390 h 2390"/>
                <a:gd name="T64" fmla="*/ 711 w 1623"/>
                <a:gd name="T65" fmla="*/ 514 h 2390"/>
                <a:gd name="T66" fmla="*/ 769 w 1623"/>
                <a:gd name="T67" fmla="*/ 524 h 2390"/>
                <a:gd name="T68" fmla="*/ 819 w 1623"/>
                <a:gd name="T69" fmla="*/ 486 h 2390"/>
                <a:gd name="T70" fmla="*/ 942 w 1623"/>
                <a:gd name="T71" fmla="*/ 439 h 2390"/>
                <a:gd name="T72" fmla="*/ 1030 w 1623"/>
                <a:gd name="T73" fmla="*/ 361 h 2390"/>
                <a:gd name="T74" fmla="*/ 1155 w 1623"/>
                <a:gd name="T75" fmla="*/ 272 h 2390"/>
                <a:gd name="T76" fmla="*/ 1322 w 1623"/>
                <a:gd name="T77" fmla="*/ 171 h 2390"/>
                <a:gd name="T78" fmla="*/ 1491 w 1623"/>
                <a:gd name="T79" fmla="*/ 198 h 2390"/>
                <a:gd name="T80" fmla="*/ 1540 w 1623"/>
                <a:gd name="T81" fmla="*/ 223 h 2390"/>
                <a:gd name="T82" fmla="*/ 1612 w 1623"/>
                <a:gd name="T83" fmla="*/ 342 h 2390"/>
                <a:gd name="T84" fmla="*/ 1603 w 1623"/>
                <a:gd name="T85" fmla="*/ 574 h 2390"/>
                <a:gd name="T86" fmla="*/ 1567 w 1623"/>
                <a:gd name="T87" fmla="*/ 642 h 2390"/>
                <a:gd name="T88" fmla="*/ 1468 w 1623"/>
                <a:gd name="T89" fmla="*/ 825 h 2390"/>
                <a:gd name="T90" fmla="*/ 1424 w 1623"/>
                <a:gd name="T91" fmla="*/ 917 h 2390"/>
                <a:gd name="T92" fmla="*/ 1371 w 1623"/>
                <a:gd name="T93" fmla="*/ 1005 h 2390"/>
                <a:gd name="T94" fmla="*/ 1305 w 1623"/>
                <a:gd name="T95" fmla="*/ 1118 h 2390"/>
                <a:gd name="T96" fmla="*/ 1220 w 1623"/>
                <a:gd name="T97" fmla="*/ 1291 h 2390"/>
                <a:gd name="T98" fmla="*/ 1198 w 1623"/>
                <a:gd name="T99" fmla="*/ 1329 h 2390"/>
                <a:gd name="T100" fmla="*/ 1126 w 1623"/>
                <a:gd name="T101" fmla="*/ 1501 h 2390"/>
                <a:gd name="T102" fmla="*/ 1037 w 1623"/>
                <a:gd name="T103" fmla="*/ 1739 h 2390"/>
                <a:gd name="T104" fmla="*/ 1008 w 1623"/>
                <a:gd name="T105" fmla="*/ 1933 h 2390"/>
                <a:gd name="T106" fmla="*/ 1048 w 1623"/>
                <a:gd name="T107" fmla="*/ 2139 h 2390"/>
                <a:gd name="T108" fmla="*/ 1102 w 1623"/>
                <a:gd name="T109" fmla="*/ 2231 h 2390"/>
                <a:gd name="T110" fmla="*/ 1007 w 1623"/>
                <a:gd name="T111" fmla="*/ 2375 h 2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623" h="2390">
                  <a:moveTo>
                    <a:pt x="892" y="2370"/>
                  </a:moveTo>
                  <a:lnTo>
                    <a:pt x="871" y="2360"/>
                  </a:lnTo>
                  <a:lnTo>
                    <a:pt x="835" y="2351"/>
                  </a:lnTo>
                  <a:lnTo>
                    <a:pt x="824" y="2354"/>
                  </a:lnTo>
                  <a:lnTo>
                    <a:pt x="815" y="2355"/>
                  </a:lnTo>
                  <a:lnTo>
                    <a:pt x="802" y="2350"/>
                  </a:lnTo>
                  <a:lnTo>
                    <a:pt x="802" y="2344"/>
                  </a:lnTo>
                  <a:lnTo>
                    <a:pt x="799" y="2335"/>
                  </a:lnTo>
                  <a:lnTo>
                    <a:pt x="775" y="2319"/>
                  </a:lnTo>
                  <a:lnTo>
                    <a:pt x="756" y="2315"/>
                  </a:lnTo>
                  <a:lnTo>
                    <a:pt x="745" y="2311"/>
                  </a:lnTo>
                  <a:lnTo>
                    <a:pt x="716" y="2292"/>
                  </a:lnTo>
                  <a:lnTo>
                    <a:pt x="668" y="2249"/>
                  </a:lnTo>
                  <a:lnTo>
                    <a:pt x="602" y="2170"/>
                  </a:lnTo>
                  <a:lnTo>
                    <a:pt x="550" y="2085"/>
                  </a:lnTo>
                  <a:lnTo>
                    <a:pt x="537" y="2049"/>
                  </a:lnTo>
                  <a:lnTo>
                    <a:pt x="529" y="2018"/>
                  </a:lnTo>
                  <a:lnTo>
                    <a:pt x="519" y="1948"/>
                  </a:lnTo>
                  <a:lnTo>
                    <a:pt x="513" y="1820"/>
                  </a:lnTo>
                  <a:lnTo>
                    <a:pt x="524" y="1634"/>
                  </a:lnTo>
                  <a:lnTo>
                    <a:pt x="546" y="1509"/>
                  </a:lnTo>
                  <a:lnTo>
                    <a:pt x="563" y="1440"/>
                  </a:lnTo>
                  <a:lnTo>
                    <a:pt x="575" y="1412"/>
                  </a:lnTo>
                  <a:lnTo>
                    <a:pt x="598" y="1357"/>
                  </a:lnTo>
                  <a:lnTo>
                    <a:pt x="612" y="1296"/>
                  </a:lnTo>
                  <a:lnTo>
                    <a:pt x="622" y="1251"/>
                  </a:lnTo>
                  <a:lnTo>
                    <a:pt x="690" y="1091"/>
                  </a:lnTo>
                  <a:lnTo>
                    <a:pt x="773" y="914"/>
                  </a:lnTo>
                  <a:lnTo>
                    <a:pt x="824" y="803"/>
                  </a:lnTo>
                  <a:lnTo>
                    <a:pt x="838" y="760"/>
                  </a:lnTo>
                  <a:lnTo>
                    <a:pt x="840" y="751"/>
                  </a:lnTo>
                  <a:lnTo>
                    <a:pt x="854" y="737"/>
                  </a:lnTo>
                  <a:lnTo>
                    <a:pt x="864" y="731"/>
                  </a:lnTo>
                  <a:lnTo>
                    <a:pt x="880" y="724"/>
                  </a:lnTo>
                  <a:lnTo>
                    <a:pt x="893" y="702"/>
                  </a:lnTo>
                  <a:lnTo>
                    <a:pt x="887" y="682"/>
                  </a:lnTo>
                  <a:lnTo>
                    <a:pt x="864" y="668"/>
                  </a:lnTo>
                  <a:lnTo>
                    <a:pt x="847" y="666"/>
                  </a:lnTo>
                  <a:lnTo>
                    <a:pt x="828" y="666"/>
                  </a:lnTo>
                  <a:lnTo>
                    <a:pt x="804" y="676"/>
                  </a:lnTo>
                  <a:lnTo>
                    <a:pt x="802" y="684"/>
                  </a:lnTo>
                  <a:lnTo>
                    <a:pt x="799" y="691"/>
                  </a:lnTo>
                  <a:lnTo>
                    <a:pt x="775" y="701"/>
                  </a:lnTo>
                  <a:lnTo>
                    <a:pt x="756" y="702"/>
                  </a:lnTo>
                  <a:lnTo>
                    <a:pt x="743" y="702"/>
                  </a:lnTo>
                  <a:lnTo>
                    <a:pt x="726" y="708"/>
                  </a:lnTo>
                  <a:lnTo>
                    <a:pt x="709" y="731"/>
                  </a:lnTo>
                  <a:lnTo>
                    <a:pt x="701" y="764"/>
                  </a:lnTo>
                  <a:lnTo>
                    <a:pt x="696" y="790"/>
                  </a:lnTo>
                  <a:lnTo>
                    <a:pt x="681" y="830"/>
                  </a:lnTo>
                  <a:lnTo>
                    <a:pt x="674" y="839"/>
                  </a:lnTo>
                  <a:lnTo>
                    <a:pt x="668" y="843"/>
                  </a:lnTo>
                  <a:lnTo>
                    <a:pt x="664" y="856"/>
                  </a:lnTo>
                  <a:lnTo>
                    <a:pt x="667" y="862"/>
                  </a:lnTo>
                  <a:lnTo>
                    <a:pt x="667" y="874"/>
                  </a:lnTo>
                  <a:lnTo>
                    <a:pt x="642" y="940"/>
                  </a:lnTo>
                  <a:lnTo>
                    <a:pt x="622" y="983"/>
                  </a:lnTo>
                  <a:lnTo>
                    <a:pt x="591" y="1042"/>
                  </a:lnTo>
                  <a:lnTo>
                    <a:pt x="533" y="1144"/>
                  </a:lnTo>
                  <a:lnTo>
                    <a:pt x="477" y="1226"/>
                  </a:lnTo>
                  <a:lnTo>
                    <a:pt x="423" y="1291"/>
                  </a:lnTo>
                  <a:lnTo>
                    <a:pt x="369" y="1339"/>
                  </a:lnTo>
                  <a:lnTo>
                    <a:pt x="311" y="1373"/>
                  </a:lnTo>
                  <a:lnTo>
                    <a:pt x="249" y="1393"/>
                  </a:lnTo>
                  <a:lnTo>
                    <a:pt x="182" y="1402"/>
                  </a:lnTo>
                  <a:lnTo>
                    <a:pt x="144" y="1402"/>
                  </a:lnTo>
                  <a:lnTo>
                    <a:pt x="92" y="1398"/>
                  </a:lnTo>
                  <a:lnTo>
                    <a:pt x="20" y="1381"/>
                  </a:lnTo>
                  <a:lnTo>
                    <a:pt x="6" y="1373"/>
                  </a:lnTo>
                  <a:lnTo>
                    <a:pt x="9" y="1370"/>
                  </a:lnTo>
                  <a:lnTo>
                    <a:pt x="17" y="1369"/>
                  </a:lnTo>
                  <a:lnTo>
                    <a:pt x="22" y="1366"/>
                  </a:lnTo>
                  <a:lnTo>
                    <a:pt x="17" y="1352"/>
                  </a:lnTo>
                  <a:lnTo>
                    <a:pt x="10" y="1340"/>
                  </a:lnTo>
                  <a:lnTo>
                    <a:pt x="1" y="1330"/>
                  </a:lnTo>
                  <a:lnTo>
                    <a:pt x="0" y="1311"/>
                  </a:lnTo>
                  <a:lnTo>
                    <a:pt x="59" y="1248"/>
                  </a:lnTo>
                  <a:lnTo>
                    <a:pt x="186" y="1141"/>
                  </a:lnTo>
                  <a:lnTo>
                    <a:pt x="216" y="1113"/>
                  </a:lnTo>
                  <a:lnTo>
                    <a:pt x="258" y="1065"/>
                  </a:lnTo>
                  <a:lnTo>
                    <a:pt x="262" y="1051"/>
                  </a:lnTo>
                  <a:lnTo>
                    <a:pt x="264" y="1041"/>
                  </a:lnTo>
                  <a:lnTo>
                    <a:pt x="284" y="1016"/>
                  </a:lnTo>
                  <a:lnTo>
                    <a:pt x="298" y="1008"/>
                  </a:lnTo>
                  <a:lnTo>
                    <a:pt x="313" y="999"/>
                  </a:lnTo>
                  <a:lnTo>
                    <a:pt x="331" y="976"/>
                  </a:lnTo>
                  <a:lnTo>
                    <a:pt x="334" y="966"/>
                  </a:lnTo>
                  <a:lnTo>
                    <a:pt x="336" y="954"/>
                  </a:lnTo>
                  <a:lnTo>
                    <a:pt x="360" y="908"/>
                  </a:lnTo>
                  <a:lnTo>
                    <a:pt x="377" y="884"/>
                  </a:lnTo>
                  <a:lnTo>
                    <a:pt x="396" y="855"/>
                  </a:lnTo>
                  <a:lnTo>
                    <a:pt x="432" y="774"/>
                  </a:lnTo>
                  <a:lnTo>
                    <a:pt x="444" y="735"/>
                  </a:lnTo>
                  <a:lnTo>
                    <a:pt x="454" y="701"/>
                  </a:lnTo>
                  <a:lnTo>
                    <a:pt x="474" y="652"/>
                  </a:lnTo>
                  <a:lnTo>
                    <a:pt x="481" y="648"/>
                  </a:lnTo>
                  <a:lnTo>
                    <a:pt x="491" y="646"/>
                  </a:lnTo>
                  <a:lnTo>
                    <a:pt x="495" y="626"/>
                  </a:lnTo>
                  <a:lnTo>
                    <a:pt x="472" y="561"/>
                  </a:lnTo>
                  <a:lnTo>
                    <a:pt x="432" y="486"/>
                  </a:lnTo>
                  <a:lnTo>
                    <a:pt x="413" y="452"/>
                  </a:lnTo>
                  <a:lnTo>
                    <a:pt x="389" y="398"/>
                  </a:lnTo>
                  <a:lnTo>
                    <a:pt x="374" y="350"/>
                  </a:lnTo>
                  <a:lnTo>
                    <a:pt x="370" y="293"/>
                  </a:lnTo>
                  <a:lnTo>
                    <a:pt x="370" y="259"/>
                  </a:lnTo>
                  <a:lnTo>
                    <a:pt x="370" y="221"/>
                  </a:lnTo>
                  <a:lnTo>
                    <a:pt x="373" y="170"/>
                  </a:lnTo>
                  <a:lnTo>
                    <a:pt x="387" y="134"/>
                  </a:lnTo>
                  <a:lnTo>
                    <a:pt x="415" y="96"/>
                  </a:lnTo>
                  <a:lnTo>
                    <a:pt x="438" y="72"/>
                  </a:lnTo>
                  <a:lnTo>
                    <a:pt x="461" y="49"/>
                  </a:lnTo>
                  <a:lnTo>
                    <a:pt x="495" y="18"/>
                  </a:lnTo>
                  <a:lnTo>
                    <a:pt x="530" y="4"/>
                  </a:lnTo>
                  <a:lnTo>
                    <a:pt x="573" y="0"/>
                  </a:lnTo>
                  <a:lnTo>
                    <a:pt x="605" y="0"/>
                  </a:lnTo>
                  <a:lnTo>
                    <a:pt x="635" y="0"/>
                  </a:lnTo>
                  <a:lnTo>
                    <a:pt x="680" y="4"/>
                  </a:lnTo>
                  <a:lnTo>
                    <a:pt x="713" y="15"/>
                  </a:lnTo>
                  <a:lnTo>
                    <a:pt x="745" y="39"/>
                  </a:lnTo>
                  <a:lnTo>
                    <a:pt x="763" y="56"/>
                  </a:lnTo>
                  <a:lnTo>
                    <a:pt x="783" y="73"/>
                  </a:lnTo>
                  <a:lnTo>
                    <a:pt x="808" y="102"/>
                  </a:lnTo>
                  <a:lnTo>
                    <a:pt x="818" y="134"/>
                  </a:lnTo>
                  <a:lnTo>
                    <a:pt x="818" y="181"/>
                  </a:lnTo>
                  <a:lnTo>
                    <a:pt x="817" y="216"/>
                  </a:lnTo>
                  <a:lnTo>
                    <a:pt x="811" y="269"/>
                  </a:lnTo>
                  <a:lnTo>
                    <a:pt x="783" y="352"/>
                  </a:lnTo>
                  <a:lnTo>
                    <a:pt x="760" y="390"/>
                  </a:lnTo>
                  <a:lnTo>
                    <a:pt x="740" y="422"/>
                  </a:lnTo>
                  <a:lnTo>
                    <a:pt x="714" y="481"/>
                  </a:lnTo>
                  <a:lnTo>
                    <a:pt x="711" y="502"/>
                  </a:lnTo>
                  <a:lnTo>
                    <a:pt x="711" y="514"/>
                  </a:lnTo>
                  <a:lnTo>
                    <a:pt x="716" y="528"/>
                  </a:lnTo>
                  <a:lnTo>
                    <a:pt x="730" y="535"/>
                  </a:lnTo>
                  <a:lnTo>
                    <a:pt x="753" y="530"/>
                  </a:lnTo>
                  <a:lnTo>
                    <a:pt x="769" y="524"/>
                  </a:lnTo>
                  <a:lnTo>
                    <a:pt x="794" y="508"/>
                  </a:lnTo>
                  <a:lnTo>
                    <a:pt x="798" y="502"/>
                  </a:lnTo>
                  <a:lnTo>
                    <a:pt x="802" y="495"/>
                  </a:lnTo>
                  <a:lnTo>
                    <a:pt x="819" y="486"/>
                  </a:lnTo>
                  <a:lnTo>
                    <a:pt x="832" y="486"/>
                  </a:lnTo>
                  <a:lnTo>
                    <a:pt x="848" y="483"/>
                  </a:lnTo>
                  <a:lnTo>
                    <a:pt x="893" y="466"/>
                  </a:lnTo>
                  <a:lnTo>
                    <a:pt x="942" y="439"/>
                  </a:lnTo>
                  <a:lnTo>
                    <a:pt x="984" y="407"/>
                  </a:lnTo>
                  <a:lnTo>
                    <a:pt x="997" y="393"/>
                  </a:lnTo>
                  <a:lnTo>
                    <a:pt x="1007" y="378"/>
                  </a:lnTo>
                  <a:lnTo>
                    <a:pt x="1030" y="361"/>
                  </a:lnTo>
                  <a:lnTo>
                    <a:pt x="1040" y="360"/>
                  </a:lnTo>
                  <a:lnTo>
                    <a:pt x="1051" y="355"/>
                  </a:lnTo>
                  <a:lnTo>
                    <a:pt x="1115" y="306"/>
                  </a:lnTo>
                  <a:lnTo>
                    <a:pt x="1155" y="272"/>
                  </a:lnTo>
                  <a:lnTo>
                    <a:pt x="1178" y="250"/>
                  </a:lnTo>
                  <a:lnTo>
                    <a:pt x="1227" y="214"/>
                  </a:lnTo>
                  <a:lnTo>
                    <a:pt x="1275" y="188"/>
                  </a:lnTo>
                  <a:lnTo>
                    <a:pt x="1322" y="171"/>
                  </a:lnTo>
                  <a:lnTo>
                    <a:pt x="1367" y="164"/>
                  </a:lnTo>
                  <a:lnTo>
                    <a:pt x="1410" y="165"/>
                  </a:lnTo>
                  <a:lnTo>
                    <a:pt x="1452" y="177"/>
                  </a:lnTo>
                  <a:lnTo>
                    <a:pt x="1491" y="198"/>
                  </a:lnTo>
                  <a:lnTo>
                    <a:pt x="1509" y="213"/>
                  </a:lnTo>
                  <a:lnTo>
                    <a:pt x="1521" y="221"/>
                  </a:lnTo>
                  <a:lnTo>
                    <a:pt x="1538" y="227"/>
                  </a:lnTo>
                  <a:lnTo>
                    <a:pt x="1540" y="223"/>
                  </a:lnTo>
                  <a:lnTo>
                    <a:pt x="1541" y="219"/>
                  </a:lnTo>
                  <a:lnTo>
                    <a:pt x="1554" y="233"/>
                  </a:lnTo>
                  <a:lnTo>
                    <a:pt x="1587" y="289"/>
                  </a:lnTo>
                  <a:lnTo>
                    <a:pt x="1612" y="342"/>
                  </a:lnTo>
                  <a:lnTo>
                    <a:pt x="1619" y="364"/>
                  </a:lnTo>
                  <a:lnTo>
                    <a:pt x="1623" y="436"/>
                  </a:lnTo>
                  <a:lnTo>
                    <a:pt x="1617" y="514"/>
                  </a:lnTo>
                  <a:lnTo>
                    <a:pt x="1603" y="574"/>
                  </a:lnTo>
                  <a:lnTo>
                    <a:pt x="1594" y="584"/>
                  </a:lnTo>
                  <a:lnTo>
                    <a:pt x="1587" y="591"/>
                  </a:lnTo>
                  <a:lnTo>
                    <a:pt x="1573" y="622"/>
                  </a:lnTo>
                  <a:lnTo>
                    <a:pt x="1567" y="642"/>
                  </a:lnTo>
                  <a:lnTo>
                    <a:pt x="1558" y="668"/>
                  </a:lnTo>
                  <a:lnTo>
                    <a:pt x="1518" y="746"/>
                  </a:lnTo>
                  <a:lnTo>
                    <a:pt x="1493" y="786"/>
                  </a:lnTo>
                  <a:lnTo>
                    <a:pt x="1468" y="825"/>
                  </a:lnTo>
                  <a:lnTo>
                    <a:pt x="1434" y="885"/>
                  </a:lnTo>
                  <a:lnTo>
                    <a:pt x="1432" y="898"/>
                  </a:lnTo>
                  <a:lnTo>
                    <a:pt x="1432" y="905"/>
                  </a:lnTo>
                  <a:lnTo>
                    <a:pt x="1424" y="917"/>
                  </a:lnTo>
                  <a:lnTo>
                    <a:pt x="1419" y="918"/>
                  </a:lnTo>
                  <a:lnTo>
                    <a:pt x="1411" y="923"/>
                  </a:lnTo>
                  <a:lnTo>
                    <a:pt x="1385" y="969"/>
                  </a:lnTo>
                  <a:lnTo>
                    <a:pt x="1371" y="1005"/>
                  </a:lnTo>
                  <a:lnTo>
                    <a:pt x="1357" y="1039"/>
                  </a:lnTo>
                  <a:lnTo>
                    <a:pt x="1325" y="1095"/>
                  </a:lnTo>
                  <a:lnTo>
                    <a:pt x="1315" y="1107"/>
                  </a:lnTo>
                  <a:lnTo>
                    <a:pt x="1305" y="1118"/>
                  </a:lnTo>
                  <a:lnTo>
                    <a:pt x="1275" y="1175"/>
                  </a:lnTo>
                  <a:lnTo>
                    <a:pt x="1259" y="1209"/>
                  </a:lnTo>
                  <a:lnTo>
                    <a:pt x="1244" y="1244"/>
                  </a:lnTo>
                  <a:lnTo>
                    <a:pt x="1220" y="1291"/>
                  </a:lnTo>
                  <a:lnTo>
                    <a:pt x="1213" y="1296"/>
                  </a:lnTo>
                  <a:lnTo>
                    <a:pt x="1205" y="1297"/>
                  </a:lnTo>
                  <a:lnTo>
                    <a:pt x="1198" y="1314"/>
                  </a:lnTo>
                  <a:lnTo>
                    <a:pt x="1198" y="1329"/>
                  </a:lnTo>
                  <a:lnTo>
                    <a:pt x="1194" y="1346"/>
                  </a:lnTo>
                  <a:lnTo>
                    <a:pt x="1167" y="1416"/>
                  </a:lnTo>
                  <a:lnTo>
                    <a:pt x="1148" y="1458"/>
                  </a:lnTo>
                  <a:lnTo>
                    <a:pt x="1126" y="1501"/>
                  </a:lnTo>
                  <a:lnTo>
                    <a:pt x="1084" y="1605"/>
                  </a:lnTo>
                  <a:lnTo>
                    <a:pt x="1072" y="1647"/>
                  </a:lnTo>
                  <a:lnTo>
                    <a:pt x="1061" y="1684"/>
                  </a:lnTo>
                  <a:lnTo>
                    <a:pt x="1037" y="1739"/>
                  </a:lnTo>
                  <a:lnTo>
                    <a:pt x="1028" y="1749"/>
                  </a:lnTo>
                  <a:lnTo>
                    <a:pt x="1021" y="1764"/>
                  </a:lnTo>
                  <a:lnTo>
                    <a:pt x="1010" y="1860"/>
                  </a:lnTo>
                  <a:lnTo>
                    <a:pt x="1008" y="1933"/>
                  </a:lnTo>
                  <a:lnTo>
                    <a:pt x="1010" y="2030"/>
                  </a:lnTo>
                  <a:lnTo>
                    <a:pt x="1020" y="2100"/>
                  </a:lnTo>
                  <a:lnTo>
                    <a:pt x="1036" y="2128"/>
                  </a:lnTo>
                  <a:lnTo>
                    <a:pt x="1048" y="2139"/>
                  </a:lnTo>
                  <a:lnTo>
                    <a:pt x="1064" y="2157"/>
                  </a:lnTo>
                  <a:lnTo>
                    <a:pt x="1092" y="2195"/>
                  </a:lnTo>
                  <a:lnTo>
                    <a:pt x="1099" y="2211"/>
                  </a:lnTo>
                  <a:lnTo>
                    <a:pt x="1102" y="2231"/>
                  </a:lnTo>
                  <a:lnTo>
                    <a:pt x="1090" y="2280"/>
                  </a:lnTo>
                  <a:lnTo>
                    <a:pt x="1064" y="2329"/>
                  </a:lnTo>
                  <a:lnTo>
                    <a:pt x="1027" y="2365"/>
                  </a:lnTo>
                  <a:lnTo>
                    <a:pt x="1007" y="2375"/>
                  </a:lnTo>
                  <a:lnTo>
                    <a:pt x="971" y="2390"/>
                  </a:lnTo>
                  <a:lnTo>
                    <a:pt x="926" y="2388"/>
                  </a:lnTo>
                  <a:lnTo>
                    <a:pt x="892" y="2370"/>
                  </a:lnTo>
                  <a:close/>
                </a:path>
              </a:pathLst>
            </a:custGeom>
            <a:solidFill>
              <a:srgbClr val="C00000"/>
            </a:solidFill>
            <a:ln>
              <a:noFill/>
            </a:ln>
          </p:spPr>
          <p:txBody>
            <a:bodyPr vert="horz" wrap="square" lIns="91440" tIns="45720" rIns="91440" bIns="45720" numCol="1" anchor="t" anchorCtr="0" compatLnSpc="1">
              <a:prstTxWarp prst="textNoShape">
                <a:avLst/>
              </a:prstTxWarp>
            </a:bodyPr>
            <a:lstStyle/>
            <a:p>
              <a:endParaRPr lang="es-PE"/>
            </a:p>
          </p:txBody>
        </p:sp>
        <p:sp>
          <p:nvSpPr>
            <p:cNvPr id="19" name="Freeform 15"/>
            <p:cNvSpPr>
              <a:spLocks noEditPoints="1"/>
            </p:cNvSpPr>
            <p:nvPr/>
          </p:nvSpPr>
          <p:spPr bwMode="auto">
            <a:xfrm>
              <a:off x="5198384" y="3358695"/>
              <a:ext cx="922338" cy="1228725"/>
            </a:xfrm>
            <a:custGeom>
              <a:avLst/>
              <a:gdLst>
                <a:gd name="T0" fmla="*/ 147 w 1741"/>
                <a:gd name="T1" fmla="*/ 2217 h 2322"/>
                <a:gd name="T2" fmla="*/ 93 w 1741"/>
                <a:gd name="T3" fmla="*/ 2128 h 2322"/>
                <a:gd name="T4" fmla="*/ 40 w 1741"/>
                <a:gd name="T5" fmla="*/ 2030 h 2322"/>
                <a:gd name="T6" fmla="*/ 1 w 1741"/>
                <a:gd name="T7" fmla="*/ 1680 h 2322"/>
                <a:gd name="T8" fmla="*/ 72 w 1741"/>
                <a:gd name="T9" fmla="*/ 1225 h 2322"/>
                <a:gd name="T10" fmla="*/ 158 w 1741"/>
                <a:gd name="T11" fmla="*/ 972 h 2322"/>
                <a:gd name="T12" fmla="*/ 322 w 1741"/>
                <a:gd name="T13" fmla="*/ 649 h 2322"/>
                <a:gd name="T14" fmla="*/ 533 w 1741"/>
                <a:gd name="T15" fmla="*/ 413 h 2322"/>
                <a:gd name="T16" fmla="*/ 792 w 1741"/>
                <a:gd name="T17" fmla="*/ 234 h 2322"/>
                <a:gd name="T18" fmla="*/ 983 w 1741"/>
                <a:gd name="T19" fmla="*/ 180 h 2322"/>
                <a:gd name="T20" fmla="*/ 1283 w 1741"/>
                <a:gd name="T21" fmla="*/ 194 h 2322"/>
                <a:gd name="T22" fmla="*/ 1351 w 1741"/>
                <a:gd name="T23" fmla="*/ 168 h 2322"/>
                <a:gd name="T24" fmla="*/ 1541 w 1741"/>
                <a:gd name="T25" fmla="*/ 8 h 2322"/>
                <a:gd name="T26" fmla="*/ 1686 w 1741"/>
                <a:gd name="T27" fmla="*/ 17 h 2322"/>
                <a:gd name="T28" fmla="*/ 1721 w 1741"/>
                <a:gd name="T29" fmla="*/ 80 h 2322"/>
                <a:gd name="T30" fmla="*/ 1741 w 1741"/>
                <a:gd name="T31" fmla="*/ 223 h 2322"/>
                <a:gd name="T32" fmla="*/ 1683 w 1741"/>
                <a:gd name="T33" fmla="*/ 478 h 2322"/>
                <a:gd name="T34" fmla="*/ 1631 w 1741"/>
                <a:gd name="T35" fmla="*/ 671 h 2322"/>
                <a:gd name="T36" fmla="*/ 1555 w 1741"/>
                <a:gd name="T37" fmla="*/ 976 h 2322"/>
                <a:gd name="T38" fmla="*/ 1477 w 1741"/>
                <a:gd name="T39" fmla="*/ 1255 h 2322"/>
                <a:gd name="T40" fmla="*/ 1401 w 1741"/>
                <a:gd name="T41" fmla="*/ 1573 h 2322"/>
                <a:gd name="T42" fmla="*/ 1398 w 1741"/>
                <a:gd name="T43" fmla="*/ 1840 h 2322"/>
                <a:gd name="T44" fmla="*/ 1456 w 1741"/>
                <a:gd name="T45" fmla="*/ 1894 h 2322"/>
                <a:gd name="T46" fmla="*/ 1485 w 1741"/>
                <a:gd name="T47" fmla="*/ 1900 h 2322"/>
                <a:gd name="T48" fmla="*/ 1512 w 1741"/>
                <a:gd name="T49" fmla="*/ 1987 h 2322"/>
                <a:gd name="T50" fmla="*/ 1414 w 1741"/>
                <a:gd name="T51" fmla="*/ 2090 h 2322"/>
                <a:gd name="T52" fmla="*/ 1171 w 1741"/>
                <a:gd name="T53" fmla="*/ 2063 h 2322"/>
                <a:gd name="T54" fmla="*/ 1050 w 1741"/>
                <a:gd name="T55" fmla="*/ 1835 h 2322"/>
                <a:gd name="T56" fmla="*/ 998 w 1741"/>
                <a:gd name="T57" fmla="*/ 1860 h 2322"/>
                <a:gd name="T58" fmla="*/ 972 w 1741"/>
                <a:gd name="T59" fmla="*/ 1890 h 2322"/>
                <a:gd name="T60" fmla="*/ 916 w 1741"/>
                <a:gd name="T61" fmla="*/ 2004 h 2322"/>
                <a:gd name="T62" fmla="*/ 883 w 1741"/>
                <a:gd name="T63" fmla="*/ 2049 h 2322"/>
                <a:gd name="T64" fmla="*/ 721 w 1741"/>
                <a:gd name="T65" fmla="*/ 2218 h 2322"/>
                <a:gd name="T66" fmla="*/ 671 w 1741"/>
                <a:gd name="T67" fmla="*/ 2249 h 2322"/>
                <a:gd name="T68" fmla="*/ 448 w 1741"/>
                <a:gd name="T69" fmla="*/ 2321 h 2322"/>
                <a:gd name="T70" fmla="*/ 685 w 1741"/>
                <a:gd name="T71" fmla="*/ 1969 h 2322"/>
                <a:gd name="T72" fmla="*/ 789 w 1741"/>
                <a:gd name="T73" fmla="*/ 1815 h 2322"/>
                <a:gd name="T74" fmla="*/ 887 w 1741"/>
                <a:gd name="T75" fmla="*/ 1573 h 2322"/>
                <a:gd name="T76" fmla="*/ 955 w 1741"/>
                <a:gd name="T77" fmla="*/ 1324 h 2322"/>
                <a:gd name="T78" fmla="*/ 999 w 1741"/>
                <a:gd name="T79" fmla="*/ 1153 h 2322"/>
                <a:gd name="T80" fmla="*/ 1073 w 1741"/>
                <a:gd name="T81" fmla="*/ 879 h 2322"/>
                <a:gd name="T82" fmla="*/ 1093 w 1741"/>
                <a:gd name="T83" fmla="*/ 810 h 2322"/>
                <a:gd name="T84" fmla="*/ 1106 w 1741"/>
                <a:gd name="T85" fmla="*/ 766 h 2322"/>
                <a:gd name="T86" fmla="*/ 1168 w 1741"/>
                <a:gd name="T87" fmla="*/ 573 h 2322"/>
                <a:gd name="T88" fmla="*/ 1182 w 1741"/>
                <a:gd name="T89" fmla="*/ 555 h 2322"/>
                <a:gd name="T90" fmla="*/ 1201 w 1741"/>
                <a:gd name="T91" fmla="*/ 505 h 2322"/>
                <a:gd name="T92" fmla="*/ 1133 w 1741"/>
                <a:gd name="T93" fmla="*/ 446 h 2322"/>
                <a:gd name="T94" fmla="*/ 1017 w 1741"/>
                <a:gd name="T95" fmla="*/ 486 h 2322"/>
                <a:gd name="T96" fmla="*/ 764 w 1741"/>
                <a:gd name="T97" fmla="*/ 780 h 2322"/>
                <a:gd name="T98" fmla="*/ 603 w 1741"/>
                <a:gd name="T99" fmla="*/ 1166 h 2322"/>
                <a:gd name="T100" fmla="*/ 528 w 1741"/>
                <a:gd name="T101" fmla="*/ 1422 h 2322"/>
                <a:gd name="T102" fmla="*/ 479 w 1741"/>
                <a:gd name="T103" fmla="*/ 1794 h 2322"/>
                <a:gd name="T104" fmla="*/ 511 w 1741"/>
                <a:gd name="T105" fmla="*/ 1988 h 2322"/>
                <a:gd name="T106" fmla="*/ 662 w 1741"/>
                <a:gd name="T107" fmla="*/ 1992 h 23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741" h="2322">
                  <a:moveTo>
                    <a:pt x="288" y="2312"/>
                  </a:moveTo>
                  <a:lnTo>
                    <a:pt x="262" y="2302"/>
                  </a:lnTo>
                  <a:lnTo>
                    <a:pt x="201" y="2265"/>
                  </a:lnTo>
                  <a:lnTo>
                    <a:pt x="147" y="2217"/>
                  </a:lnTo>
                  <a:lnTo>
                    <a:pt x="111" y="2174"/>
                  </a:lnTo>
                  <a:lnTo>
                    <a:pt x="108" y="2159"/>
                  </a:lnTo>
                  <a:lnTo>
                    <a:pt x="106" y="2148"/>
                  </a:lnTo>
                  <a:lnTo>
                    <a:pt x="93" y="2128"/>
                  </a:lnTo>
                  <a:lnTo>
                    <a:pt x="85" y="2121"/>
                  </a:lnTo>
                  <a:lnTo>
                    <a:pt x="78" y="2115"/>
                  </a:lnTo>
                  <a:lnTo>
                    <a:pt x="63" y="2090"/>
                  </a:lnTo>
                  <a:lnTo>
                    <a:pt x="40" y="2030"/>
                  </a:lnTo>
                  <a:lnTo>
                    <a:pt x="16" y="1916"/>
                  </a:lnTo>
                  <a:lnTo>
                    <a:pt x="1" y="1792"/>
                  </a:lnTo>
                  <a:lnTo>
                    <a:pt x="0" y="1736"/>
                  </a:lnTo>
                  <a:lnTo>
                    <a:pt x="1" y="1680"/>
                  </a:lnTo>
                  <a:lnTo>
                    <a:pt x="16" y="1532"/>
                  </a:lnTo>
                  <a:lnTo>
                    <a:pt x="37" y="1378"/>
                  </a:lnTo>
                  <a:lnTo>
                    <a:pt x="62" y="1257"/>
                  </a:lnTo>
                  <a:lnTo>
                    <a:pt x="72" y="1225"/>
                  </a:lnTo>
                  <a:lnTo>
                    <a:pt x="91" y="1176"/>
                  </a:lnTo>
                  <a:lnTo>
                    <a:pt x="115" y="1097"/>
                  </a:lnTo>
                  <a:lnTo>
                    <a:pt x="139" y="1018"/>
                  </a:lnTo>
                  <a:lnTo>
                    <a:pt x="158" y="972"/>
                  </a:lnTo>
                  <a:lnTo>
                    <a:pt x="190" y="908"/>
                  </a:lnTo>
                  <a:lnTo>
                    <a:pt x="253" y="774"/>
                  </a:lnTo>
                  <a:lnTo>
                    <a:pt x="278" y="728"/>
                  </a:lnTo>
                  <a:lnTo>
                    <a:pt x="322" y="649"/>
                  </a:lnTo>
                  <a:lnTo>
                    <a:pt x="374" y="580"/>
                  </a:lnTo>
                  <a:lnTo>
                    <a:pt x="442" y="504"/>
                  </a:lnTo>
                  <a:lnTo>
                    <a:pt x="487" y="460"/>
                  </a:lnTo>
                  <a:lnTo>
                    <a:pt x="533" y="413"/>
                  </a:lnTo>
                  <a:lnTo>
                    <a:pt x="622" y="335"/>
                  </a:lnTo>
                  <a:lnTo>
                    <a:pt x="703" y="276"/>
                  </a:lnTo>
                  <a:lnTo>
                    <a:pt x="769" y="240"/>
                  </a:lnTo>
                  <a:lnTo>
                    <a:pt x="792" y="234"/>
                  </a:lnTo>
                  <a:lnTo>
                    <a:pt x="809" y="229"/>
                  </a:lnTo>
                  <a:lnTo>
                    <a:pt x="847" y="208"/>
                  </a:lnTo>
                  <a:lnTo>
                    <a:pt x="875" y="195"/>
                  </a:lnTo>
                  <a:lnTo>
                    <a:pt x="983" y="180"/>
                  </a:lnTo>
                  <a:lnTo>
                    <a:pt x="1113" y="174"/>
                  </a:lnTo>
                  <a:lnTo>
                    <a:pt x="1228" y="180"/>
                  </a:lnTo>
                  <a:lnTo>
                    <a:pt x="1264" y="188"/>
                  </a:lnTo>
                  <a:lnTo>
                    <a:pt x="1283" y="194"/>
                  </a:lnTo>
                  <a:lnTo>
                    <a:pt x="1309" y="201"/>
                  </a:lnTo>
                  <a:lnTo>
                    <a:pt x="1326" y="197"/>
                  </a:lnTo>
                  <a:lnTo>
                    <a:pt x="1341" y="181"/>
                  </a:lnTo>
                  <a:lnTo>
                    <a:pt x="1351" y="168"/>
                  </a:lnTo>
                  <a:lnTo>
                    <a:pt x="1371" y="136"/>
                  </a:lnTo>
                  <a:lnTo>
                    <a:pt x="1423" y="80"/>
                  </a:lnTo>
                  <a:lnTo>
                    <a:pt x="1482" y="37"/>
                  </a:lnTo>
                  <a:lnTo>
                    <a:pt x="1541" y="8"/>
                  </a:lnTo>
                  <a:lnTo>
                    <a:pt x="1568" y="2"/>
                  </a:lnTo>
                  <a:lnTo>
                    <a:pt x="1597" y="0"/>
                  </a:lnTo>
                  <a:lnTo>
                    <a:pt x="1647" y="2"/>
                  </a:lnTo>
                  <a:lnTo>
                    <a:pt x="1686" y="17"/>
                  </a:lnTo>
                  <a:lnTo>
                    <a:pt x="1708" y="40"/>
                  </a:lnTo>
                  <a:lnTo>
                    <a:pt x="1711" y="54"/>
                  </a:lnTo>
                  <a:lnTo>
                    <a:pt x="1711" y="66"/>
                  </a:lnTo>
                  <a:lnTo>
                    <a:pt x="1721" y="80"/>
                  </a:lnTo>
                  <a:lnTo>
                    <a:pt x="1728" y="82"/>
                  </a:lnTo>
                  <a:lnTo>
                    <a:pt x="1734" y="87"/>
                  </a:lnTo>
                  <a:lnTo>
                    <a:pt x="1741" y="145"/>
                  </a:lnTo>
                  <a:lnTo>
                    <a:pt x="1741" y="223"/>
                  </a:lnTo>
                  <a:lnTo>
                    <a:pt x="1732" y="286"/>
                  </a:lnTo>
                  <a:lnTo>
                    <a:pt x="1727" y="298"/>
                  </a:lnTo>
                  <a:lnTo>
                    <a:pt x="1711" y="344"/>
                  </a:lnTo>
                  <a:lnTo>
                    <a:pt x="1683" y="478"/>
                  </a:lnTo>
                  <a:lnTo>
                    <a:pt x="1670" y="547"/>
                  </a:lnTo>
                  <a:lnTo>
                    <a:pt x="1646" y="645"/>
                  </a:lnTo>
                  <a:lnTo>
                    <a:pt x="1639" y="658"/>
                  </a:lnTo>
                  <a:lnTo>
                    <a:pt x="1631" y="671"/>
                  </a:lnTo>
                  <a:lnTo>
                    <a:pt x="1607" y="758"/>
                  </a:lnTo>
                  <a:lnTo>
                    <a:pt x="1595" y="820"/>
                  </a:lnTo>
                  <a:lnTo>
                    <a:pt x="1581" y="882"/>
                  </a:lnTo>
                  <a:lnTo>
                    <a:pt x="1555" y="976"/>
                  </a:lnTo>
                  <a:lnTo>
                    <a:pt x="1548" y="990"/>
                  </a:lnTo>
                  <a:lnTo>
                    <a:pt x="1531" y="1036"/>
                  </a:lnTo>
                  <a:lnTo>
                    <a:pt x="1505" y="1144"/>
                  </a:lnTo>
                  <a:lnTo>
                    <a:pt x="1477" y="1255"/>
                  </a:lnTo>
                  <a:lnTo>
                    <a:pt x="1459" y="1310"/>
                  </a:lnTo>
                  <a:lnTo>
                    <a:pt x="1447" y="1334"/>
                  </a:lnTo>
                  <a:lnTo>
                    <a:pt x="1424" y="1438"/>
                  </a:lnTo>
                  <a:lnTo>
                    <a:pt x="1401" y="1573"/>
                  </a:lnTo>
                  <a:lnTo>
                    <a:pt x="1388" y="1700"/>
                  </a:lnTo>
                  <a:lnTo>
                    <a:pt x="1387" y="1746"/>
                  </a:lnTo>
                  <a:lnTo>
                    <a:pt x="1387" y="1794"/>
                  </a:lnTo>
                  <a:lnTo>
                    <a:pt x="1398" y="1840"/>
                  </a:lnTo>
                  <a:lnTo>
                    <a:pt x="1413" y="1863"/>
                  </a:lnTo>
                  <a:lnTo>
                    <a:pt x="1423" y="1873"/>
                  </a:lnTo>
                  <a:lnTo>
                    <a:pt x="1437" y="1884"/>
                  </a:lnTo>
                  <a:lnTo>
                    <a:pt x="1456" y="1894"/>
                  </a:lnTo>
                  <a:lnTo>
                    <a:pt x="1459" y="1890"/>
                  </a:lnTo>
                  <a:lnTo>
                    <a:pt x="1460" y="1886"/>
                  </a:lnTo>
                  <a:lnTo>
                    <a:pt x="1474" y="1892"/>
                  </a:lnTo>
                  <a:lnTo>
                    <a:pt x="1485" y="1900"/>
                  </a:lnTo>
                  <a:lnTo>
                    <a:pt x="1496" y="1912"/>
                  </a:lnTo>
                  <a:lnTo>
                    <a:pt x="1510" y="1951"/>
                  </a:lnTo>
                  <a:lnTo>
                    <a:pt x="1512" y="1974"/>
                  </a:lnTo>
                  <a:lnTo>
                    <a:pt x="1512" y="1987"/>
                  </a:lnTo>
                  <a:lnTo>
                    <a:pt x="1505" y="2011"/>
                  </a:lnTo>
                  <a:lnTo>
                    <a:pt x="1479" y="2046"/>
                  </a:lnTo>
                  <a:lnTo>
                    <a:pt x="1446" y="2070"/>
                  </a:lnTo>
                  <a:lnTo>
                    <a:pt x="1414" y="2090"/>
                  </a:lnTo>
                  <a:lnTo>
                    <a:pt x="1351" y="2110"/>
                  </a:lnTo>
                  <a:lnTo>
                    <a:pt x="1286" y="2112"/>
                  </a:lnTo>
                  <a:lnTo>
                    <a:pt x="1225" y="2096"/>
                  </a:lnTo>
                  <a:lnTo>
                    <a:pt x="1171" y="2063"/>
                  </a:lnTo>
                  <a:lnTo>
                    <a:pt x="1122" y="2014"/>
                  </a:lnTo>
                  <a:lnTo>
                    <a:pt x="1083" y="1952"/>
                  </a:lnTo>
                  <a:lnTo>
                    <a:pt x="1057" y="1877"/>
                  </a:lnTo>
                  <a:lnTo>
                    <a:pt x="1050" y="1835"/>
                  </a:lnTo>
                  <a:lnTo>
                    <a:pt x="1037" y="1746"/>
                  </a:lnTo>
                  <a:lnTo>
                    <a:pt x="1022" y="1807"/>
                  </a:lnTo>
                  <a:lnTo>
                    <a:pt x="1015" y="1828"/>
                  </a:lnTo>
                  <a:lnTo>
                    <a:pt x="998" y="1860"/>
                  </a:lnTo>
                  <a:lnTo>
                    <a:pt x="991" y="1864"/>
                  </a:lnTo>
                  <a:lnTo>
                    <a:pt x="982" y="1866"/>
                  </a:lnTo>
                  <a:lnTo>
                    <a:pt x="973" y="1880"/>
                  </a:lnTo>
                  <a:lnTo>
                    <a:pt x="972" y="1890"/>
                  </a:lnTo>
                  <a:lnTo>
                    <a:pt x="970" y="1905"/>
                  </a:lnTo>
                  <a:lnTo>
                    <a:pt x="959" y="1939"/>
                  </a:lnTo>
                  <a:lnTo>
                    <a:pt x="939" y="1975"/>
                  </a:lnTo>
                  <a:lnTo>
                    <a:pt x="916" y="2004"/>
                  </a:lnTo>
                  <a:lnTo>
                    <a:pt x="906" y="2013"/>
                  </a:lnTo>
                  <a:lnTo>
                    <a:pt x="896" y="2020"/>
                  </a:lnTo>
                  <a:lnTo>
                    <a:pt x="883" y="2038"/>
                  </a:lnTo>
                  <a:lnTo>
                    <a:pt x="883" y="2049"/>
                  </a:lnTo>
                  <a:lnTo>
                    <a:pt x="877" y="2063"/>
                  </a:lnTo>
                  <a:lnTo>
                    <a:pt x="835" y="2116"/>
                  </a:lnTo>
                  <a:lnTo>
                    <a:pt x="775" y="2177"/>
                  </a:lnTo>
                  <a:lnTo>
                    <a:pt x="721" y="2218"/>
                  </a:lnTo>
                  <a:lnTo>
                    <a:pt x="707" y="2224"/>
                  </a:lnTo>
                  <a:lnTo>
                    <a:pt x="698" y="2224"/>
                  </a:lnTo>
                  <a:lnTo>
                    <a:pt x="678" y="2239"/>
                  </a:lnTo>
                  <a:lnTo>
                    <a:pt x="671" y="2249"/>
                  </a:lnTo>
                  <a:lnTo>
                    <a:pt x="664" y="2259"/>
                  </a:lnTo>
                  <a:lnTo>
                    <a:pt x="633" y="2277"/>
                  </a:lnTo>
                  <a:lnTo>
                    <a:pt x="566" y="2301"/>
                  </a:lnTo>
                  <a:lnTo>
                    <a:pt x="448" y="2321"/>
                  </a:lnTo>
                  <a:lnTo>
                    <a:pt x="360" y="2322"/>
                  </a:lnTo>
                  <a:lnTo>
                    <a:pt x="309" y="2316"/>
                  </a:lnTo>
                  <a:lnTo>
                    <a:pt x="288" y="2312"/>
                  </a:lnTo>
                  <a:close/>
                  <a:moveTo>
                    <a:pt x="685" y="1969"/>
                  </a:moveTo>
                  <a:lnTo>
                    <a:pt x="726" y="1925"/>
                  </a:lnTo>
                  <a:lnTo>
                    <a:pt x="739" y="1907"/>
                  </a:lnTo>
                  <a:lnTo>
                    <a:pt x="750" y="1883"/>
                  </a:lnTo>
                  <a:lnTo>
                    <a:pt x="789" y="1815"/>
                  </a:lnTo>
                  <a:lnTo>
                    <a:pt x="811" y="1775"/>
                  </a:lnTo>
                  <a:lnTo>
                    <a:pt x="852" y="1684"/>
                  </a:lnTo>
                  <a:lnTo>
                    <a:pt x="864" y="1648"/>
                  </a:lnTo>
                  <a:lnTo>
                    <a:pt x="887" y="1573"/>
                  </a:lnTo>
                  <a:lnTo>
                    <a:pt x="909" y="1513"/>
                  </a:lnTo>
                  <a:lnTo>
                    <a:pt x="919" y="1484"/>
                  </a:lnTo>
                  <a:lnTo>
                    <a:pt x="943" y="1380"/>
                  </a:lnTo>
                  <a:lnTo>
                    <a:pt x="955" y="1324"/>
                  </a:lnTo>
                  <a:lnTo>
                    <a:pt x="963" y="1268"/>
                  </a:lnTo>
                  <a:lnTo>
                    <a:pt x="983" y="1185"/>
                  </a:lnTo>
                  <a:lnTo>
                    <a:pt x="992" y="1169"/>
                  </a:lnTo>
                  <a:lnTo>
                    <a:pt x="999" y="1153"/>
                  </a:lnTo>
                  <a:lnTo>
                    <a:pt x="1022" y="1071"/>
                  </a:lnTo>
                  <a:lnTo>
                    <a:pt x="1035" y="1018"/>
                  </a:lnTo>
                  <a:lnTo>
                    <a:pt x="1048" y="964"/>
                  </a:lnTo>
                  <a:lnTo>
                    <a:pt x="1073" y="879"/>
                  </a:lnTo>
                  <a:lnTo>
                    <a:pt x="1081" y="861"/>
                  </a:lnTo>
                  <a:lnTo>
                    <a:pt x="1089" y="851"/>
                  </a:lnTo>
                  <a:lnTo>
                    <a:pt x="1096" y="823"/>
                  </a:lnTo>
                  <a:lnTo>
                    <a:pt x="1093" y="810"/>
                  </a:lnTo>
                  <a:lnTo>
                    <a:pt x="1089" y="800"/>
                  </a:lnTo>
                  <a:lnTo>
                    <a:pt x="1091" y="780"/>
                  </a:lnTo>
                  <a:lnTo>
                    <a:pt x="1099" y="774"/>
                  </a:lnTo>
                  <a:lnTo>
                    <a:pt x="1106" y="766"/>
                  </a:lnTo>
                  <a:lnTo>
                    <a:pt x="1126" y="707"/>
                  </a:lnTo>
                  <a:lnTo>
                    <a:pt x="1136" y="666"/>
                  </a:lnTo>
                  <a:lnTo>
                    <a:pt x="1146" y="627"/>
                  </a:lnTo>
                  <a:lnTo>
                    <a:pt x="1168" y="573"/>
                  </a:lnTo>
                  <a:lnTo>
                    <a:pt x="1175" y="568"/>
                  </a:lnTo>
                  <a:lnTo>
                    <a:pt x="1182" y="567"/>
                  </a:lnTo>
                  <a:lnTo>
                    <a:pt x="1185" y="560"/>
                  </a:lnTo>
                  <a:lnTo>
                    <a:pt x="1182" y="555"/>
                  </a:lnTo>
                  <a:lnTo>
                    <a:pt x="1178" y="550"/>
                  </a:lnTo>
                  <a:lnTo>
                    <a:pt x="1184" y="529"/>
                  </a:lnTo>
                  <a:lnTo>
                    <a:pt x="1192" y="519"/>
                  </a:lnTo>
                  <a:lnTo>
                    <a:pt x="1201" y="505"/>
                  </a:lnTo>
                  <a:lnTo>
                    <a:pt x="1194" y="482"/>
                  </a:lnTo>
                  <a:lnTo>
                    <a:pt x="1178" y="469"/>
                  </a:lnTo>
                  <a:lnTo>
                    <a:pt x="1162" y="457"/>
                  </a:lnTo>
                  <a:lnTo>
                    <a:pt x="1133" y="446"/>
                  </a:lnTo>
                  <a:lnTo>
                    <a:pt x="1104" y="446"/>
                  </a:lnTo>
                  <a:lnTo>
                    <a:pt x="1068" y="457"/>
                  </a:lnTo>
                  <a:lnTo>
                    <a:pt x="1045" y="469"/>
                  </a:lnTo>
                  <a:lnTo>
                    <a:pt x="1017" y="486"/>
                  </a:lnTo>
                  <a:lnTo>
                    <a:pt x="936" y="560"/>
                  </a:lnTo>
                  <a:lnTo>
                    <a:pt x="851" y="655"/>
                  </a:lnTo>
                  <a:lnTo>
                    <a:pt x="783" y="745"/>
                  </a:lnTo>
                  <a:lnTo>
                    <a:pt x="764" y="780"/>
                  </a:lnTo>
                  <a:lnTo>
                    <a:pt x="736" y="845"/>
                  </a:lnTo>
                  <a:lnTo>
                    <a:pt x="711" y="901"/>
                  </a:lnTo>
                  <a:lnTo>
                    <a:pt x="656" y="1019"/>
                  </a:lnTo>
                  <a:lnTo>
                    <a:pt x="603" y="1166"/>
                  </a:lnTo>
                  <a:lnTo>
                    <a:pt x="584" y="1242"/>
                  </a:lnTo>
                  <a:lnTo>
                    <a:pt x="559" y="1347"/>
                  </a:lnTo>
                  <a:lnTo>
                    <a:pt x="540" y="1398"/>
                  </a:lnTo>
                  <a:lnTo>
                    <a:pt x="528" y="1422"/>
                  </a:lnTo>
                  <a:lnTo>
                    <a:pt x="508" y="1507"/>
                  </a:lnTo>
                  <a:lnTo>
                    <a:pt x="491" y="1617"/>
                  </a:lnTo>
                  <a:lnTo>
                    <a:pt x="481" y="1736"/>
                  </a:lnTo>
                  <a:lnTo>
                    <a:pt x="479" y="1794"/>
                  </a:lnTo>
                  <a:lnTo>
                    <a:pt x="478" y="1879"/>
                  </a:lnTo>
                  <a:lnTo>
                    <a:pt x="488" y="1946"/>
                  </a:lnTo>
                  <a:lnTo>
                    <a:pt x="501" y="1975"/>
                  </a:lnTo>
                  <a:lnTo>
                    <a:pt x="511" y="1988"/>
                  </a:lnTo>
                  <a:lnTo>
                    <a:pt x="530" y="2005"/>
                  </a:lnTo>
                  <a:lnTo>
                    <a:pt x="572" y="2024"/>
                  </a:lnTo>
                  <a:lnTo>
                    <a:pt x="616" y="2020"/>
                  </a:lnTo>
                  <a:lnTo>
                    <a:pt x="662" y="1992"/>
                  </a:lnTo>
                  <a:lnTo>
                    <a:pt x="685" y="1969"/>
                  </a:lnTo>
                  <a:close/>
                </a:path>
              </a:pathLst>
            </a:custGeom>
            <a:solidFill>
              <a:srgbClr val="C00000"/>
            </a:solidFill>
            <a:ln>
              <a:noFill/>
            </a:ln>
          </p:spPr>
          <p:txBody>
            <a:bodyPr vert="horz" wrap="square" lIns="91440" tIns="45720" rIns="91440" bIns="45720" numCol="1" anchor="t" anchorCtr="0" compatLnSpc="1">
              <a:prstTxWarp prst="textNoShape">
                <a:avLst/>
              </a:prstTxWarp>
            </a:bodyPr>
            <a:lstStyle/>
            <a:p>
              <a:endParaRPr lang="es-PE"/>
            </a:p>
          </p:txBody>
        </p:sp>
        <p:sp>
          <p:nvSpPr>
            <p:cNvPr id="20" name="Freeform 16"/>
            <p:cNvSpPr>
              <a:spLocks/>
            </p:cNvSpPr>
            <p:nvPr/>
          </p:nvSpPr>
          <p:spPr bwMode="auto">
            <a:xfrm>
              <a:off x="4236359" y="3363458"/>
              <a:ext cx="981075" cy="1219200"/>
            </a:xfrm>
            <a:custGeom>
              <a:avLst/>
              <a:gdLst>
                <a:gd name="T0" fmla="*/ 145 w 1853"/>
                <a:gd name="T1" fmla="*/ 2165 h 2303"/>
                <a:gd name="T2" fmla="*/ 24 w 1853"/>
                <a:gd name="T3" fmla="*/ 1945 h 2303"/>
                <a:gd name="T4" fmla="*/ 4 w 1853"/>
                <a:gd name="T5" fmla="*/ 1634 h 2303"/>
                <a:gd name="T6" fmla="*/ 37 w 1853"/>
                <a:gd name="T7" fmla="*/ 1356 h 2303"/>
                <a:gd name="T8" fmla="*/ 124 w 1853"/>
                <a:gd name="T9" fmla="*/ 1018 h 2303"/>
                <a:gd name="T10" fmla="*/ 140 w 1853"/>
                <a:gd name="T11" fmla="*/ 980 h 2303"/>
                <a:gd name="T12" fmla="*/ 150 w 1853"/>
                <a:gd name="T13" fmla="*/ 937 h 2303"/>
                <a:gd name="T14" fmla="*/ 213 w 1853"/>
                <a:gd name="T15" fmla="*/ 743 h 2303"/>
                <a:gd name="T16" fmla="*/ 232 w 1853"/>
                <a:gd name="T17" fmla="*/ 725 h 2303"/>
                <a:gd name="T18" fmla="*/ 356 w 1853"/>
                <a:gd name="T19" fmla="*/ 443 h 2303"/>
                <a:gd name="T20" fmla="*/ 469 w 1853"/>
                <a:gd name="T21" fmla="*/ 318 h 2303"/>
                <a:gd name="T22" fmla="*/ 515 w 1853"/>
                <a:gd name="T23" fmla="*/ 289 h 2303"/>
                <a:gd name="T24" fmla="*/ 729 w 1853"/>
                <a:gd name="T25" fmla="*/ 314 h 2303"/>
                <a:gd name="T26" fmla="*/ 801 w 1853"/>
                <a:gd name="T27" fmla="*/ 456 h 2303"/>
                <a:gd name="T28" fmla="*/ 778 w 1853"/>
                <a:gd name="T29" fmla="*/ 767 h 2303"/>
                <a:gd name="T30" fmla="*/ 739 w 1853"/>
                <a:gd name="T31" fmla="*/ 868 h 2303"/>
                <a:gd name="T32" fmla="*/ 654 w 1853"/>
                <a:gd name="T33" fmla="*/ 1103 h 2303"/>
                <a:gd name="T34" fmla="*/ 587 w 1853"/>
                <a:gd name="T35" fmla="*/ 1324 h 2303"/>
                <a:gd name="T36" fmla="*/ 528 w 1853"/>
                <a:gd name="T37" fmla="*/ 1559 h 2303"/>
                <a:gd name="T38" fmla="*/ 488 w 1853"/>
                <a:gd name="T39" fmla="*/ 1725 h 2303"/>
                <a:gd name="T40" fmla="*/ 502 w 1853"/>
                <a:gd name="T41" fmla="*/ 1926 h 2303"/>
                <a:gd name="T42" fmla="*/ 530 w 1853"/>
                <a:gd name="T43" fmla="*/ 1971 h 2303"/>
                <a:gd name="T44" fmla="*/ 602 w 1853"/>
                <a:gd name="T45" fmla="*/ 1997 h 2303"/>
                <a:gd name="T46" fmla="*/ 645 w 1853"/>
                <a:gd name="T47" fmla="*/ 1962 h 2303"/>
                <a:gd name="T48" fmla="*/ 746 w 1853"/>
                <a:gd name="T49" fmla="*/ 1847 h 2303"/>
                <a:gd name="T50" fmla="*/ 953 w 1853"/>
                <a:gd name="T51" fmla="*/ 1408 h 2303"/>
                <a:gd name="T52" fmla="*/ 1004 w 1853"/>
                <a:gd name="T53" fmla="*/ 1260 h 2303"/>
                <a:gd name="T54" fmla="*/ 1064 w 1853"/>
                <a:gd name="T55" fmla="*/ 1098 h 2303"/>
                <a:gd name="T56" fmla="*/ 1123 w 1853"/>
                <a:gd name="T57" fmla="*/ 902 h 2303"/>
                <a:gd name="T58" fmla="*/ 1187 w 1853"/>
                <a:gd name="T59" fmla="*/ 711 h 2303"/>
                <a:gd name="T60" fmla="*/ 1243 w 1853"/>
                <a:gd name="T61" fmla="*/ 566 h 2303"/>
                <a:gd name="T62" fmla="*/ 1342 w 1853"/>
                <a:gd name="T63" fmla="*/ 301 h 2303"/>
                <a:gd name="T64" fmla="*/ 1515 w 1853"/>
                <a:gd name="T65" fmla="*/ 54 h 2303"/>
                <a:gd name="T66" fmla="*/ 1650 w 1853"/>
                <a:gd name="T67" fmla="*/ 0 h 2303"/>
                <a:gd name="T68" fmla="*/ 1770 w 1853"/>
                <a:gd name="T69" fmla="*/ 37 h 2303"/>
                <a:gd name="T70" fmla="*/ 1843 w 1853"/>
                <a:gd name="T71" fmla="*/ 138 h 2303"/>
                <a:gd name="T72" fmla="*/ 1849 w 1853"/>
                <a:gd name="T73" fmla="*/ 387 h 2303"/>
                <a:gd name="T74" fmla="*/ 1768 w 1853"/>
                <a:gd name="T75" fmla="*/ 663 h 2303"/>
                <a:gd name="T76" fmla="*/ 1695 w 1853"/>
                <a:gd name="T77" fmla="*/ 864 h 2303"/>
                <a:gd name="T78" fmla="*/ 1621 w 1853"/>
                <a:gd name="T79" fmla="*/ 1139 h 2303"/>
                <a:gd name="T80" fmla="*/ 1593 w 1853"/>
                <a:gd name="T81" fmla="*/ 1199 h 2303"/>
                <a:gd name="T82" fmla="*/ 1552 w 1853"/>
                <a:gd name="T83" fmla="*/ 1632 h 2303"/>
                <a:gd name="T84" fmla="*/ 1594 w 1853"/>
                <a:gd name="T85" fmla="*/ 1798 h 2303"/>
                <a:gd name="T86" fmla="*/ 1669 w 1853"/>
                <a:gd name="T87" fmla="*/ 1941 h 2303"/>
                <a:gd name="T88" fmla="*/ 1620 w 1853"/>
                <a:gd name="T89" fmla="*/ 2028 h 2303"/>
                <a:gd name="T90" fmla="*/ 1362 w 1853"/>
                <a:gd name="T91" fmla="*/ 2027 h 2303"/>
                <a:gd name="T92" fmla="*/ 1129 w 1853"/>
                <a:gd name="T93" fmla="*/ 1817 h 2303"/>
                <a:gd name="T94" fmla="*/ 1086 w 1853"/>
                <a:gd name="T95" fmla="*/ 1717 h 2303"/>
                <a:gd name="T96" fmla="*/ 1034 w 1853"/>
                <a:gd name="T97" fmla="*/ 1797 h 2303"/>
                <a:gd name="T98" fmla="*/ 883 w 1853"/>
                <a:gd name="T99" fmla="*/ 2079 h 2303"/>
                <a:gd name="T100" fmla="*/ 786 w 1853"/>
                <a:gd name="T101" fmla="*/ 2207 h 2303"/>
                <a:gd name="T102" fmla="*/ 638 w 1853"/>
                <a:gd name="T103" fmla="*/ 2282 h 2303"/>
                <a:gd name="T104" fmla="*/ 312 w 1853"/>
                <a:gd name="T105" fmla="*/ 2289 h 2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853" h="2303">
                  <a:moveTo>
                    <a:pt x="312" y="2289"/>
                  </a:moveTo>
                  <a:lnTo>
                    <a:pt x="284" y="2278"/>
                  </a:lnTo>
                  <a:lnTo>
                    <a:pt x="216" y="2230"/>
                  </a:lnTo>
                  <a:lnTo>
                    <a:pt x="145" y="2165"/>
                  </a:lnTo>
                  <a:lnTo>
                    <a:pt x="92" y="2099"/>
                  </a:lnTo>
                  <a:lnTo>
                    <a:pt x="78" y="2072"/>
                  </a:lnTo>
                  <a:lnTo>
                    <a:pt x="52" y="2007"/>
                  </a:lnTo>
                  <a:lnTo>
                    <a:pt x="24" y="1945"/>
                  </a:lnTo>
                  <a:lnTo>
                    <a:pt x="16" y="1926"/>
                  </a:lnTo>
                  <a:lnTo>
                    <a:pt x="6" y="1879"/>
                  </a:lnTo>
                  <a:lnTo>
                    <a:pt x="0" y="1768"/>
                  </a:lnTo>
                  <a:lnTo>
                    <a:pt x="4" y="1634"/>
                  </a:lnTo>
                  <a:lnTo>
                    <a:pt x="9" y="1533"/>
                  </a:lnTo>
                  <a:lnTo>
                    <a:pt x="23" y="1389"/>
                  </a:lnTo>
                  <a:lnTo>
                    <a:pt x="30" y="1372"/>
                  </a:lnTo>
                  <a:lnTo>
                    <a:pt x="37" y="1356"/>
                  </a:lnTo>
                  <a:lnTo>
                    <a:pt x="66" y="1254"/>
                  </a:lnTo>
                  <a:lnTo>
                    <a:pt x="82" y="1185"/>
                  </a:lnTo>
                  <a:lnTo>
                    <a:pt x="96" y="1113"/>
                  </a:lnTo>
                  <a:lnTo>
                    <a:pt x="124" y="1018"/>
                  </a:lnTo>
                  <a:lnTo>
                    <a:pt x="132" y="1008"/>
                  </a:lnTo>
                  <a:lnTo>
                    <a:pt x="138" y="1006"/>
                  </a:lnTo>
                  <a:lnTo>
                    <a:pt x="142" y="992"/>
                  </a:lnTo>
                  <a:lnTo>
                    <a:pt x="140" y="980"/>
                  </a:lnTo>
                  <a:lnTo>
                    <a:pt x="135" y="970"/>
                  </a:lnTo>
                  <a:lnTo>
                    <a:pt x="137" y="950"/>
                  </a:lnTo>
                  <a:lnTo>
                    <a:pt x="142" y="947"/>
                  </a:lnTo>
                  <a:lnTo>
                    <a:pt x="150" y="937"/>
                  </a:lnTo>
                  <a:lnTo>
                    <a:pt x="170" y="878"/>
                  </a:lnTo>
                  <a:lnTo>
                    <a:pt x="181" y="836"/>
                  </a:lnTo>
                  <a:lnTo>
                    <a:pt x="191" y="797"/>
                  </a:lnTo>
                  <a:lnTo>
                    <a:pt x="213" y="743"/>
                  </a:lnTo>
                  <a:lnTo>
                    <a:pt x="220" y="738"/>
                  </a:lnTo>
                  <a:lnTo>
                    <a:pt x="226" y="737"/>
                  </a:lnTo>
                  <a:lnTo>
                    <a:pt x="232" y="730"/>
                  </a:lnTo>
                  <a:lnTo>
                    <a:pt x="232" y="725"/>
                  </a:lnTo>
                  <a:lnTo>
                    <a:pt x="232" y="711"/>
                  </a:lnTo>
                  <a:lnTo>
                    <a:pt x="255" y="648"/>
                  </a:lnTo>
                  <a:lnTo>
                    <a:pt x="314" y="517"/>
                  </a:lnTo>
                  <a:lnTo>
                    <a:pt x="356" y="443"/>
                  </a:lnTo>
                  <a:lnTo>
                    <a:pt x="387" y="397"/>
                  </a:lnTo>
                  <a:lnTo>
                    <a:pt x="443" y="334"/>
                  </a:lnTo>
                  <a:lnTo>
                    <a:pt x="466" y="315"/>
                  </a:lnTo>
                  <a:lnTo>
                    <a:pt x="469" y="318"/>
                  </a:lnTo>
                  <a:lnTo>
                    <a:pt x="471" y="321"/>
                  </a:lnTo>
                  <a:lnTo>
                    <a:pt x="491" y="309"/>
                  </a:lnTo>
                  <a:lnTo>
                    <a:pt x="505" y="296"/>
                  </a:lnTo>
                  <a:lnTo>
                    <a:pt x="515" y="289"/>
                  </a:lnTo>
                  <a:lnTo>
                    <a:pt x="541" y="278"/>
                  </a:lnTo>
                  <a:lnTo>
                    <a:pt x="590" y="270"/>
                  </a:lnTo>
                  <a:lnTo>
                    <a:pt x="662" y="282"/>
                  </a:lnTo>
                  <a:lnTo>
                    <a:pt x="729" y="314"/>
                  </a:lnTo>
                  <a:lnTo>
                    <a:pt x="755" y="337"/>
                  </a:lnTo>
                  <a:lnTo>
                    <a:pt x="770" y="352"/>
                  </a:lnTo>
                  <a:lnTo>
                    <a:pt x="789" y="384"/>
                  </a:lnTo>
                  <a:lnTo>
                    <a:pt x="801" y="456"/>
                  </a:lnTo>
                  <a:lnTo>
                    <a:pt x="801" y="558"/>
                  </a:lnTo>
                  <a:lnTo>
                    <a:pt x="799" y="643"/>
                  </a:lnTo>
                  <a:lnTo>
                    <a:pt x="789" y="727"/>
                  </a:lnTo>
                  <a:lnTo>
                    <a:pt x="778" y="767"/>
                  </a:lnTo>
                  <a:lnTo>
                    <a:pt x="769" y="783"/>
                  </a:lnTo>
                  <a:lnTo>
                    <a:pt x="757" y="806"/>
                  </a:lnTo>
                  <a:lnTo>
                    <a:pt x="740" y="852"/>
                  </a:lnTo>
                  <a:lnTo>
                    <a:pt x="739" y="868"/>
                  </a:lnTo>
                  <a:lnTo>
                    <a:pt x="737" y="891"/>
                  </a:lnTo>
                  <a:lnTo>
                    <a:pt x="707" y="979"/>
                  </a:lnTo>
                  <a:lnTo>
                    <a:pt x="667" y="1071"/>
                  </a:lnTo>
                  <a:lnTo>
                    <a:pt x="654" y="1103"/>
                  </a:lnTo>
                  <a:lnTo>
                    <a:pt x="631" y="1177"/>
                  </a:lnTo>
                  <a:lnTo>
                    <a:pt x="623" y="1208"/>
                  </a:lnTo>
                  <a:lnTo>
                    <a:pt x="608" y="1271"/>
                  </a:lnTo>
                  <a:lnTo>
                    <a:pt x="587" y="1324"/>
                  </a:lnTo>
                  <a:lnTo>
                    <a:pt x="576" y="1353"/>
                  </a:lnTo>
                  <a:lnTo>
                    <a:pt x="550" y="1453"/>
                  </a:lnTo>
                  <a:lnTo>
                    <a:pt x="538" y="1509"/>
                  </a:lnTo>
                  <a:lnTo>
                    <a:pt x="528" y="1559"/>
                  </a:lnTo>
                  <a:lnTo>
                    <a:pt x="508" y="1630"/>
                  </a:lnTo>
                  <a:lnTo>
                    <a:pt x="501" y="1638"/>
                  </a:lnTo>
                  <a:lnTo>
                    <a:pt x="495" y="1645"/>
                  </a:lnTo>
                  <a:lnTo>
                    <a:pt x="488" y="1725"/>
                  </a:lnTo>
                  <a:lnTo>
                    <a:pt x="487" y="1782"/>
                  </a:lnTo>
                  <a:lnTo>
                    <a:pt x="488" y="1840"/>
                  </a:lnTo>
                  <a:lnTo>
                    <a:pt x="497" y="1918"/>
                  </a:lnTo>
                  <a:lnTo>
                    <a:pt x="502" y="1926"/>
                  </a:lnTo>
                  <a:lnTo>
                    <a:pt x="510" y="1928"/>
                  </a:lnTo>
                  <a:lnTo>
                    <a:pt x="523" y="1948"/>
                  </a:lnTo>
                  <a:lnTo>
                    <a:pt x="528" y="1962"/>
                  </a:lnTo>
                  <a:lnTo>
                    <a:pt x="530" y="1971"/>
                  </a:lnTo>
                  <a:lnTo>
                    <a:pt x="540" y="1984"/>
                  </a:lnTo>
                  <a:lnTo>
                    <a:pt x="563" y="1997"/>
                  </a:lnTo>
                  <a:lnTo>
                    <a:pt x="585" y="1998"/>
                  </a:lnTo>
                  <a:lnTo>
                    <a:pt x="602" y="1997"/>
                  </a:lnTo>
                  <a:lnTo>
                    <a:pt x="628" y="1987"/>
                  </a:lnTo>
                  <a:lnTo>
                    <a:pt x="631" y="1980"/>
                  </a:lnTo>
                  <a:lnTo>
                    <a:pt x="632" y="1972"/>
                  </a:lnTo>
                  <a:lnTo>
                    <a:pt x="645" y="1962"/>
                  </a:lnTo>
                  <a:lnTo>
                    <a:pt x="657" y="1962"/>
                  </a:lnTo>
                  <a:lnTo>
                    <a:pt x="665" y="1959"/>
                  </a:lnTo>
                  <a:lnTo>
                    <a:pt x="688" y="1935"/>
                  </a:lnTo>
                  <a:lnTo>
                    <a:pt x="746" y="1847"/>
                  </a:lnTo>
                  <a:lnTo>
                    <a:pt x="805" y="1736"/>
                  </a:lnTo>
                  <a:lnTo>
                    <a:pt x="841" y="1661"/>
                  </a:lnTo>
                  <a:lnTo>
                    <a:pt x="930" y="1467"/>
                  </a:lnTo>
                  <a:lnTo>
                    <a:pt x="953" y="1408"/>
                  </a:lnTo>
                  <a:lnTo>
                    <a:pt x="963" y="1376"/>
                  </a:lnTo>
                  <a:lnTo>
                    <a:pt x="971" y="1353"/>
                  </a:lnTo>
                  <a:lnTo>
                    <a:pt x="985" y="1314"/>
                  </a:lnTo>
                  <a:lnTo>
                    <a:pt x="1004" y="1260"/>
                  </a:lnTo>
                  <a:lnTo>
                    <a:pt x="1028" y="1185"/>
                  </a:lnTo>
                  <a:lnTo>
                    <a:pt x="1038" y="1149"/>
                  </a:lnTo>
                  <a:lnTo>
                    <a:pt x="1058" y="1103"/>
                  </a:lnTo>
                  <a:lnTo>
                    <a:pt x="1064" y="1098"/>
                  </a:lnTo>
                  <a:lnTo>
                    <a:pt x="1070" y="1090"/>
                  </a:lnTo>
                  <a:lnTo>
                    <a:pt x="1094" y="1015"/>
                  </a:lnTo>
                  <a:lnTo>
                    <a:pt x="1110" y="959"/>
                  </a:lnTo>
                  <a:lnTo>
                    <a:pt x="1123" y="902"/>
                  </a:lnTo>
                  <a:lnTo>
                    <a:pt x="1148" y="822"/>
                  </a:lnTo>
                  <a:lnTo>
                    <a:pt x="1155" y="810"/>
                  </a:lnTo>
                  <a:lnTo>
                    <a:pt x="1168" y="783"/>
                  </a:lnTo>
                  <a:lnTo>
                    <a:pt x="1187" y="711"/>
                  </a:lnTo>
                  <a:lnTo>
                    <a:pt x="1197" y="674"/>
                  </a:lnTo>
                  <a:lnTo>
                    <a:pt x="1221" y="604"/>
                  </a:lnTo>
                  <a:lnTo>
                    <a:pt x="1233" y="584"/>
                  </a:lnTo>
                  <a:lnTo>
                    <a:pt x="1243" y="566"/>
                  </a:lnTo>
                  <a:lnTo>
                    <a:pt x="1267" y="502"/>
                  </a:lnTo>
                  <a:lnTo>
                    <a:pt x="1277" y="468"/>
                  </a:lnTo>
                  <a:lnTo>
                    <a:pt x="1295" y="413"/>
                  </a:lnTo>
                  <a:lnTo>
                    <a:pt x="1342" y="301"/>
                  </a:lnTo>
                  <a:lnTo>
                    <a:pt x="1400" y="195"/>
                  </a:lnTo>
                  <a:lnTo>
                    <a:pt x="1462" y="109"/>
                  </a:lnTo>
                  <a:lnTo>
                    <a:pt x="1492" y="77"/>
                  </a:lnTo>
                  <a:lnTo>
                    <a:pt x="1515" y="54"/>
                  </a:lnTo>
                  <a:lnTo>
                    <a:pt x="1554" y="23"/>
                  </a:lnTo>
                  <a:lnTo>
                    <a:pt x="1587" y="7"/>
                  </a:lnTo>
                  <a:lnTo>
                    <a:pt x="1626" y="0"/>
                  </a:lnTo>
                  <a:lnTo>
                    <a:pt x="1650" y="0"/>
                  </a:lnTo>
                  <a:lnTo>
                    <a:pt x="1672" y="0"/>
                  </a:lnTo>
                  <a:lnTo>
                    <a:pt x="1708" y="5"/>
                  </a:lnTo>
                  <a:lnTo>
                    <a:pt x="1740" y="17"/>
                  </a:lnTo>
                  <a:lnTo>
                    <a:pt x="1770" y="37"/>
                  </a:lnTo>
                  <a:lnTo>
                    <a:pt x="1787" y="51"/>
                  </a:lnTo>
                  <a:lnTo>
                    <a:pt x="1806" y="69"/>
                  </a:lnTo>
                  <a:lnTo>
                    <a:pt x="1830" y="99"/>
                  </a:lnTo>
                  <a:lnTo>
                    <a:pt x="1843" y="138"/>
                  </a:lnTo>
                  <a:lnTo>
                    <a:pt x="1849" y="198"/>
                  </a:lnTo>
                  <a:lnTo>
                    <a:pt x="1852" y="243"/>
                  </a:lnTo>
                  <a:lnTo>
                    <a:pt x="1853" y="293"/>
                  </a:lnTo>
                  <a:lnTo>
                    <a:pt x="1849" y="387"/>
                  </a:lnTo>
                  <a:lnTo>
                    <a:pt x="1833" y="478"/>
                  </a:lnTo>
                  <a:lnTo>
                    <a:pt x="1809" y="561"/>
                  </a:lnTo>
                  <a:lnTo>
                    <a:pt x="1791" y="603"/>
                  </a:lnTo>
                  <a:lnTo>
                    <a:pt x="1768" y="663"/>
                  </a:lnTo>
                  <a:lnTo>
                    <a:pt x="1745" y="738"/>
                  </a:lnTo>
                  <a:lnTo>
                    <a:pt x="1724" y="803"/>
                  </a:lnTo>
                  <a:lnTo>
                    <a:pt x="1711" y="828"/>
                  </a:lnTo>
                  <a:lnTo>
                    <a:pt x="1695" y="864"/>
                  </a:lnTo>
                  <a:lnTo>
                    <a:pt x="1668" y="963"/>
                  </a:lnTo>
                  <a:lnTo>
                    <a:pt x="1640" y="1067"/>
                  </a:lnTo>
                  <a:lnTo>
                    <a:pt x="1626" y="1116"/>
                  </a:lnTo>
                  <a:lnTo>
                    <a:pt x="1621" y="1139"/>
                  </a:lnTo>
                  <a:lnTo>
                    <a:pt x="1619" y="1152"/>
                  </a:lnTo>
                  <a:lnTo>
                    <a:pt x="1614" y="1163"/>
                  </a:lnTo>
                  <a:lnTo>
                    <a:pt x="1603" y="1179"/>
                  </a:lnTo>
                  <a:lnTo>
                    <a:pt x="1593" y="1199"/>
                  </a:lnTo>
                  <a:lnTo>
                    <a:pt x="1573" y="1300"/>
                  </a:lnTo>
                  <a:lnTo>
                    <a:pt x="1557" y="1440"/>
                  </a:lnTo>
                  <a:lnTo>
                    <a:pt x="1551" y="1578"/>
                  </a:lnTo>
                  <a:lnTo>
                    <a:pt x="1552" y="1632"/>
                  </a:lnTo>
                  <a:lnTo>
                    <a:pt x="1554" y="1671"/>
                  </a:lnTo>
                  <a:lnTo>
                    <a:pt x="1561" y="1728"/>
                  </a:lnTo>
                  <a:lnTo>
                    <a:pt x="1574" y="1766"/>
                  </a:lnTo>
                  <a:lnTo>
                    <a:pt x="1594" y="1798"/>
                  </a:lnTo>
                  <a:lnTo>
                    <a:pt x="1609" y="1814"/>
                  </a:lnTo>
                  <a:lnTo>
                    <a:pt x="1629" y="1837"/>
                  </a:lnTo>
                  <a:lnTo>
                    <a:pt x="1657" y="1889"/>
                  </a:lnTo>
                  <a:lnTo>
                    <a:pt x="1669" y="1941"/>
                  </a:lnTo>
                  <a:lnTo>
                    <a:pt x="1663" y="1987"/>
                  </a:lnTo>
                  <a:lnTo>
                    <a:pt x="1652" y="2005"/>
                  </a:lnTo>
                  <a:lnTo>
                    <a:pt x="1643" y="2014"/>
                  </a:lnTo>
                  <a:lnTo>
                    <a:pt x="1620" y="2028"/>
                  </a:lnTo>
                  <a:lnTo>
                    <a:pt x="1571" y="2043"/>
                  </a:lnTo>
                  <a:lnTo>
                    <a:pt x="1488" y="2050"/>
                  </a:lnTo>
                  <a:lnTo>
                    <a:pt x="1401" y="2039"/>
                  </a:lnTo>
                  <a:lnTo>
                    <a:pt x="1362" y="2027"/>
                  </a:lnTo>
                  <a:lnTo>
                    <a:pt x="1323" y="2008"/>
                  </a:lnTo>
                  <a:lnTo>
                    <a:pt x="1243" y="1949"/>
                  </a:lnTo>
                  <a:lnTo>
                    <a:pt x="1169" y="1873"/>
                  </a:lnTo>
                  <a:lnTo>
                    <a:pt x="1129" y="1817"/>
                  </a:lnTo>
                  <a:lnTo>
                    <a:pt x="1112" y="1781"/>
                  </a:lnTo>
                  <a:lnTo>
                    <a:pt x="1107" y="1765"/>
                  </a:lnTo>
                  <a:lnTo>
                    <a:pt x="1102" y="1742"/>
                  </a:lnTo>
                  <a:lnTo>
                    <a:pt x="1086" y="1717"/>
                  </a:lnTo>
                  <a:lnTo>
                    <a:pt x="1067" y="1719"/>
                  </a:lnTo>
                  <a:lnTo>
                    <a:pt x="1050" y="1745"/>
                  </a:lnTo>
                  <a:lnTo>
                    <a:pt x="1043" y="1768"/>
                  </a:lnTo>
                  <a:lnTo>
                    <a:pt x="1034" y="1797"/>
                  </a:lnTo>
                  <a:lnTo>
                    <a:pt x="995" y="1883"/>
                  </a:lnTo>
                  <a:lnTo>
                    <a:pt x="946" y="1980"/>
                  </a:lnTo>
                  <a:lnTo>
                    <a:pt x="900" y="2057"/>
                  </a:lnTo>
                  <a:lnTo>
                    <a:pt x="883" y="2079"/>
                  </a:lnTo>
                  <a:lnTo>
                    <a:pt x="854" y="2115"/>
                  </a:lnTo>
                  <a:lnTo>
                    <a:pt x="831" y="2157"/>
                  </a:lnTo>
                  <a:lnTo>
                    <a:pt x="819" y="2174"/>
                  </a:lnTo>
                  <a:lnTo>
                    <a:pt x="786" y="2207"/>
                  </a:lnTo>
                  <a:lnTo>
                    <a:pt x="769" y="2216"/>
                  </a:lnTo>
                  <a:lnTo>
                    <a:pt x="724" y="2237"/>
                  </a:lnTo>
                  <a:lnTo>
                    <a:pt x="667" y="2269"/>
                  </a:lnTo>
                  <a:lnTo>
                    <a:pt x="638" y="2282"/>
                  </a:lnTo>
                  <a:lnTo>
                    <a:pt x="551" y="2298"/>
                  </a:lnTo>
                  <a:lnTo>
                    <a:pt x="448" y="2303"/>
                  </a:lnTo>
                  <a:lnTo>
                    <a:pt x="350" y="2298"/>
                  </a:lnTo>
                  <a:lnTo>
                    <a:pt x="312" y="2289"/>
                  </a:lnTo>
                  <a:close/>
                </a:path>
              </a:pathLst>
            </a:custGeom>
            <a:solidFill>
              <a:srgbClr val="C00000"/>
            </a:solidFill>
            <a:ln>
              <a:noFill/>
            </a:ln>
          </p:spPr>
          <p:txBody>
            <a:bodyPr vert="horz" wrap="square" lIns="91440" tIns="45720" rIns="91440" bIns="45720" numCol="1" anchor="t" anchorCtr="0" compatLnSpc="1">
              <a:prstTxWarp prst="textNoShape">
                <a:avLst/>
              </a:prstTxWarp>
            </a:bodyPr>
            <a:lstStyle/>
            <a:p>
              <a:endParaRPr lang="es-PE"/>
            </a:p>
          </p:txBody>
        </p:sp>
        <p:sp>
          <p:nvSpPr>
            <p:cNvPr id="21" name="Freeform 17"/>
            <p:cNvSpPr>
              <a:spLocks/>
            </p:cNvSpPr>
            <p:nvPr/>
          </p:nvSpPr>
          <p:spPr bwMode="auto">
            <a:xfrm>
              <a:off x="6133421" y="3263445"/>
              <a:ext cx="989013" cy="1298575"/>
            </a:xfrm>
            <a:custGeom>
              <a:avLst/>
              <a:gdLst>
                <a:gd name="T0" fmla="*/ 290 w 1871"/>
                <a:gd name="T1" fmla="*/ 2382 h 2454"/>
                <a:gd name="T2" fmla="*/ 107 w 1871"/>
                <a:gd name="T3" fmla="*/ 2216 h 2454"/>
                <a:gd name="T4" fmla="*/ 19 w 1871"/>
                <a:gd name="T5" fmla="*/ 1999 h 2454"/>
                <a:gd name="T6" fmla="*/ 25 w 1871"/>
                <a:gd name="T7" fmla="*/ 1298 h 2454"/>
                <a:gd name="T8" fmla="*/ 62 w 1871"/>
                <a:gd name="T9" fmla="*/ 1151 h 2454"/>
                <a:gd name="T10" fmla="*/ 118 w 1871"/>
                <a:gd name="T11" fmla="*/ 935 h 2454"/>
                <a:gd name="T12" fmla="*/ 178 w 1871"/>
                <a:gd name="T13" fmla="*/ 738 h 2454"/>
                <a:gd name="T14" fmla="*/ 270 w 1871"/>
                <a:gd name="T15" fmla="*/ 491 h 2454"/>
                <a:gd name="T16" fmla="*/ 453 w 1871"/>
                <a:gd name="T17" fmla="*/ 311 h 2454"/>
                <a:gd name="T18" fmla="*/ 578 w 1871"/>
                <a:gd name="T19" fmla="*/ 306 h 2454"/>
                <a:gd name="T20" fmla="*/ 741 w 1871"/>
                <a:gd name="T21" fmla="*/ 489 h 2454"/>
                <a:gd name="T22" fmla="*/ 739 w 1871"/>
                <a:gd name="T23" fmla="*/ 745 h 2454"/>
                <a:gd name="T24" fmla="*/ 712 w 1871"/>
                <a:gd name="T25" fmla="*/ 820 h 2454"/>
                <a:gd name="T26" fmla="*/ 676 w 1871"/>
                <a:gd name="T27" fmla="*/ 998 h 2454"/>
                <a:gd name="T28" fmla="*/ 660 w 1871"/>
                <a:gd name="T29" fmla="*/ 1151 h 2454"/>
                <a:gd name="T30" fmla="*/ 705 w 1871"/>
                <a:gd name="T31" fmla="*/ 1013 h 2454"/>
                <a:gd name="T32" fmla="*/ 723 w 1871"/>
                <a:gd name="T33" fmla="*/ 994 h 2454"/>
                <a:gd name="T34" fmla="*/ 826 w 1871"/>
                <a:gd name="T35" fmla="*/ 745 h 2454"/>
                <a:gd name="T36" fmla="*/ 1046 w 1871"/>
                <a:gd name="T37" fmla="*/ 342 h 2454"/>
                <a:gd name="T38" fmla="*/ 1340 w 1871"/>
                <a:gd name="T39" fmla="*/ 52 h 2454"/>
                <a:gd name="T40" fmla="*/ 1518 w 1871"/>
                <a:gd name="T41" fmla="*/ 0 h 2454"/>
                <a:gd name="T42" fmla="*/ 1694 w 1871"/>
                <a:gd name="T43" fmla="*/ 15 h 2454"/>
                <a:gd name="T44" fmla="*/ 1827 w 1871"/>
                <a:gd name="T45" fmla="*/ 129 h 2454"/>
                <a:gd name="T46" fmla="*/ 1867 w 1871"/>
                <a:gd name="T47" fmla="*/ 366 h 2454"/>
                <a:gd name="T48" fmla="*/ 1812 w 1871"/>
                <a:gd name="T49" fmla="*/ 576 h 2454"/>
                <a:gd name="T50" fmla="*/ 1734 w 1871"/>
                <a:gd name="T51" fmla="*/ 826 h 2454"/>
                <a:gd name="T52" fmla="*/ 1682 w 1871"/>
                <a:gd name="T53" fmla="*/ 998 h 2454"/>
                <a:gd name="T54" fmla="*/ 1629 w 1871"/>
                <a:gd name="T55" fmla="*/ 1186 h 2454"/>
                <a:gd name="T56" fmla="*/ 1583 w 1871"/>
                <a:gd name="T57" fmla="*/ 1586 h 2454"/>
                <a:gd name="T58" fmla="*/ 1655 w 1871"/>
                <a:gd name="T59" fmla="*/ 1854 h 2454"/>
                <a:gd name="T60" fmla="*/ 1740 w 1871"/>
                <a:gd name="T61" fmla="*/ 1950 h 2454"/>
                <a:gd name="T62" fmla="*/ 1720 w 1871"/>
                <a:gd name="T63" fmla="*/ 2060 h 2454"/>
                <a:gd name="T64" fmla="*/ 1671 w 1871"/>
                <a:gd name="T65" fmla="*/ 2077 h 2454"/>
                <a:gd name="T66" fmla="*/ 1600 w 1871"/>
                <a:gd name="T67" fmla="*/ 2113 h 2454"/>
                <a:gd name="T68" fmla="*/ 1396 w 1871"/>
                <a:gd name="T69" fmla="*/ 2074 h 2454"/>
                <a:gd name="T70" fmla="*/ 1304 w 1871"/>
                <a:gd name="T71" fmla="*/ 2015 h 2454"/>
                <a:gd name="T72" fmla="*/ 1157 w 1871"/>
                <a:gd name="T73" fmla="*/ 1844 h 2454"/>
                <a:gd name="T74" fmla="*/ 1109 w 1871"/>
                <a:gd name="T75" fmla="*/ 1653 h 2454"/>
                <a:gd name="T76" fmla="*/ 1138 w 1871"/>
                <a:gd name="T77" fmla="*/ 922 h 2454"/>
                <a:gd name="T78" fmla="*/ 1214 w 1871"/>
                <a:gd name="T79" fmla="*/ 647 h 2454"/>
                <a:gd name="T80" fmla="*/ 1269 w 1871"/>
                <a:gd name="T81" fmla="*/ 489 h 2454"/>
                <a:gd name="T82" fmla="*/ 1268 w 1871"/>
                <a:gd name="T83" fmla="*/ 441 h 2454"/>
                <a:gd name="T84" fmla="*/ 1299 w 1871"/>
                <a:gd name="T85" fmla="*/ 396 h 2454"/>
                <a:gd name="T86" fmla="*/ 1261 w 1871"/>
                <a:gd name="T87" fmla="*/ 368 h 2454"/>
                <a:gd name="T88" fmla="*/ 1214 w 1871"/>
                <a:gd name="T89" fmla="*/ 441 h 2454"/>
                <a:gd name="T90" fmla="*/ 1020 w 1871"/>
                <a:gd name="T91" fmla="*/ 781 h 2454"/>
                <a:gd name="T92" fmla="*/ 947 w 1871"/>
                <a:gd name="T93" fmla="*/ 935 h 2454"/>
                <a:gd name="T94" fmla="*/ 879 w 1871"/>
                <a:gd name="T95" fmla="*/ 1075 h 2454"/>
                <a:gd name="T96" fmla="*/ 837 w 1871"/>
                <a:gd name="T97" fmla="*/ 1196 h 2454"/>
                <a:gd name="T98" fmla="*/ 764 w 1871"/>
                <a:gd name="T99" fmla="*/ 1377 h 2454"/>
                <a:gd name="T100" fmla="*/ 716 w 1871"/>
                <a:gd name="T101" fmla="*/ 1497 h 2454"/>
                <a:gd name="T102" fmla="*/ 709 w 1871"/>
                <a:gd name="T103" fmla="*/ 1558 h 2454"/>
                <a:gd name="T104" fmla="*/ 656 w 1871"/>
                <a:gd name="T105" fmla="*/ 1736 h 2454"/>
                <a:gd name="T106" fmla="*/ 602 w 1871"/>
                <a:gd name="T107" fmla="*/ 1920 h 2454"/>
                <a:gd name="T108" fmla="*/ 604 w 1871"/>
                <a:gd name="T109" fmla="*/ 2160 h 2454"/>
                <a:gd name="T110" fmla="*/ 666 w 1871"/>
                <a:gd name="T111" fmla="*/ 2254 h 2454"/>
                <a:gd name="T112" fmla="*/ 654 w 1871"/>
                <a:gd name="T113" fmla="*/ 2378 h 2454"/>
                <a:gd name="T114" fmla="*/ 576 w 1871"/>
                <a:gd name="T115" fmla="*/ 2432 h 2454"/>
                <a:gd name="T116" fmla="*/ 480 w 1871"/>
                <a:gd name="T117" fmla="*/ 2454 h 24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871" h="2454">
                  <a:moveTo>
                    <a:pt x="422" y="2441"/>
                  </a:moveTo>
                  <a:lnTo>
                    <a:pt x="388" y="2421"/>
                  </a:lnTo>
                  <a:lnTo>
                    <a:pt x="316" y="2392"/>
                  </a:lnTo>
                  <a:lnTo>
                    <a:pt x="290" y="2382"/>
                  </a:lnTo>
                  <a:lnTo>
                    <a:pt x="239" y="2353"/>
                  </a:lnTo>
                  <a:lnTo>
                    <a:pt x="191" y="2314"/>
                  </a:lnTo>
                  <a:lnTo>
                    <a:pt x="147" y="2268"/>
                  </a:lnTo>
                  <a:lnTo>
                    <a:pt x="107" y="2216"/>
                  </a:lnTo>
                  <a:lnTo>
                    <a:pt x="74" y="2157"/>
                  </a:lnTo>
                  <a:lnTo>
                    <a:pt x="46" y="2096"/>
                  </a:lnTo>
                  <a:lnTo>
                    <a:pt x="25" y="2031"/>
                  </a:lnTo>
                  <a:lnTo>
                    <a:pt x="19" y="1999"/>
                  </a:lnTo>
                  <a:lnTo>
                    <a:pt x="8" y="1918"/>
                  </a:lnTo>
                  <a:lnTo>
                    <a:pt x="0" y="1695"/>
                  </a:lnTo>
                  <a:lnTo>
                    <a:pt x="9" y="1452"/>
                  </a:lnTo>
                  <a:lnTo>
                    <a:pt x="25" y="1298"/>
                  </a:lnTo>
                  <a:lnTo>
                    <a:pt x="39" y="1222"/>
                  </a:lnTo>
                  <a:lnTo>
                    <a:pt x="48" y="1196"/>
                  </a:lnTo>
                  <a:lnTo>
                    <a:pt x="58" y="1171"/>
                  </a:lnTo>
                  <a:lnTo>
                    <a:pt x="62" y="1151"/>
                  </a:lnTo>
                  <a:lnTo>
                    <a:pt x="65" y="1131"/>
                  </a:lnTo>
                  <a:lnTo>
                    <a:pt x="75" y="1106"/>
                  </a:lnTo>
                  <a:lnTo>
                    <a:pt x="91" y="1053"/>
                  </a:lnTo>
                  <a:lnTo>
                    <a:pt x="118" y="935"/>
                  </a:lnTo>
                  <a:lnTo>
                    <a:pt x="130" y="876"/>
                  </a:lnTo>
                  <a:lnTo>
                    <a:pt x="156" y="788"/>
                  </a:lnTo>
                  <a:lnTo>
                    <a:pt x="163" y="772"/>
                  </a:lnTo>
                  <a:lnTo>
                    <a:pt x="178" y="738"/>
                  </a:lnTo>
                  <a:lnTo>
                    <a:pt x="199" y="664"/>
                  </a:lnTo>
                  <a:lnTo>
                    <a:pt x="209" y="628"/>
                  </a:lnTo>
                  <a:lnTo>
                    <a:pt x="235" y="556"/>
                  </a:lnTo>
                  <a:lnTo>
                    <a:pt x="270" y="491"/>
                  </a:lnTo>
                  <a:lnTo>
                    <a:pt x="310" y="432"/>
                  </a:lnTo>
                  <a:lnTo>
                    <a:pt x="355" y="382"/>
                  </a:lnTo>
                  <a:lnTo>
                    <a:pt x="404" y="340"/>
                  </a:lnTo>
                  <a:lnTo>
                    <a:pt x="453" y="311"/>
                  </a:lnTo>
                  <a:lnTo>
                    <a:pt x="500" y="297"/>
                  </a:lnTo>
                  <a:lnTo>
                    <a:pt x="525" y="296"/>
                  </a:lnTo>
                  <a:lnTo>
                    <a:pt x="542" y="297"/>
                  </a:lnTo>
                  <a:lnTo>
                    <a:pt x="578" y="306"/>
                  </a:lnTo>
                  <a:lnTo>
                    <a:pt x="631" y="333"/>
                  </a:lnTo>
                  <a:lnTo>
                    <a:pt x="692" y="394"/>
                  </a:lnTo>
                  <a:lnTo>
                    <a:pt x="726" y="450"/>
                  </a:lnTo>
                  <a:lnTo>
                    <a:pt x="741" y="489"/>
                  </a:lnTo>
                  <a:lnTo>
                    <a:pt x="745" y="510"/>
                  </a:lnTo>
                  <a:lnTo>
                    <a:pt x="748" y="548"/>
                  </a:lnTo>
                  <a:lnTo>
                    <a:pt x="748" y="646"/>
                  </a:lnTo>
                  <a:lnTo>
                    <a:pt x="739" y="745"/>
                  </a:lnTo>
                  <a:lnTo>
                    <a:pt x="729" y="797"/>
                  </a:lnTo>
                  <a:lnTo>
                    <a:pt x="722" y="815"/>
                  </a:lnTo>
                  <a:lnTo>
                    <a:pt x="718" y="818"/>
                  </a:lnTo>
                  <a:lnTo>
                    <a:pt x="712" y="820"/>
                  </a:lnTo>
                  <a:lnTo>
                    <a:pt x="703" y="837"/>
                  </a:lnTo>
                  <a:lnTo>
                    <a:pt x="703" y="850"/>
                  </a:lnTo>
                  <a:lnTo>
                    <a:pt x="696" y="899"/>
                  </a:lnTo>
                  <a:lnTo>
                    <a:pt x="676" y="998"/>
                  </a:lnTo>
                  <a:lnTo>
                    <a:pt x="656" y="1096"/>
                  </a:lnTo>
                  <a:lnTo>
                    <a:pt x="651" y="1151"/>
                  </a:lnTo>
                  <a:lnTo>
                    <a:pt x="651" y="1187"/>
                  </a:lnTo>
                  <a:lnTo>
                    <a:pt x="660" y="1151"/>
                  </a:lnTo>
                  <a:lnTo>
                    <a:pt x="672" y="1114"/>
                  </a:lnTo>
                  <a:lnTo>
                    <a:pt x="689" y="1070"/>
                  </a:lnTo>
                  <a:lnTo>
                    <a:pt x="703" y="1031"/>
                  </a:lnTo>
                  <a:lnTo>
                    <a:pt x="705" y="1013"/>
                  </a:lnTo>
                  <a:lnTo>
                    <a:pt x="705" y="1006"/>
                  </a:lnTo>
                  <a:lnTo>
                    <a:pt x="710" y="998"/>
                  </a:lnTo>
                  <a:lnTo>
                    <a:pt x="716" y="998"/>
                  </a:lnTo>
                  <a:lnTo>
                    <a:pt x="723" y="994"/>
                  </a:lnTo>
                  <a:lnTo>
                    <a:pt x="744" y="952"/>
                  </a:lnTo>
                  <a:lnTo>
                    <a:pt x="754" y="922"/>
                  </a:lnTo>
                  <a:lnTo>
                    <a:pt x="767" y="882"/>
                  </a:lnTo>
                  <a:lnTo>
                    <a:pt x="826" y="745"/>
                  </a:lnTo>
                  <a:lnTo>
                    <a:pt x="902" y="585"/>
                  </a:lnTo>
                  <a:lnTo>
                    <a:pt x="973" y="451"/>
                  </a:lnTo>
                  <a:lnTo>
                    <a:pt x="997" y="412"/>
                  </a:lnTo>
                  <a:lnTo>
                    <a:pt x="1046" y="342"/>
                  </a:lnTo>
                  <a:lnTo>
                    <a:pt x="1134" y="229"/>
                  </a:lnTo>
                  <a:lnTo>
                    <a:pt x="1213" y="146"/>
                  </a:lnTo>
                  <a:lnTo>
                    <a:pt x="1295" y="80"/>
                  </a:lnTo>
                  <a:lnTo>
                    <a:pt x="1340" y="52"/>
                  </a:lnTo>
                  <a:lnTo>
                    <a:pt x="1367" y="36"/>
                  </a:lnTo>
                  <a:lnTo>
                    <a:pt x="1413" y="16"/>
                  </a:lnTo>
                  <a:lnTo>
                    <a:pt x="1461" y="5"/>
                  </a:lnTo>
                  <a:lnTo>
                    <a:pt x="1518" y="0"/>
                  </a:lnTo>
                  <a:lnTo>
                    <a:pt x="1556" y="0"/>
                  </a:lnTo>
                  <a:lnTo>
                    <a:pt x="1596" y="0"/>
                  </a:lnTo>
                  <a:lnTo>
                    <a:pt x="1652" y="5"/>
                  </a:lnTo>
                  <a:lnTo>
                    <a:pt x="1694" y="15"/>
                  </a:lnTo>
                  <a:lnTo>
                    <a:pt x="1730" y="36"/>
                  </a:lnTo>
                  <a:lnTo>
                    <a:pt x="1753" y="52"/>
                  </a:lnTo>
                  <a:lnTo>
                    <a:pt x="1782" y="77"/>
                  </a:lnTo>
                  <a:lnTo>
                    <a:pt x="1827" y="129"/>
                  </a:lnTo>
                  <a:lnTo>
                    <a:pt x="1855" y="188"/>
                  </a:lnTo>
                  <a:lnTo>
                    <a:pt x="1870" y="257"/>
                  </a:lnTo>
                  <a:lnTo>
                    <a:pt x="1871" y="294"/>
                  </a:lnTo>
                  <a:lnTo>
                    <a:pt x="1867" y="366"/>
                  </a:lnTo>
                  <a:lnTo>
                    <a:pt x="1844" y="496"/>
                  </a:lnTo>
                  <a:lnTo>
                    <a:pt x="1827" y="555"/>
                  </a:lnTo>
                  <a:lnTo>
                    <a:pt x="1819" y="566"/>
                  </a:lnTo>
                  <a:lnTo>
                    <a:pt x="1812" y="576"/>
                  </a:lnTo>
                  <a:lnTo>
                    <a:pt x="1786" y="650"/>
                  </a:lnTo>
                  <a:lnTo>
                    <a:pt x="1772" y="700"/>
                  </a:lnTo>
                  <a:lnTo>
                    <a:pt x="1759" y="752"/>
                  </a:lnTo>
                  <a:lnTo>
                    <a:pt x="1734" y="826"/>
                  </a:lnTo>
                  <a:lnTo>
                    <a:pt x="1727" y="836"/>
                  </a:lnTo>
                  <a:lnTo>
                    <a:pt x="1720" y="849"/>
                  </a:lnTo>
                  <a:lnTo>
                    <a:pt x="1695" y="936"/>
                  </a:lnTo>
                  <a:lnTo>
                    <a:pt x="1682" y="998"/>
                  </a:lnTo>
                  <a:lnTo>
                    <a:pt x="1670" y="1060"/>
                  </a:lnTo>
                  <a:lnTo>
                    <a:pt x="1645" y="1154"/>
                  </a:lnTo>
                  <a:lnTo>
                    <a:pt x="1638" y="1168"/>
                  </a:lnTo>
                  <a:lnTo>
                    <a:pt x="1629" y="1186"/>
                  </a:lnTo>
                  <a:lnTo>
                    <a:pt x="1612" y="1276"/>
                  </a:lnTo>
                  <a:lnTo>
                    <a:pt x="1595" y="1403"/>
                  </a:lnTo>
                  <a:lnTo>
                    <a:pt x="1585" y="1533"/>
                  </a:lnTo>
                  <a:lnTo>
                    <a:pt x="1583" y="1586"/>
                  </a:lnTo>
                  <a:lnTo>
                    <a:pt x="1585" y="1643"/>
                  </a:lnTo>
                  <a:lnTo>
                    <a:pt x="1595" y="1736"/>
                  </a:lnTo>
                  <a:lnTo>
                    <a:pt x="1618" y="1805"/>
                  </a:lnTo>
                  <a:lnTo>
                    <a:pt x="1655" y="1854"/>
                  </a:lnTo>
                  <a:lnTo>
                    <a:pt x="1681" y="1871"/>
                  </a:lnTo>
                  <a:lnTo>
                    <a:pt x="1708" y="1891"/>
                  </a:lnTo>
                  <a:lnTo>
                    <a:pt x="1731" y="1924"/>
                  </a:lnTo>
                  <a:lnTo>
                    <a:pt x="1740" y="1950"/>
                  </a:lnTo>
                  <a:lnTo>
                    <a:pt x="1742" y="1966"/>
                  </a:lnTo>
                  <a:lnTo>
                    <a:pt x="1743" y="1988"/>
                  </a:lnTo>
                  <a:lnTo>
                    <a:pt x="1736" y="2029"/>
                  </a:lnTo>
                  <a:lnTo>
                    <a:pt x="1720" y="2060"/>
                  </a:lnTo>
                  <a:lnTo>
                    <a:pt x="1701" y="2072"/>
                  </a:lnTo>
                  <a:lnTo>
                    <a:pt x="1691" y="2068"/>
                  </a:lnTo>
                  <a:lnTo>
                    <a:pt x="1685" y="2067"/>
                  </a:lnTo>
                  <a:lnTo>
                    <a:pt x="1671" y="2077"/>
                  </a:lnTo>
                  <a:lnTo>
                    <a:pt x="1667" y="2088"/>
                  </a:lnTo>
                  <a:lnTo>
                    <a:pt x="1662" y="2097"/>
                  </a:lnTo>
                  <a:lnTo>
                    <a:pt x="1648" y="2108"/>
                  </a:lnTo>
                  <a:lnTo>
                    <a:pt x="1600" y="2113"/>
                  </a:lnTo>
                  <a:lnTo>
                    <a:pt x="1534" y="2108"/>
                  </a:lnTo>
                  <a:lnTo>
                    <a:pt x="1484" y="2103"/>
                  </a:lnTo>
                  <a:lnTo>
                    <a:pt x="1410" y="2085"/>
                  </a:lnTo>
                  <a:lnTo>
                    <a:pt x="1396" y="2074"/>
                  </a:lnTo>
                  <a:lnTo>
                    <a:pt x="1386" y="2064"/>
                  </a:lnTo>
                  <a:lnTo>
                    <a:pt x="1348" y="2038"/>
                  </a:lnTo>
                  <a:lnTo>
                    <a:pt x="1328" y="2029"/>
                  </a:lnTo>
                  <a:lnTo>
                    <a:pt x="1304" y="2015"/>
                  </a:lnTo>
                  <a:lnTo>
                    <a:pt x="1239" y="1954"/>
                  </a:lnTo>
                  <a:lnTo>
                    <a:pt x="1209" y="1917"/>
                  </a:lnTo>
                  <a:lnTo>
                    <a:pt x="1187" y="1891"/>
                  </a:lnTo>
                  <a:lnTo>
                    <a:pt x="1157" y="1844"/>
                  </a:lnTo>
                  <a:lnTo>
                    <a:pt x="1137" y="1793"/>
                  </a:lnTo>
                  <a:lnTo>
                    <a:pt x="1122" y="1734"/>
                  </a:lnTo>
                  <a:lnTo>
                    <a:pt x="1115" y="1697"/>
                  </a:lnTo>
                  <a:lnTo>
                    <a:pt x="1109" y="1653"/>
                  </a:lnTo>
                  <a:lnTo>
                    <a:pt x="1102" y="1548"/>
                  </a:lnTo>
                  <a:lnTo>
                    <a:pt x="1101" y="1360"/>
                  </a:lnTo>
                  <a:lnTo>
                    <a:pt x="1117" y="1092"/>
                  </a:lnTo>
                  <a:lnTo>
                    <a:pt x="1138" y="922"/>
                  </a:lnTo>
                  <a:lnTo>
                    <a:pt x="1157" y="837"/>
                  </a:lnTo>
                  <a:lnTo>
                    <a:pt x="1167" y="808"/>
                  </a:lnTo>
                  <a:lnTo>
                    <a:pt x="1186" y="754"/>
                  </a:lnTo>
                  <a:lnTo>
                    <a:pt x="1214" y="647"/>
                  </a:lnTo>
                  <a:lnTo>
                    <a:pt x="1227" y="595"/>
                  </a:lnTo>
                  <a:lnTo>
                    <a:pt x="1253" y="516"/>
                  </a:lnTo>
                  <a:lnTo>
                    <a:pt x="1263" y="499"/>
                  </a:lnTo>
                  <a:lnTo>
                    <a:pt x="1269" y="489"/>
                  </a:lnTo>
                  <a:lnTo>
                    <a:pt x="1272" y="467"/>
                  </a:lnTo>
                  <a:lnTo>
                    <a:pt x="1268" y="458"/>
                  </a:lnTo>
                  <a:lnTo>
                    <a:pt x="1265" y="451"/>
                  </a:lnTo>
                  <a:lnTo>
                    <a:pt x="1268" y="441"/>
                  </a:lnTo>
                  <a:lnTo>
                    <a:pt x="1273" y="440"/>
                  </a:lnTo>
                  <a:lnTo>
                    <a:pt x="1281" y="437"/>
                  </a:lnTo>
                  <a:lnTo>
                    <a:pt x="1295" y="414"/>
                  </a:lnTo>
                  <a:lnTo>
                    <a:pt x="1299" y="396"/>
                  </a:lnTo>
                  <a:lnTo>
                    <a:pt x="1302" y="375"/>
                  </a:lnTo>
                  <a:lnTo>
                    <a:pt x="1291" y="360"/>
                  </a:lnTo>
                  <a:lnTo>
                    <a:pt x="1273" y="365"/>
                  </a:lnTo>
                  <a:lnTo>
                    <a:pt x="1261" y="368"/>
                  </a:lnTo>
                  <a:lnTo>
                    <a:pt x="1243" y="382"/>
                  </a:lnTo>
                  <a:lnTo>
                    <a:pt x="1242" y="391"/>
                  </a:lnTo>
                  <a:lnTo>
                    <a:pt x="1239" y="401"/>
                  </a:lnTo>
                  <a:lnTo>
                    <a:pt x="1214" y="441"/>
                  </a:lnTo>
                  <a:lnTo>
                    <a:pt x="1199" y="466"/>
                  </a:lnTo>
                  <a:lnTo>
                    <a:pt x="1150" y="540"/>
                  </a:lnTo>
                  <a:lnTo>
                    <a:pt x="1081" y="664"/>
                  </a:lnTo>
                  <a:lnTo>
                    <a:pt x="1020" y="781"/>
                  </a:lnTo>
                  <a:lnTo>
                    <a:pt x="991" y="828"/>
                  </a:lnTo>
                  <a:lnTo>
                    <a:pt x="983" y="841"/>
                  </a:lnTo>
                  <a:lnTo>
                    <a:pt x="958" y="899"/>
                  </a:lnTo>
                  <a:lnTo>
                    <a:pt x="947" y="935"/>
                  </a:lnTo>
                  <a:lnTo>
                    <a:pt x="932" y="971"/>
                  </a:lnTo>
                  <a:lnTo>
                    <a:pt x="902" y="1037"/>
                  </a:lnTo>
                  <a:lnTo>
                    <a:pt x="890" y="1057"/>
                  </a:lnTo>
                  <a:lnTo>
                    <a:pt x="879" y="1075"/>
                  </a:lnTo>
                  <a:lnTo>
                    <a:pt x="864" y="1109"/>
                  </a:lnTo>
                  <a:lnTo>
                    <a:pt x="863" y="1121"/>
                  </a:lnTo>
                  <a:lnTo>
                    <a:pt x="860" y="1135"/>
                  </a:lnTo>
                  <a:lnTo>
                    <a:pt x="837" y="1196"/>
                  </a:lnTo>
                  <a:lnTo>
                    <a:pt x="820" y="1232"/>
                  </a:lnTo>
                  <a:lnTo>
                    <a:pt x="803" y="1269"/>
                  </a:lnTo>
                  <a:lnTo>
                    <a:pt x="772" y="1348"/>
                  </a:lnTo>
                  <a:lnTo>
                    <a:pt x="764" y="1377"/>
                  </a:lnTo>
                  <a:lnTo>
                    <a:pt x="758" y="1404"/>
                  </a:lnTo>
                  <a:lnTo>
                    <a:pt x="738" y="1459"/>
                  </a:lnTo>
                  <a:lnTo>
                    <a:pt x="726" y="1481"/>
                  </a:lnTo>
                  <a:lnTo>
                    <a:pt x="716" y="1497"/>
                  </a:lnTo>
                  <a:lnTo>
                    <a:pt x="708" y="1528"/>
                  </a:lnTo>
                  <a:lnTo>
                    <a:pt x="710" y="1538"/>
                  </a:lnTo>
                  <a:lnTo>
                    <a:pt x="713" y="1544"/>
                  </a:lnTo>
                  <a:lnTo>
                    <a:pt x="709" y="1558"/>
                  </a:lnTo>
                  <a:lnTo>
                    <a:pt x="703" y="1563"/>
                  </a:lnTo>
                  <a:lnTo>
                    <a:pt x="696" y="1576"/>
                  </a:lnTo>
                  <a:lnTo>
                    <a:pt x="670" y="1669"/>
                  </a:lnTo>
                  <a:lnTo>
                    <a:pt x="656" y="1736"/>
                  </a:lnTo>
                  <a:lnTo>
                    <a:pt x="643" y="1802"/>
                  </a:lnTo>
                  <a:lnTo>
                    <a:pt x="617" y="1895"/>
                  </a:lnTo>
                  <a:lnTo>
                    <a:pt x="610" y="1908"/>
                  </a:lnTo>
                  <a:lnTo>
                    <a:pt x="602" y="1920"/>
                  </a:lnTo>
                  <a:lnTo>
                    <a:pt x="594" y="1990"/>
                  </a:lnTo>
                  <a:lnTo>
                    <a:pt x="594" y="2039"/>
                  </a:lnTo>
                  <a:lnTo>
                    <a:pt x="594" y="2103"/>
                  </a:lnTo>
                  <a:lnTo>
                    <a:pt x="604" y="2160"/>
                  </a:lnTo>
                  <a:lnTo>
                    <a:pt x="618" y="2186"/>
                  </a:lnTo>
                  <a:lnTo>
                    <a:pt x="627" y="2196"/>
                  </a:lnTo>
                  <a:lnTo>
                    <a:pt x="641" y="2214"/>
                  </a:lnTo>
                  <a:lnTo>
                    <a:pt x="666" y="2254"/>
                  </a:lnTo>
                  <a:lnTo>
                    <a:pt x="673" y="2270"/>
                  </a:lnTo>
                  <a:lnTo>
                    <a:pt x="677" y="2290"/>
                  </a:lnTo>
                  <a:lnTo>
                    <a:pt x="672" y="2335"/>
                  </a:lnTo>
                  <a:lnTo>
                    <a:pt x="654" y="2378"/>
                  </a:lnTo>
                  <a:lnTo>
                    <a:pt x="627" y="2408"/>
                  </a:lnTo>
                  <a:lnTo>
                    <a:pt x="611" y="2414"/>
                  </a:lnTo>
                  <a:lnTo>
                    <a:pt x="597" y="2419"/>
                  </a:lnTo>
                  <a:lnTo>
                    <a:pt x="576" y="2432"/>
                  </a:lnTo>
                  <a:lnTo>
                    <a:pt x="575" y="2440"/>
                  </a:lnTo>
                  <a:lnTo>
                    <a:pt x="571" y="2447"/>
                  </a:lnTo>
                  <a:lnTo>
                    <a:pt x="533" y="2454"/>
                  </a:lnTo>
                  <a:lnTo>
                    <a:pt x="480" y="2454"/>
                  </a:lnTo>
                  <a:lnTo>
                    <a:pt x="434" y="2448"/>
                  </a:lnTo>
                  <a:lnTo>
                    <a:pt x="422" y="2441"/>
                  </a:lnTo>
                  <a:close/>
                </a:path>
              </a:pathLst>
            </a:custGeom>
            <a:solidFill>
              <a:srgbClr val="C00000"/>
            </a:solidFill>
            <a:ln>
              <a:noFill/>
            </a:ln>
          </p:spPr>
          <p:txBody>
            <a:bodyPr vert="horz" wrap="square" lIns="91440" tIns="45720" rIns="91440" bIns="45720" numCol="1" anchor="t" anchorCtr="0" compatLnSpc="1">
              <a:prstTxWarp prst="textNoShape">
                <a:avLst/>
              </a:prstTxWarp>
            </a:bodyPr>
            <a:lstStyle/>
            <a:p>
              <a:endParaRPr lang="es-PE"/>
            </a:p>
          </p:txBody>
        </p:sp>
        <p:sp>
          <p:nvSpPr>
            <p:cNvPr id="22" name="Freeform 18"/>
            <p:cNvSpPr>
              <a:spLocks noEditPoints="1"/>
            </p:cNvSpPr>
            <p:nvPr/>
          </p:nvSpPr>
          <p:spPr bwMode="auto">
            <a:xfrm>
              <a:off x="2512334" y="3496808"/>
              <a:ext cx="800100" cy="1044575"/>
            </a:xfrm>
            <a:custGeom>
              <a:avLst/>
              <a:gdLst>
                <a:gd name="T0" fmla="*/ 234 w 1512"/>
                <a:gd name="T1" fmla="*/ 1884 h 1975"/>
                <a:gd name="T2" fmla="*/ 84 w 1512"/>
                <a:gd name="T3" fmla="*/ 1729 h 1975"/>
                <a:gd name="T4" fmla="*/ 61 w 1512"/>
                <a:gd name="T5" fmla="*/ 1676 h 1975"/>
                <a:gd name="T6" fmla="*/ 29 w 1512"/>
                <a:gd name="T7" fmla="*/ 1608 h 1975"/>
                <a:gd name="T8" fmla="*/ 0 w 1512"/>
                <a:gd name="T9" fmla="*/ 1372 h 1975"/>
                <a:gd name="T10" fmla="*/ 28 w 1512"/>
                <a:gd name="T11" fmla="*/ 1116 h 1975"/>
                <a:gd name="T12" fmla="*/ 59 w 1512"/>
                <a:gd name="T13" fmla="*/ 1038 h 1975"/>
                <a:gd name="T14" fmla="*/ 101 w 1512"/>
                <a:gd name="T15" fmla="*/ 911 h 1975"/>
                <a:gd name="T16" fmla="*/ 241 w 1512"/>
                <a:gd name="T17" fmla="*/ 617 h 1975"/>
                <a:gd name="T18" fmla="*/ 304 w 1512"/>
                <a:gd name="T19" fmla="*/ 518 h 1975"/>
                <a:gd name="T20" fmla="*/ 323 w 1512"/>
                <a:gd name="T21" fmla="*/ 481 h 1975"/>
                <a:gd name="T22" fmla="*/ 359 w 1512"/>
                <a:gd name="T23" fmla="*/ 450 h 1975"/>
                <a:gd name="T24" fmla="*/ 451 w 1512"/>
                <a:gd name="T25" fmla="*/ 337 h 1975"/>
                <a:gd name="T26" fmla="*/ 676 w 1512"/>
                <a:gd name="T27" fmla="*/ 144 h 1975"/>
                <a:gd name="T28" fmla="*/ 788 w 1512"/>
                <a:gd name="T29" fmla="*/ 80 h 1975"/>
                <a:gd name="T30" fmla="*/ 854 w 1512"/>
                <a:gd name="T31" fmla="*/ 67 h 1975"/>
                <a:gd name="T32" fmla="*/ 870 w 1512"/>
                <a:gd name="T33" fmla="*/ 49 h 1975"/>
                <a:gd name="T34" fmla="*/ 1129 w 1512"/>
                <a:gd name="T35" fmla="*/ 1 h 1975"/>
                <a:gd name="T36" fmla="*/ 1289 w 1512"/>
                <a:gd name="T37" fmla="*/ 13 h 1975"/>
                <a:gd name="T38" fmla="*/ 1448 w 1512"/>
                <a:gd name="T39" fmla="*/ 122 h 1975"/>
                <a:gd name="T40" fmla="*/ 1511 w 1512"/>
                <a:gd name="T41" fmla="*/ 338 h 1975"/>
                <a:gd name="T42" fmla="*/ 1498 w 1512"/>
                <a:gd name="T43" fmla="*/ 538 h 1975"/>
                <a:gd name="T44" fmla="*/ 1419 w 1512"/>
                <a:gd name="T45" fmla="*/ 735 h 1975"/>
                <a:gd name="T46" fmla="*/ 1384 w 1512"/>
                <a:gd name="T47" fmla="*/ 805 h 1975"/>
                <a:gd name="T48" fmla="*/ 1324 w 1512"/>
                <a:gd name="T49" fmla="*/ 865 h 1975"/>
                <a:gd name="T50" fmla="*/ 1294 w 1512"/>
                <a:gd name="T51" fmla="*/ 920 h 1975"/>
                <a:gd name="T52" fmla="*/ 1187 w 1512"/>
                <a:gd name="T53" fmla="*/ 1016 h 1975"/>
                <a:gd name="T54" fmla="*/ 1085 w 1512"/>
                <a:gd name="T55" fmla="*/ 1098 h 1975"/>
                <a:gd name="T56" fmla="*/ 971 w 1512"/>
                <a:gd name="T57" fmla="*/ 1173 h 1975"/>
                <a:gd name="T58" fmla="*/ 810 w 1512"/>
                <a:gd name="T59" fmla="*/ 1235 h 1975"/>
                <a:gd name="T60" fmla="*/ 749 w 1512"/>
                <a:gd name="T61" fmla="*/ 1268 h 1975"/>
                <a:gd name="T62" fmla="*/ 490 w 1512"/>
                <a:gd name="T63" fmla="*/ 1278 h 1975"/>
                <a:gd name="T64" fmla="*/ 473 w 1512"/>
                <a:gd name="T65" fmla="*/ 1576 h 1975"/>
                <a:gd name="T66" fmla="*/ 540 w 1512"/>
                <a:gd name="T67" fmla="*/ 1742 h 1975"/>
                <a:gd name="T68" fmla="*/ 635 w 1512"/>
                <a:gd name="T69" fmla="*/ 1800 h 1975"/>
                <a:gd name="T70" fmla="*/ 710 w 1512"/>
                <a:gd name="T71" fmla="*/ 1791 h 1975"/>
                <a:gd name="T72" fmla="*/ 968 w 1512"/>
                <a:gd name="T73" fmla="*/ 1628 h 1975"/>
                <a:gd name="T74" fmla="*/ 1174 w 1512"/>
                <a:gd name="T75" fmla="*/ 1409 h 1975"/>
                <a:gd name="T76" fmla="*/ 1259 w 1512"/>
                <a:gd name="T77" fmla="*/ 1370 h 1975"/>
                <a:gd name="T78" fmla="*/ 1354 w 1512"/>
                <a:gd name="T79" fmla="*/ 1416 h 1975"/>
                <a:gd name="T80" fmla="*/ 1387 w 1512"/>
                <a:gd name="T81" fmla="*/ 1512 h 1975"/>
                <a:gd name="T82" fmla="*/ 1311 w 1512"/>
                <a:gd name="T83" fmla="*/ 1666 h 1975"/>
                <a:gd name="T84" fmla="*/ 1076 w 1512"/>
                <a:gd name="T85" fmla="*/ 1854 h 1975"/>
                <a:gd name="T86" fmla="*/ 837 w 1512"/>
                <a:gd name="T87" fmla="*/ 1955 h 1975"/>
                <a:gd name="T88" fmla="*/ 514 w 1512"/>
                <a:gd name="T89" fmla="*/ 1975 h 1975"/>
                <a:gd name="T90" fmla="*/ 749 w 1512"/>
                <a:gd name="T91" fmla="*/ 970 h 1975"/>
                <a:gd name="T92" fmla="*/ 975 w 1512"/>
                <a:gd name="T93" fmla="*/ 796 h 1975"/>
                <a:gd name="T94" fmla="*/ 1044 w 1512"/>
                <a:gd name="T95" fmla="*/ 711 h 1975"/>
                <a:gd name="T96" fmla="*/ 1067 w 1512"/>
                <a:gd name="T97" fmla="*/ 662 h 1975"/>
                <a:gd name="T98" fmla="*/ 1128 w 1512"/>
                <a:gd name="T99" fmla="*/ 537 h 1975"/>
                <a:gd name="T100" fmla="*/ 1149 w 1512"/>
                <a:gd name="T101" fmla="*/ 377 h 1975"/>
                <a:gd name="T102" fmla="*/ 1132 w 1512"/>
                <a:gd name="T103" fmla="*/ 299 h 1975"/>
                <a:gd name="T104" fmla="*/ 942 w 1512"/>
                <a:gd name="T105" fmla="*/ 423 h 1975"/>
                <a:gd name="T106" fmla="*/ 864 w 1512"/>
                <a:gd name="T107" fmla="*/ 512 h 1975"/>
                <a:gd name="T108" fmla="*/ 787 w 1512"/>
                <a:gd name="T109" fmla="*/ 630 h 1975"/>
                <a:gd name="T110" fmla="*/ 625 w 1512"/>
                <a:gd name="T111" fmla="*/ 914 h 1975"/>
                <a:gd name="T112" fmla="*/ 588 w 1512"/>
                <a:gd name="T113" fmla="*/ 993 h 1975"/>
                <a:gd name="T114" fmla="*/ 625 w 1512"/>
                <a:gd name="T115" fmla="*/ 1023 h 19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512" h="1975">
                  <a:moveTo>
                    <a:pt x="355" y="1955"/>
                  </a:moveTo>
                  <a:lnTo>
                    <a:pt x="320" y="1941"/>
                  </a:lnTo>
                  <a:lnTo>
                    <a:pt x="234" y="1884"/>
                  </a:lnTo>
                  <a:lnTo>
                    <a:pt x="149" y="1811"/>
                  </a:lnTo>
                  <a:lnTo>
                    <a:pt x="103" y="1759"/>
                  </a:lnTo>
                  <a:lnTo>
                    <a:pt x="84" y="1729"/>
                  </a:lnTo>
                  <a:lnTo>
                    <a:pt x="79" y="1717"/>
                  </a:lnTo>
                  <a:lnTo>
                    <a:pt x="75" y="1700"/>
                  </a:lnTo>
                  <a:lnTo>
                    <a:pt x="61" y="1676"/>
                  </a:lnTo>
                  <a:lnTo>
                    <a:pt x="55" y="1674"/>
                  </a:lnTo>
                  <a:lnTo>
                    <a:pt x="46" y="1667"/>
                  </a:lnTo>
                  <a:lnTo>
                    <a:pt x="29" y="1608"/>
                  </a:lnTo>
                  <a:lnTo>
                    <a:pt x="12" y="1516"/>
                  </a:lnTo>
                  <a:lnTo>
                    <a:pt x="2" y="1415"/>
                  </a:lnTo>
                  <a:lnTo>
                    <a:pt x="0" y="1372"/>
                  </a:lnTo>
                  <a:lnTo>
                    <a:pt x="2" y="1324"/>
                  </a:lnTo>
                  <a:lnTo>
                    <a:pt x="12" y="1216"/>
                  </a:lnTo>
                  <a:lnTo>
                    <a:pt x="28" y="1116"/>
                  </a:lnTo>
                  <a:lnTo>
                    <a:pt x="45" y="1051"/>
                  </a:lnTo>
                  <a:lnTo>
                    <a:pt x="52" y="1044"/>
                  </a:lnTo>
                  <a:lnTo>
                    <a:pt x="59" y="1038"/>
                  </a:lnTo>
                  <a:lnTo>
                    <a:pt x="78" y="989"/>
                  </a:lnTo>
                  <a:lnTo>
                    <a:pt x="88" y="951"/>
                  </a:lnTo>
                  <a:lnTo>
                    <a:pt x="101" y="911"/>
                  </a:lnTo>
                  <a:lnTo>
                    <a:pt x="139" y="812"/>
                  </a:lnTo>
                  <a:lnTo>
                    <a:pt x="189" y="708"/>
                  </a:lnTo>
                  <a:lnTo>
                    <a:pt x="241" y="617"/>
                  </a:lnTo>
                  <a:lnTo>
                    <a:pt x="265" y="583"/>
                  </a:lnTo>
                  <a:lnTo>
                    <a:pt x="281" y="560"/>
                  </a:lnTo>
                  <a:lnTo>
                    <a:pt x="304" y="518"/>
                  </a:lnTo>
                  <a:lnTo>
                    <a:pt x="307" y="505"/>
                  </a:lnTo>
                  <a:lnTo>
                    <a:pt x="308" y="496"/>
                  </a:lnTo>
                  <a:lnTo>
                    <a:pt x="323" y="481"/>
                  </a:lnTo>
                  <a:lnTo>
                    <a:pt x="333" y="475"/>
                  </a:lnTo>
                  <a:lnTo>
                    <a:pt x="344" y="469"/>
                  </a:lnTo>
                  <a:lnTo>
                    <a:pt x="359" y="450"/>
                  </a:lnTo>
                  <a:lnTo>
                    <a:pt x="360" y="443"/>
                  </a:lnTo>
                  <a:lnTo>
                    <a:pt x="369" y="424"/>
                  </a:lnTo>
                  <a:lnTo>
                    <a:pt x="451" y="337"/>
                  </a:lnTo>
                  <a:lnTo>
                    <a:pt x="563" y="230"/>
                  </a:lnTo>
                  <a:lnTo>
                    <a:pt x="656" y="152"/>
                  </a:lnTo>
                  <a:lnTo>
                    <a:pt x="676" y="144"/>
                  </a:lnTo>
                  <a:lnTo>
                    <a:pt x="699" y="134"/>
                  </a:lnTo>
                  <a:lnTo>
                    <a:pt x="758" y="99"/>
                  </a:lnTo>
                  <a:lnTo>
                    <a:pt x="788" y="80"/>
                  </a:lnTo>
                  <a:lnTo>
                    <a:pt x="836" y="62"/>
                  </a:lnTo>
                  <a:lnTo>
                    <a:pt x="847" y="63"/>
                  </a:lnTo>
                  <a:lnTo>
                    <a:pt x="854" y="67"/>
                  </a:lnTo>
                  <a:lnTo>
                    <a:pt x="863" y="63"/>
                  </a:lnTo>
                  <a:lnTo>
                    <a:pt x="864" y="57"/>
                  </a:lnTo>
                  <a:lnTo>
                    <a:pt x="870" y="49"/>
                  </a:lnTo>
                  <a:lnTo>
                    <a:pt x="931" y="30"/>
                  </a:lnTo>
                  <a:lnTo>
                    <a:pt x="1026" y="13"/>
                  </a:lnTo>
                  <a:lnTo>
                    <a:pt x="1129" y="1"/>
                  </a:lnTo>
                  <a:lnTo>
                    <a:pt x="1174" y="0"/>
                  </a:lnTo>
                  <a:lnTo>
                    <a:pt x="1214" y="1"/>
                  </a:lnTo>
                  <a:lnTo>
                    <a:pt x="1289" y="13"/>
                  </a:lnTo>
                  <a:lnTo>
                    <a:pt x="1351" y="37"/>
                  </a:lnTo>
                  <a:lnTo>
                    <a:pt x="1404" y="73"/>
                  </a:lnTo>
                  <a:lnTo>
                    <a:pt x="1448" y="122"/>
                  </a:lnTo>
                  <a:lnTo>
                    <a:pt x="1479" y="181"/>
                  </a:lnTo>
                  <a:lnTo>
                    <a:pt x="1501" y="255"/>
                  </a:lnTo>
                  <a:lnTo>
                    <a:pt x="1511" y="338"/>
                  </a:lnTo>
                  <a:lnTo>
                    <a:pt x="1512" y="386"/>
                  </a:lnTo>
                  <a:lnTo>
                    <a:pt x="1511" y="437"/>
                  </a:lnTo>
                  <a:lnTo>
                    <a:pt x="1498" y="538"/>
                  </a:lnTo>
                  <a:lnTo>
                    <a:pt x="1474" y="630"/>
                  </a:lnTo>
                  <a:lnTo>
                    <a:pt x="1439" y="707"/>
                  </a:lnTo>
                  <a:lnTo>
                    <a:pt x="1419" y="735"/>
                  </a:lnTo>
                  <a:lnTo>
                    <a:pt x="1394" y="773"/>
                  </a:lnTo>
                  <a:lnTo>
                    <a:pt x="1387" y="796"/>
                  </a:lnTo>
                  <a:lnTo>
                    <a:pt x="1384" y="805"/>
                  </a:lnTo>
                  <a:lnTo>
                    <a:pt x="1360" y="833"/>
                  </a:lnTo>
                  <a:lnTo>
                    <a:pt x="1341" y="849"/>
                  </a:lnTo>
                  <a:lnTo>
                    <a:pt x="1324" y="865"/>
                  </a:lnTo>
                  <a:lnTo>
                    <a:pt x="1299" y="897"/>
                  </a:lnTo>
                  <a:lnTo>
                    <a:pt x="1296" y="908"/>
                  </a:lnTo>
                  <a:lnTo>
                    <a:pt x="1294" y="920"/>
                  </a:lnTo>
                  <a:lnTo>
                    <a:pt x="1263" y="957"/>
                  </a:lnTo>
                  <a:lnTo>
                    <a:pt x="1240" y="976"/>
                  </a:lnTo>
                  <a:lnTo>
                    <a:pt x="1187" y="1016"/>
                  </a:lnTo>
                  <a:lnTo>
                    <a:pt x="1142" y="1058"/>
                  </a:lnTo>
                  <a:lnTo>
                    <a:pt x="1103" y="1088"/>
                  </a:lnTo>
                  <a:lnTo>
                    <a:pt x="1085" y="1098"/>
                  </a:lnTo>
                  <a:lnTo>
                    <a:pt x="1059" y="1110"/>
                  </a:lnTo>
                  <a:lnTo>
                    <a:pt x="1003" y="1152"/>
                  </a:lnTo>
                  <a:lnTo>
                    <a:pt x="971" y="1173"/>
                  </a:lnTo>
                  <a:lnTo>
                    <a:pt x="885" y="1213"/>
                  </a:lnTo>
                  <a:lnTo>
                    <a:pt x="844" y="1225"/>
                  </a:lnTo>
                  <a:lnTo>
                    <a:pt x="810" y="1235"/>
                  </a:lnTo>
                  <a:lnTo>
                    <a:pt x="761" y="1255"/>
                  </a:lnTo>
                  <a:lnTo>
                    <a:pt x="756" y="1264"/>
                  </a:lnTo>
                  <a:lnTo>
                    <a:pt x="749" y="1268"/>
                  </a:lnTo>
                  <a:lnTo>
                    <a:pt x="677" y="1277"/>
                  </a:lnTo>
                  <a:lnTo>
                    <a:pt x="624" y="1278"/>
                  </a:lnTo>
                  <a:lnTo>
                    <a:pt x="490" y="1278"/>
                  </a:lnTo>
                  <a:lnTo>
                    <a:pt x="477" y="1411"/>
                  </a:lnTo>
                  <a:lnTo>
                    <a:pt x="473" y="1474"/>
                  </a:lnTo>
                  <a:lnTo>
                    <a:pt x="473" y="1576"/>
                  </a:lnTo>
                  <a:lnTo>
                    <a:pt x="488" y="1654"/>
                  </a:lnTo>
                  <a:lnTo>
                    <a:pt x="519" y="1716"/>
                  </a:lnTo>
                  <a:lnTo>
                    <a:pt x="540" y="1742"/>
                  </a:lnTo>
                  <a:lnTo>
                    <a:pt x="568" y="1769"/>
                  </a:lnTo>
                  <a:lnTo>
                    <a:pt x="607" y="1792"/>
                  </a:lnTo>
                  <a:lnTo>
                    <a:pt x="635" y="1800"/>
                  </a:lnTo>
                  <a:lnTo>
                    <a:pt x="650" y="1800"/>
                  </a:lnTo>
                  <a:lnTo>
                    <a:pt x="670" y="1800"/>
                  </a:lnTo>
                  <a:lnTo>
                    <a:pt x="710" y="1791"/>
                  </a:lnTo>
                  <a:lnTo>
                    <a:pt x="776" y="1768"/>
                  </a:lnTo>
                  <a:lnTo>
                    <a:pt x="870" y="1710"/>
                  </a:lnTo>
                  <a:lnTo>
                    <a:pt x="968" y="1628"/>
                  </a:lnTo>
                  <a:lnTo>
                    <a:pt x="1016" y="1578"/>
                  </a:lnTo>
                  <a:lnTo>
                    <a:pt x="1118" y="1468"/>
                  </a:lnTo>
                  <a:lnTo>
                    <a:pt x="1174" y="1409"/>
                  </a:lnTo>
                  <a:lnTo>
                    <a:pt x="1190" y="1395"/>
                  </a:lnTo>
                  <a:lnTo>
                    <a:pt x="1223" y="1376"/>
                  </a:lnTo>
                  <a:lnTo>
                    <a:pt x="1259" y="1370"/>
                  </a:lnTo>
                  <a:lnTo>
                    <a:pt x="1294" y="1376"/>
                  </a:lnTo>
                  <a:lnTo>
                    <a:pt x="1325" y="1391"/>
                  </a:lnTo>
                  <a:lnTo>
                    <a:pt x="1354" y="1416"/>
                  </a:lnTo>
                  <a:lnTo>
                    <a:pt x="1374" y="1450"/>
                  </a:lnTo>
                  <a:lnTo>
                    <a:pt x="1386" y="1488"/>
                  </a:lnTo>
                  <a:lnTo>
                    <a:pt x="1387" y="1512"/>
                  </a:lnTo>
                  <a:lnTo>
                    <a:pt x="1384" y="1539"/>
                  </a:lnTo>
                  <a:lnTo>
                    <a:pt x="1358" y="1599"/>
                  </a:lnTo>
                  <a:lnTo>
                    <a:pt x="1311" y="1666"/>
                  </a:lnTo>
                  <a:lnTo>
                    <a:pt x="1245" y="1732"/>
                  </a:lnTo>
                  <a:lnTo>
                    <a:pt x="1165" y="1795"/>
                  </a:lnTo>
                  <a:lnTo>
                    <a:pt x="1076" y="1854"/>
                  </a:lnTo>
                  <a:lnTo>
                    <a:pt x="981" y="1905"/>
                  </a:lnTo>
                  <a:lnTo>
                    <a:pt x="885" y="1942"/>
                  </a:lnTo>
                  <a:lnTo>
                    <a:pt x="837" y="1955"/>
                  </a:lnTo>
                  <a:lnTo>
                    <a:pt x="785" y="1964"/>
                  </a:lnTo>
                  <a:lnTo>
                    <a:pt x="653" y="1975"/>
                  </a:lnTo>
                  <a:lnTo>
                    <a:pt x="514" y="1975"/>
                  </a:lnTo>
                  <a:lnTo>
                    <a:pt x="396" y="1965"/>
                  </a:lnTo>
                  <a:lnTo>
                    <a:pt x="355" y="1955"/>
                  </a:lnTo>
                  <a:close/>
                  <a:moveTo>
                    <a:pt x="749" y="970"/>
                  </a:moveTo>
                  <a:lnTo>
                    <a:pt x="785" y="950"/>
                  </a:lnTo>
                  <a:lnTo>
                    <a:pt x="880" y="879"/>
                  </a:lnTo>
                  <a:lnTo>
                    <a:pt x="975" y="796"/>
                  </a:lnTo>
                  <a:lnTo>
                    <a:pt x="1026" y="743"/>
                  </a:lnTo>
                  <a:lnTo>
                    <a:pt x="1043" y="718"/>
                  </a:lnTo>
                  <a:lnTo>
                    <a:pt x="1044" y="711"/>
                  </a:lnTo>
                  <a:lnTo>
                    <a:pt x="1046" y="699"/>
                  </a:lnTo>
                  <a:lnTo>
                    <a:pt x="1059" y="672"/>
                  </a:lnTo>
                  <a:lnTo>
                    <a:pt x="1067" y="662"/>
                  </a:lnTo>
                  <a:lnTo>
                    <a:pt x="1083" y="645"/>
                  </a:lnTo>
                  <a:lnTo>
                    <a:pt x="1108" y="597"/>
                  </a:lnTo>
                  <a:lnTo>
                    <a:pt x="1128" y="537"/>
                  </a:lnTo>
                  <a:lnTo>
                    <a:pt x="1142" y="465"/>
                  </a:lnTo>
                  <a:lnTo>
                    <a:pt x="1147" y="423"/>
                  </a:lnTo>
                  <a:lnTo>
                    <a:pt x="1149" y="377"/>
                  </a:lnTo>
                  <a:lnTo>
                    <a:pt x="1145" y="311"/>
                  </a:lnTo>
                  <a:lnTo>
                    <a:pt x="1139" y="301"/>
                  </a:lnTo>
                  <a:lnTo>
                    <a:pt x="1132" y="299"/>
                  </a:lnTo>
                  <a:lnTo>
                    <a:pt x="1105" y="309"/>
                  </a:lnTo>
                  <a:lnTo>
                    <a:pt x="1040" y="348"/>
                  </a:lnTo>
                  <a:lnTo>
                    <a:pt x="942" y="423"/>
                  </a:lnTo>
                  <a:lnTo>
                    <a:pt x="887" y="476"/>
                  </a:lnTo>
                  <a:lnTo>
                    <a:pt x="866" y="504"/>
                  </a:lnTo>
                  <a:lnTo>
                    <a:pt x="864" y="512"/>
                  </a:lnTo>
                  <a:lnTo>
                    <a:pt x="854" y="534"/>
                  </a:lnTo>
                  <a:lnTo>
                    <a:pt x="821" y="581"/>
                  </a:lnTo>
                  <a:lnTo>
                    <a:pt x="787" y="630"/>
                  </a:lnTo>
                  <a:lnTo>
                    <a:pt x="700" y="776"/>
                  </a:lnTo>
                  <a:lnTo>
                    <a:pt x="654" y="864"/>
                  </a:lnTo>
                  <a:lnTo>
                    <a:pt x="625" y="914"/>
                  </a:lnTo>
                  <a:lnTo>
                    <a:pt x="611" y="936"/>
                  </a:lnTo>
                  <a:lnTo>
                    <a:pt x="599" y="954"/>
                  </a:lnTo>
                  <a:lnTo>
                    <a:pt x="588" y="993"/>
                  </a:lnTo>
                  <a:lnTo>
                    <a:pt x="581" y="1023"/>
                  </a:lnTo>
                  <a:lnTo>
                    <a:pt x="595" y="1035"/>
                  </a:lnTo>
                  <a:lnTo>
                    <a:pt x="625" y="1023"/>
                  </a:lnTo>
                  <a:lnTo>
                    <a:pt x="681" y="1002"/>
                  </a:lnTo>
                  <a:lnTo>
                    <a:pt x="749" y="970"/>
                  </a:lnTo>
                  <a:close/>
                </a:path>
              </a:pathLst>
            </a:custGeom>
            <a:solidFill>
              <a:srgbClr val="C00000"/>
            </a:solidFill>
            <a:ln>
              <a:noFill/>
            </a:ln>
          </p:spPr>
          <p:txBody>
            <a:bodyPr vert="horz" wrap="square" lIns="91440" tIns="45720" rIns="91440" bIns="45720" numCol="1" anchor="t" anchorCtr="0" compatLnSpc="1">
              <a:prstTxWarp prst="textNoShape">
                <a:avLst/>
              </a:prstTxWarp>
            </a:bodyPr>
            <a:lstStyle/>
            <a:p>
              <a:endParaRPr lang="es-PE"/>
            </a:p>
          </p:txBody>
        </p:sp>
        <p:sp>
          <p:nvSpPr>
            <p:cNvPr id="23" name="Freeform 19"/>
            <p:cNvSpPr>
              <a:spLocks noEditPoints="1"/>
            </p:cNvSpPr>
            <p:nvPr/>
          </p:nvSpPr>
          <p:spPr bwMode="auto">
            <a:xfrm>
              <a:off x="7038296" y="3314245"/>
              <a:ext cx="1389063" cy="1106488"/>
            </a:xfrm>
            <a:custGeom>
              <a:avLst/>
              <a:gdLst>
                <a:gd name="T0" fmla="*/ 1503 w 2627"/>
                <a:gd name="T1" fmla="*/ 2015 h 2089"/>
                <a:gd name="T2" fmla="*/ 1447 w 2627"/>
                <a:gd name="T3" fmla="*/ 1828 h 2089"/>
                <a:gd name="T4" fmla="*/ 1616 w 2627"/>
                <a:gd name="T5" fmla="*/ 1879 h 2089"/>
                <a:gd name="T6" fmla="*/ 1884 w 2627"/>
                <a:gd name="T7" fmla="*/ 1821 h 2089"/>
                <a:gd name="T8" fmla="*/ 2032 w 2627"/>
                <a:gd name="T9" fmla="*/ 1460 h 2089"/>
                <a:gd name="T10" fmla="*/ 2068 w 2627"/>
                <a:gd name="T11" fmla="*/ 1303 h 2089"/>
                <a:gd name="T12" fmla="*/ 2019 w 2627"/>
                <a:gd name="T13" fmla="*/ 976 h 2089"/>
                <a:gd name="T14" fmla="*/ 1780 w 2627"/>
                <a:gd name="T15" fmla="*/ 754 h 2089"/>
                <a:gd name="T16" fmla="*/ 1679 w 2627"/>
                <a:gd name="T17" fmla="*/ 912 h 2089"/>
                <a:gd name="T18" fmla="*/ 1600 w 2627"/>
                <a:gd name="T19" fmla="*/ 1092 h 2089"/>
                <a:gd name="T20" fmla="*/ 1428 w 2627"/>
                <a:gd name="T21" fmla="*/ 1308 h 2089"/>
                <a:gd name="T22" fmla="*/ 985 w 2627"/>
                <a:gd name="T23" fmla="*/ 1444 h 2089"/>
                <a:gd name="T24" fmla="*/ 655 w 2627"/>
                <a:gd name="T25" fmla="*/ 1547 h 2089"/>
                <a:gd name="T26" fmla="*/ 425 w 2627"/>
                <a:gd name="T27" fmla="*/ 1308 h 2089"/>
                <a:gd name="T28" fmla="*/ 492 w 2627"/>
                <a:gd name="T29" fmla="*/ 901 h 2089"/>
                <a:gd name="T30" fmla="*/ 580 w 2627"/>
                <a:gd name="T31" fmla="*/ 725 h 2089"/>
                <a:gd name="T32" fmla="*/ 779 w 2627"/>
                <a:gd name="T33" fmla="*/ 527 h 2089"/>
                <a:gd name="T34" fmla="*/ 1083 w 2627"/>
                <a:gd name="T35" fmla="*/ 462 h 2089"/>
                <a:gd name="T36" fmla="*/ 1246 w 2627"/>
                <a:gd name="T37" fmla="*/ 400 h 2089"/>
                <a:gd name="T38" fmla="*/ 1256 w 2627"/>
                <a:gd name="T39" fmla="*/ 727 h 2089"/>
                <a:gd name="T40" fmla="*/ 1162 w 2627"/>
                <a:gd name="T41" fmla="*/ 1069 h 2089"/>
                <a:gd name="T42" fmla="*/ 1139 w 2627"/>
                <a:gd name="T43" fmla="*/ 1258 h 2089"/>
                <a:gd name="T44" fmla="*/ 1282 w 2627"/>
                <a:gd name="T45" fmla="*/ 1136 h 2089"/>
                <a:gd name="T46" fmla="*/ 1374 w 2627"/>
                <a:gd name="T47" fmla="*/ 620 h 2089"/>
                <a:gd name="T48" fmla="*/ 1211 w 2627"/>
                <a:gd name="T49" fmla="*/ 295 h 2089"/>
                <a:gd name="T50" fmla="*/ 855 w 2627"/>
                <a:gd name="T51" fmla="*/ 262 h 2089"/>
                <a:gd name="T52" fmla="*/ 465 w 2627"/>
                <a:gd name="T53" fmla="*/ 643 h 2089"/>
                <a:gd name="T54" fmla="*/ 333 w 2627"/>
                <a:gd name="T55" fmla="*/ 1020 h 2089"/>
                <a:gd name="T56" fmla="*/ 307 w 2627"/>
                <a:gd name="T57" fmla="*/ 1415 h 2089"/>
                <a:gd name="T58" fmla="*/ 583 w 2627"/>
                <a:gd name="T59" fmla="*/ 1641 h 2089"/>
                <a:gd name="T60" fmla="*/ 1112 w 2627"/>
                <a:gd name="T61" fmla="*/ 1589 h 2089"/>
                <a:gd name="T62" fmla="*/ 1361 w 2627"/>
                <a:gd name="T63" fmla="*/ 1532 h 2089"/>
                <a:gd name="T64" fmla="*/ 1384 w 2627"/>
                <a:gd name="T65" fmla="*/ 1683 h 2089"/>
                <a:gd name="T66" fmla="*/ 1277 w 2627"/>
                <a:gd name="T67" fmla="*/ 1788 h 2089"/>
                <a:gd name="T68" fmla="*/ 1061 w 2627"/>
                <a:gd name="T69" fmla="*/ 1883 h 2089"/>
                <a:gd name="T70" fmla="*/ 587 w 2627"/>
                <a:gd name="T71" fmla="*/ 1940 h 2089"/>
                <a:gd name="T72" fmla="*/ 99 w 2627"/>
                <a:gd name="T73" fmla="*/ 1665 h 2089"/>
                <a:gd name="T74" fmla="*/ 10 w 2627"/>
                <a:gd name="T75" fmla="*/ 1389 h 2089"/>
                <a:gd name="T76" fmla="*/ 34 w 2627"/>
                <a:gd name="T77" fmla="*/ 1232 h 2089"/>
                <a:gd name="T78" fmla="*/ 112 w 2627"/>
                <a:gd name="T79" fmla="*/ 822 h 2089"/>
                <a:gd name="T80" fmla="*/ 275 w 2627"/>
                <a:gd name="T81" fmla="*/ 466 h 2089"/>
                <a:gd name="T82" fmla="*/ 331 w 2627"/>
                <a:gd name="T83" fmla="*/ 390 h 2089"/>
                <a:gd name="T84" fmla="*/ 783 w 2627"/>
                <a:gd name="T85" fmla="*/ 28 h 2089"/>
                <a:gd name="T86" fmla="*/ 1273 w 2627"/>
                <a:gd name="T87" fmla="*/ 53 h 2089"/>
                <a:gd name="T88" fmla="*/ 1555 w 2627"/>
                <a:gd name="T89" fmla="*/ 332 h 2089"/>
                <a:gd name="T90" fmla="*/ 1596 w 2627"/>
                <a:gd name="T91" fmla="*/ 135 h 2089"/>
                <a:gd name="T92" fmla="*/ 1753 w 2627"/>
                <a:gd name="T93" fmla="*/ 4 h 2089"/>
                <a:gd name="T94" fmla="*/ 2069 w 2627"/>
                <a:gd name="T95" fmla="*/ 112 h 2089"/>
                <a:gd name="T96" fmla="*/ 2033 w 2627"/>
                <a:gd name="T97" fmla="*/ 387 h 2089"/>
                <a:gd name="T98" fmla="*/ 2510 w 2627"/>
                <a:gd name="T99" fmla="*/ 956 h 2089"/>
                <a:gd name="T100" fmla="*/ 2627 w 2627"/>
                <a:gd name="T101" fmla="*/ 1311 h 2089"/>
                <a:gd name="T102" fmla="*/ 2562 w 2627"/>
                <a:gd name="T103" fmla="*/ 1581 h 2089"/>
                <a:gd name="T104" fmla="*/ 2427 w 2627"/>
                <a:gd name="T105" fmla="*/ 1778 h 2089"/>
                <a:gd name="T106" fmla="*/ 2209 w 2627"/>
                <a:gd name="T107" fmla="*/ 1971 h 2089"/>
                <a:gd name="T108" fmla="*/ 1861 w 2627"/>
                <a:gd name="T109" fmla="*/ 2073 h 2089"/>
                <a:gd name="T110" fmla="*/ 788 w 2627"/>
                <a:gd name="T111" fmla="*/ 1300 h 2089"/>
                <a:gd name="T112" fmla="*/ 890 w 2627"/>
                <a:gd name="T113" fmla="*/ 992 h 2089"/>
                <a:gd name="T114" fmla="*/ 962 w 2627"/>
                <a:gd name="T115" fmla="*/ 748 h 2089"/>
                <a:gd name="T116" fmla="*/ 854 w 2627"/>
                <a:gd name="T117" fmla="*/ 767 h 2089"/>
                <a:gd name="T118" fmla="*/ 713 w 2627"/>
                <a:gd name="T119" fmla="*/ 1113 h 2089"/>
                <a:gd name="T120" fmla="*/ 756 w 2627"/>
                <a:gd name="T121" fmla="*/ 1340 h 2089"/>
                <a:gd name="T122" fmla="*/ 1590 w 2627"/>
                <a:gd name="T123" fmla="*/ 429 h 2089"/>
                <a:gd name="T124" fmla="*/ 1637 w 2627"/>
                <a:gd name="T125" fmla="*/ 568 h 20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627" h="2089">
                  <a:moveTo>
                    <a:pt x="1682" y="2072"/>
                  </a:moveTo>
                  <a:lnTo>
                    <a:pt x="1676" y="2064"/>
                  </a:lnTo>
                  <a:lnTo>
                    <a:pt x="1646" y="2054"/>
                  </a:lnTo>
                  <a:lnTo>
                    <a:pt x="1629" y="2054"/>
                  </a:lnTo>
                  <a:lnTo>
                    <a:pt x="1604" y="2053"/>
                  </a:lnTo>
                  <a:lnTo>
                    <a:pt x="1554" y="2040"/>
                  </a:lnTo>
                  <a:lnTo>
                    <a:pt x="1503" y="2015"/>
                  </a:lnTo>
                  <a:lnTo>
                    <a:pt x="1456" y="1979"/>
                  </a:lnTo>
                  <a:lnTo>
                    <a:pt x="1434" y="1958"/>
                  </a:lnTo>
                  <a:lnTo>
                    <a:pt x="1414" y="1938"/>
                  </a:lnTo>
                  <a:lnTo>
                    <a:pt x="1394" y="1903"/>
                  </a:lnTo>
                  <a:lnTo>
                    <a:pt x="1397" y="1873"/>
                  </a:lnTo>
                  <a:lnTo>
                    <a:pt x="1424" y="1844"/>
                  </a:lnTo>
                  <a:lnTo>
                    <a:pt x="1447" y="1828"/>
                  </a:lnTo>
                  <a:lnTo>
                    <a:pt x="1462" y="1818"/>
                  </a:lnTo>
                  <a:lnTo>
                    <a:pt x="1483" y="1808"/>
                  </a:lnTo>
                  <a:lnTo>
                    <a:pt x="1515" y="1812"/>
                  </a:lnTo>
                  <a:lnTo>
                    <a:pt x="1551" y="1832"/>
                  </a:lnTo>
                  <a:lnTo>
                    <a:pt x="1575" y="1845"/>
                  </a:lnTo>
                  <a:lnTo>
                    <a:pt x="1611" y="1871"/>
                  </a:lnTo>
                  <a:lnTo>
                    <a:pt x="1616" y="1879"/>
                  </a:lnTo>
                  <a:lnTo>
                    <a:pt x="1624" y="1887"/>
                  </a:lnTo>
                  <a:lnTo>
                    <a:pt x="1668" y="1893"/>
                  </a:lnTo>
                  <a:lnTo>
                    <a:pt x="1731" y="1886"/>
                  </a:lnTo>
                  <a:lnTo>
                    <a:pt x="1799" y="1868"/>
                  </a:lnTo>
                  <a:lnTo>
                    <a:pt x="1829" y="1856"/>
                  </a:lnTo>
                  <a:lnTo>
                    <a:pt x="1849" y="1844"/>
                  </a:lnTo>
                  <a:lnTo>
                    <a:pt x="1884" y="1821"/>
                  </a:lnTo>
                  <a:lnTo>
                    <a:pt x="1912" y="1791"/>
                  </a:lnTo>
                  <a:lnTo>
                    <a:pt x="1937" y="1750"/>
                  </a:lnTo>
                  <a:lnTo>
                    <a:pt x="1951" y="1724"/>
                  </a:lnTo>
                  <a:lnTo>
                    <a:pt x="1970" y="1683"/>
                  </a:lnTo>
                  <a:lnTo>
                    <a:pt x="2000" y="1604"/>
                  </a:lnTo>
                  <a:lnTo>
                    <a:pt x="2022" y="1529"/>
                  </a:lnTo>
                  <a:lnTo>
                    <a:pt x="2032" y="1460"/>
                  </a:lnTo>
                  <a:lnTo>
                    <a:pt x="2033" y="1429"/>
                  </a:lnTo>
                  <a:lnTo>
                    <a:pt x="2035" y="1405"/>
                  </a:lnTo>
                  <a:lnTo>
                    <a:pt x="2045" y="1373"/>
                  </a:lnTo>
                  <a:lnTo>
                    <a:pt x="2052" y="1370"/>
                  </a:lnTo>
                  <a:lnTo>
                    <a:pt x="2055" y="1367"/>
                  </a:lnTo>
                  <a:lnTo>
                    <a:pt x="2062" y="1350"/>
                  </a:lnTo>
                  <a:lnTo>
                    <a:pt x="2068" y="1303"/>
                  </a:lnTo>
                  <a:lnTo>
                    <a:pt x="2069" y="1222"/>
                  </a:lnTo>
                  <a:lnTo>
                    <a:pt x="2061" y="1157"/>
                  </a:lnTo>
                  <a:lnTo>
                    <a:pt x="2054" y="1147"/>
                  </a:lnTo>
                  <a:lnTo>
                    <a:pt x="2048" y="1137"/>
                  </a:lnTo>
                  <a:lnTo>
                    <a:pt x="2032" y="1075"/>
                  </a:lnTo>
                  <a:lnTo>
                    <a:pt x="2026" y="1033"/>
                  </a:lnTo>
                  <a:lnTo>
                    <a:pt x="2019" y="976"/>
                  </a:lnTo>
                  <a:lnTo>
                    <a:pt x="2000" y="884"/>
                  </a:lnTo>
                  <a:lnTo>
                    <a:pt x="1973" y="809"/>
                  </a:lnTo>
                  <a:lnTo>
                    <a:pt x="1933" y="747"/>
                  </a:lnTo>
                  <a:lnTo>
                    <a:pt x="1908" y="717"/>
                  </a:lnTo>
                  <a:lnTo>
                    <a:pt x="1840" y="643"/>
                  </a:lnTo>
                  <a:lnTo>
                    <a:pt x="1812" y="695"/>
                  </a:lnTo>
                  <a:lnTo>
                    <a:pt x="1780" y="754"/>
                  </a:lnTo>
                  <a:lnTo>
                    <a:pt x="1745" y="826"/>
                  </a:lnTo>
                  <a:lnTo>
                    <a:pt x="1728" y="856"/>
                  </a:lnTo>
                  <a:lnTo>
                    <a:pt x="1698" y="898"/>
                  </a:lnTo>
                  <a:lnTo>
                    <a:pt x="1688" y="902"/>
                  </a:lnTo>
                  <a:lnTo>
                    <a:pt x="1681" y="902"/>
                  </a:lnTo>
                  <a:lnTo>
                    <a:pt x="1675" y="908"/>
                  </a:lnTo>
                  <a:lnTo>
                    <a:pt x="1679" y="912"/>
                  </a:lnTo>
                  <a:lnTo>
                    <a:pt x="1681" y="922"/>
                  </a:lnTo>
                  <a:lnTo>
                    <a:pt x="1657" y="970"/>
                  </a:lnTo>
                  <a:lnTo>
                    <a:pt x="1637" y="1000"/>
                  </a:lnTo>
                  <a:lnTo>
                    <a:pt x="1617" y="1032"/>
                  </a:lnTo>
                  <a:lnTo>
                    <a:pt x="1594" y="1079"/>
                  </a:lnTo>
                  <a:lnTo>
                    <a:pt x="1596" y="1090"/>
                  </a:lnTo>
                  <a:lnTo>
                    <a:pt x="1600" y="1092"/>
                  </a:lnTo>
                  <a:lnTo>
                    <a:pt x="1594" y="1100"/>
                  </a:lnTo>
                  <a:lnTo>
                    <a:pt x="1587" y="1100"/>
                  </a:lnTo>
                  <a:lnTo>
                    <a:pt x="1577" y="1104"/>
                  </a:lnTo>
                  <a:lnTo>
                    <a:pt x="1549" y="1140"/>
                  </a:lnTo>
                  <a:lnTo>
                    <a:pt x="1535" y="1166"/>
                  </a:lnTo>
                  <a:lnTo>
                    <a:pt x="1515" y="1200"/>
                  </a:lnTo>
                  <a:lnTo>
                    <a:pt x="1428" y="1308"/>
                  </a:lnTo>
                  <a:lnTo>
                    <a:pt x="1375" y="1366"/>
                  </a:lnTo>
                  <a:lnTo>
                    <a:pt x="1246" y="1501"/>
                  </a:lnTo>
                  <a:lnTo>
                    <a:pt x="1133" y="1493"/>
                  </a:lnTo>
                  <a:lnTo>
                    <a:pt x="1099" y="1490"/>
                  </a:lnTo>
                  <a:lnTo>
                    <a:pt x="1050" y="1481"/>
                  </a:lnTo>
                  <a:lnTo>
                    <a:pt x="1014" y="1468"/>
                  </a:lnTo>
                  <a:lnTo>
                    <a:pt x="985" y="1444"/>
                  </a:lnTo>
                  <a:lnTo>
                    <a:pt x="968" y="1425"/>
                  </a:lnTo>
                  <a:lnTo>
                    <a:pt x="916" y="1367"/>
                  </a:lnTo>
                  <a:lnTo>
                    <a:pt x="871" y="1422"/>
                  </a:lnTo>
                  <a:lnTo>
                    <a:pt x="842" y="1455"/>
                  </a:lnTo>
                  <a:lnTo>
                    <a:pt x="782" y="1504"/>
                  </a:lnTo>
                  <a:lnTo>
                    <a:pt x="720" y="1536"/>
                  </a:lnTo>
                  <a:lnTo>
                    <a:pt x="655" y="1547"/>
                  </a:lnTo>
                  <a:lnTo>
                    <a:pt x="622" y="1546"/>
                  </a:lnTo>
                  <a:lnTo>
                    <a:pt x="590" y="1542"/>
                  </a:lnTo>
                  <a:lnTo>
                    <a:pt x="537" y="1520"/>
                  </a:lnTo>
                  <a:lnTo>
                    <a:pt x="494" y="1487"/>
                  </a:lnTo>
                  <a:lnTo>
                    <a:pt x="461" y="1441"/>
                  </a:lnTo>
                  <a:lnTo>
                    <a:pt x="438" y="1380"/>
                  </a:lnTo>
                  <a:lnTo>
                    <a:pt x="425" y="1308"/>
                  </a:lnTo>
                  <a:lnTo>
                    <a:pt x="423" y="1223"/>
                  </a:lnTo>
                  <a:lnTo>
                    <a:pt x="432" y="1126"/>
                  </a:lnTo>
                  <a:lnTo>
                    <a:pt x="441" y="1071"/>
                  </a:lnTo>
                  <a:lnTo>
                    <a:pt x="454" y="1006"/>
                  </a:lnTo>
                  <a:lnTo>
                    <a:pt x="477" y="917"/>
                  </a:lnTo>
                  <a:lnTo>
                    <a:pt x="485" y="905"/>
                  </a:lnTo>
                  <a:lnTo>
                    <a:pt x="492" y="901"/>
                  </a:lnTo>
                  <a:lnTo>
                    <a:pt x="502" y="884"/>
                  </a:lnTo>
                  <a:lnTo>
                    <a:pt x="504" y="875"/>
                  </a:lnTo>
                  <a:lnTo>
                    <a:pt x="505" y="861"/>
                  </a:lnTo>
                  <a:lnTo>
                    <a:pt x="523" y="817"/>
                  </a:lnTo>
                  <a:lnTo>
                    <a:pt x="547" y="767"/>
                  </a:lnTo>
                  <a:lnTo>
                    <a:pt x="572" y="731"/>
                  </a:lnTo>
                  <a:lnTo>
                    <a:pt x="580" y="725"/>
                  </a:lnTo>
                  <a:lnTo>
                    <a:pt x="586" y="721"/>
                  </a:lnTo>
                  <a:lnTo>
                    <a:pt x="593" y="706"/>
                  </a:lnTo>
                  <a:lnTo>
                    <a:pt x="593" y="696"/>
                  </a:lnTo>
                  <a:lnTo>
                    <a:pt x="598" y="681"/>
                  </a:lnTo>
                  <a:lnTo>
                    <a:pt x="638" y="634"/>
                  </a:lnTo>
                  <a:lnTo>
                    <a:pt x="703" y="578"/>
                  </a:lnTo>
                  <a:lnTo>
                    <a:pt x="779" y="527"/>
                  </a:lnTo>
                  <a:lnTo>
                    <a:pt x="815" y="508"/>
                  </a:lnTo>
                  <a:lnTo>
                    <a:pt x="860" y="488"/>
                  </a:lnTo>
                  <a:lnTo>
                    <a:pt x="943" y="470"/>
                  </a:lnTo>
                  <a:lnTo>
                    <a:pt x="989" y="473"/>
                  </a:lnTo>
                  <a:lnTo>
                    <a:pt x="1030" y="475"/>
                  </a:lnTo>
                  <a:lnTo>
                    <a:pt x="1068" y="469"/>
                  </a:lnTo>
                  <a:lnTo>
                    <a:pt x="1083" y="462"/>
                  </a:lnTo>
                  <a:lnTo>
                    <a:pt x="1087" y="457"/>
                  </a:lnTo>
                  <a:lnTo>
                    <a:pt x="1094" y="442"/>
                  </a:lnTo>
                  <a:lnTo>
                    <a:pt x="1126" y="414"/>
                  </a:lnTo>
                  <a:lnTo>
                    <a:pt x="1166" y="393"/>
                  </a:lnTo>
                  <a:lnTo>
                    <a:pt x="1204" y="385"/>
                  </a:lnTo>
                  <a:lnTo>
                    <a:pt x="1218" y="388"/>
                  </a:lnTo>
                  <a:lnTo>
                    <a:pt x="1246" y="400"/>
                  </a:lnTo>
                  <a:lnTo>
                    <a:pt x="1263" y="401"/>
                  </a:lnTo>
                  <a:lnTo>
                    <a:pt x="1267" y="403"/>
                  </a:lnTo>
                  <a:lnTo>
                    <a:pt x="1280" y="430"/>
                  </a:lnTo>
                  <a:lnTo>
                    <a:pt x="1286" y="452"/>
                  </a:lnTo>
                  <a:lnTo>
                    <a:pt x="1289" y="480"/>
                  </a:lnTo>
                  <a:lnTo>
                    <a:pt x="1277" y="596"/>
                  </a:lnTo>
                  <a:lnTo>
                    <a:pt x="1256" y="727"/>
                  </a:lnTo>
                  <a:lnTo>
                    <a:pt x="1237" y="800"/>
                  </a:lnTo>
                  <a:lnTo>
                    <a:pt x="1225" y="827"/>
                  </a:lnTo>
                  <a:lnTo>
                    <a:pt x="1221" y="830"/>
                  </a:lnTo>
                  <a:lnTo>
                    <a:pt x="1214" y="839"/>
                  </a:lnTo>
                  <a:lnTo>
                    <a:pt x="1191" y="933"/>
                  </a:lnTo>
                  <a:lnTo>
                    <a:pt x="1176" y="1000"/>
                  </a:lnTo>
                  <a:lnTo>
                    <a:pt x="1162" y="1069"/>
                  </a:lnTo>
                  <a:lnTo>
                    <a:pt x="1138" y="1161"/>
                  </a:lnTo>
                  <a:lnTo>
                    <a:pt x="1130" y="1172"/>
                  </a:lnTo>
                  <a:lnTo>
                    <a:pt x="1122" y="1173"/>
                  </a:lnTo>
                  <a:lnTo>
                    <a:pt x="1115" y="1193"/>
                  </a:lnTo>
                  <a:lnTo>
                    <a:pt x="1119" y="1222"/>
                  </a:lnTo>
                  <a:lnTo>
                    <a:pt x="1130" y="1249"/>
                  </a:lnTo>
                  <a:lnTo>
                    <a:pt x="1139" y="1258"/>
                  </a:lnTo>
                  <a:lnTo>
                    <a:pt x="1145" y="1262"/>
                  </a:lnTo>
                  <a:lnTo>
                    <a:pt x="1161" y="1267"/>
                  </a:lnTo>
                  <a:lnTo>
                    <a:pt x="1187" y="1261"/>
                  </a:lnTo>
                  <a:lnTo>
                    <a:pt x="1224" y="1233"/>
                  </a:lnTo>
                  <a:lnTo>
                    <a:pt x="1257" y="1189"/>
                  </a:lnTo>
                  <a:lnTo>
                    <a:pt x="1270" y="1161"/>
                  </a:lnTo>
                  <a:lnTo>
                    <a:pt x="1282" y="1136"/>
                  </a:lnTo>
                  <a:lnTo>
                    <a:pt x="1303" y="1102"/>
                  </a:lnTo>
                  <a:lnTo>
                    <a:pt x="1312" y="1100"/>
                  </a:lnTo>
                  <a:lnTo>
                    <a:pt x="1320" y="1097"/>
                  </a:lnTo>
                  <a:lnTo>
                    <a:pt x="1338" y="1059"/>
                  </a:lnTo>
                  <a:lnTo>
                    <a:pt x="1358" y="957"/>
                  </a:lnTo>
                  <a:lnTo>
                    <a:pt x="1375" y="764"/>
                  </a:lnTo>
                  <a:lnTo>
                    <a:pt x="1374" y="620"/>
                  </a:lnTo>
                  <a:lnTo>
                    <a:pt x="1368" y="538"/>
                  </a:lnTo>
                  <a:lnTo>
                    <a:pt x="1362" y="506"/>
                  </a:lnTo>
                  <a:lnTo>
                    <a:pt x="1352" y="475"/>
                  </a:lnTo>
                  <a:lnTo>
                    <a:pt x="1303" y="394"/>
                  </a:lnTo>
                  <a:lnTo>
                    <a:pt x="1272" y="357"/>
                  </a:lnTo>
                  <a:lnTo>
                    <a:pt x="1248" y="331"/>
                  </a:lnTo>
                  <a:lnTo>
                    <a:pt x="1211" y="295"/>
                  </a:lnTo>
                  <a:lnTo>
                    <a:pt x="1172" y="272"/>
                  </a:lnTo>
                  <a:lnTo>
                    <a:pt x="1126" y="257"/>
                  </a:lnTo>
                  <a:lnTo>
                    <a:pt x="1096" y="250"/>
                  </a:lnTo>
                  <a:lnTo>
                    <a:pt x="1038" y="240"/>
                  </a:lnTo>
                  <a:lnTo>
                    <a:pt x="946" y="241"/>
                  </a:lnTo>
                  <a:lnTo>
                    <a:pt x="888" y="254"/>
                  </a:lnTo>
                  <a:lnTo>
                    <a:pt x="855" y="262"/>
                  </a:lnTo>
                  <a:lnTo>
                    <a:pt x="802" y="283"/>
                  </a:lnTo>
                  <a:lnTo>
                    <a:pt x="752" y="316"/>
                  </a:lnTo>
                  <a:lnTo>
                    <a:pt x="688" y="374"/>
                  </a:lnTo>
                  <a:lnTo>
                    <a:pt x="645" y="416"/>
                  </a:lnTo>
                  <a:lnTo>
                    <a:pt x="577" y="486"/>
                  </a:lnTo>
                  <a:lnTo>
                    <a:pt x="504" y="580"/>
                  </a:lnTo>
                  <a:lnTo>
                    <a:pt x="465" y="643"/>
                  </a:lnTo>
                  <a:lnTo>
                    <a:pt x="448" y="676"/>
                  </a:lnTo>
                  <a:lnTo>
                    <a:pt x="400" y="780"/>
                  </a:lnTo>
                  <a:lnTo>
                    <a:pt x="384" y="820"/>
                  </a:lnTo>
                  <a:lnTo>
                    <a:pt x="379" y="846"/>
                  </a:lnTo>
                  <a:lnTo>
                    <a:pt x="363" y="885"/>
                  </a:lnTo>
                  <a:lnTo>
                    <a:pt x="347" y="941"/>
                  </a:lnTo>
                  <a:lnTo>
                    <a:pt x="333" y="1020"/>
                  </a:lnTo>
                  <a:lnTo>
                    <a:pt x="321" y="1095"/>
                  </a:lnTo>
                  <a:lnTo>
                    <a:pt x="311" y="1136"/>
                  </a:lnTo>
                  <a:lnTo>
                    <a:pt x="304" y="1157"/>
                  </a:lnTo>
                  <a:lnTo>
                    <a:pt x="297" y="1233"/>
                  </a:lnTo>
                  <a:lnTo>
                    <a:pt x="295" y="1323"/>
                  </a:lnTo>
                  <a:lnTo>
                    <a:pt x="301" y="1395"/>
                  </a:lnTo>
                  <a:lnTo>
                    <a:pt x="307" y="1415"/>
                  </a:lnTo>
                  <a:lnTo>
                    <a:pt x="324" y="1454"/>
                  </a:lnTo>
                  <a:lnTo>
                    <a:pt x="340" y="1497"/>
                  </a:lnTo>
                  <a:lnTo>
                    <a:pt x="344" y="1509"/>
                  </a:lnTo>
                  <a:lnTo>
                    <a:pt x="363" y="1530"/>
                  </a:lnTo>
                  <a:lnTo>
                    <a:pt x="407" y="1566"/>
                  </a:lnTo>
                  <a:lnTo>
                    <a:pt x="490" y="1609"/>
                  </a:lnTo>
                  <a:lnTo>
                    <a:pt x="583" y="1641"/>
                  </a:lnTo>
                  <a:lnTo>
                    <a:pt x="629" y="1648"/>
                  </a:lnTo>
                  <a:lnTo>
                    <a:pt x="671" y="1651"/>
                  </a:lnTo>
                  <a:lnTo>
                    <a:pt x="806" y="1647"/>
                  </a:lnTo>
                  <a:lnTo>
                    <a:pt x="955" y="1632"/>
                  </a:lnTo>
                  <a:lnTo>
                    <a:pt x="1061" y="1615"/>
                  </a:lnTo>
                  <a:lnTo>
                    <a:pt x="1077" y="1608"/>
                  </a:lnTo>
                  <a:lnTo>
                    <a:pt x="1112" y="1589"/>
                  </a:lnTo>
                  <a:lnTo>
                    <a:pt x="1202" y="1559"/>
                  </a:lnTo>
                  <a:lnTo>
                    <a:pt x="1248" y="1545"/>
                  </a:lnTo>
                  <a:lnTo>
                    <a:pt x="1315" y="1517"/>
                  </a:lnTo>
                  <a:lnTo>
                    <a:pt x="1326" y="1510"/>
                  </a:lnTo>
                  <a:lnTo>
                    <a:pt x="1329" y="1507"/>
                  </a:lnTo>
                  <a:lnTo>
                    <a:pt x="1338" y="1511"/>
                  </a:lnTo>
                  <a:lnTo>
                    <a:pt x="1361" y="1532"/>
                  </a:lnTo>
                  <a:lnTo>
                    <a:pt x="1378" y="1557"/>
                  </a:lnTo>
                  <a:lnTo>
                    <a:pt x="1407" y="1601"/>
                  </a:lnTo>
                  <a:lnTo>
                    <a:pt x="1421" y="1642"/>
                  </a:lnTo>
                  <a:lnTo>
                    <a:pt x="1416" y="1657"/>
                  </a:lnTo>
                  <a:lnTo>
                    <a:pt x="1407" y="1658"/>
                  </a:lnTo>
                  <a:lnTo>
                    <a:pt x="1401" y="1660"/>
                  </a:lnTo>
                  <a:lnTo>
                    <a:pt x="1384" y="1683"/>
                  </a:lnTo>
                  <a:lnTo>
                    <a:pt x="1377" y="1699"/>
                  </a:lnTo>
                  <a:lnTo>
                    <a:pt x="1367" y="1716"/>
                  </a:lnTo>
                  <a:lnTo>
                    <a:pt x="1335" y="1746"/>
                  </a:lnTo>
                  <a:lnTo>
                    <a:pt x="1319" y="1756"/>
                  </a:lnTo>
                  <a:lnTo>
                    <a:pt x="1302" y="1763"/>
                  </a:lnTo>
                  <a:lnTo>
                    <a:pt x="1280" y="1781"/>
                  </a:lnTo>
                  <a:lnTo>
                    <a:pt x="1277" y="1788"/>
                  </a:lnTo>
                  <a:lnTo>
                    <a:pt x="1276" y="1794"/>
                  </a:lnTo>
                  <a:lnTo>
                    <a:pt x="1267" y="1801"/>
                  </a:lnTo>
                  <a:lnTo>
                    <a:pt x="1261" y="1802"/>
                  </a:lnTo>
                  <a:lnTo>
                    <a:pt x="1230" y="1811"/>
                  </a:lnTo>
                  <a:lnTo>
                    <a:pt x="1159" y="1841"/>
                  </a:lnTo>
                  <a:lnTo>
                    <a:pt x="1089" y="1871"/>
                  </a:lnTo>
                  <a:lnTo>
                    <a:pt x="1061" y="1883"/>
                  </a:lnTo>
                  <a:lnTo>
                    <a:pt x="1051" y="1886"/>
                  </a:lnTo>
                  <a:lnTo>
                    <a:pt x="1034" y="1896"/>
                  </a:lnTo>
                  <a:lnTo>
                    <a:pt x="1011" y="1906"/>
                  </a:lnTo>
                  <a:lnTo>
                    <a:pt x="910" y="1923"/>
                  </a:lnTo>
                  <a:lnTo>
                    <a:pt x="778" y="1938"/>
                  </a:lnTo>
                  <a:lnTo>
                    <a:pt x="644" y="1942"/>
                  </a:lnTo>
                  <a:lnTo>
                    <a:pt x="587" y="1940"/>
                  </a:lnTo>
                  <a:lnTo>
                    <a:pt x="513" y="1935"/>
                  </a:lnTo>
                  <a:lnTo>
                    <a:pt x="400" y="1917"/>
                  </a:lnTo>
                  <a:lnTo>
                    <a:pt x="317" y="1884"/>
                  </a:lnTo>
                  <a:lnTo>
                    <a:pt x="242" y="1828"/>
                  </a:lnTo>
                  <a:lnTo>
                    <a:pt x="199" y="1788"/>
                  </a:lnTo>
                  <a:lnTo>
                    <a:pt x="161" y="1748"/>
                  </a:lnTo>
                  <a:lnTo>
                    <a:pt x="99" y="1665"/>
                  </a:lnTo>
                  <a:lnTo>
                    <a:pt x="57" y="1582"/>
                  </a:lnTo>
                  <a:lnTo>
                    <a:pt x="37" y="1498"/>
                  </a:lnTo>
                  <a:lnTo>
                    <a:pt x="36" y="1458"/>
                  </a:lnTo>
                  <a:lnTo>
                    <a:pt x="34" y="1438"/>
                  </a:lnTo>
                  <a:lnTo>
                    <a:pt x="24" y="1403"/>
                  </a:lnTo>
                  <a:lnTo>
                    <a:pt x="17" y="1396"/>
                  </a:lnTo>
                  <a:lnTo>
                    <a:pt x="10" y="1389"/>
                  </a:lnTo>
                  <a:lnTo>
                    <a:pt x="0" y="1354"/>
                  </a:lnTo>
                  <a:lnTo>
                    <a:pt x="0" y="1331"/>
                  </a:lnTo>
                  <a:lnTo>
                    <a:pt x="0" y="1311"/>
                  </a:lnTo>
                  <a:lnTo>
                    <a:pt x="10" y="1282"/>
                  </a:lnTo>
                  <a:lnTo>
                    <a:pt x="17" y="1280"/>
                  </a:lnTo>
                  <a:lnTo>
                    <a:pt x="24" y="1275"/>
                  </a:lnTo>
                  <a:lnTo>
                    <a:pt x="34" y="1232"/>
                  </a:lnTo>
                  <a:lnTo>
                    <a:pt x="36" y="1200"/>
                  </a:lnTo>
                  <a:lnTo>
                    <a:pt x="37" y="1163"/>
                  </a:lnTo>
                  <a:lnTo>
                    <a:pt x="52" y="1049"/>
                  </a:lnTo>
                  <a:lnTo>
                    <a:pt x="75" y="930"/>
                  </a:lnTo>
                  <a:lnTo>
                    <a:pt x="96" y="843"/>
                  </a:lnTo>
                  <a:lnTo>
                    <a:pt x="105" y="830"/>
                  </a:lnTo>
                  <a:lnTo>
                    <a:pt x="112" y="822"/>
                  </a:lnTo>
                  <a:lnTo>
                    <a:pt x="131" y="773"/>
                  </a:lnTo>
                  <a:lnTo>
                    <a:pt x="141" y="740"/>
                  </a:lnTo>
                  <a:lnTo>
                    <a:pt x="154" y="702"/>
                  </a:lnTo>
                  <a:lnTo>
                    <a:pt x="193" y="614"/>
                  </a:lnTo>
                  <a:lnTo>
                    <a:pt x="213" y="578"/>
                  </a:lnTo>
                  <a:lnTo>
                    <a:pt x="253" y="508"/>
                  </a:lnTo>
                  <a:lnTo>
                    <a:pt x="275" y="466"/>
                  </a:lnTo>
                  <a:lnTo>
                    <a:pt x="279" y="453"/>
                  </a:lnTo>
                  <a:lnTo>
                    <a:pt x="297" y="436"/>
                  </a:lnTo>
                  <a:lnTo>
                    <a:pt x="305" y="434"/>
                  </a:lnTo>
                  <a:lnTo>
                    <a:pt x="312" y="433"/>
                  </a:lnTo>
                  <a:lnTo>
                    <a:pt x="322" y="419"/>
                  </a:lnTo>
                  <a:lnTo>
                    <a:pt x="324" y="408"/>
                  </a:lnTo>
                  <a:lnTo>
                    <a:pt x="331" y="390"/>
                  </a:lnTo>
                  <a:lnTo>
                    <a:pt x="403" y="305"/>
                  </a:lnTo>
                  <a:lnTo>
                    <a:pt x="507" y="200"/>
                  </a:lnTo>
                  <a:lnTo>
                    <a:pt x="602" y="116"/>
                  </a:lnTo>
                  <a:lnTo>
                    <a:pt x="629" y="99"/>
                  </a:lnTo>
                  <a:lnTo>
                    <a:pt x="684" y="74"/>
                  </a:lnTo>
                  <a:lnTo>
                    <a:pt x="759" y="40"/>
                  </a:lnTo>
                  <a:lnTo>
                    <a:pt x="783" y="28"/>
                  </a:lnTo>
                  <a:lnTo>
                    <a:pt x="832" y="14"/>
                  </a:lnTo>
                  <a:lnTo>
                    <a:pt x="916" y="1"/>
                  </a:lnTo>
                  <a:lnTo>
                    <a:pt x="998" y="0"/>
                  </a:lnTo>
                  <a:lnTo>
                    <a:pt x="1050" y="0"/>
                  </a:lnTo>
                  <a:lnTo>
                    <a:pt x="1127" y="5"/>
                  </a:lnTo>
                  <a:lnTo>
                    <a:pt x="1195" y="21"/>
                  </a:lnTo>
                  <a:lnTo>
                    <a:pt x="1273" y="53"/>
                  </a:lnTo>
                  <a:lnTo>
                    <a:pt x="1326" y="77"/>
                  </a:lnTo>
                  <a:lnTo>
                    <a:pt x="1351" y="92"/>
                  </a:lnTo>
                  <a:lnTo>
                    <a:pt x="1413" y="143"/>
                  </a:lnTo>
                  <a:lnTo>
                    <a:pt x="1476" y="210"/>
                  </a:lnTo>
                  <a:lnTo>
                    <a:pt x="1526" y="273"/>
                  </a:lnTo>
                  <a:lnTo>
                    <a:pt x="1541" y="299"/>
                  </a:lnTo>
                  <a:lnTo>
                    <a:pt x="1555" y="332"/>
                  </a:lnTo>
                  <a:lnTo>
                    <a:pt x="1564" y="318"/>
                  </a:lnTo>
                  <a:lnTo>
                    <a:pt x="1565" y="259"/>
                  </a:lnTo>
                  <a:lnTo>
                    <a:pt x="1567" y="221"/>
                  </a:lnTo>
                  <a:lnTo>
                    <a:pt x="1577" y="164"/>
                  </a:lnTo>
                  <a:lnTo>
                    <a:pt x="1584" y="155"/>
                  </a:lnTo>
                  <a:lnTo>
                    <a:pt x="1591" y="149"/>
                  </a:lnTo>
                  <a:lnTo>
                    <a:pt x="1596" y="135"/>
                  </a:lnTo>
                  <a:lnTo>
                    <a:pt x="1593" y="128"/>
                  </a:lnTo>
                  <a:lnTo>
                    <a:pt x="1593" y="119"/>
                  </a:lnTo>
                  <a:lnTo>
                    <a:pt x="1627" y="79"/>
                  </a:lnTo>
                  <a:lnTo>
                    <a:pt x="1656" y="56"/>
                  </a:lnTo>
                  <a:lnTo>
                    <a:pt x="1679" y="37"/>
                  </a:lnTo>
                  <a:lnTo>
                    <a:pt x="1717" y="14"/>
                  </a:lnTo>
                  <a:lnTo>
                    <a:pt x="1753" y="4"/>
                  </a:lnTo>
                  <a:lnTo>
                    <a:pt x="1800" y="2"/>
                  </a:lnTo>
                  <a:lnTo>
                    <a:pt x="1833" y="5"/>
                  </a:lnTo>
                  <a:lnTo>
                    <a:pt x="1889" y="11"/>
                  </a:lnTo>
                  <a:lnTo>
                    <a:pt x="1951" y="30"/>
                  </a:lnTo>
                  <a:lnTo>
                    <a:pt x="1987" y="50"/>
                  </a:lnTo>
                  <a:lnTo>
                    <a:pt x="2005" y="63"/>
                  </a:lnTo>
                  <a:lnTo>
                    <a:pt x="2069" y="112"/>
                  </a:lnTo>
                  <a:lnTo>
                    <a:pt x="2033" y="158"/>
                  </a:lnTo>
                  <a:lnTo>
                    <a:pt x="2020" y="178"/>
                  </a:lnTo>
                  <a:lnTo>
                    <a:pt x="2003" y="230"/>
                  </a:lnTo>
                  <a:lnTo>
                    <a:pt x="1997" y="286"/>
                  </a:lnTo>
                  <a:lnTo>
                    <a:pt x="2006" y="339"/>
                  </a:lnTo>
                  <a:lnTo>
                    <a:pt x="2016" y="362"/>
                  </a:lnTo>
                  <a:lnTo>
                    <a:pt x="2033" y="387"/>
                  </a:lnTo>
                  <a:lnTo>
                    <a:pt x="2156" y="516"/>
                  </a:lnTo>
                  <a:lnTo>
                    <a:pt x="2239" y="600"/>
                  </a:lnTo>
                  <a:lnTo>
                    <a:pt x="2321" y="683"/>
                  </a:lnTo>
                  <a:lnTo>
                    <a:pt x="2439" y="819"/>
                  </a:lnTo>
                  <a:lnTo>
                    <a:pt x="2457" y="848"/>
                  </a:lnTo>
                  <a:lnTo>
                    <a:pt x="2477" y="897"/>
                  </a:lnTo>
                  <a:lnTo>
                    <a:pt x="2510" y="956"/>
                  </a:lnTo>
                  <a:lnTo>
                    <a:pt x="2529" y="986"/>
                  </a:lnTo>
                  <a:lnTo>
                    <a:pt x="2562" y="1075"/>
                  </a:lnTo>
                  <a:lnTo>
                    <a:pt x="2573" y="1118"/>
                  </a:lnTo>
                  <a:lnTo>
                    <a:pt x="2594" y="1202"/>
                  </a:lnTo>
                  <a:lnTo>
                    <a:pt x="2611" y="1248"/>
                  </a:lnTo>
                  <a:lnTo>
                    <a:pt x="2618" y="1264"/>
                  </a:lnTo>
                  <a:lnTo>
                    <a:pt x="2627" y="1311"/>
                  </a:lnTo>
                  <a:lnTo>
                    <a:pt x="2627" y="1363"/>
                  </a:lnTo>
                  <a:lnTo>
                    <a:pt x="2619" y="1403"/>
                  </a:lnTo>
                  <a:lnTo>
                    <a:pt x="2614" y="1415"/>
                  </a:lnTo>
                  <a:lnTo>
                    <a:pt x="2605" y="1428"/>
                  </a:lnTo>
                  <a:lnTo>
                    <a:pt x="2583" y="1496"/>
                  </a:lnTo>
                  <a:lnTo>
                    <a:pt x="2573" y="1539"/>
                  </a:lnTo>
                  <a:lnTo>
                    <a:pt x="2562" y="1581"/>
                  </a:lnTo>
                  <a:lnTo>
                    <a:pt x="2536" y="1642"/>
                  </a:lnTo>
                  <a:lnTo>
                    <a:pt x="2524" y="1653"/>
                  </a:lnTo>
                  <a:lnTo>
                    <a:pt x="2516" y="1657"/>
                  </a:lnTo>
                  <a:lnTo>
                    <a:pt x="2503" y="1673"/>
                  </a:lnTo>
                  <a:lnTo>
                    <a:pt x="2501" y="1683"/>
                  </a:lnTo>
                  <a:lnTo>
                    <a:pt x="2494" y="1700"/>
                  </a:lnTo>
                  <a:lnTo>
                    <a:pt x="2427" y="1778"/>
                  </a:lnTo>
                  <a:lnTo>
                    <a:pt x="2331" y="1870"/>
                  </a:lnTo>
                  <a:lnTo>
                    <a:pt x="2252" y="1938"/>
                  </a:lnTo>
                  <a:lnTo>
                    <a:pt x="2235" y="1946"/>
                  </a:lnTo>
                  <a:lnTo>
                    <a:pt x="2226" y="1946"/>
                  </a:lnTo>
                  <a:lnTo>
                    <a:pt x="2215" y="1955"/>
                  </a:lnTo>
                  <a:lnTo>
                    <a:pt x="2213" y="1962"/>
                  </a:lnTo>
                  <a:lnTo>
                    <a:pt x="2209" y="1971"/>
                  </a:lnTo>
                  <a:lnTo>
                    <a:pt x="2162" y="1994"/>
                  </a:lnTo>
                  <a:lnTo>
                    <a:pt x="2087" y="2020"/>
                  </a:lnTo>
                  <a:lnTo>
                    <a:pt x="1999" y="2040"/>
                  </a:lnTo>
                  <a:lnTo>
                    <a:pt x="1956" y="2047"/>
                  </a:lnTo>
                  <a:lnTo>
                    <a:pt x="1921" y="2053"/>
                  </a:lnTo>
                  <a:lnTo>
                    <a:pt x="1869" y="2067"/>
                  </a:lnTo>
                  <a:lnTo>
                    <a:pt x="1861" y="2073"/>
                  </a:lnTo>
                  <a:lnTo>
                    <a:pt x="1852" y="2080"/>
                  </a:lnTo>
                  <a:lnTo>
                    <a:pt x="1803" y="2089"/>
                  </a:lnTo>
                  <a:lnTo>
                    <a:pt x="1741" y="2087"/>
                  </a:lnTo>
                  <a:lnTo>
                    <a:pt x="1692" y="2079"/>
                  </a:lnTo>
                  <a:lnTo>
                    <a:pt x="1682" y="2072"/>
                  </a:lnTo>
                  <a:close/>
                  <a:moveTo>
                    <a:pt x="772" y="1321"/>
                  </a:moveTo>
                  <a:lnTo>
                    <a:pt x="788" y="1300"/>
                  </a:lnTo>
                  <a:lnTo>
                    <a:pt x="815" y="1248"/>
                  </a:lnTo>
                  <a:lnTo>
                    <a:pt x="822" y="1228"/>
                  </a:lnTo>
                  <a:lnTo>
                    <a:pt x="832" y="1187"/>
                  </a:lnTo>
                  <a:lnTo>
                    <a:pt x="845" y="1163"/>
                  </a:lnTo>
                  <a:lnTo>
                    <a:pt x="852" y="1147"/>
                  </a:lnTo>
                  <a:lnTo>
                    <a:pt x="877" y="1054"/>
                  </a:lnTo>
                  <a:lnTo>
                    <a:pt x="890" y="992"/>
                  </a:lnTo>
                  <a:lnTo>
                    <a:pt x="903" y="928"/>
                  </a:lnTo>
                  <a:lnTo>
                    <a:pt x="932" y="832"/>
                  </a:lnTo>
                  <a:lnTo>
                    <a:pt x="943" y="813"/>
                  </a:lnTo>
                  <a:lnTo>
                    <a:pt x="958" y="791"/>
                  </a:lnTo>
                  <a:lnTo>
                    <a:pt x="960" y="777"/>
                  </a:lnTo>
                  <a:lnTo>
                    <a:pt x="959" y="766"/>
                  </a:lnTo>
                  <a:lnTo>
                    <a:pt x="962" y="748"/>
                  </a:lnTo>
                  <a:lnTo>
                    <a:pt x="973" y="705"/>
                  </a:lnTo>
                  <a:lnTo>
                    <a:pt x="979" y="663"/>
                  </a:lnTo>
                  <a:lnTo>
                    <a:pt x="975" y="650"/>
                  </a:lnTo>
                  <a:lnTo>
                    <a:pt x="972" y="650"/>
                  </a:lnTo>
                  <a:lnTo>
                    <a:pt x="959" y="655"/>
                  </a:lnTo>
                  <a:lnTo>
                    <a:pt x="910" y="701"/>
                  </a:lnTo>
                  <a:lnTo>
                    <a:pt x="854" y="767"/>
                  </a:lnTo>
                  <a:lnTo>
                    <a:pt x="814" y="823"/>
                  </a:lnTo>
                  <a:lnTo>
                    <a:pt x="809" y="839"/>
                  </a:lnTo>
                  <a:lnTo>
                    <a:pt x="801" y="876"/>
                  </a:lnTo>
                  <a:lnTo>
                    <a:pt x="775" y="943"/>
                  </a:lnTo>
                  <a:lnTo>
                    <a:pt x="744" y="1015"/>
                  </a:lnTo>
                  <a:lnTo>
                    <a:pt x="721" y="1079"/>
                  </a:lnTo>
                  <a:lnTo>
                    <a:pt x="713" y="1113"/>
                  </a:lnTo>
                  <a:lnTo>
                    <a:pt x="703" y="1203"/>
                  </a:lnTo>
                  <a:lnTo>
                    <a:pt x="701" y="1298"/>
                  </a:lnTo>
                  <a:lnTo>
                    <a:pt x="707" y="1350"/>
                  </a:lnTo>
                  <a:lnTo>
                    <a:pt x="713" y="1367"/>
                  </a:lnTo>
                  <a:lnTo>
                    <a:pt x="717" y="1370"/>
                  </a:lnTo>
                  <a:lnTo>
                    <a:pt x="726" y="1367"/>
                  </a:lnTo>
                  <a:lnTo>
                    <a:pt x="756" y="1340"/>
                  </a:lnTo>
                  <a:lnTo>
                    <a:pt x="772" y="1321"/>
                  </a:lnTo>
                  <a:close/>
                  <a:moveTo>
                    <a:pt x="1650" y="466"/>
                  </a:moveTo>
                  <a:lnTo>
                    <a:pt x="1634" y="446"/>
                  </a:lnTo>
                  <a:lnTo>
                    <a:pt x="1604" y="419"/>
                  </a:lnTo>
                  <a:lnTo>
                    <a:pt x="1594" y="416"/>
                  </a:lnTo>
                  <a:lnTo>
                    <a:pt x="1587" y="417"/>
                  </a:lnTo>
                  <a:lnTo>
                    <a:pt x="1590" y="429"/>
                  </a:lnTo>
                  <a:lnTo>
                    <a:pt x="1598" y="437"/>
                  </a:lnTo>
                  <a:lnTo>
                    <a:pt x="1607" y="449"/>
                  </a:lnTo>
                  <a:lnTo>
                    <a:pt x="1619" y="486"/>
                  </a:lnTo>
                  <a:lnTo>
                    <a:pt x="1620" y="506"/>
                  </a:lnTo>
                  <a:lnTo>
                    <a:pt x="1620" y="528"/>
                  </a:lnTo>
                  <a:lnTo>
                    <a:pt x="1626" y="557"/>
                  </a:lnTo>
                  <a:lnTo>
                    <a:pt x="1637" y="568"/>
                  </a:lnTo>
                  <a:lnTo>
                    <a:pt x="1655" y="560"/>
                  </a:lnTo>
                  <a:lnTo>
                    <a:pt x="1665" y="547"/>
                  </a:lnTo>
                  <a:lnTo>
                    <a:pt x="1670" y="538"/>
                  </a:lnTo>
                  <a:lnTo>
                    <a:pt x="1676" y="521"/>
                  </a:lnTo>
                  <a:lnTo>
                    <a:pt x="1669" y="493"/>
                  </a:lnTo>
                  <a:lnTo>
                    <a:pt x="1650" y="466"/>
                  </a:lnTo>
                  <a:close/>
                </a:path>
              </a:pathLst>
            </a:custGeom>
            <a:solidFill>
              <a:srgbClr val="C00000"/>
            </a:solidFill>
            <a:ln>
              <a:noFill/>
            </a:ln>
          </p:spPr>
          <p:txBody>
            <a:bodyPr vert="horz" wrap="square" lIns="91440" tIns="45720" rIns="91440" bIns="45720" numCol="1" anchor="t" anchorCtr="0" compatLnSpc="1">
              <a:prstTxWarp prst="textNoShape">
                <a:avLst/>
              </a:prstTxWarp>
            </a:bodyPr>
            <a:lstStyle/>
            <a:p>
              <a:endParaRPr lang="es-PE"/>
            </a:p>
          </p:txBody>
        </p:sp>
        <p:sp>
          <p:nvSpPr>
            <p:cNvPr id="24" name="Freeform 20"/>
            <p:cNvSpPr>
              <a:spLocks noEditPoints="1"/>
            </p:cNvSpPr>
            <p:nvPr/>
          </p:nvSpPr>
          <p:spPr bwMode="auto">
            <a:xfrm>
              <a:off x="4369709" y="1514020"/>
              <a:ext cx="1085850" cy="1787525"/>
            </a:xfrm>
            <a:custGeom>
              <a:avLst/>
              <a:gdLst>
                <a:gd name="T0" fmla="*/ 82 w 2050"/>
                <a:gd name="T1" fmla="*/ 3295 h 3378"/>
                <a:gd name="T2" fmla="*/ 16 w 2050"/>
                <a:gd name="T3" fmla="*/ 2930 h 3378"/>
                <a:gd name="T4" fmla="*/ 215 w 2050"/>
                <a:gd name="T5" fmla="*/ 2628 h 3378"/>
                <a:gd name="T6" fmla="*/ 624 w 2050"/>
                <a:gd name="T7" fmla="*/ 2279 h 3378"/>
                <a:gd name="T8" fmla="*/ 736 w 2050"/>
                <a:gd name="T9" fmla="*/ 2206 h 3378"/>
                <a:gd name="T10" fmla="*/ 856 w 2050"/>
                <a:gd name="T11" fmla="*/ 2160 h 3378"/>
                <a:gd name="T12" fmla="*/ 889 w 2050"/>
                <a:gd name="T13" fmla="*/ 2127 h 3378"/>
                <a:gd name="T14" fmla="*/ 988 w 2050"/>
                <a:gd name="T15" fmla="*/ 2071 h 3378"/>
                <a:gd name="T16" fmla="*/ 1056 w 2050"/>
                <a:gd name="T17" fmla="*/ 1577 h 3378"/>
                <a:gd name="T18" fmla="*/ 1078 w 2050"/>
                <a:gd name="T19" fmla="*/ 1328 h 3378"/>
                <a:gd name="T20" fmla="*/ 1121 w 2050"/>
                <a:gd name="T21" fmla="*/ 861 h 3378"/>
                <a:gd name="T22" fmla="*/ 1175 w 2050"/>
                <a:gd name="T23" fmla="*/ 469 h 3378"/>
                <a:gd name="T24" fmla="*/ 1222 w 2050"/>
                <a:gd name="T25" fmla="*/ 264 h 3378"/>
                <a:gd name="T26" fmla="*/ 1284 w 2050"/>
                <a:gd name="T27" fmla="*/ 147 h 3378"/>
                <a:gd name="T28" fmla="*/ 1327 w 2050"/>
                <a:gd name="T29" fmla="*/ 72 h 3378"/>
                <a:gd name="T30" fmla="*/ 1422 w 2050"/>
                <a:gd name="T31" fmla="*/ 6 h 3378"/>
                <a:gd name="T32" fmla="*/ 1564 w 2050"/>
                <a:gd name="T33" fmla="*/ 39 h 3378"/>
                <a:gd name="T34" fmla="*/ 1652 w 2050"/>
                <a:gd name="T35" fmla="*/ 163 h 3378"/>
                <a:gd name="T36" fmla="*/ 1646 w 2050"/>
                <a:gd name="T37" fmla="*/ 412 h 3378"/>
                <a:gd name="T38" fmla="*/ 1587 w 2050"/>
                <a:gd name="T39" fmla="*/ 691 h 3378"/>
                <a:gd name="T40" fmla="*/ 1546 w 2050"/>
                <a:gd name="T41" fmla="*/ 994 h 3378"/>
                <a:gd name="T42" fmla="*/ 1488 w 2050"/>
                <a:gd name="T43" fmla="*/ 1532 h 3378"/>
                <a:gd name="T44" fmla="*/ 1440 w 2050"/>
                <a:gd name="T45" fmla="*/ 1847 h 3378"/>
                <a:gd name="T46" fmla="*/ 1688 w 2050"/>
                <a:gd name="T47" fmla="*/ 1990 h 3378"/>
                <a:gd name="T48" fmla="*/ 2004 w 2050"/>
                <a:gd name="T49" fmla="*/ 2091 h 3378"/>
                <a:gd name="T50" fmla="*/ 2050 w 2050"/>
                <a:gd name="T51" fmla="*/ 2200 h 3378"/>
                <a:gd name="T52" fmla="*/ 2028 w 2050"/>
                <a:gd name="T53" fmla="*/ 2315 h 3378"/>
                <a:gd name="T54" fmla="*/ 1934 w 2050"/>
                <a:gd name="T55" fmla="*/ 2377 h 3378"/>
                <a:gd name="T56" fmla="*/ 1334 w 2050"/>
                <a:gd name="T57" fmla="*/ 2386 h 3378"/>
                <a:gd name="T58" fmla="*/ 1299 w 2050"/>
                <a:gd name="T59" fmla="*/ 2462 h 3378"/>
                <a:gd name="T60" fmla="*/ 1250 w 2050"/>
                <a:gd name="T61" fmla="*/ 2560 h 3378"/>
                <a:gd name="T62" fmla="*/ 1148 w 2050"/>
                <a:gd name="T63" fmla="*/ 2775 h 3378"/>
                <a:gd name="T64" fmla="*/ 955 w 2050"/>
                <a:gd name="T65" fmla="*/ 3037 h 3378"/>
                <a:gd name="T66" fmla="*/ 689 w 2050"/>
                <a:gd name="T67" fmla="*/ 3261 h 3378"/>
                <a:gd name="T68" fmla="*/ 493 w 2050"/>
                <a:gd name="T69" fmla="*/ 3348 h 3378"/>
                <a:gd name="T70" fmla="*/ 324 w 2050"/>
                <a:gd name="T71" fmla="*/ 3378 h 3378"/>
                <a:gd name="T72" fmla="*/ 432 w 2050"/>
                <a:gd name="T73" fmla="*/ 3110 h 3378"/>
                <a:gd name="T74" fmla="*/ 542 w 2050"/>
                <a:gd name="T75" fmla="*/ 3041 h 3378"/>
                <a:gd name="T76" fmla="*/ 732 w 2050"/>
                <a:gd name="T77" fmla="*/ 2831 h 3378"/>
                <a:gd name="T78" fmla="*/ 779 w 2050"/>
                <a:gd name="T79" fmla="*/ 2737 h 3378"/>
                <a:gd name="T80" fmla="*/ 883 w 2050"/>
                <a:gd name="T81" fmla="*/ 2488 h 3378"/>
                <a:gd name="T82" fmla="*/ 791 w 2050"/>
                <a:gd name="T83" fmla="*/ 2500 h 3378"/>
                <a:gd name="T84" fmla="*/ 729 w 2050"/>
                <a:gd name="T85" fmla="*/ 2543 h 3378"/>
                <a:gd name="T86" fmla="*/ 559 w 2050"/>
                <a:gd name="T87" fmla="*/ 2658 h 3378"/>
                <a:gd name="T88" fmla="*/ 424 w 2050"/>
                <a:gd name="T89" fmla="*/ 2757 h 3378"/>
                <a:gd name="T90" fmla="*/ 370 w 2050"/>
                <a:gd name="T91" fmla="*/ 2844 h 3378"/>
                <a:gd name="T92" fmla="*/ 219 w 2050"/>
                <a:gd name="T93" fmla="*/ 3066 h 3378"/>
                <a:gd name="T94" fmla="*/ 215 w 2050"/>
                <a:gd name="T95" fmla="*/ 3143 h 3378"/>
                <a:gd name="T96" fmla="*/ 399 w 2050"/>
                <a:gd name="T97" fmla="*/ 3125 h 33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050" h="3378">
                  <a:moveTo>
                    <a:pt x="212" y="3374"/>
                  </a:moveTo>
                  <a:lnTo>
                    <a:pt x="189" y="3368"/>
                  </a:lnTo>
                  <a:lnTo>
                    <a:pt x="118" y="3325"/>
                  </a:lnTo>
                  <a:lnTo>
                    <a:pt x="82" y="3295"/>
                  </a:lnTo>
                  <a:lnTo>
                    <a:pt x="0" y="3221"/>
                  </a:lnTo>
                  <a:lnTo>
                    <a:pt x="0" y="3090"/>
                  </a:lnTo>
                  <a:lnTo>
                    <a:pt x="0" y="3031"/>
                  </a:lnTo>
                  <a:lnTo>
                    <a:pt x="16" y="2930"/>
                  </a:lnTo>
                  <a:lnTo>
                    <a:pt x="55" y="2838"/>
                  </a:lnTo>
                  <a:lnTo>
                    <a:pt x="121" y="2739"/>
                  </a:lnTo>
                  <a:lnTo>
                    <a:pt x="169" y="2681"/>
                  </a:lnTo>
                  <a:lnTo>
                    <a:pt x="215" y="2628"/>
                  </a:lnTo>
                  <a:lnTo>
                    <a:pt x="339" y="2505"/>
                  </a:lnTo>
                  <a:lnTo>
                    <a:pt x="471" y="2387"/>
                  </a:lnTo>
                  <a:lnTo>
                    <a:pt x="586" y="2301"/>
                  </a:lnTo>
                  <a:lnTo>
                    <a:pt x="624" y="2279"/>
                  </a:lnTo>
                  <a:lnTo>
                    <a:pt x="670" y="2255"/>
                  </a:lnTo>
                  <a:lnTo>
                    <a:pt x="687" y="2239"/>
                  </a:lnTo>
                  <a:lnTo>
                    <a:pt x="694" y="2230"/>
                  </a:lnTo>
                  <a:lnTo>
                    <a:pt x="736" y="2206"/>
                  </a:lnTo>
                  <a:lnTo>
                    <a:pt x="792" y="2179"/>
                  </a:lnTo>
                  <a:lnTo>
                    <a:pt x="840" y="2160"/>
                  </a:lnTo>
                  <a:lnTo>
                    <a:pt x="851" y="2160"/>
                  </a:lnTo>
                  <a:lnTo>
                    <a:pt x="856" y="2160"/>
                  </a:lnTo>
                  <a:lnTo>
                    <a:pt x="863" y="2153"/>
                  </a:lnTo>
                  <a:lnTo>
                    <a:pt x="864" y="2147"/>
                  </a:lnTo>
                  <a:lnTo>
                    <a:pt x="866" y="2140"/>
                  </a:lnTo>
                  <a:lnTo>
                    <a:pt x="889" y="2127"/>
                  </a:lnTo>
                  <a:lnTo>
                    <a:pt x="905" y="2121"/>
                  </a:lnTo>
                  <a:lnTo>
                    <a:pt x="938" y="2112"/>
                  </a:lnTo>
                  <a:lnTo>
                    <a:pt x="972" y="2092"/>
                  </a:lnTo>
                  <a:lnTo>
                    <a:pt x="988" y="2071"/>
                  </a:lnTo>
                  <a:lnTo>
                    <a:pt x="1007" y="2020"/>
                  </a:lnTo>
                  <a:lnTo>
                    <a:pt x="1026" y="1898"/>
                  </a:lnTo>
                  <a:lnTo>
                    <a:pt x="1034" y="1803"/>
                  </a:lnTo>
                  <a:lnTo>
                    <a:pt x="1056" y="1577"/>
                  </a:lnTo>
                  <a:lnTo>
                    <a:pt x="1062" y="1440"/>
                  </a:lnTo>
                  <a:lnTo>
                    <a:pt x="1063" y="1398"/>
                  </a:lnTo>
                  <a:lnTo>
                    <a:pt x="1072" y="1338"/>
                  </a:lnTo>
                  <a:lnTo>
                    <a:pt x="1078" y="1328"/>
                  </a:lnTo>
                  <a:lnTo>
                    <a:pt x="1085" y="1312"/>
                  </a:lnTo>
                  <a:lnTo>
                    <a:pt x="1101" y="1191"/>
                  </a:lnTo>
                  <a:lnTo>
                    <a:pt x="1105" y="1106"/>
                  </a:lnTo>
                  <a:lnTo>
                    <a:pt x="1121" y="861"/>
                  </a:lnTo>
                  <a:lnTo>
                    <a:pt x="1147" y="596"/>
                  </a:lnTo>
                  <a:lnTo>
                    <a:pt x="1161" y="497"/>
                  </a:lnTo>
                  <a:lnTo>
                    <a:pt x="1168" y="482"/>
                  </a:lnTo>
                  <a:lnTo>
                    <a:pt x="1175" y="469"/>
                  </a:lnTo>
                  <a:lnTo>
                    <a:pt x="1188" y="415"/>
                  </a:lnTo>
                  <a:lnTo>
                    <a:pt x="1196" y="382"/>
                  </a:lnTo>
                  <a:lnTo>
                    <a:pt x="1201" y="341"/>
                  </a:lnTo>
                  <a:lnTo>
                    <a:pt x="1222" y="264"/>
                  </a:lnTo>
                  <a:lnTo>
                    <a:pt x="1243" y="199"/>
                  </a:lnTo>
                  <a:lnTo>
                    <a:pt x="1266" y="157"/>
                  </a:lnTo>
                  <a:lnTo>
                    <a:pt x="1276" y="151"/>
                  </a:lnTo>
                  <a:lnTo>
                    <a:pt x="1284" y="147"/>
                  </a:lnTo>
                  <a:lnTo>
                    <a:pt x="1295" y="131"/>
                  </a:lnTo>
                  <a:lnTo>
                    <a:pt x="1296" y="122"/>
                  </a:lnTo>
                  <a:lnTo>
                    <a:pt x="1299" y="109"/>
                  </a:lnTo>
                  <a:lnTo>
                    <a:pt x="1327" y="72"/>
                  </a:lnTo>
                  <a:lnTo>
                    <a:pt x="1347" y="52"/>
                  </a:lnTo>
                  <a:lnTo>
                    <a:pt x="1361" y="39"/>
                  </a:lnTo>
                  <a:lnTo>
                    <a:pt x="1392" y="19"/>
                  </a:lnTo>
                  <a:lnTo>
                    <a:pt x="1422" y="6"/>
                  </a:lnTo>
                  <a:lnTo>
                    <a:pt x="1455" y="0"/>
                  </a:lnTo>
                  <a:lnTo>
                    <a:pt x="1487" y="1"/>
                  </a:lnTo>
                  <a:lnTo>
                    <a:pt x="1518" y="12"/>
                  </a:lnTo>
                  <a:lnTo>
                    <a:pt x="1564" y="39"/>
                  </a:lnTo>
                  <a:lnTo>
                    <a:pt x="1595" y="68"/>
                  </a:lnTo>
                  <a:lnTo>
                    <a:pt x="1615" y="89"/>
                  </a:lnTo>
                  <a:lnTo>
                    <a:pt x="1641" y="124"/>
                  </a:lnTo>
                  <a:lnTo>
                    <a:pt x="1652" y="163"/>
                  </a:lnTo>
                  <a:lnTo>
                    <a:pt x="1655" y="225"/>
                  </a:lnTo>
                  <a:lnTo>
                    <a:pt x="1657" y="271"/>
                  </a:lnTo>
                  <a:lnTo>
                    <a:pt x="1655" y="327"/>
                  </a:lnTo>
                  <a:lnTo>
                    <a:pt x="1646" y="412"/>
                  </a:lnTo>
                  <a:lnTo>
                    <a:pt x="1639" y="428"/>
                  </a:lnTo>
                  <a:lnTo>
                    <a:pt x="1632" y="441"/>
                  </a:lnTo>
                  <a:lnTo>
                    <a:pt x="1615" y="513"/>
                  </a:lnTo>
                  <a:lnTo>
                    <a:pt x="1587" y="691"/>
                  </a:lnTo>
                  <a:lnTo>
                    <a:pt x="1573" y="840"/>
                  </a:lnTo>
                  <a:lnTo>
                    <a:pt x="1567" y="899"/>
                  </a:lnTo>
                  <a:lnTo>
                    <a:pt x="1551" y="981"/>
                  </a:lnTo>
                  <a:lnTo>
                    <a:pt x="1546" y="994"/>
                  </a:lnTo>
                  <a:lnTo>
                    <a:pt x="1538" y="1018"/>
                  </a:lnTo>
                  <a:lnTo>
                    <a:pt x="1514" y="1228"/>
                  </a:lnTo>
                  <a:lnTo>
                    <a:pt x="1501" y="1379"/>
                  </a:lnTo>
                  <a:lnTo>
                    <a:pt x="1488" y="1532"/>
                  </a:lnTo>
                  <a:lnTo>
                    <a:pt x="1465" y="1748"/>
                  </a:lnTo>
                  <a:lnTo>
                    <a:pt x="1458" y="1775"/>
                  </a:lnTo>
                  <a:lnTo>
                    <a:pt x="1451" y="1788"/>
                  </a:lnTo>
                  <a:lnTo>
                    <a:pt x="1440" y="1847"/>
                  </a:lnTo>
                  <a:lnTo>
                    <a:pt x="1438" y="1883"/>
                  </a:lnTo>
                  <a:lnTo>
                    <a:pt x="1433" y="1974"/>
                  </a:lnTo>
                  <a:lnTo>
                    <a:pt x="1609" y="1984"/>
                  </a:lnTo>
                  <a:lnTo>
                    <a:pt x="1688" y="1990"/>
                  </a:lnTo>
                  <a:lnTo>
                    <a:pt x="1815" y="2009"/>
                  </a:lnTo>
                  <a:lnTo>
                    <a:pt x="1909" y="2033"/>
                  </a:lnTo>
                  <a:lnTo>
                    <a:pt x="1978" y="2069"/>
                  </a:lnTo>
                  <a:lnTo>
                    <a:pt x="2004" y="2091"/>
                  </a:lnTo>
                  <a:lnTo>
                    <a:pt x="2018" y="2107"/>
                  </a:lnTo>
                  <a:lnTo>
                    <a:pt x="2038" y="2133"/>
                  </a:lnTo>
                  <a:lnTo>
                    <a:pt x="2048" y="2161"/>
                  </a:lnTo>
                  <a:lnTo>
                    <a:pt x="2050" y="2200"/>
                  </a:lnTo>
                  <a:lnTo>
                    <a:pt x="2048" y="2226"/>
                  </a:lnTo>
                  <a:lnTo>
                    <a:pt x="2047" y="2251"/>
                  </a:lnTo>
                  <a:lnTo>
                    <a:pt x="2040" y="2288"/>
                  </a:lnTo>
                  <a:lnTo>
                    <a:pt x="2028" y="2315"/>
                  </a:lnTo>
                  <a:lnTo>
                    <a:pt x="2006" y="2338"/>
                  </a:lnTo>
                  <a:lnTo>
                    <a:pt x="1992" y="2350"/>
                  </a:lnTo>
                  <a:lnTo>
                    <a:pt x="1975" y="2363"/>
                  </a:lnTo>
                  <a:lnTo>
                    <a:pt x="1934" y="2377"/>
                  </a:lnTo>
                  <a:lnTo>
                    <a:pt x="1815" y="2386"/>
                  </a:lnTo>
                  <a:lnTo>
                    <a:pt x="1628" y="2383"/>
                  </a:lnTo>
                  <a:lnTo>
                    <a:pt x="1440" y="2379"/>
                  </a:lnTo>
                  <a:lnTo>
                    <a:pt x="1334" y="2386"/>
                  </a:lnTo>
                  <a:lnTo>
                    <a:pt x="1314" y="2399"/>
                  </a:lnTo>
                  <a:lnTo>
                    <a:pt x="1314" y="2409"/>
                  </a:lnTo>
                  <a:lnTo>
                    <a:pt x="1312" y="2425"/>
                  </a:lnTo>
                  <a:lnTo>
                    <a:pt x="1299" y="2462"/>
                  </a:lnTo>
                  <a:lnTo>
                    <a:pt x="1289" y="2478"/>
                  </a:lnTo>
                  <a:lnTo>
                    <a:pt x="1269" y="2508"/>
                  </a:lnTo>
                  <a:lnTo>
                    <a:pt x="1262" y="2527"/>
                  </a:lnTo>
                  <a:lnTo>
                    <a:pt x="1250" y="2560"/>
                  </a:lnTo>
                  <a:lnTo>
                    <a:pt x="1204" y="2672"/>
                  </a:lnTo>
                  <a:lnTo>
                    <a:pt x="1188" y="2703"/>
                  </a:lnTo>
                  <a:lnTo>
                    <a:pt x="1168" y="2733"/>
                  </a:lnTo>
                  <a:lnTo>
                    <a:pt x="1148" y="2775"/>
                  </a:lnTo>
                  <a:lnTo>
                    <a:pt x="1131" y="2809"/>
                  </a:lnTo>
                  <a:lnTo>
                    <a:pt x="1085" y="2883"/>
                  </a:lnTo>
                  <a:lnTo>
                    <a:pt x="1026" y="2958"/>
                  </a:lnTo>
                  <a:lnTo>
                    <a:pt x="955" y="3037"/>
                  </a:lnTo>
                  <a:lnTo>
                    <a:pt x="915" y="3077"/>
                  </a:lnTo>
                  <a:lnTo>
                    <a:pt x="864" y="3125"/>
                  </a:lnTo>
                  <a:lnTo>
                    <a:pt x="772" y="3204"/>
                  </a:lnTo>
                  <a:lnTo>
                    <a:pt x="689" y="3261"/>
                  </a:lnTo>
                  <a:lnTo>
                    <a:pt x="610" y="3303"/>
                  </a:lnTo>
                  <a:lnTo>
                    <a:pt x="571" y="3316"/>
                  </a:lnTo>
                  <a:lnTo>
                    <a:pt x="539" y="3326"/>
                  </a:lnTo>
                  <a:lnTo>
                    <a:pt x="493" y="3348"/>
                  </a:lnTo>
                  <a:lnTo>
                    <a:pt x="484" y="3355"/>
                  </a:lnTo>
                  <a:lnTo>
                    <a:pt x="474" y="3361"/>
                  </a:lnTo>
                  <a:lnTo>
                    <a:pt x="412" y="3372"/>
                  </a:lnTo>
                  <a:lnTo>
                    <a:pt x="324" y="3378"/>
                  </a:lnTo>
                  <a:lnTo>
                    <a:pt x="241" y="3378"/>
                  </a:lnTo>
                  <a:lnTo>
                    <a:pt x="212" y="3374"/>
                  </a:lnTo>
                  <a:close/>
                  <a:moveTo>
                    <a:pt x="399" y="3125"/>
                  </a:moveTo>
                  <a:lnTo>
                    <a:pt x="432" y="3110"/>
                  </a:lnTo>
                  <a:lnTo>
                    <a:pt x="484" y="3083"/>
                  </a:lnTo>
                  <a:lnTo>
                    <a:pt x="494" y="3071"/>
                  </a:lnTo>
                  <a:lnTo>
                    <a:pt x="516" y="3054"/>
                  </a:lnTo>
                  <a:lnTo>
                    <a:pt x="542" y="3041"/>
                  </a:lnTo>
                  <a:lnTo>
                    <a:pt x="558" y="3031"/>
                  </a:lnTo>
                  <a:lnTo>
                    <a:pt x="618" y="2972"/>
                  </a:lnTo>
                  <a:lnTo>
                    <a:pt x="686" y="2894"/>
                  </a:lnTo>
                  <a:lnTo>
                    <a:pt x="732" y="2831"/>
                  </a:lnTo>
                  <a:lnTo>
                    <a:pt x="738" y="2816"/>
                  </a:lnTo>
                  <a:lnTo>
                    <a:pt x="741" y="2805"/>
                  </a:lnTo>
                  <a:lnTo>
                    <a:pt x="762" y="2762"/>
                  </a:lnTo>
                  <a:lnTo>
                    <a:pt x="779" y="2737"/>
                  </a:lnTo>
                  <a:lnTo>
                    <a:pt x="797" y="2708"/>
                  </a:lnTo>
                  <a:lnTo>
                    <a:pt x="836" y="2629"/>
                  </a:lnTo>
                  <a:lnTo>
                    <a:pt x="867" y="2547"/>
                  </a:lnTo>
                  <a:lnTo>
                    <a:pt x="883" y="2488"/>
                  </a:lnTo>
                  <a:lnTo>
                    <a:pt x="880" y="2478"/>
                  </a:lnTo>
                  <a:lnTo>
                    <a:pt x="872" y="2475"/>
                  </a:lnTo>
                  <a:lnTo>
                    <a:pt x="836" y="2484"/>
                  </a:lnTo>
                  <a:lnTo>
                    <a:pt x="791" y="2500"/>
                  </a:lnTo>
                  <a:lnTo>
                    <a:pt x="759" y="2517"/>
                  </a:lnTo>
                  <a:lnTo>
                    <a:pt x="756" y="2524"/>
                  </a:lnTo>
                  <a:lnTo>
                    <a:pt x="754" y="2530"/>
                  </a:lnTo>
                  <a:lnTo>
                    <a:pt x="729" y="2543"/>
                  </a:lnTo>
                  <a:lnTo>
                    <a:pt x="713" y="2549"/>
                  </a:lnTo>
                  <a:lnTo>
                    <a:pt x="690" y="2557"/>
                  </a:lnTo>
                  <a:lnTo>
                    <a:pt x="607" y="2616"/>
                  </a:lnTo>
                  <a:lnTo>
                    <a:pt x="559" y="2658"/>
                  </a:lnTo>
                  <a:lnTo>
                    <a:pt x="514" y="2697"/>
                  </a:lnTo>
                  <a:lnTo>
                    <a:pt x="444" y="2752"/>
                  </a:lnTo>
                  <a:lnTo>
                    <a:pt x="432" y="2757"/>
                  </a:lnTo>
                  <a:lnTo>
                    <a:pt x="424" y="2757"/>
                  </a:lnTo>
                  <a:lnTo>
                    <a:pt x="415" y="2769"/>
                  </a:lnTo>
                  <a:lnTo>
                    <a:pt x="414" y="2776"/>
                  </a:lnTo>
                  <a:lnTo>
                    <a:pt x="409" y="2789"/>
                  </a:lnTo>
                  <a:lnTo>
                    <a:pt x="370" y="2844"/>
                  </a:lnTo>
                  <a:lnTo>
                    <a:pt x="342" y="2877"/>
                  </a:lnTo>
                  <a:lnTo>
                    <a:pt x="311" y="2913"/>
                  </a:lnTo>
                  <a:lnTo>
                    <a:pt x="258" y="2991"/>
                  </a:lnTo>
                  <a:lnTo>
                    <a:pt x="219" y="3066"/>
                  </a:lnTo>
                  <a:lnTo>
                    <a:pt x="205" y="3109"/>
                  </a:lnTo>
                  <a:lnTo>
                    <a:pt x="203" y="3129"/>
                  </a:lnTo>
                  <a:lnTo>
                    <a:pt x="206" y="3135"/>
                  </a:lnTo>
                  <a:lnTo>
                    <a:pt x="215" y="3143"/>
                  </a:lnTo>
                  <a:lnTo>
                    <a:pt x="251" y="3152"/>
                  </a:lnTo>
                  <a:lnTo>
                    <a:pt x="304" y="3149"/>
                  </a:lnTo>
                  <a:lnTo>
                    <a:pt x="366" y="3135"/>
                  </a:lnTo>
                  <a:lnTo>
                    <a:pt x="399" y="3125"/>
                  </a:lnTo>
                  <a:close/>
                </a:path>
              </a:pathLst>
            </a:custGeom>
            <a:solidFill>
              <a:srgbClr val="C00000"/>
            </a:solidFill>
            <a:ln>
              <a:noFill/>
            </a:ln>
          </p:spPr>
          <p:txBody>
            <a:bodyPr vert="horz" wrap="square" lIns="91440" tIns="45720" rIns="91440" bIns="45720" numCol="1" anchor="t" anchorCtr="0" compatLnSpc="1">
              <a:prstTxWarp prst="textNoShape">
                <a:avLst/>
              </a:prstTxWarp>
            </a:bodyPr>
            <a:lstStyle/>
            <a:p>
              <a:endParaRPr lang="es-PE"/>
            </a:p>
          </p:txBody>
        </p:sp>
        <p:sp>
          <p:nvSpPr>
            <p:cNvPr id="25" name="Freeform 21"/>
            <p:cNvSpPr>
              <a:spLocks noEditPoints="1"/>
            </p:cNvSpPr>
            <p:nvPr/>
          </p:nvSpPr>
          <p:spPr bwMode="auto">
            <a:xfrm>
              <a:off x="1907496" y="1344158"/>
              <a:ext cx="2381250" cy="1931988"/>
            </a:xfrm>
            <a:custGeom>
              <a:avLst/>
              <a:gdLst>
                <a:gd name="T0" fmla="*/ 3 w 4498"/>
                <a:gd name="T1" fmla="*/ 3408 h 3653"/>
                <a:gd name="T2" fmla="*/ 154 w 4498"/>
                <a:gd name="T3" fmla="*/ 3356 h 3653"/>
                <a:gd name="T4" fmla="*/ 863 w 4498"/>
                <a:gd name="T5" fmla="*/ 3019 h 3653"/>
                <a:gd name="T6" fmla="*/ 1566 w 4498"/>
                <a:gd name="T7" fmla="*/ 2256 h 3653"/>
                <a:gd name="T8" fmla="*/ 1828 w 4498"/>
                <a:gd name="T9" fmla="*/ 1930 h 3653"/>
                <a:gd name="T10" fmla="*/ 1970 w 4498"/>
                <a:gd name="T11" fmla="*/ 1748 h 3653"/>
                <a:gd name="T12" fmla="*/ 2096 w 4498"/>
                <a:gd name="T13" fmla="*/ 1475 h 3653"/>
                <a:gd name="T14" fmla="*/ 1868 w 4498"/>
                <a:gd name="T15" fmla="*/ 1318 h 3653"/>
                <a:gd name="T16" fmla="*/ 1701 w 4498"/>
                <a:gd name="T17" fmla="*/ 1048 h 3653"/>
                <a:gd name="T18" fmla="*/ 2054 w 4498"/>
                <a:gd name="T19" fmla="*/ 534 h 3653"/>
                <a:gd name="T20" fmla="*/ 2585 w 4498"/>
                <a:gd name="T21" fmla="*/ 296 h 3653"/>
                <a:gd name="T22" fmla="*/ 2745 w 4498"/>
                <a:gd name="T23" fmla="*/ 250 h 3653"/>
                <a:gd name="T24" fmla="*/ 3004 w 4498"/>
                <a:gd name="T25" fmla="*/ 260 h 3653"/>
                <a:gd name="T26" fmla="*/ 3192 w 4498"/>
                <a:gd name="T27" fmla="*/ 467 h 3653"/>
                <a:gd name="T28" fmla="*/ 3050 w 4498"/>
                <a:gd name="T29" fmla="*/ 910 h 3653"/>
                <a:gd name="T30" fmla="*/ 2870 w 4498"/>
                <a:gd name="T31" fmla="*/ 1432 h 3653"/>
                <a:gd name="T32" fmla="*/ 2758 w 4498"/>
                <a:gd name="T33" fmla="*/ 1828 h 3653"/>
                <a:gd name="T34" fmla="*/ 2676 w 4498"/>
                <a:gd name="T35" fmla="*/ 2188 h 3653"/>
                <a:gd name="T36" fmla="*/ 2670 w 4498"/>
                <a:gd name="T37" fmla="*/ 2359 h 3653"/>
                <a:gd name="T38" fmla="*/ 3029 w 4498"/>
                <a:gd name="T39" fmla="*/ 1726 h 3653"/>
                <a:gd name="T40" fmla="*/ 3072 w 4498"/>
                <a:gd name="T41" fmla="*/ 1660 h 3653"/>
                <a:gd name="T42" fmla="*/ 3374 w 4498"/>
                <a:gd name="T43" fmla="*/ 1180 h 3653"/>
                <a:gd name="T44" fmla="*/ 3526 w 4498"/>
                <a:gd name="T45" fmla="*/ 954 h 3653"/>
                <a:gd name="T46" fmla="*/ 3681 w 4498"/>
                <a:gd name="T47" fmla="*/ 706 h 3653"/>
                <a:gd name="T48" fmla="*/ 3825 w 4498"/>
                <a:gd name="T49" fmla="*/ 506 h 3653"/>
                <a:gd name="T50" fmla="*/ 4223 w 4498"/>
                <a:gd name="T51" fmla="*/ 18 h 3653"/>
                <a:gd name="T52" fmla="*/ 4491 w 4498"/>
                <a:gd name="T53" fmla="*/ 113 h 3653"/>
                <a:gd name="T54" fmla="*/ 4256 w 4498"/>
                <a:gd name="T55" fmla="*/ 745 h 3653"/>
                <a:gd name="T56" fmla="*/ 4131 w 4498"/>
                <a:gd name="T57" fmla="*/ 1030 h 3653"/>
                <a:gd name="T58" fmla="*/ 4070 w 4498"/>
                <a:gd name="T59" fmla="*/ 1203 h 3653"/>
                <a:gd name="T60" fmla="*/ 3975 w 4498"/>
                <a:gd name="T61" fmla="*/ 1406 h 3653"/>
                <a:gd name="T62" fmla="*/ 3915 w 4498"/>
                <a:gd name="T63" fmla="*/ 1676 h 3653"/>
                <a:gd name="T64" fmla="*/ 3858 w 4498"/>
                <a:gd name="T65" fmla="*/ 2436 h 3653"/>
                <a:gd name="T66" fmla="*/ 3969 w 4498"/>
                <a:gd name="T67" fmla="*/ 2668 h 3653"/>
                <a:gd name="T68" fmla="*/ 4216 w 4498"/>
                <a:gd name="T69" fmla="*/ 2875 h 3653"/>
                <a:gd name="T70" fmla="*/ 3949 w 4498"/>
                <a:gd name="T71" fmla="*/ 3006 h 3653"/>
                <a:gd name="T72" fmla="*/ 3652 w 4498"/>
                <a:gd name="T73" fmla="*/ 2814 h 3653"/>
                <a:gd name="T74" fmla="*/ 3508 w 4498"/>
                <a:gd name="T75" fmla="*/ 2505 h 3653"/>
                <a:gd name="T76" fmla="*/ 3516 w 4498"/>
                <a:gd name="T77" fmla="*/ 1650 h 3653"/>
                <a:gd name="T78" fmla="*/ 3627 w 4498"/>
                <a:gd name="T79" fmla="*/ 1235 h 3653"/>
                <a:gd name="T80" fmla="*/ 3416 w 4498"/>
                <a:gd name="T81" fmla="*/ 1557 h 3653"/>
                <a:gd name="T82" fmla="*/ 2834 w 4498"/>
                <a:gd name="T83" fmla="*/ 2781 h 3653"/>
                <a:gd name="T84" fmla="*/ 2631 w 4498"/>
                <a:gd name="T85" fmla="*/ 2989 h 3653"/>
                <a:gd name="T86" fmla="*/ 2286 w 4498"/>
                <a:gd name="T87" fmla="*/ 2303 h 3653"/>
                <a:gd name="T88" fmla="*/ 2395 w 4498"/>
                <a:gd name="T89" fmla="*/ 1707 h 3653"/>
                <a:gd name="T90" fmla="*/ 2502 w 4498"/>
                <a:gd name="T91" fmla="*/ 1353 h 3653"/>
                <a:gd name="T92" fmla="*/ 2300 w 4498"/>
                <a:gd name="T93" fmla="*/ 1671 h 3653"/>
                <a:gd name="T94" fmla="*/ 2077 w 4498"/>
                <a:gd name="T95" fmla="*/ 2063 h 3653"/>
                <a:gd name="T96" fmla="*/ 1862 w 4498"/>
                <a:gd name="T97" fmla="*/ 2411 h 3653"/>
                <a:gd name="T98" fmla="*/ 1632 w 4498"/>
                <a:gd name="T99" fmla="*/ 2719 h 3653"/>
                <a:gd name="T100" fmla="*/ 1115 w 4498"/>
                <a:gd name="T101" fmla="*/ 3265 h 3653"/>
                <a:gd name="T102" fmla="*/ 713 w 4498"/>
                <a:gd name="T103" fmla="*/ 3537 h 3653"/>
                <a:gd name="T104" fmla="*/ 105 w 4498"/>
                <a:gd name="T105" fmla="*/ 3637 h 3653"/>
                <a:gd name="T106" fmla="*/ 2675 w 4498"/>
                <a:gd name="T107" fmla="*/ 686 h 3653"/>
                <a:gd name="T108" fmla="*/ 2716 w 4498"/>
                <a:gd name="T109" fmla="*/ 577 h 3653"/>
                <a:gd name="T110" fmla="*/ 2207 w 4498"/>
                <a:gd name="T111" fmla="*/ 884 h 3653"/>
                <a:gd name="T112" fmla="*/ 2038 w 4498"/>
                <a:gd name="T113" fmla="*/ 1110 h 3653"/>
                <a:gd name="T114" fmla="*/ 2215 w 4498"/>
                <a:gd name="T115" fmla="*/ 1268 h 3653"/>
                <a:gd name="T116" fmla="*/ 2522 w 4498"/>
                <a:gd name="T117" fmla="*/ 1244 h 3653"/>
                <a:gd name="T118" fmla="*/ 2529 w 4498"/>
                <a:gd name="T119" fmla="*/ 1269 h 3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498" h="3653">
                  <a:moveTo>
                    <a:pt x="105" y="3637"/>
                  </a:moveTo>
                  <a:lnTo>
                    <a:pt x="90" y="3629"/>
                  </a:lnTo>
                  <a:lnTo>
                    <a:pt x="59" y="3604"/>
                  </a:lnTo>
                  <a:lnTo>
                    <a:pt x="35" y="3570"/>
                  </a:lnTo>
                  <a:lnTo>
                    <a:pt x="16" y="3532"/>
                  </a:lnTo>
                  <a:lnTo>
                    <a:pt x="5" y="3490"/>
                  </a:lnTo>
                  <a:lnTo>
                    <a:pt x="0" y="3448"/>
                  </a:lnTo>
                  <a:lnTo>
                    <a:pt x="3" y="3408"/>
                  </a:lnTo>
                  <a:lnTo>
                    <a:pt x="16" y="3373"/>
                  </a:lnTo>
                  <a:lnTo>
                    <a:pt x="26" y="3360"/>
                  </a:lnTo>
                  <a:lnTo>
                    <a:pt x="38" y="3347"/>
                  </a:lnTo>
                  <a:lnTo>
                    <a:pt x="68" y="3333"/>
                  </a:lnTo>
                  <a:lnTo>
                    <a:pt x="102" y="3331"/>
                  </a:lnTo>
                  <a:lnTo>
                    <a:pt x="134" y="3340"/>
                  </a:lnTo>
                  <a:lnTo>
                    <a:pt x="147" y="3350"/>
                  </a:lnTo>
                  <a:lnTo>
                    <a:pt x="154" y="3356"/>
                  </a:lnTo>
                  <a:lnTo>
                    <a:pt x="182" y="3362"/>
                  </a:lnTo>
                  <a:lnTo>
                    <a:pt x="244" y="3359"/>
                  </a:lnTo>
                  <a:lnTo>
                    <a:pt x="352" y="3336"/>
                  </a:lnTo>
                  <a:lnTo>
                    <a:pt x="463" y="3297"/>
                  </a:lnTo>
                  <a:lnTo>
                    <a:pt x="509" y="3274"/>
                  </a:lnTo>
                  <a:lnTo>
                    <a:pt x="583" y="3229"/>
                  </a:lnTo>
                  <a:lnTo>
                    <a:pt x="756" y="3107"/>
                  </a:lnTo>
                  <a:lnTo>
                    <a:pt x="863" y="3019"/>
                  </a:lnTo>
                  <a:lnTo>
                    <a:pt x="931" y="2960"/>
                  </a:lnTo>
                  <a:lnTo>
                    <a:pt x="1142" y="2747"/>
                  </a:lnTo>
                  <a:lnTo>
                    <a:pt x="1367" y="2503"/>
                  </a:lnTo>
                  <a:lnTo>
                    <a:pt x="1491" y="2361"/>
                  </a:lnTo>
                  <a:lnTo>
                    <a:pt x="1534" y="2302"/>
                  </a:lnTo>
                  <a:lnTo>
                    <a:pt x="1538" y="2290"/>
                  </a:lnTo>
                  <a:lnTo>
                    <a:pt x="1541" y="2282"/>
                  </a:lnTo>
                  <a:lnTo>
                    <a:pt x="1566" y="2256"/>
                  </a:lnTo>
                  <a:lnTo>
                    <a:pt x="1583" y="2244"/>
                  </a:lnTo>
                  <a:lnTo>
                    <a:pt x="1602" y="2231"/>
                  </a:lnTo>
                  <a:lnTo>
                    <a:pt x="1626" y="2204"/>
                  </a:lnTo>
                  <a:lnTo>
                    <a:pt x="1629" y="2195"/>
                  </a:lnTo>
                  <a:lnTo>
                    <a:pt x="1636" y="2178"/>
                  </a:lnTo>
                  <a:lnTo>
                    <a:pt x="1713" y="2073"/>
                  </a:lnTo>
                  <a:lnTo>
                    <a:pt x="1770" y="2002"/>
                  </a:lnTo>
                  <a:lnTo>
                    <a:pt x="1828" y="1930"/>
                  </a:lnTo>
                  <a:lnTo>
                    <a:pt x="1910" y="1820"/>
                  </a:lnTo>
                  <a:lnTo>
                    <a:pt x="1921" y="1798"/>
                  </a:lnTo>
                  <a:lnTo>
                    <a:pt x="1927" y="1784"/>
                  </a:lnTo>
                  <a:lnTo>
                    <a:pt x="1944" y="1766"/>
                  </a:lnTo>
                  <a:lnTo>
                    <a:pt x="1953" y="1765"/>
                  </a:lnTo>
                  <a:lnTo>
                    <a:pt x="1959" y="1763"/>
                  </a:lnTo>
                  <a:lnTo>
                    <a:pt x="1969" y="1753"/>
                  </a:lnTo>
                  <a:lnTo>
                    <a:pt x="1970" y="1748"/>
                  </a:lnTo>
                  <a:lnTo>
                    <a:pt x="1975" y="1735"/>
                  </a:lnTo>
                  <a:lnTo>
                    <a:pt x="2014" y="1674"/>
                  </a:lnTo>
                  <a:lnTo>
                    <a:pt x="2042" y="1637"/>
                  </a:lnTo>
                  <a:lnTo>
                    <a:pt x="2071" y="1599"/>
                  </a:lnTo>
                  <a:lnTo>
                    <a:pt x="2110" y="1536"/>
                  </a:lnTo>
                  <a:lnTo>
                    <a:pt x="2114" y="1520"/>
                  </a:lnTo>
                  <a:lnTo>
                    <a:pt x="2113" y="1507"/>
                  </a:lnTo>
                  <a:lnTo>
                    <a:pt x="2096" y="1475"/>
                  </a:lnTo>
                  <a:lnTo>
                    <a:pt x="2071" y="1445"/>
                  </a:lnTo>
                  <a:lnTo>
                    <a:pt x="2044" y="1425"/>
                  </a:lnTo>
                  <a:lnTo>
                    <a:pt x="2034" y="1424"/>
                  </a:lnTo>
                  <a:lnTo>
                    <a:pt x="2022" y="1419"/>
                  </a:lnTo>
                  <a:lnTo>
                    <a:pt x="1975" y="1390"/>
                  </a:lnTo>
                  <a:lnTo>
                    <a:pt x="1946" y="1369"/>
                  </a:lnTo>
                  <a:lnTo>
                    <a:pt x="1916" y="1347"/>
                  </a:lnTo>
                  <a:lnTo>
                    <a:pt x="1868" y="1318"/>
                  </a:lnTo>
                  <a:lnTo>
                    <a:pt x="1857" y="1316"/>
                  </a:lnTo>
                  <a:lnTo>
                    <a:pt x="1844" y="1311"/>
                  </a:lnTo>
                  <a:lnTo>
                    <a:pt x="1806" y="1280"/>
                  </a:lnTo>
                  <a:lnTo>
                    <a:pt x="1764" y="1228"/>
                  </a:lnTo>
                  <a:lnTo>
                    <a:pt x="1730" y="1173"/>
                  </a:lnTo>
                  <a:lnTo>
                    <a:pt x="1720" y="1150"/>
                  </a:lnTo>
                  <a:lnTo>
                    <a:pt x="1711" y="1118"/>
                  </a:lnTo>
                  <a:lnTo>
                    <a:pt x="1701" y="1048"/>
                  </a:lnTo>
                  <a:lnTo>
                    <a:pt x="1702" y="973"/>
                  </a:lnTo>
                  <a:lnTo>
                    <a:pt x="1715" y="904"/>
                  </a:lnTo>
                  <a:lnTo>
                    <a:pt x="1726" y="874"/>
                  </a:lnTo>
                  <a:lnTo>
                    <a:pt x="1736" y="852"/>
                  </a:lnTo>
                  <a:lnTo>
                    <a:pt x="1769" y="803"/>
                  </a:lnTo>
                  <a:lnTo>
                    <a:pt x="1841" y="718"/>
                  </a:lnTo>
                  <a:lnTo>
                    <a:pt x="1962" y="604"/>
                  </a:lnTo>
                  <a:lnTo>
                    <a:pt x="2054" y="534"/>
                  </a:lnTo>
                  <a:lnTo>
                    <a:pt x="2111" y="499"/>
                  </a:lnTo>
                  <a:lnTo>
                    <a:pt x="2136" y="488"/>
                  </a:lnTo>
                  <a:lnTo>
                    <a:pt x="2175" y="469"/>
                  </a:lnTo>
                  <a:lnTo>
                    <a:pt x="2205" y="452"/>
                  </a:lnTo>
                  <a:lnTo>
                    <a:pt x="2267" y="416"/>
                  </a:lnTo>
                  <a:lnTo>
                    <a:pt x="2476" y="329"/>
                  </a:lnTo>
                  <a:lnTo>
                    <a:pt x="2552" y="305"/>
                  </a:lnTo>
                  <a:lnTo>
                    <a:pt x="2585" y="296"/>
                  </a:lnTo>
                  <a:lnTo>
                    <a:pt x="2631" y="275"/>
                  </a:lnTo>
                  <a:lnTo>
                    <a:pt x="2637" y="267"/>
                  </a:lnTo>
                  <a:lnTo>
                    <a:pt x="2640" y="260"/>
                  </a:lnTo>
                  <a:lnTo>
                    <a:pt x="2669" y="254"/>
                  </a:lnTo>
                  <a:lnTo>
                    <a:pt x="2690" y="257"/>
                  </a:lnTo>
                  <a:lnTo>
                    <a:pt x="2712" y="260"/>
                  </a:lnTo>
                  <a:lnTo>
                    <a:pt x="2741" y="256"/>
                  </a:lnTo>
                  <a:lnTo>
                    <a:pt x="2745" y="250"/>
                  </a:lnTo>
                  <a:lnTo>
                    <a:pt x="2751" y="243"/>
                  </a:lnTo>
                  <a:lnTo>
                    <a:pt x="2811" y="236"/>
                  </a:lnTo>
                  <a:lnTo>
                    <a:pt x="2893" y="237"/>
                  </a:lnTo>
                  <a:lnTo>
                    <a:pt x="2958" y="246"/>
                  </a:lnTo>
                  <a:lnTo>
                    <a:pt x="2970" y="253"/>
                  </a:lnTo>
                  <a:lnTo>
                    <a:pt x="2976" y="259"/>
                  </a:lnTo>
                  <a:lnTo>
                    <a:pt x="2994" y="263"/>
                  </a:lnTo>
                  <a:lnTo>
                    <a:pt x="3004" y="260"/>
                  </a:lnTo>
                  <a:lnTo>
                    <a:pt x="3010" y="259"/>
                  </a:lnTo>
                  <a:lnTo>
                    <a:pt x="3032" y="267"/>
                  </a:lnTo>
                  <a:lnTo>
                    <a:pt x="3078" y="299"/>
                  </a:lnTo>
                  <a:lnTo>
                    <a:pt x="3114" y="332"/>
                  </a:lnTo>
                  <a:lnTo>
                    <a:pt x="3143" y="359"/>
                  </a:lnTo>
                  <a:lnTo>
                    <a:pt x="3179" y="398"/>
                  </a:lnTo>
                  <a:lnTo>
                    <a:pt x="3193" y="429"/>
                  </a:lnTo>
                  <a:lnTo>
                    <a:pt x="3192" y="467"/>
                  </a:lnTo>
                  <a:lnTo>
                    <a:pt x="3187" y="496"/>
                  </a:lnTo>
                  <a:lnTo>
                    <a:pt x="3182" y="534"/>
                  </a:lnTo>
                  <a:lnTo>
                    <a:pt x="3163" y="610"/>
                  </a:lnTo>
                  <a:lnTo>
                    <a:pt x="3151" y="636"/>
                  </a:lnTo>
                  <a:lnTo>
                    <a:pt x="3124" y="704"/>
                  </a:lnTo>
                  <a:lnTo>
                    <a:pt x="3094" y="793"/>
                  </a:lnTo>
                  <a:lnTo>
                    <a:pt x="3068" y="874"/>
                  </a:lnTo>
                  <a:lnTo>
                    <a:pt x="3050" y="910"/>
                  </a:lnTo>
                  <a:lnTo>
                    <a:pt x="3033" y="948"/>
                  </a:lnTo>
                  <a:lnTo>
                    <a:pt x="3006" y="1036"/>
                  </a:lnTo>
                  <a:lnTo>
                    <a:pt x="2977" y="1124"/>
                  </a:lnTo>
                  <a:lnTo>
                    <a:pt x="2958" y="1162"/>
                  </a:lnTo>
                  <a:lnTo>
                    <a:pt x="2941" y="1202"/>
                  </a:lnTo>
                  <a:lnTo>
                    <a:pt x="2915" y="1297"/>
                  </a:lnTo>
                  <a:lnTo>
                    <a:pt x="2888" y="1392"/>
                  </a:lnTo>
                  <a:lnTo>
                    <a:pt x="2870" y="1432"/>
                  </a:lnTo>
                  <a:lnTo>
                    <a:pt x="2863" y="1448"/>
                  </a:lnTo>
                  <a:lnTo>
                    <a:pt x="2837" y="1540"/>
                  </a:lnTo>
                  <a:lnTo>
                    <a:pt x="2824" y="1604"/>
                  </a:lnTo>
                  <a:lnTo>
                    <a:pt x="2811" y="1664"/>
                  </a:lnTo>
                  <a:lnTo>
                    <a:pt x="2787" y="1752"/>
                  </a:lnTo>
                  <a:lnTo>
                    <a:pt x="2781" y="1765"/>
                  </a:lnTo>
                  <a:lnTo>
                    <a:pt x="2774" y="1773"/>
                  </a:lnTo>
                  <a:lnTo>
                    <a:pt x="2758" y="1828"/>
                  </a:lnTo>
                  <a:lnTo>
                    <a:pt x="2729" y="1958"/>
                  </a:lnTo>
                  <a:lnTo>
                    <a:pt x="2716" y="2050"/>
                  </a:lnTo>
                  <a:lnTo>
                    <a:pt x="2709" y="2086"/>
                  </a:lnTo>
                  <a:lnTo>
                    <a:pt x="2695" y="2138"/>
                  </a:lnTo>
                  <a:lnTo>
                    <a:pt x="2688" y="2144"/>
                  </a:lnTo>
                  <a:lnTo>
                    <a:pt x="2680" y="2145"/>
                  </a:lnTo>
                  <a:lnTo>
                    <a:pt x="2675" y="2169"/>
                  </a:lnTo>
                  <a:lnTo>
                    <a:pt x="2676" y="2188"/>
                  </a:lnTo>
                  <a:lnTo>
                    <a:pt x="2679" y="2207"/>
                  </a:lnTo>
                  <a:lnTo>
                    <a:pt x="2676" y="2237"/>
                  </a:lnTo>
                  <a:lnTo>
                    <a:pt x="2670" y="2244"/>
                  </a:lnTo>
                  <a:lnTo>
                    <a:pt x="2663" y="2252"/>
                  </a:lnTo>
                  <a:lnTo>
                    <a:pt x="2654" y="2285"/>
                  </a:lnTo>
                  <a:lnTo>
                    <a:pt x="2654" y="2326"/>
                  </a:lnTo>
                  <a:lnTo>
                    <a:pt x="2663" y="2355"/>
                  </a:lnTo>
                  <a:lnTo>
                    <a:pt x="2670" y="2359"/>
                  </a:lnTo>
                  <a:lnTo>
                    <a:pt x="2680" y="2349"/>
                  </a:lnTo>
                  <a:lnTo>
                    <a:pt x="2735" y="2259"/>
                  </a:lnTo>
                  <a:lnTo>
                    <a:pt x="2770" y="2194"/>
                  </a:lnTo>
                  <a:lnTo>
                    <a:pt x="2837" y="2060"/>
                  </a:lnTo>
                  <a:lnTo>
                    <a:pt x="2922" y="1906"/>
                  </a:lnTo>
                  <a:lnTo>
                    <a:pt x="2973" y="1824"/>
                  </a:lnTo>
                  <a:lnTo>
                    <a:pt x="2997" y="1786"/>
                  </a:lnTo>
                  <a:lnTo>
                    <a:pt x="3029" y="1726"/>
                  </a:lnTo>
                  <a:lnTo>
                    <a:pt x="3033" y="1713"/>
                  </a:lnTo>
                  <a:lnTo>
                    <a:pt x="3033" y="1704"/>
                  </a:lnTo>
                  <a:lnTo>
                    <a:pt x="3043" y="1694"/>
                  </a:lnTo>
                  <a:lnTo>
                    <a:pt x="3050" y="1693"/>
                  </a:lnTo>
                  <a:lnTo>
                    <a:pt x="3058" y="1691"/>
                  </a:lnTo>
                  <a:lnTo>
                    <a:pt x="3068" y="1681"/>
                  </a:lnTo>
                  <a:lnTo>
                    <a:pt x="3069" y="1673"/>
                  </a:lnTo>
                  <a:lnTo>
                    <a:pt x="3072" y="1660"/>
                  </a:lnTo>
                  <a:lnTo>
                    <a:pt x="3107" y="1599"/>
                  </a:lnTo>
                  <a:lnTo>
                    <a:pt x="3131" y="1560"/>
                  </a:lnTo>
                  <a:lnTo>
                    <a:pt x="3180" y="1483"/>
                  </a:lnTo>
                  <a:lnTo>
                    <a:pt x="3194" y="1452"/>
                  </a:lnTo>
                  <a:lnTo>
                    <a:pt x="3215" y="1416"/>
                  </a:lnTo>
                  <a:lnTo>
                    <a:pt x="3285" y="1317"/>
                  </a:lnTo>
                  <a:lnTo>
                    <a:pt x="3354" y="1218"/>
                  </a:lnTo>
                  <a:lnTo>
                    <a:pt x="3374" y="1180"/>
                  </a:lnTo>
                  <a:lnTo>
                    <a:pt x="3386" y="1154"/>
                  </a:lnTo>
                  <a:lnTo>
                    <a:pt x="3425" y="1094"/>
                  </a:lnTo>
                  <a:lnTo>
                    <a:pt x="3467" y="1028"/>
                  </a:lnTo>
                  <a:lnTo>
                    <a:pt x="3488" y="986"/>
                  </a:lnTo>
                  <a:lnTo>
                    <a:pt x="3494" y="973"/>
                  </a:lnTo>
                  <a:lnTo>
                    <a:pt x="3510" y="957"/>
                  </a:lnTo>
                  <a:lnTo>
                    <a:pt x="3519" y="956"/>
                  </a:lnTo>
                  <a:lnTo>
                    <a:pt x="3526" y="954"/>
                  </a:lnTo>
                  <a:lnTo>
                    <a:pt x="3536" y="944"/>
                  </a:lnTo>
                  <a:lnTo>
                    <a:pt x="3537" y="937"/>
                  </a:lnTo>
                  <a:lnTo>
                    <a:pt x="3540" y="924"/>
                  </a:lnTo>
                  <a:lnTo>
                    <a:pt x="3579" y="861"/>
                  </a:lnTo>
                  <a:lnTo>
                    <a:pt x="3609" y="822"/>
                  </a:lnTo>
                  <a:lnTo>
                    <a:pt x="3638" y="783"/>
                  </a:lnTo>
                  <a:lnTo>
                    <a:pt x="3677" y="719"/>
                  </a:lnTo>
                  <a:lnTo>
                    <a:pt x="3681" y="706"/>
                  </a:lnTo>
                  <a:lnTo>
                    <a:pt x="3681" y="698"/>
                  </a:lnTo>
                  <a:lnTo>
                    <a:pt x="3691" y="686"/>
                  </a:lnTo>
                  <a:lnTo>
                    <a:pt x="3699" y="685"/>
                  </a:lnTo>
                  <a:lnTo>
                    <a:pt x="3707" y="682"/>
                  </a:lnTo>
                  <a:lnTo>
                    <a:pt x="3726" y="660"/>
                  </a:lnTo>
                  <a:lnTo>
                    <a:pt x="3733" y="643"/>
                  </a:lnTo>
                  <a:lnTo>
                    <a:pt x="3762" y="591"/>
                  </a:lnTo>
                  <a:lnTo>
                    <a:pt x="3825" y="506"/>
                  </a:lnTo>
                  <a:lnTo>
                    <a:pt x="3889" y="421"/>
                  </a:lnTo>
                  <a:lnTo>
                    <a:pt x="3923" y="367"/>
                  </a:lnTo>
                  <a:lnTo>
                    <a:pt x="3948" y="323"/>
                  </a:lnTo>
                  <a:lnTo>
                    <a:pt x="4021" y="220"/>
                  </a:lnTo>
                  <a:lnTo>
                    <a:pt x="4103" y="119"/>
                  </a:lnTo>
                  <a:lnTo>
                    <a:pt x="4175" y="46"/>
                  </a:lnTo>
                  <a:lnTo>
                    <a:pt x="4200" y="30"/>
                  </a:lnTo>
                  <a:lnTo>
                    <a:pt x="4223" y="18"/>
                  </a:lnTo>
                  <a:lnTo>
                    <a:pt x="4270" y="4"/>
                  </a:lnTo>
                  <a:lnTo>
                    <a:pt x="4316" y="0"/>
                  </a:lnTo>
                  <a:lnTo>
                    <a:pt x="4360" y="2"/>
                  </a:lnTo>
                  <a:lnTo>
                    <a:pt x="4400" y="14"/>
                  </a:lnTo>
                  <a:lnTo>
                    <a:pt x="4434" y="33"/>
                  </a:lnTo>
                  <a:lnTo>
                    <a:pt x="4463" y="59"/>
                  </a:lnTo>
                  <a:lnTo>
                    <a:pt x="4483" y="93"/>
                  </a:lnTo>
                  <a:lnTo>
                    <a:pt x="4491" y="113"/>
                  </a:lnTo>
                  <a:lnTo>
                    <a:pt x="4498" y="142"/>
                  </a:lnTo>
                  <a:lnTo>
                    <a:pt x="4498" y="210"/>
                  </a:lnTo>
                  <a:lnTo>
                    <a:pt x="4486" y="279"/>
                  </a:lnTo>
                  <a:lnTo>
                    <a:pt x="4463" y="338"/>
                  </a:lnTo>
                  <a:lnTo>
                    <a:pt x="4447" y="361"/>
                  </a:lnTo>
                  <a:lnTo>
                    <a:pt x="4426" y="393"/>
                  </a:lnTo>
                  <a:lnTo>
                    <a:pt x="4347" y="551"/>
                  </a:lnTo>
                  <a:lnTo>
                    <a:pt x="4256" y="745"/>
                  </a:lnTo>
                  <a:lnTo>
                    <a:pt x="4191" y="898"/>
                  </a:lnTo>
                  <a:lnTo>
                    <a:pt x="4185" y="927"/>
                  </a:lnTo>
                  <a:lnTo>
                    <a:pt x="4184" y="938"/>
                  </a:lnTo>
                  <a:lnTo>
                    <a:pt x="4175" y="953"/>
                  </a:lnTo>
                  <a:lnTo>
                    <a:pt x="4171" y="956"/>
                  </a:lnTo>
                  <a:lnTo>
                    <a:pt x="4162" y="958"/>
                  </a:lnTo>
                  <a:lnTo>
                    <a:pt x="4141" y="1000"/>
                  </a:lnTo>
                  <a:lnTo>
                    <a:pt x="4131" y="1030"/>
                  </a:lnTo>
                  <a:lnTo>
                    <a:pt x="4120" y="1064"/>
                  </a:lnTo>
                  <a:lnTo>
                    <a:pt x="4093" y="1128"/>
                  </a:lnTo>
                  <a:lnTo>
                    <a:pt x="4082" y="1150"/>
                  </a:lnTo>
                  <a:lnTo>
                    <a:pt x="4073" y="1164"/>
                  </a:lnTo>
                  <a:lnTo>
                    <a:pt x="4066" y="1186"/>
                  </a:lnTo>
                  <a:lnTo>
                    <a:pt x="4070" y="1189"/>
                  </a:lnTo>
                  <a:lnTo>
                    <a:pt x="4073" y="1190"/>
                  </a:lnTo>
                  <a:lnTo>
                    <a:pt x="4070" y="1203"/>
                  </a:lnTo>
                  <a:lnTo>
                    <a:pt x="4064" y="1212"/>
                  </a:lnTo>
                  <a:lnTo>
                    <a:pt x="4056" y="1225"/>
                  </a:lnTo>
                  <a:lnTo>
                    <a:pt x="4033" y="1284"/>
                  </a:lnTo>
                  <a:lnTo>
                    <a:pt x="4021" y="1320"/>
                  </a:lnTo>
                  <a:lnTo>
                    <a:pt x="4011" y="1354"/>
                  </a:lnTo>
                  <a:lnTo>
                    <a:pt x="3989" y="1401"/>
                  </a:lnTo>
                  <a:lnTo>
                    <a:pt x="3981" y="1405"/>
                  </a:lnTo>
                  <a:lnTo>
                    <a:pt x="3975" y="1406"/>
                  </a:lnTo>
                  <a:lnTo>
                    <a:pt x="3972" y="1422"/>
                  </a:lnTo>
                  <a:lnTo>
                    <a:pt x="3976" y="1434"/>
                  </a:lnTo>
                  <a:lnTo>
                    <a:pt x="3978" y="1447"/>
                  </a:lnTo>
                  <a:lnTo>
                    <a:pt x="3971" y="1483"/>
                  </a:lnTo>
                  <a:lnTo>
                    <a:pt x="3962" y="1500"/>
                  </a:lnTo>
                  <a:lnTo>
                    <a:pt x="3951" y="1524"/>
                  </a:lnTo>
                  <a:lnTo>
                    <a:pt x="3925" y="1619"/>
                  </a:lnTo>
                  <a:lnTo>
                    <a:pt x="3915" y="1676"/>
                  </a:lnTo>
                  <a:lnTo>
                    <a:pt x="3904" y="1730"/>
                  </a:lnTo>
                  <a:lnTo>
                    <a:pt x="3880" y="1817"/>
                  </a:lnTo>
                  <a:lnTo>
                    <a:pt x="3871" y="1835"/>
                  </a:lnTo>
                  <a:lnTo>
                    <a:pt x="3867" y="1845"/>
                  </a:lnTo>
                  <a:lnTo>
                    <a:pt x="3858" y="1906"/>
                  </a:lnTo>
                  <a:lnTo>
                    <a:pt x="3853" y="2053"/>
                  </a:lnTo>
                  <a:lnTo>
                    <a:pt x="3853" y="2293"/>
                  </a:lnTo>
                  <a:lnTo>
                    <a:pt x="3858" y="2436"/>
                  </a:lnTo>
                  <a:lnTo>
                    <a:pt x="3867" y="2491"/>
                  </a:lnTo>
                  <a:lnTo>
                    <a:pt x="3871" y="2499"/>
                  </a:lnTo>
                  <a:lnTo>
                    <a:pt x="3880" y="2508"/>
                  </a:lnTo>
                  <a:lnTo>
                    <a:pt x="3897" y="2544"/>
                  </a:lnTo>
                  <a:lnTo>
                    <a:pt x="3904" y="2565"/>
                  </a:lnTo>
                  <a:lnTo>
                    <a:pt x="3907" y="2580"/>
                  </a:lnTo>
                  <a:lnTo>
                    <a:pt x="3926" y="2611"/>
                  </a:lnTo>
                  <a:lnTo>
                    <a:pt x="3969" y="2668"/>
                  </a:lnTo>
                  <a:lnTo>
                    <a:pt x="4046" y="2738"/>
                  </a:lnTo>
                  <a:lnTo>
                    <a:pt x="4099" y="2776"/>
                  </a:lnTo>
                  <a:lnTo>
                    <a:pt x="4128" y="2790"/>
                  </a:lnTo>
                  <a:lnTo>
                    <a:pt x="4139" y="2791"/>
                  </a:lnTo>
                  <a:lnTo>
                    <a:pt x="4161" y="2791"/>
                  </a:lnTo>
                  <a:lnTo>
                    <a:pt x="4192" y="2807"/>
                  </a:lnTo>
                  <a:lnTo>
                    <a:pt x="4211" y="2835"/>
                  </a:lnTo>
                  <a:lnTo>
                    <a:pt x="4216" y="2875"/>
                  </a:lnTo>
                  <a:lnTo>
                    <a:pt x="4211" y="2899"/>
                  </a:lnTo>
                  <a:lnTo>
                    <a:pt x="4208" y="2911"/>
                  </a:lnTo>
                  <a:lnTo>
                    <a:pt x="4197" y="2934"/>
                  </a:lnTo>
                  <a:lnTo>
                    <a:pt x="4168" y="2963"/>
                  </a:lnTo>
                  <a:lnTo>
                    <a:pt x="4108" y="2992"/>
                  </a:lnTo>
                  <a:lnTo>
                    <a:pt x="4027" y="3006"/>
                  </a:lnTo>
                  <a:lnTo>
                    <a:pt x="3978" y="3007"/>
                  </a:lnTo>
                  <a:lnTo>
                    <a:pt x="3949" y="3006"/>
                  </a:lnTo>
                  <a:lnTo>
                    <a:pt x="3903" y="3000"/>
                  </a:lnTo>
                  <a:lnTo>
                    <a:pt x="3858" y="2984"/>
                  </a:lnTo>
                  <a:lnTo>
                    <a:pt x="3808" y="2956"/>
                  </a:lnTo>
                  <a:lnTo>
                    <a:pt x="3775" y="2933"/>
                  </a:lnTo>
                  <a:lnTo>
                    <a:pt x="3730" y="2902"/>
                  </a:lnTo>
                  <a:lnTo>
                    <a:pt x="3668" y="2852"/>
                  </a:lnTo>
                  <a:lnTo>
                    <a:pt x="3663" y="2842"/>
                  </a:lnTo>
                  <a:lnTo>
                    <a:pt x="3652" y="2814"/>
                  </a:lnTo>
                  <a:lnTo>
                    <a:pt x="3619" y="2758"/>
                  </a:lnTo>
                  <a:lnTo>
                    <a:pt x="3601" y="2728"/>
                  </a:lnTo>
                  <a:lnTo>
                    <a:pt x="3565" y="2647"/>
                  </a:lnTo>
                  <a:lnTo>
                    <a:pt x="3553" y="2611"/>
                  </a:lnTo>
                  <a:lnTo>
                    <a:pt x="3543" y="2577"/>
                  </a:lnTo>
                  <a:lnTo>
                    <a:pt x="3521" y="2528"/>
                  </a:lnTo>
                  <a:lnTo>
                    <a:pt x="3516" y="2519"/>
                  </a:lnTo>
                  <a:lnTo>
                    <a:pt x="3508" y="2505"/>
                  </a:lnTo>
                  <a:lnTo>
                    <a:pt x="3490" y="2398"/>
                  </a:lnTo>
                  <a:lnTo>
                    <a:pt x="3482" y="2323"/>
                  </a:lnTo>
                  <a:lnTo>
                    <a:pt x="3477" y="2243"/>
                  </a:lnTo>
                  <a:lnTo>
                    <a:pt x="3477" y="2036"/>
                  </a:lnTo>
                  <a:lnTo>
                    <a:pt x="3487" y="1827"/>
                  </a:lnTo>
                  <a:lnTo>
                    <a:pt x="3500" y="1709"/>
                  </a:lnTo>
                  <a:lnTo>
                    <a:pt x="3510" y="1660"/>
                  </a:lnTo>
                  <a:lnTo>
                    <a:pt x="3516" y="1650"/>
                  </a:lnTo>
                  <a:lnTo>
                    <a:pt x="3523" y="1634"/>
                  </a:lnTo>
                  <a:lnTo>
                    <a:pt x="3543" y="1550"/>
                  </a:lnTo>
                  <a:lnTo>
                    <a:pt x="3553" y="1496"/>
                  </a:lnTo>
                  <a:lnTo>
                    <a:pt x="3563" y="1438"/>
                  </a:lnTo>
                  <a:lnTo>
                    <a:pt x="3589" y="1336"/>
                  </a:lnTo>
                  <a:lnTo>
                    <a:pt x="3602" y="1308"/>
                  </a:lnTo>
                  <a:lnTo>
                    <a:pt x="3621" y="1267"/>
                  </a:lnTo>
                  <a:lnTo>
                    <a:pt x="3627" y="1235"/>
                  </a:lnTo>
                  <a:lnTo>
                    <a:pt x="3616" y="1225"/>
                  </a:lnTo>
                  <a:lnTo>
                    <a:pt x="3609" y="1225"/>
                  </a:lnTo>
                  <a:lnTo>
                    <a:pt x="3601" y="1228"/>
                  </a:lnTo>
                  <a:lnTo>
                    <a:pt x="3575" y="1259"/>
                  </a:lnTo>
                  <a:lnTo>
                    <a:pt x="3562" y="1282"/>
                  </a:lnTo>
                  <a:lnTo>
                    <a:pt x="3527" y="1352"/>
                  </a:lnTo>
                  <a:lnTo>
                    <a:pt x="3477" y="1445"/>
                  </a:lnTo>
                  <a:lnTo>
                    <a:pt x="3416" y="1557"/>
                  </a:lnTo>
                  <a:lnTo>
                    <a:pt x="3245" y="1894"/>
                  </a:lnTo>
                  <a:lnTo>
                    <a:pt x="3065" y="2262"/>
                  </a:lnTo>
                  <a:lnTo>
                    <a:pt x="2931" y="2551"/>
                  </a:lnTo>
                  <a:lnTo>
                    <a:pt x="2905" y="2620"/>
                  </a:lnTo>
                  <a:lnTo>
                    <a:pt x="2882" y="2678"/>
                  </a:lnTo>
                  <a:lnTo>
                    <a:pt x="2869" y="2701"/>
                  </a:lnTo>
                  <a:lnTo>
                    <a:pt x="2855" y="2724"/>
                  </a:lnTo>
                  <a:lnTo>
                    <a:pt x="2834" y="2781"/>
                  </a:lnTo>
                  <a:lnTo>
                    <a:pt x="2824" y="2814"/>
                  </a:lnTo>
                  <a:lnTo>
                    <a:pt x="2788" y="2891"/>
                  </a:lnTo>
                  <a:lnTo>
                    <a:pt x="2770" y="2922"/>
                  </a:lnTo>
                  <a:lnTo>
                    <a:pt x="2755" y="2944"/>
                  </a:lnTo>
                  <a:lnTo>
                    <a:pt x="2731" y="2971"/>
                  </a:lnTo>
                  <a:lnTo>
                    <a:pt x="2705" y="2984"/>
                  </a:lnTo>
                  <a:lnTo>
                    <a:pt x="2662" y="2989"/>
                  </a:lnTo>
                  <a:lnTo>
                    <a:pt x="2631" y="2989"/>
                  </a:lnTo>
                  <a:lnTo>
                    <a:pt x="2582" y="2987"/>
                  </a:lnTo>
                  <a:lnTo>
                    <a:pt x="2500" y="2969"/>
                  </a:lnTo>
                  <a:lnTo>
                    <a:pt x="2434" y="2930"/>
                  </a:lnTo>
                  <a:lnTo>
                    <a:pt x="2376" y="2863"/>
                  </a:lnTo>
                  <a:lnTo>
                    <a:pt x="2349" y="2817"/>
                  </a:lnTo>
                  <a:lnTo>
                    <a:pt x="2286" y="2709"/>
                  </a:lnTo>
                  <a:lnTo>
                    <a:pt x="2286" y="2429"/>
                  </a:lnTo>
                  <a:lnTo>
                    <a:pt x="2286" y="2303"/>
                  </a:lnTo>
                  <a:lnTo>
                    <a:pt x="2294" y="2171"/>
                  </a:lnTo>
                  <a:lnTo>
                    <a:pt x="2302" y="2118"/>
                  </a:lnTo>
                  <a:lnTo>
                    <a:pt x="2307" y="2105"/>
                  </a:lnTo>
                  <a:lnTo>
                    <a:pt x="2316" y="2077"/>
                  </a:lnTo>
                  <a:lnTo>
                    <a:pt x="2345" y="1956"/>
                  </a:lnTo>
                  <a:lnTo>
                    <a:pt x="2359" y="1881"/>
                  </a:lnTo>
                  <a:lnTo>
                    <a:pt x="2372" y="1809"/>
                  </a:lnTo>
                  <a:lnTo>
                    <a:pt x="2395" y="1707"/>
                  </a:lnTo>
                  <a:lnTo>
                    <a:pt x="2401" y="1693"/>
                  </a:lnTo>
                  <a:lnTo>
                    <a:pt x="2408" y="1680"/>
                  </a:lnTo>
                  <a:lnTo>
                    <a:pt x="2433" y="1589"/>
                  </a:lnTo>
                  <a:lnTo>
                    <a:pt x="2446" y="1526"/>
                  </a:lnTo>
                  <a:lnTo>
                    <a:pt x="2460" y="1462"/>
                  </a:lnTo>
                  <a:lnTo>
                    <a:pt x="2487" y="1370"/>
                  </a:lnTo>
                  <a:lnTo>
                    <a:pt x="2495" y="1359"/>
                  </a:lnTo>
                  <a:lnTo>
                    <a:pt x="2502" y="1353"/>
                  </a:lnTo>
                  <a:lnTo>
                    <a:pt x="2509" y="1339"/>
                  </a:lnTo>
                  <a:lnTo>
                    <a:pt x="2509" y="1326"/>
                  </a:lnTo>
                  <a:lnTo>
                    <a:pt x="2502" y="1316"/>
                  </a:lnTo>
                  <a:lnTo>
                    <a:pt x="2495" y="1316"/>
                  </a:lnTo>
                  <a:lnTo>
                    <a:pt x="2483" y="1324"/>
                  </a:lnTo>
                  <a:lnTo>
                    <a:pt x="2428" y="1415"/>
                  </a:lnTo>
                  <a:lnTo>
                    <a:pt x="2395" y="1483"/>
                  </a:lnTo>
                  <a:lnTo>
                    <a:pt x="2300" y="1671"/>
                  </a:lnTo>
                  <a:lnTo>
                    <a:pt x="2186" y="1877"/>
                  </a:lnTo>
                  <a:lnTo>
                    <a:pt x="2140" y="1951"/>
                  </a:lnTo>
                  <a:lnTo>
                    <a:pt x="2130" y="1959"/>
                  </a:lnTo>
                  <a:lnTo>
                    <a:pt x="2124" y="1964"/>
                  </a:lnTo>
                  <a:lnTo>
                    <a:pt x="2116" y="1978"/>
                  </a:lnTo>
                  <a:lnTo>
                    <a:pt x="2114" y="1988"/>
                  </a:lnTo>
                  <a:lnTo>
                    <a:pt x="2111" y="2002"/>
                  </a:lnTo>
                  <a:lnTo>
                    <a:pt x="2077" y="2063"/>
                  </a:lnTo>
                  <a:lnTo>
                    <a:pt x="2051" y="2100"/>
                  </a:lnTo>
                  <a:lnTo>
                    <a:pt x="2003" y="2172"/>
                  </a:lnTo>
                  <a:lnTo>
                    <a:pt x="1989" y="2204"/>
                  </a:lnTo>
                  <a:lnTo>
                    <a:pt x="1975" y="2234"/>
                  </a:lnTo>
                  <a:lnTo>
                    <a:pt x="1926" y="2305"/>
                  </a:lnTo>
                  <a:lnTo>
                    <a:pt x="1900" y="2341"/>
                  </a:lnTo>
                  <a:lnTo>
                    <a:pt x="1867" y="2398"/>
                  </a:lnTo>
                  <a:lnTo>
                    <a:pt x="1862" y="2411"/>
                  </a:lnTo>
                  <a:lnTo>
                    <a:pt x="1861" y="2419"/>
                  </a:lnTo>
                  <a:lnTo>
                    <a:pt x="1851" y="2430"/>
                  </a:lnTo>
                  <a:lnTo>
                    <a:pt x="1845" y="2431"/>
                  </a:lnTo>
                  <a:lnTo>
                    <a:pt x="1836" y="2433"/>
                  </a:lnTo>
                  <a:lnTo>
                    <a:pt x="1818" y="2456"/>
                  </a:lnTo>
                  <a:lnTo>
                    <a:pt x="1810" y="2472"/>
                  </a:lnTo>
                  <a:lnTo>
                    <a:pt x="1780" y="2525"/>
                  </a:lnTo>
                  <a:lnTo>
                    <a:pt x="1632" y="2719"/>
                  </a:lnTo>
                  <a:lnTo>
                    <a:pt x="1571" y="2787"/>
                  </a:lnTo>
                  <a:lnTo>
                    <a:pt x="1553" y="2806"/>
                  </a:lnTo>
                  <a:lnTo>
                    <a:pt x="1527" y="2843"/>
                  </a:lnTo>
                  <a:lnTo>
                    <a:pt x="1521" y="2856"/>
                  </a:lnTo>
                  <a:lnTo>
                    <a:pt x="1504" y="2881"/>
                  </a:lnTo>
                  <a:lnTo>
                    <a:pt x="1387" y="3005"/>
                  </a:lnTo>
                  <a:lnTo>
                    <a:pt x="1236" y="3156"/>
                  </a:lnTo>
                  <a:lnTo>
                    <a:pt x="1115" y="3265"/>
                  </a:lnTo>
                  <a:lnTo>
                    <a:pt x="1093" y="3277"/>
                  </a:lnTo>
                  <a:lnTo>
                    <a:pt x="1085" y="3278"/>
                  </a:lnTo>
                  <a:lnTo>
                    <a:pt x="1064" y="3291"/>
                  </a:lnTo>
                  <a:lnTo>
                    <a:pt x="1057" y="3303"/>
                  </a:lnTo>
                  <a:lnTo>
                    <a:pt x="1047" y="3317"/>
                  </a:lnTo>
                  <a:lnTo>
                    <a:pt x="1001" y="3359"/>
                  </a:lnTo>
                  <a:lnTo>
                    <a:pt x="896" y="3432"/>
                  </a:lnTo>
                  <a:lnTo>
                    <a:pt x="713" y="3537"/>
                  </a:lnTo>
                  <a:lnTo>
                    <a:pt x="581" y="3599"/>
                  </a:lnTo>
                  <a:lnTo>
                    <a:pt x="506" y="3627"/>
                  </a:lnTo>
                  <a:lnTo>
                    <a:pt x="477" y="3635"/>
                  </a:lnTo>
                  <a:lnTo>
                    <a:pt x="435" y="3642"/>
                  </a:lnTo>
                  <a:lnTo>
                    <a:pt x="330" y="3651"/>
                  </a:lnTo>
                  <a:lnTo>
                    <a:pt x="219" y="3653"/>
                  </a:lnTo>
                  <a:lnTo>
                    <a:pt x="130" y="3644"/>
                  </a:lnTo>
                  <a:lnTo>
                    <a:pt x="105" y="3637"/>
                  </a:lnTo>
                  <a:close/>
                  <a:moveTo>
                    <a:pt x="2294" y="1261"/>
                  </a:moveTo>
                  <a:lnTo>
                    <a:pt x="2332" y="1213"/>
                  </a:lnTo>
                  <a:lnTo>
                    <a:pt x="2428" y="1072"/>
                  </a:lnTo>
                  <a:lnTo>
                    <a:pt x="2533" y="910"/>
                  </a:lnTo>
                  <a:lnTo>
                    <a:pt x="2613" y="793"/>
                  </a:lnTo>
                  <a:lnTo>
                    <a:pt x="2640" y="753"/>
                  </a:lnTo>
                  <a:lnTo>
                    <a:pt x="2673" y="695"/>
                  </a:lnTo>
                  <a:lnTo>
                    <a:pt x="2675" y="686"/>
                  </a:lnTo>
                  <a:lnTo>
                    <a:pt x="2675" y="679"/>
                  </a:lnTo>
                  <a:lnTo>
                    <a:pt x="2685" y="669"/>
                  </a:lnTo>
                  <a:lnTo>
                    <a:pt x="2702" y="652"/>
                  </a:lnTo>
                  <a:lnTo>
                    <a:pt x="2724" y="619"/>
                  </a:lnTo>
                  <a:lnTo>
                    <a:pt x="2734" y="596"/>
                  </a:lnTo>
                  <a:lnTo>
                    <a:pt x="2734" y="580"/>
                  </a:lnTo>
                  <a:lnTo>
                    <a:pt x="2725" y="577"/>
                  </a:lnTo>
                  <a:lnTo>
                    <a:pt x="2716" y="577"/>
                  </a:lnTo>
                  <a:lnTo>
                    <a:pt x="2692" y="583"/>
                  </a:lnTo>
                  <a:lnTo>
                    <a:pt x="2590" y="632"/>
                  </a:lnTo>
                  <a:lnTo>
                    <a:pt x="2459" y="708"/>
                  </a:lnTo>
                  <a:lnTo>
                    <a:pt x="2342" y="786"/>
                  </a:lnTo>
                  <a:lnTo>
                    <a:pt x="2303" y="816"/>
                  </a:lnTo>
                  <a:lnTo>
                    <a:pt x="2271" y="843"/>
                  </a:lnTo>
                  <a:lnTo>
                    <a:pt x="2218" y="879"/>
                  </a:lnTo>
                  <a:lnTo>
                    <a:pt x="2207" y="884"/>
                  </a:lnTo>
                  <a:lnTo>
                    <a:pt x="2198" y="884"/>
                  </a:lnTo>
                  <a:lnTo>
                    <a:pt x="2188" y="892"/>
                  </a:lnTo>
                  <a:lnTo>
                    <a:pt x="2186" y="899"/>
                  </a:lnTo>
                  <a:lnTo>
                    <a:pt x="2182" y="911"/>
                  </a:lnTo>
                  <a:lnTo>
                    <a:pt x="2137" y="973"/>
                  </a:lnTo>
                  <a:lnTo>
                    <a:pt x="2106" y="1013"/>
                  </a:lnTo>
                  <a:lnTo>
                    <a:pt x="2075" y="1051"/>
                  </a:lnTo>
                  <a:lnTo>
                    <a:pt x="2038" y="1110"/>
                  </a:lnTo>
                  <a:lnTo>
                    <a:pt x="2025" y="1150"/>
                  </a:lnTo>
                  <a:lnTo>
                    <a:pt x="2034" y="1166"/>
                  </a:lnTo>
                  <a:lnTo>
                    <a:pt x="2047" y="1172"/>
                  </a:lnTo>
                  <a:lnTo>
                    <a:pt x="2057" y="1173"/>
                  </a:lnTo>
                  <a:lnTo>
                    <a:pt x="2074" y="1176"/>
                  </a:lnTo>
                  <a:lnTo>
                    <a:pt x="2140" y="1213"/>
                  </a:lnTo>
                  <a:lnTo>
                    <a:pt x="2178" y="1241"/>
                  </a:lnTo>
                  <a:lnTo>
                    <a:pt x="2215" y="1268"/>
                  </a:lnTo>
                  <a:lnTo>
                    <a:pt x="2257" y="1291"/>
                  </a:lnTo>
                  <a:lnTo>
                    <a:pt x="2271" y="1294"/>
                  </a:lnTo>
                  <a:lnTo>
                    <a:pt x="2274" y="1290"/>
                  </a:lnTo>
                  <a:lnTo>
                    <a:pt x="2283" y="1272"/>
                  </a:lnTo>
                  <a:lnTo>
                    <a:pt x="2294" y="1261"/>
                  </a:lnTo>
                  <a:close/>
                  <a:moveTo>
                    <a:pt x="2529" y="1269"/>
                  </a:moveTo>
                  <a:lnTo>
                    <a:pt x="2526" y="1249"/>
                  </a:lnTo>
                  <a:lnTo>
                    <a:pt x="2522" y="1244"/>
                  </a:lnTo>
                  <a:lnTo>
                    <a:pt x="2515" y="1249"/>
                  </a:lnTo>
                  <a:lnTo>
                    <a:pt x="2503" y="1269"/>
                  </a:lnTo>
                  <a:lnTo>
                    <a:pt x="2500" y="1281"/>
                  </a:lnTo>
                  <a:lnTo>
                    <a:pt x="2505" y="1295"/>
                  </a:lnTo>
                  <a:lnTo>
                    <a:pt x="2510" y="1297"/>
                  </a:lnTo>
                  <a:lnTo>
                    <a:pt x="2518" y="1295"/>
                  </a:lnTo>
                  <a:lnTo>
                    <a:pt x="2528" y="1281"/>
                  </a:lnTo>
                  <a:lnTo>
                    <a:pt x="2529" y="1269"/>
                  </a:lnTo>
                  <a:close/>
                </a:path>
              </a:pathLst>
            </a:custGeom>
            <a:solidFill>
              <a:srgbClr val="C00000"/>
            </a:solidFill>
            <a:ln>
              <a:noFill/>
            </a:ln>
          </p:spPr>
          <p:txBody>
            <a:bodyPr vert="horz" wrap="square" lIns="91440" tIns="45720" rIns="91440" bIns="45720" numCol="1" anchor="t" anchorCtr="0" compatLnSpc="1">
              <a:prstTxWarp prst="textNoShape">
                <a:avLst/>
              </a:prstTxWarp>
            </a:bodyPr>
            <a:lstStyle/>
            <a:p>
              <a:endParaRPr lang="es-PE"/>
            </a:p>
          </p:txBody>
        </p:sp>
        <p:sp>
          <p:nvSpPr>
            <p:cNvPr id="26" name="Freeform 22"/>
            <p:cNvSpPr>
              <a:spLocks noEditPoints="1"/>
            </p:cNvSpPr>
            <p:nvPr/>
          </p:nvSpPr>
          <p:spPr bwMode="auto">
            <a:xfrm>
              <a:off x="6600146" y="1782308"/>
              <a:ext cx="1255713" cy="1103313"/>
            </a:xfrm>
            <a:custGeom>
              <a:avLst/>
              <a:gdLst>
                <a:gd name="T0" fmla="*/ 1205 w 2373"/>
                <a:gd name="T1" fmla="*/ 1988 h 2086"/>
                <a:gd name="T2" fmla="*/ 1081 w 2373"/>
                <a:gd name="T3" fmla="*/ 1808 h 2086"/>
                <a:gd name="T4" fmla="*/ 1195 w 2373"/>
                <a:gd name="T5" fmla="*/ 1732 h 2086"/>
                <a:gd name="T6" fmla="*/ 1361 w 2373"/>
                <a:gd name="T7" fmla="*/ 1866 h 2086"/>
                <a:gd name="T8" fmla="*/ 1545 w 2373"/>
                <a:gd name="T9" fmla="*/ 1880 h 2086"/>
                <a:gd name="T10" fmla="*/ 1709 w 2373"/>
                <a:gd name="T11" fmla="*/ 1739 h 2086"/>
                <a:gd name="T12" fmla="*/ 1780 w 2373"/>
                <a:gd name="T13" fmla="*/ 1565 h 2086"/>
                <a:gd name="T14" fmla="*/ 1824 w 2373"/>
                <a:gd name="T15" fmla="*/ 1188 h 2086"/>
                <a:gd name="T16" fmla="*/ 1773 w 2373"/>
                <a:gd name="T17" fmla="*/ 800 h 2086"/>
                <a:gd name="T18" fmla="*/ 1656 w 2373"/>
                <a:gd name="T19" fmla="*/ 707 h 2086"/>
                <a:gd name="T20" fmla="*/ 1309 w 2373"/>
                <a:gd name="T21" fmla="*/ 1420 h 2086"/>
                <a:gd name="T22" fmla="*/ 1276 w 2373"/>
                <a:gd name="T23" fmla="*/ 1476 h 2086"/>
                <a:gd name="T24" fmla="*/ 952 w 2373"/>
                <a:gd name="T25" fmla="*/ 1794 h 2086"/>
                <a:gd name="T26" fmla="*/ 858 w 2373"/>
                <a:gd name="T27" fmla="*/ 1852 h 2086"/>
                <a:gd name="T28" fmla="*/ 420 w 2373"/>
                <a:gd name="T29" fmla="*/ 1883 h 2086"/>
                <a:gd name="T30" fmla="*/ 211 w 2373"/>
                <a:gd name="T31" fmla="*/ 1790 h 2086"/>
                <a:gd name="T32" fmla="*/ 101 w 2373"/>
                <a:gd name="T33" fmla="*/ 1650 h 2086"/>
                <a:gd name="T34" fmla="*/ 36 w 2373"/>
                <a:gd name="T35" fmla="*/ 1382 h 2086"/>
                <a:gd name="T36" fmla="*/ 1 w 2373"/>
                <a:gd name="T37" fmla="*/ 1250 h 2086"/>
                <a:gd name="T38" fmla="*/ 36 w 2373"/>
                <a:gd name="T39" fmla="*/ 1099 h 2086"/>
                <a:gd name="T40" fmla="*/ 111 w 2373"/>
                <a:gd name="T41" fmla="*/ 744 h 2086"/>
                <a:gd name="T42" fmla="*/ 188 w 2373"/>
                <a:gd name="T43" fmla="*/ 546 h 2086"/>
                <a:gd name="T44" fmla="*/ 253 w 2373"/>
                <a:gd name="T45" fmla="*/ 423 h 2086"/>
                <a:gd name="T46" fmla="*/ 603 w 2373"/>
                <a:gd name="T47" fmla="*/ 79 h 2086"/>
                <a:gd name="T48" fmla="*/ 642 w 2373"/>
                <a:gd name="T49" fmla="*/ 63 h 2086"/>
                <a:gd name="T50" fmla="*/ 988 w 2373"/>
                <a:gd name="T51" fmla="*/ 1 h 2086"/>
                <a:gd name="T52" fmla="*/ 1211 w 2373"/>
                <a:gd name="T53" fmla="*/ 181 h 2086"/>
                <a:gd name="T54" fmla="*/ 1231 w 2373"/>
                <a:gd name="T55" fmla="*/ 518 h 2086"/>
                <a:gd name="T56" fmla="*/ 1204 w 2373"/>
                <a:gd name="T57" fmla="*/ 593 h 2086"/>
                <a:gd name="T58" fmla="*/ 1123 w 2373"/>
                <a:gd name="T59" fmla="*/ 756 h 2086"/>
                <a:gd name="T60" fmla="*/ 1028 w 2373"/>
                <a:gd name="T61" fmla="*/ 906 h 2086"/>
                <a:gd name="T62" fmla="*/ 717 w 2373"/>
                <a:gd name="T63" fmla="*/ 1160 h 2086"/>
                <a:gd name="T64" fmla="*/ 449 w 2373"/>
                <a:gd name="T65" fmla="*/ 1224 h 2086"/>
                <a:gd name="T66" fmla="*/ 474 w 2373"/>
                <a:gd name="T67" fmla="*/ 1437 h 2086"/>
                <a:gd name="T68" fmla="*/ 484 w 2373"/>
                <a:gd name="T69" fmla="*/ 1503 h 2086"/>
                <a:gd name="T70" fmla="*/ 540 w 2373"/>
                <a:gd name="T71" fmla="*/ 1607 h 2086"/>
                <a:gd name="T72" fmla="*/ 710 w 2373"/>
                <a:gd name="T73" fmla="*/ 1672 h 2086"/>
                <a:gd name="T74" fmla="*/ 1001 w 2373"/>
                <a:gd name="T75" fmla="*/ 1374 h 2086"/>
                <a:gd name="T76" fmla="*/ 1063 w 2373"/>
                <a:gd name="T77" fmla="*/ 1286 h 2086"/>
                <a:gd name="T78" fmla="*/ 1341 w 2373"/>
                <a:gd name="T79" fmla="*/ 782 h 2086"/>
                <a:gd name="T80" fmla="*/ 1420 w 2373"/>
                <a:gd name="T81" fmla="*/ 669 h 2086"/>
                <a:gd name="T82" fmla="*/ 1493 w 2373"/>
                <a:gd name="T83" fmla="*/ 528 h 2086"/>
                <a:gd name="T84" fmla="*/ 1462 w 2373"/>
                <a:gd name="T85" fmla="*/ 440 h 2086"/>
                <a:gd name="T86" fmla="*/ 1462 w 2373"/>
                <a:gd name="T87" fmla="*/ 127 h 2086"/>
                <a:gd name="T88" fmla="*/ 1662 w 2373"/>
                <a:gd name="T89" fmla="*/ 23 h 2086"/>
                <a:gd name="T90" fmla="*/ 1889 w 2373"/>
                <a:gd name="T91" fmla="*/ 89 h 2086"/>
                <a:gd name="T92" fmla="*/ 1881 w 2373"/>
                <a:gd name="T93" fmla="*/ 249 h 2086"/>
                <a:gd name="T94" fmla="*/ 1924 w 2373"/>
                <a:gd name="T95" fmla="*/ 476 h 2086"/>
                <a:gd name="T96" fmla="*/ 2232 w 2373"/>
                <a:gd name="T97" fmla="*/ 847 h 2086"/>
                <a:gd name="T98" fmla="*/ 2323 w 2373"/>
                <a:gd name="T99" fmla="*/ 1044 h 2086"/>
                <a:gd name="T100" fmla="*/ 2373 w 2373"/>
                <a:gd name="T101" fmla="*/ 1345 h 2086"/>
                <a:gd name="T102" fmla="*/ 2316 w 2373"/>
                <a:gd name="T103" fmla="*/ 1654 h 2086"/>
                <a:gd name="T104" fmla="*/ 2183 w 2373"/>
                <a:gd name="T105" fmla="*/ 1830 h 2086"/>
                <a:gd name="T106" fmla="*/ 1947 w 2373"/>
                <a:gd name="T107" fmla="*/ 1981 h 2086"/>
                <a:gd name="T108" fmla="*/ 1732 w 2373"/>
                <a:gd name="T109" fmla="*/ 2059 h 2086"/>
                <a:gd name="T110" fmla="*/ 642 w 2373"/>
                <a:gd name="T111" fmla="*/ 926 h 2086"/>
                <a:gd name="T112" fmla="*/ 828 w 2373"/>
                <a:gd name="T113" fmla="*/ 704 h 2086"/>
                <a:gd name="T114" fmla="*/ 868 w 2373"/>
                <a:gd name="T115" fmla="*/ 649 h 2086"/>
                <a:gd name="T116" fmla="*/ 894 w 2373"/>
                <a:gd name="T117" fmla="*/ 259 h 2086"/>
                <a:gd name="T118" fmla="*/ 746 w 2373"/>
                <a:gd name="T119" fmla="*/ 399 h 2086"/>
                <a:gd name="T120" fmla="*/ 504 w 2373"/>
                <a:gd name="T121" fmla="*/ 959 h 2086"/>
                <a:gd name="T122" fmla="*/ 642 w 2373"/>
                <a:gd name="T123" fmla="*/ 926 h 20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373" h="2086">
                  <a:moveTo>
                    <a:pt x="1413" y="2079"/>
                  </a:moveTo>
                  <a:lnTo>
                    <a:pt x="1382" y="2069"/>
                  </a:lnTo>
                  <a:lnTo>
                    <a:pt x="1320" y="2053"/>
                  </a:lnTo>
                  <a:lnTo>
                    <a:pt x="1286" y="2042"/>
                  </a:lnTo>
                  <a:lnTo>
                    <a:pt x="1205" y="1988"/>
                  </a:lnTo>
                  <a:lnTo>
                    <a:pt x="1132" y="1918"/>
                  </a:lnTo>
                  <a:lnTo>
                    <a:pt x="1094" y="1867"/>
                  </a:lnTo>
                  <a:lnTo>
                    <a:pt x="1080" y="1839"/>
                  </a:lnTo>
                  <a:lnTo>
                    <a:pt x="1080" y="1827"/>
                  </a:lnTo>
                  <a:lnTo>
                    <a:pt x="1081" y="1808"/>
                  </a:lnTo>
                  <a:lnTo>
                    <a:pt x="1097" y="1775"/>
                  </a:lnTo>
                  <a:lnTo>
                    <a:pt x="1126" y="1746"/>
                  </a:lnTo>
                  <a:lnTo>
                    <a:pt x="1161" y="1729"/>
                  </a:lnTo>
                  <a:lnTo>
                    <a:pt x="1178" y="1728"/>
                  </a:lnTo>
                  <a:lnTo>
                    <a:pt x="1195" y="1732"/>
                  </a:lnTo>
                  <a:lnTo>
                    <a:pt x="1247" y="1771"/>
                  </a:lnTo>
                  <a:lnTo>
                    <a:pt x="1276" y="1798"/>
                  </a:lnTo>
                  <a:lnTo>
                    <a:pt x="1293" y="1817"/>
                  </a:lnTo>
                  <a:lnTo>
                    <a:pt x="1328" y="1847"/>
                  </a:lnTo>
                  <a:lnTo>
                    <a:pt x="1361" y="1866"/>
                  </a:lnTo>
                  <a:lnTo>
                    <a:pt x="1401" y="1878"/>
                  </a:lnTo>
                  <a:lnTo>
                    <a:pt x="1426" y="1880"/>
                  </a:lnTo>
                  <a:lnTo>
                    <a:pt x="1460" y="1885"/>
                  </a:lnTo>
                  <a:lnTo>
                    <a:pt x="1525" y="1885"/>
                  </a:lnTo>
                  <a:lnTo>
                    <a:pt x="1545" y="1880"/>
                  </a:lnTo>
                  <a:lnTo>
                    <a:pt x="1561" y="1875"/>
                  </a:lnTo>
                  <a:lnTo>
                    <a:pt x="1611" y="1837"/>
                  </a:lnTo>
                  <a:lnTo>
                    <a:pt x="1666" y="1790"/>
                  </a:lnTo>
                  <a:lnTo>
                    <a:pt x="1705" y="1749"/>
                  </a:lnTo>
                  <a:lnTo>
                    <a:pt x="1709" y="1739"/>
                  </a:lnTo>
                  <a:lnTo>
                    <a:pt x="1716" y="1718"/>
                  </a:lnTo>
                  <a:lnTo>
                    <a:pt x="1739" y="1663"/>
                  </a:lnTo>
                  <a:lnTo>
                    <a:pt x="1764" y="1607"/>
                  </a:lnTo>
                  <a:lnTo>
                    <a:pt x="1773" y="1584"/>
                  </a:lnTo>
                  <a:lnTo>
                    <a:pt x="1780" y="1565"/>
                  </a:lnTo>
                  <a:lnTo>
                    <a:pt x="1800" y="1520"/>
                  </a:lnTo>
                  <a:lnTo>
                    <a:pt x="1806" y="1505"/>
                  </a:lnTo>
                  <a:lnTo>
                    <a:pt x="1814" y="1451"/>
                  </a:lnTo>
                  <a:lnTo>
                    <a:pt x="1823" y="1320"/>
                  </a:lnTo>
                  <a:lnTo>
                    <a:pt x="1824" y="1188"/>
                  </a:lnTo>
                  <a:lnTo>
                    <a:pt x="1824" y="1093"/>
                  </a:lnTo>
                  <a:lnTo>
                    <a:pt x="1823" y="970"/>
                  </a:lnTo>
                  <a:lnTo>
                    <a:pt x="1813" y="897"/>
                  </a:lnTo>
                  <a:lnTo>
                    <a:pt x="1791" y="838"/>
                  </a:lnTo>
                  <a:lnTo>
                    <a:pt x="1773" y="800"/>
                  </a:lnTo>
                  <a:lnTo>
                    <a:pt x="1750" y="759"/>
                  </a:lnTo>
                  <a:lnTo>
                    <a:pt x="1711" y="704"/>
                  </a:lnTo>
                  <a:lnTo>
                    <a:pt x="1686" y="688"/>
                  </a:lnTo>
                  <a:lnTo>
                    <a:pt x="1672" y="690"/>
                  </a:lnTo>
                  <a:lnTo>
                    <a:pt x="1656" y="707"/>
                  </a:lnTo>
                  <a:lnTo>
                    <a:pt x="1649" y="733"/>
                  </a:lnTo>
                  <a:lnTo>
                    <a:pt x="1631" y="777"/>
                  </a:lnTo>
                  <a:lnTo>
                    <a:pt x="1534" y="986"/>
                  </a:lnTo>
                  <a:lnTo>
                    <a:pt x="1408" y="1238"/>
                  </a:lnTo>
                  <a:lnTo>
                    <a:pt x="1309" y="1420"/>
                  </a:lnTo>
                  <a:lnTo>
                    <a:pt x="1293" y="1440"/>
                  </a:lnTo>
                  <a:lnTo>
                    <a:pt x="1287" y="1441"/>
                  </a:lnTo>
                  <a:lnTo>
                    <a:pt x="1279" y="1456"/>
                  </a:lnTo>
                  <a:lnTo>
                    <a:pt x="1277" y="1467"/>
                  </a:lnTo>
                  <a:lnTo>
                    <a:pt x="1276" y="1476"/>
                  </a:lnTo>
                  <a:lnTo>
                    <a:pt x="1254" y="1510"/>
                  </a:lnTo>
                  <a:lnTo>
                    <a:pt x="1197" y="1579"/>
                  </a:lnTo>
                  <a:lnTo>
                    <a:pt x="1089" y="1687"/>
                  </a:lnTo>
                  <a:lnTo>
                    <a:pt x="986" y="1775"/>
                  </a:lnTo>
                  <a:lnTo>
                    <a:pt x="952" y="1794"/>
                  </a:lnTo>
                  <a:lnTo>
                    <a:pt x="924" y="1807"/>
                  </a:lnTo>
                  <a:lnTo>
                    <a:pt x="885" y="1830"/>
                  </a:lnTo>
                  <a:lnTo>
                    <a:pt x="881" y="1837"/>
                  </a:lnTo>
                  <a:lnTo>
                    <a:pt x="880" y="1843"/>
                  </a:lnTo>
                  <a:lnTo>
                    <a:pt x="858" y="1852"/>
                  </a:lnTo>
                  <a:lnTo>
                    <a:pt x="798" y="1866"/>
                  </a:lnTo>
                  <a:lnTo>
                    <a:pt x="680" y="1882"/>
                  </a:lnTo>
                  <a:lnTo>
                    <a:pt x="550" y="1889"/>
                  </a:lnTo>
                  <a:lnTo>
                    <a:pt x="492" y="1888"/>
                  </a:lnTo>
                  <a:lnTo>
                    <a:pt x="420" y="1883"/>
                  </a:lnTo>
                  <a:lnTo>
                    <a:pt x="347" y="1869"/>
                  </a:lnTo>
                  <a:lnTo>
                    <a:pt x="312" y="1854"/>
                  </a:lnTo>
                  <a:lnTo>
                    <a:pt x="298" y="1844"/>
                  </a:lnTo>
                  <a:lnTo>
                    <a:pt x="249" y="1813"/>
                  </a:lnTo>
                  <a:lnTo>
                    <a:pt x="211" y="1790"/>
                  </a:lnTo>
                  <a:lnTo>
                    <a:pt x="196" y="1778"/>
                  </a:lnTo>
                  <a:lnTo>
                    <a:pt x="165" y="1746"/>
                  </a:lnTo>
                  <a:lnTo>
                    <a:pt x="154" y="1732"/>
                  </a:lnTo>
                  <a:lnTo>
                    <a:pt x="131" y="1695"/>
                  </a:lnTo>
                  <a:lnTo>
                    <a:pt x="101" y="1650"/>
                  </a:lnTo>
                  <a:lnTo>
                    <a:pt x="86" y="1627"/>
                  </a:lnTo>
                  <a:lnTo>
                    <a:pt x="62" y="1571"/>
                  </a:lnTo>
                  <a:lnTo>
                    <a:pt x="46" y="1502"/>
                  </a:lnTo>
                  <a:lnTo>
                    <a:pt x="36" y="1424"/>
                  </a:lnTo>
                  <a:lnTo>
                    <a:pt x="36" y="1382"/>
                  </a:lnTo>
                  <a:lnTo>
                    <a:pt x="34" y="1348"/>
                  </a:lnTo>
                  <a:lnTo>
                    <a:pt x="24" y="1296"/>
                  </a:lnTo>
                  <a:lnTo>
                    <a:pt x="17" y="1287"/>
                  </a:lnTo>
                  <a:lnTo>
                    <a:pt x="10" y="1280"/>
                  </a:lnTo>
                  <a:lnTo>
                    <a:pt x="1" y="1250"/>
                  </a:lnTo>
                  <a:lnTo>
                    <a:pt x="0" y="1215"/>
                  </a:lnTo>
                  <a:lnTo>
                    <a:pt x="8" y="1188"/>
                  </a:lnTo>
                  <a:lnTo>
                    <a:pt x="16" y="1181"/>
                  </a:lnTo>
                  <a:lnTo>
                    <a:pt x="21" y="1171"/>
                  </a:lnTo>
                  <a:lnTo>
                    <a:pt x="36" y="1099"/>
                  </a:lnTo>
                  <a:lnTo>
                    <a:pt x="43" y="1050"/>
                  </a:lnTo>
                  <a:lnTo>
                    <a:pt x="47" y="995"/>
                  </a:lnTo>
                  <a:lnTo>
                    <a:pt x="63" y="901"/>
                  </a:lnTo>
                  <a:lnTo>
                    <a:pt x="83" y="821"/>
                  </a:lnTo>
                  <a:lnTo>
                    <a:pt x="111" y="744"/>
                  </a:lnTo>
                  <a:lnTo>
                    <a:pt x="127" y="707"/>
                  </a:lnTo>
                  <a:lnTo>
                    <a:pt x="152" y="642"/>
                  </a:lnTo>
                  <a:lnTo>
                    <a:pt x="161" y="606"/>
                  </a:lnTo>
                  <a:lnTo>
                    <a:pt x="164" y="593"/>
                  </a:lnTo>
                  <a:lnTo>
                    <a:pt x="188" y="546"/>
                  </a:lnTo>
                  <a:lnTo>
                    <a:pt x="206" y="518"/>
                  </a:lnTo>
                  <a:lnTo>
                    <a:pt x="224" y="491"/>
                  </a:lnTo>
                  <a:lnTo>
                    <a:pt x="249" y="443"/>
                  </a:lnTo>
                  <a:lnTo>
                    <a:pt x="252" y="432"/>
                  </a:lnTo>
                  <a:lnTo>
                    <a:pt x="253" y="423"/>
                  </a:lnTo>
                  <a:lnTo>
                    <a:pt x="282" y="387"/>
                  </a:lnTo>
                  <a:lnTo>
                    <a:pt x="358" y="304"/>
                  </a:lnTo>
                  <a:lnTo>
                    <a:pt x="488" y="176"/>
                  </a:lnTo>
                  <a:lnTo>
                    <a:pt x="570" y="104"/>
                  </a:lnTo>
                  <a:lnTo>
                    <a:pt x="603" y="79"/>
                  </a:lnTo>
                  <a:lnTo>
                    <a:pt x="609" y="79"/>
                  </a:lnTo>
                  <a:lnTo>
                    <a:pt x="616" y="83"/>
                  </a:lnTo>
                  <a:lnTo>
                    <a:pt x="629" y="79"/>
                  </a:lnTo>
                  <a:lnTo>
                    <a:pt x="633" y="73"/>
                  </a:lnTo>
                  <a:lnTo>
                    <a:pt x="642" y="63"/>
                  </a:lnTo>
                  <a:lnTo>
                    <a:pt x="707" y="39"/>
                  </a:lnTo>
                  <a:lnTo>
                    <a:pt x="803" y="16"/>
                  </a:lnTo>
                  <a:lnTo>
                    <a:pt x="904" y="1"/>
                  </a:lnTo>
                  <a:lnTo>
                    <a:pt x="946" y="0"/>
                  </a:lnTo>
                  <a:lnTo>
                    <a:pt x="988" y="1"/>
                  </a:lnTo>
                  <a:lnTo>
                    <a:pt x="1060" y="20"/>
                  </a:lnTo>
                  <a:lnTo>
                    <a:pt x="1123" y="59"/>
                  </a:lnTo>
                  <a:lnTo>
                    <a:pt x="1175" y="119"/>
                  </a:lnTo>
                  <a:lnTo>
                    <a:pt x="1198" y="158"/>
                  </a:lnTo>
                  <a:lnTo>
                    <a:pt x="1211" y="181"/>
                  </a:lnTo>
                  <a:lnTo>
                    <a:pt x="1228" y="225"/>
                  </a:lnTo>
                  <a:lnTo>
                    <a:pt x="1240" y="299"/>
                  </a:lnTo>
                  <a:lnTo>
                    <a:pt x="1241" y="379"/>
                  </a:lnTo>
                  <a:lnTo>
                    <a:pt x="1240" y="435"/>
                  </a:lnTo>
                  <a:lnTo>
                    <a:pt x="1231" y="518"/>
                  </a:lnTo>
                  <a:lnTo>
                    <a:pt x="1224" y="531"/>
                  </a:lnTo>
                  <a:lnTo>
                    <a:pt x="1217" y="537"/>
                  </a:lnTo>
                  <a:lnTo>
                    <a:pt x="1207" y="561"/>
                  </a:lnTo>
                  <a:lnTo>
                    <a:pt x="1205" y="576"/>
                  </a:lnTo>
                  <a:lnTo>
                    <a:pt x="1204" y="593"/>
                  </a:lnTo>
                  <a:lnTo>
                    <a:pt x="1186" y="646"/>
                  </a:lnTo>
                  <a:lnTo>
                    <a:pt x="1162" y="704"/>
                  </a:lnTo>
                  <a:lnTo>
                    <a:pt x="1137" y="746"/>
                  </a:lnTo>
                  <a:lnTo>
                    <a:pt x="1127" y="753"/>
                  </a:lnTo>
                  <a:lnTo>
                    <a:pt x="1123" y="756"/>
                  </a:lnTo>
                  <a:lnTo>
                    <a:pt x="1120" y="766"/>
                  </a:lnTo>
                  <a:lnTo>
                    <a:pt x="1123" y="772"/>
                  </a:lnTo>
                  <a:lnTo>
                    <a:pt x="1123" y="780"/>
                  </a:lnTo>
                  <a:lnTo>
                    <a:pt x="1100" y="818"/>
                  </a:lnTo>
                  <a:lnTo>
                    <a:pt x="1028" y="906"/>
                  </a:lnTo>
                  <a:lnTo>
                    <a:pt x="894" y="1041"/>
                  </a:lnTo>
                  <a:lnTo>
                    <a:pt x="802" y="1120"/>
                  </a:lnTo>
                  <a:lnTo>
                    <a:pt x="759" y="1149"/>
                  </a:lnTo>
                  <a:lnTo>
                    <a:pt x="746" y="1152"/>
                  </a:lnTo>
                  <a:lnTo>
                    <a:pt x="717" y="1160"/>
                  </a:lnTo>
                  <a:lnTo>
                    <a:pt x="656" y="1188"/>
                  </a:lnTo>
                  <a:lnTo>
                    <a:pt x="623" y="1202"/>
                  </a:lnTo>
                  <a:lnTo>
                    <a:pt x="548" y="1221"/>
                  </a:lnTo>
                  <a:lnTo>
                    <a:pt x="518" y="1224"/>
                  </a:lnTo>
                  <a:lnTo>
                    <a:pt x="449" y="1224"/>
                  </a:lnTo>
                  <a:lnTo>
                    <a:pt x="449" y="1322"/>
                  </a:lnTo>
                  <a:lnTo>
                    <a:pt x="451" y="1361"/>
                  </a:lnTo>
                  <a:lnTo>
                    <a:pt x="459" y="1420"/>
                  </a:lnTo>
                  <a:lnTo>
                    <a:pt x="468" y="1431"/>
                  </a:lnTo>
                  <a:lnTo>
                    <a:pt x="474" y="1437"/>
                  </a:lnTo>
                  <a:lnTo>
                    <a:pt x="478" y="1456"/>
                  </a:lnTo>
                  <a:lnTo>
                    <a:pt x="475" y="1466"/>
                  </a:lnTo>
                  <a:lnTo>
                    <a:pt x="471" y="1476"/>
                  </a:lnTo>
                  <a:lnTo>
                    <a:pt x="476" y="1496"/>
                  </a:lnTo>
                  <a:lnTo>
                    <a:pt x="484" y="1503"/>
                  </a:lnTo>
                  <a:lnTo>
                    <a:pt x="491" y="1509"/>
                  </a:lnTo>
                  <a:lnTo>
                    <a:pt x="502" y="1533"/>
                  </a:lnTo>
                  <a:lnTo>
                    <a:pt x="504" y="1548"/>
                  </a:lnTo>
                  <a:lnTo>
                    <a:pt x="507" y="1562"/>
                  </a:lnTo>
                  <a:lnTo>
                    <a:pt x="540" y="1607"/>
                  </a:lnTo>
                  <a:lnTo>
                    <a:pt x="587" y="1656"/>
                  </a:lnTo>
                  <a:lnTo>
                    <a:pt x="633" y="1689"/>
                  </a:lnTo>
                  <a:lnTo>
                    <a:pt x="649" y="1692"/>
                  </a:lnTo>
                  <a:lnTo>
                    <a:pt x="665" y="1690"/>
                  </a:lnTo>
                  <a:lnTo>
                    <a:pt x="710" y="1672"/>
                  </a:lnTo>
                  <a:lnTo>
                    <a:pt x="789" y="1618"/>
                  </a:lnTo>
                  <a:lnTo>
                    <a:pt x="901" y="1518"/>
                  </a:lnTo>
                  <a:lnTo>
                    <a:pt x="966" y="1440"/>
                  </a:lnTo>
                  <a:lnTo>
                    <a:pt x="993" y="1392"/>
                  </a:lnTo>
                  <a:lnTo>
                    <a:pt x="1001" y="1374"/>
                  </a:lnTo>
                  <a:lnTo>
                    <a:pt x="1006" y="1356"/>
                  </a:lnTo>
                  <a:lnTo>
                    <a:pt x="1019" y="1335"/>
                  </a:lnTo>
                  <a:lnTo>
                    <a:pt x="1027" y="1332"/>
                  </a:lnTo>
                  <a:lnTo>
                    <a:pt x="1034" y="1327"/>
                  </a:lnTo>
                  <a:lnTo>
                    <a:pt x="1063" y="1286"/>
                  </a:lnTo>
                  <a:lnTo>
                    <a:pt x="1080" y="1257"/>
                  </a:lnTo>
                  <a:lnTo>
                    <a:pt x="1120" y="1176"/>
                  </a:lnTo>
                  <a:lnTo>
                    <a:pt x="1169" y="1088"/>
                  </a:lnTo>
                  <a:lnTo>
                    <a:pt x="1282" y="893"/>
                  </a:lnTo>
                  <a:lnTo>
                    <a:pt x="1341" y="782"/>
                  </a:lnTo>
                  <a:lnTo>
                    <a:pt x="1356" y="753"/>
                  </a:lnTo>
                  <a:lnTo>
                    <a:pt x="1388" y="705"/>
                  </a:lnTo>
                  <a:lnTo>
                    <a:pt x="1400" y="697"/>
                  </a:lnTo>
                  <a:lnTo>
                    <a:pt x="1408" y="690"/>
                  </a:lnTo>
                  <a:lnTo>
                    <a:pt x="1420" y="669"/>
                  </a:lnTo>
                  <a:lnTo>
                    <a:pt x="1421" y="659"/>
                  </a:lnTo>
                  <a:lnTo>
                    <a:pt x="1424" y="645"/>
                  </a:lnTo>
                  <a:lnTo>
                    <a:pt x="1449" y="596"/>
                  </a:lnTo>
                  <a:lnTo>
                    <a:pt x="1466" y="567"/>
                  </a:lnTo>
                  <a:lnTo>
                    <a:pt x="1493" y="528"/>
                  </a:lnTo>
                  <a:lnTo>
                    <a:pt x="1502" y="498"/>
                  </a:lnTo>
                  <a:lnTo>
                    <a:pt x="1492" y="485"/>
                  </a:lnTo>
                  <a:lnTo>
                    <a:pt x="1483" y="476"/>
                  </a:lnTo>
                  <a:lnTo>
                    <a:pt x="1474" y="469"/>
                  </a:lnTo>
                  <a:lnTo>
                    <a:pt x="1462" y="440"/>
                  </a:lnTo>
                  <a:lnTo>
                    <a:pt x="1447" y="371"/>
                  </a:lnTo>
                  <a:lnTo>
                    <a:pt x="1441" y="258"/>
                  </a:lnTo>
                  <a:lnTo>
                    <a:pt x="1446" y="180"/>
                  </a:lnTo>
                  <a:lnTo>
                    <a:pt x="1454" y="140"/>
                  </a:lnTo>
                  <a:lnTo>
                    <a:pt x="1462" y="127"/>
                  </a:lnTo>
                  <a:lnTo>
                    <a:pt x="1473" y="106"/>
                  </a:lnTo>
                  <a:lnTo>
                    <a:pt x="1508" y="72"/>
                  </a:lnTo>
                  <a:lnTo>
                    <a:pt x="1552" y="47"/>
                  </a:lnTo>
                  <a:lnTo>
                    <a:pt x="1604" y="30"/>
                  </a:lnTo>
                  <a:lnTo>
                    <a:pt x="1662" y="23"/>
                  </a:lnTo>
                  <a:lnTo>
                    <a:pt x="1721" y="24"/>
                  </a:lnTo>
                  <a:lnTo>
                    <a:pt x="1780" y="34"/>
                  </a:lnTo>
                  <a:lnTo>
                    <a:pt x="1835" y="56"/>
                  </a:lnTo>
                  <a:lnTo>
                    <a:pt x="1860" y="70"/>
                  </a:lnTo>
                  <a:lnTo>
                    <a:pt x="1889" y="89"/>
                  </a:lnTo>
                  <a:lnTo>
                    <a:pt x="1924" y="122"/>
                  </a:lnTo>
                  <a:lnTo>
                    <a:pt x="1932" y="157"/>
                  </a:lnTo>
                  <a:lnTo>
                    <a:pt x="1917" y="199"/>
                  </a:lnTo>
                  <a:lnTo>
                    <a:pt x="1898" y="223"/>
                  </a:lnTo>
                  <a:lnTo>
                    <a:pt x="1881" y="249"/>
                  </a:lnTo>
                  <a:lnTo>
                    <a:pt x="1856" y="299"/>
                  </a:lnTo>
                  <a:lnTo>
                    <a:pt x="1853" y="317"/>
                  </a:lnTo>
                  <a:lnTo>
                    <a:pt x="1855" y="341"/>
                  </a:lnTo>
                  <a:lnTo>
                    <a:pt x="1879" y="403"/>
                  </a:lnTo>
                  <a:lnTo>
                    <a:pt x="1924" y="476"/>
                  </a:lnTo>
                  <a:lnTo>
                    <a:pt x="1986" y="556"/>
                  </a:lnTo>
                  <a:lnTo>
                    <a:pt x="2023" y="595"/>
                  </a:lnTo>
                  <a:lnTo>
                    <a:pt x="2076" y="651"/>
                  </a:lnTo>
                  <a:lnTo>
                    <a:pt x="2164" y="754"/>
                  </a:lnTo>
                  <a:lnTo>
                    <a:pt x="2232" y="847"/>
                  </a:lnTo>
                  <a:lnTo>
                    <a:pt x="2275" y="926"/>
                  </a:lnTo>
                  <a:lnTo>
                    <a:pt x="2287" y="962"/>
                  </a:lnTo>
                  <a:lnTo>
                    <a:pt x="2297" y="993"/>
                  </a:lnTo>
                  <a:lnTo>
                    <a:pt x="2317" y="1039"/>
                  </a:lnTo>
                  <a:lnTo>
                    <a:pt x="2323" y="1044"/>
                  </a:lnTo>
                  <a:lnTo>
                    <a:pt x="2328" y="1045"/>
                  </a:lnTo>
                  <a:lnTo>
                    <a:pt x="2339" y="1063"/>
                  </a:lnTo>
                  <a:lnTo>
                    <a:pt x="2353" y="1114"/>
                  </a:lnTo>
                  <a:lnTo>
                    <a:pt x="2367" y="1221"/>
                  </a:lnTo>
                  <a:lnTo>
                    <a:pt x="2373" y="1345"/>
                  </a:lnTo>
                  <a:lnTo>
                    <a:pt x="2372" y="1408"/>
                  </a:lnTo>
                  <a:lnTo>
                    <a:pt x="2367" y="1505"/>
                  </a:lnTo>
                  <a:lnTo>
                    <a:pt x="2352" y="1587"/>
                  </a:lnTo>
                  <a:lnTo>
                    <a:pt x="2331" y="1631"/>
                  </a:lnTo>
                  <a:lnTo>
                    <a:pt x="2316" y="1654"/>
                  </a:lnTo>
                  <a:lnTo>
                    <a:pt x="2278" y="1712"/>
                  </a:lnTo>
                  <a:lnTo>
                    <a:pt x="2268" y="1736"/>
                  </a:lnTo>
                  <a:lnTo>
                    <a:pt x="2265" y="1745"/>
                  </a:lnTo>
                  <a:lnTo>
                    <a:pt x="2244" y="1772"/>
                  </a:lnTo>
                  <a:lnTo>
                    <a:pt x="2183" y="1830"/>
                  </a:lnTo>
                  <a:lnTo>
                    <a:pt x="2075" y="1914"/>
                  </a:lnTo>
                  <a:lnTo>
                    <a:pt x="2003" y="1961"/>
                  </a:lnTo>
                  <a:lnTo>
                    <a:pt x="1968" y="1978"/>
                  </a:lnTo>
                  <a:lnTo>
                    <a:pt x="1958" y="1980"/>
                  </a:lnTo>
                  <a:lnTo>
                    <a:pt x="1947" y="1981"/>
                  </a:lnTo>
                  <a:lnTo>
                    <a:pt x="1911" y="1996"/>
                  </a:lnTo>
                  <a:lnTo>
                    <a:pt x="1894" y="2007"/>
                  </a:lnTo>
                  <a:lnTo>
                    <a:pt x="1878" y="2016"/>
                  </a:lnTo>
                  <a:lnTo>
                    <a:pt x="1830" y="2034"/>
                  </a:lnTo>
                  <a:lnTo>
                    <a:pt x="1732" y="2059"/>
                  </a:lnTo>
                  <a:lnTo>
                    <a:pt x="1578" y="2082"/>
                  </a:lnTo>
                  <a:lnTo>
                    <a:pt x="1479" y="2086"/>
                  </a:lnTo>
                  <a:lnTo>
                    <a:pt x="1428" y="2083"/>
                  </a:lnTo>
                  <a:lnTo>
                    <a:pt x="1413" y="2079"/>
                  </a:lnTo>
                  <a:close/>
                  <a:moveTo>
                    <a:pt x="642" y="926"/>
                  </a:moveTo>
                  <a:lnTo>
                    <a:pt x="668" y="903"/>
                  </a:lnTo>
                  <a:lnTo>
                    <a:pt x="730" y="841"/>
                  </a:lnTo>
                  <a:lnTo>
                    <a:pt x="788" y="773"/>
                  </a:lnTo>
                  <a:lnTo>
                    <a:pt x="824" y="718"/>
                  </a:lnTo>
                  <a:lnTo>
                    <a:pt x="828" y="704"/>
                  </a:lnTo>
                  <a:lnTo>
                    <a:pt x="828" y="695"/>
                  </a:lnTo>
                  <a:lnTo>
                    <a:pt x="836" y="685"/>
                  </a:lnTo>
                  <a:lnTo>
                    <a:pt x="844" y="684"/>
                  </a:lnTo>
                  <a:lnTo>
                    <a:pt x="851" y="681"/>
                  </a:lnTo>
                  <a:lnTo>
                    <a:pt x="868" y="649"/>
                  </a:lnTo>
                  <a:lnTo>
                    <a:pt x="890" y="561"/>
                  </a:lnTo>
                  <a:lnTo>
                    <a:pt x="907" y="410"/>
                  </a:lnTo>
                  <a:lnTo>
                    <a:pt x="907" y="312"/>
                  </a:lnTo>
                  <a:lnTo>
                    <a:pt x="900" y="269"/>
                  </a:lnTo>
                  <a:lnTo>
                    <a:pt x="894" y="259"/>
                  </a:lnTo>
                  <a:lnTo>
                    <a:pt x="884" y="258"/>
                  </a:lnTo>
                  <a:lnTo>
                    <a:pt x="839" y="286"/>
                  </a:lnTo>
                  <a:lnTo>
                    <a:pt x="813" y="314"/>
                  </a:lnTo>
                  <a:lnTo>
                    <a:pt x="793" y="334"/>
                  </a:lnTo>
                  <a:lnTo>
                    <a:pt x="746" y="399"/>
                  </a:lnTo>
                  <a:lnTo>
                    <a:pt x="669" y="528"/>
                  </a:lnTo>
                  <a:lnTo>
                    <a:pt x="573" y="730"/>
                  </a:lnTo>
                  <a:lnTo>
                    <a:pt x="523" y="865"/>
                  </a:lnTo>
                  <a:lnTo>
                    <a:pt x="505" y="934"/>
                  </a:lnTo>
                  <a:lnTo>
                    <a:pt x="504" y="959"/>
                  </a:lnTo>
                  <a:lnTo>
                    <a:pt x="505" y="973"/>
                  </a:lnTo>
                  <a:lnTo>
                    <a:pt x="524" y="983"/>
                  </a:lnTo>
                  <a:lnTo>
                    <a:pt x="561" y="975"/>
                  </a:lnTo>
                  <a:lnTo>
                    <a:pt x="612" y="946"/>
                  </a:lnTo>
                  <a:lnTo>
                    <a:pt x="642" y="926"/>
                  </a:lnTo>
                  <a:close/>
                </a:path>
              </a:pathLst>
            </a:custGeom>
            <a:solidFill>
              <a:srgbClr val="C00000"/>
            </a:solidFill>
            <a:ln>
              <a:noFill/>
            </a:ln>
          </p:spPr>
          <p:txBody>
            <a:bodyPr vert="horz" wrap="square" lIns="91440" tIns="45720" rIns="91440" bIns="45720" numCol="1" anchor="t" anchorCtr="0" compatLnSpc="1">
              <a:prstTxWarp prst="textNoShape">
                <a:avLst/>
              </a:prstTxWarp>
            </a:bodyPr>
            <a:lstStyle/>
            <a:p>
              <a:endParaRPr lang="es-PE"/>
            </a:p>
          </p:txBody>
        </p:sp>
        <p:sp>
          <p:nvSpPr>
            <p:cNvPr id="27" name="Freeform 23"/>
            <p:cNvSpPr>
              <a:spLocks/>
            </p:cNvSpPr>
            <p:nvPr/>
          </p:nvSpPr>
          <p:spPr bwMode="auto">
            <a:xfrm>
              <a:off x="6038171" y="1706108"/>
              <a:ext cx="541338" cy="923925"/>
            </a:xfrm>
            <a:custGeom>
              <a:avLst/>
              <a:gdLst>
                <a:gd name="T0" fmla="*/ 648 w 1021"/>
                <a:gd name="T1" fmla="*/ 1689 h 1745"/>
                <a:gd name="T2" fmla="*/ 510 w 1021"/>
                <a:gd name="T3" fmla="*/ 1539 h 1745"/>
                <a:gd name="T4" fmla="*/ 448 w 1021"/>
                <a:gd name="T5" fmla="*/ 1279 h 1745"/>
                <a:gd name="T6" fmla="*/ 433 w 1021"/>
                <a:gd name="T7" fmla="*/ 1135 h 1745"/>
                <a:gd name="T8" fmla="*/ 415 w 1021"/>
                <a:gd name="T9" fmla="*/ 1064 h 1745"/>
                <a:gd name="T10" fmla="*/ 446 w 1021"/>
                <a:gd name="T11" fmla="*/ 944 h 1745"/>
                <a:gd name="T12" fmla="*/ 459 w 1021"/>
                <a:gd name="T13" fmla="*/ 720 h 1745"/>
                <a:gd name="T14" fmla="*/ 481 w 1021"/>
                <a:gd name="T15" fmla="*/ 538 h 1745"/>
                <a:gd name="T16" fmla="*/ 443 w 1021"/>
                <a:gd name="T17" fmla="*/ 531 h 1745"/>
                <a:gd name="T18" fmla="*/ 392 w 1021"/>
                <a:gd name="T19" fmla="*/ 561 h 1745"/>
                <a:gd name="T20" fmla="*/ 364 w 1021"/>
                <a:gd name="T21" fmla="*/ 811 h 1745"/>
                <a:gd name="T22" fmla="*/ 320 w 1021"/>
                <a:gd name="T23" fmla="*/ 986 h 1745"/>
                <a:gd name="T24" fmla="*/ 299 w 1021"/>
                <a:gd name="T25" fmla="*/ 1067 h 1745"/>
                <a:gd name="T26" fmla="*/ 150 w 1021"/>
                <a:gd name="T27" fmla="*/ 1207 h 1745"/>
                <a:gd name="T28" fmla="*/ 60 w 1021"/>
                <a:gd name="T29" fmla="*/ 1221 h 1745"/>
                <a:gd name="T30" fmla="*/ 0 w 1021"/>
                <a:gd name="T31" fmla="*/ 1179 h 1745"/>
                <a:gd name="T32" fmla="*/ 34 w 1021"/>
                <a:gd name="T33" fmla="*/ 1077 h 1745"/>
                <a:gd name="T34" fmla="*/ 102 w 1021"/>
                <a:gd name="T35" fmla="*/ 969 h 1745"/>
                <a:gd name="T36" fmla="*/ 122 w 1021"/>
                <a:gd name="T37" fmla="*/ 903 h 1745"/>
                <a:gd name="T38" fmla="*/ 152 w 1021"/>
                <a:gd name="T39" fmla="*/ 836 h 1745"/>
                <a:gd name="T40" fmla="*/ 150 w 1021"/>
                <a:gd name="T41" fmla="*/ 796 h 1745"/>
                <a:gd name="T42" fmla="*/ 180 w 1021"/>
                <a:gd name="T43" fmla="*/ 701 h 1745"/>
                <a:gd name="T44" fmla="*/ 109 w 1021"/>
                <a:gd name="T45" fmla="*/ 459 h 1745"/>
                <a:gd name="T46" fmla="*/ 11 w 1021"/>
                <a:gd name="T47" fmla="*/ 314 h 1745"/>
                <a:gd name="T48" fmla="*/ 6 w 1021"/>
                <a:gd name="T49" fmla="*/ 219 h 1745"/>
                <a:gd name="T50" fmla="*/ 57 w 1021"/>
                <a:gd name="T51" fmla="*/ 114 h 1745"/>
                <a:gd name="T52" fmla="*/ 176 w 1021"/>
                <a:gd name="T53" fmla="*/ 69 h 1745"/>
                <a:gd name="T54" fmla="*/ 294 w 1021"/>
                <a:gd name="T55" fmla="*/ 92 h 1745"/>
                <a:gd name="T56" fmla="*/ 357 w 1021"/>
                <a:gd name="T57" fmla="*/ 217 h 1745"/>
                <a:gd name="T58" fmla="*/ 340 w 1021"/>
                <a:gd name="T59" fmla="*/ 297 h 1745"/>
                <a:gd name="T60" fmla="*/ 322 w 1021"/>
                <a:gd name="T61" fmla="*/ 381 h 1745"/>
                <a:gd name="T62" fmla="*/ 345 w 1021"/>
                <a:gd name="T63" fmla="*/ 425 h 1745"/>
                <a:gd name="T64" fmla="*/ 481 w 1021"/>
                <a:gd name="T65" fmla="*/ 305 h 1745"/>
                <a:gd name="T66" fmla="*/ 572 w 1021"/>
                <a:gd name="T67" fmla="*/ 167 h 1745"/>
                <a:gd name="T68" fmla="*/ 747 w 1021"/>
                <a:gd name="T69" fmla="*/ 10 h 1745"/>
                <a:gd name="T70" fmla="*/ 816 w 1021"/>
                <a:gd name="T71" fmla="*/ 3 h 1745"/>
                <a:gd name="T72" fmla="*/ 959 w 1021"/>
                <a:gd name="T73" fmla="*/ 122 h 1745"/>
                <a:gd name="T74" fmla="*/ 970 w 1021"/>
                <a:gd name="T75" fmla="*/ 174 h 1745"/>
                <a:gd name="T76" fmla="*/ 995 w 1021"/>
                <a:gd name="T77" fmla="*/ 216 h 1745"/>
                <a:gd name="T78" fmla="*/ 996 w 1021"/>
                <a:gd name="T79" fmla="*/ 356 h 1745"/>
                <a:gd name="T80" fmla="*/ 955 w 1021"/>
                <a:gd name="T81" fmla="*/ 477 h 1745"/>
                <a:gd name="T82" fmla="*/ 904 w 1021"/>
                <a:gd name="T83" fmla="*/ 740 h 1745"/>
                <a:gd name="T84" fmla="*/ 880 w 1021"/>
                <a:gd name="T85" fmla="*/ 825 h 1745"/>
                <a:gd name="T86" fmla="*/ 860 w 1021"/>
                <a:gd name="T87" fmla="*/ 1035 h 1745"/>
                <a:gd name="T88" fmla="*/ 851 w 1021"/>
                <a:gd name="T89" fmla="*/ 1323 h 1745"/>
                <a:gd name="T90" fmla="*/ 884 w 1021"/>
                <a:gd name="T91" fmla="*/ 1450 h 1745"/>
                <a:gd name="T92" fmla="*/ 929 w 1021"/>
                <a:gd name="T93" fmla="*/ 1528 h 1745"/>
                <a:gd name="T94" fmla="*/ 1014 w 1021"/>
                <a:gd name="T95" fmla="*/ 1598 h 1745"/>
                <a:gd name="T96" fmla="*/ 985 w 1021"/>
                <a:gd name="T97" fmla="*/ 1699 h 1745"/>
                <a:gd name="T98" fmla="*/ 904 w 1021"/>
                <a:gd name="T99" fmla="*/ 1745 h 1745"/>
                <a:gd name="T100" fmla="*/ 726 w 1021"/>
                <a:gd name="T101" fmla="*/ 1735 h 17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021" h="1745">
                  <a:moveTo>
                    <a:pt x="703" y="1728"/>
                  </a:moveTo>
                  <a:lnTo>
                    <a:pt x="688" y="1721"/>
                  </a:lnTo>
                  <a:lnTo>
                    <a:pt x="648" y="1689"/>
                  </a:lnTo>
                  <a:lnTo>
                    <a:pt x="573" y="1617"/>
                  </a:lnTo>
                  <a:lnTo>
                    <a:pt x="523" y="1559"/>
                  </a:lnTo>
                  <a:lnTo>
                    <a:pt x="510" y="1539"/>
                  </a:lnTo>
                  <a:lnTo>
                    <a:pt x="484" y="1466"/>
                  </a:lnTo>
                  <a:lnTo>
                    <a:pt x="462" y="1372"/>
                  </a:lnTo>
                  <a:lnTo>
                    <a:pt x="448" y="1279"/>
                  </a:lnTo>
                  <a:lnTo>
                    <a:pt x="448" y="1238"/>
                  </a:lnTo>
                  <a:lnTo>
                    <a:pt x="446" y="1201"/>
                  </a:lnTo>
                  <a:lnTo>
                    <a:pt x="433" y="1135"/>
                  </a:lnTo>
                  <a:lnTo>
                    <a:pt x="426" y="1116"/>
                  </a:lnTo>
                  <a:lnTo>
                    <a:pt x="415" y="1096"/>
                  </a:lnTo>
                  <a:lnTo>
                    <a:pt x="415" y="1064"/>
                  </a:lnTo>
                  <a:lnTo>
                    <a:pt x="426" y="1044"/>
                  </a:lnTo>
                  <a:lnTo>
                    <a:pt x="433" y="1024"/>
                  </a:lnTo>
                  <a:lnTo>
                    <a:pt x="446" y="944"/>
                  </a:lnTo>
                  <a:lnTo>
                    <a:pt x="448" y="900"/>
                  </a:lnTo>
                  <a:lnTo>
                    <a:pt x="448" y="848"/>
                  </a:lnTo>
                  <a:lnTo>
                    <a:pt x="459" y="720"/>
                  </a:lnTo>
                  <a:lnTo>
                    <a:pt x="466" y="664"/>
                  </a:lnTo>
                  <a:lnTo>
                    <a:pt x="474" y="612"/>
                  </a:lnTo>
                  <a:lnTo>
                    <a:pt x="481" y="538"/>
                  </a:lnTo>
                  <a:lnTo>
                    <a:pt x="478" y="530"/>
                  </a:lnTo>
                  <a:lnTo>
                    <a:pt x="472" y="527"/>
                  </a:lnTo>
                  <a:lnTo>
                    <a:pt x="443" y="531"/>
                  </a:lnTo>
                  <a:lnTo>
                    <a:pt x="426" y="538"/>
                  </a:lnTo>
                  <a:lnTo>
                    <a:pt x="410" y="544"/>
                  </a:lnTo>
                  <a:lnTo>
                    <a:pt x="392" y="561"/>
                  </a:lnTo>
                  <a:lnTo>
                    <a:pt x="377" y="626"/>
                  </a:lnTo>
                  <a:lnTo>
                    <a:pt x="370" y="733"/>
                  </a:lnTo>
                  <a:lnTo>
                    <a:pt x="364" y="811"/>
                  </a:lnTo>
                  <a:lnTo>
                    <a:pt x="345" y="932"/>
                  </a:lnTo>
                  <a:lnTo>
                    <a:pt x="332" y="963"/>
                  </a:lnTo>
                  <a:lnTo>
                    <a:pt x="320" y="986"/>
                  </a:lnTo>
                  <a:lnTo>
                    <a:pt x="305" y="1032"/>
                  </a:lnTo>
                  <a:lnTo>
                    <a:pt x="304" y="1048"/>
                  </a:lnTo>
                  <a:lnTo>
                    <a:pt x="299" y="1067"/>
                  </a:lnTo>
                  <a:lnTo>
                    <a:pt x="263" y="1116"/>
                  </a:lnTo>
                  <a:lnTo>
                    <a:pt x="209" y="1168"/>
                  </a:lnTo>
                  <a:lnTo>
                    <a:pt x="150" y="1207"/>
                  </a:lnTo>
                  <a:lnTo>
                    <a:pt x="125" y="1215"/>
                  </a:lnTo>
                  <a:lnTo>
                    <a:pt x="101" y="1219"/>
                  </a:lnTo>
                  <a:lnTo>
                    <a:pt x="60" y="1221"/>
                  </a:lnTo>
                  <a:lnTo>
                    <a:pt x="30" y="1215"/>
                  </a:lnTo>
                  <a:lnTo>
                    <a:pt x="10" y="1201"/>
                  </a:lnTo>
                  <a:lnTo>
                    <a:pt x="0" y="1179"/>
                  </a:lnTo>
                  <a:lnTo>
                    <a:pt x="1" y="1150"/>
                  </a:lnTo>
                  <a:lnTo>
                    <a:pt x="13" y="1116"/>
                  </a:lnTo>
                  <a:lnTo>
                    <a:pt x="34" y="1077"/>
                  </a:lnTo>
                  <a:lnTo>
                    <a:pt x="52" y="1055"/>
                  </a:lnTo>
                  <a:lnTo>
                    <a:pt x="73" y="1024"/>
                  </a:lnTo>
                  <a:lnTo>
                    <a:pt x="102" y="969"/>
                  </a:lnTo>
                  <a:lnTo>
                    <a:pt x="105" y="955"/>
                  </a:lnTo>
                  <a:lnTo>
                    <a:pt x="106" y="940"/>
                  </a:lnTo>
                  <a:lnTo>
                    <a:pt x="122" y="903"/>
                  </a:lnTo>
                  <a:lnTo>
                    <a:pt x="134" y="885"/>
                  </a:lnTo>
                  <a:lnTo>
                    <a:pt x="144" y="868"/>
                  </a:lnTo>
                  <a:lnTo>
                    <a:pt x="152" y="836"/>
                  </a:lnTo>
                  <a:lnTo>
                    <a:pt x="150" y="828"/>
                  </a:lnTo>
                  <a:lnTo>
                    <a:pt x="145" y="819"/>
                  </a:lnTo>
                  <a:lnTo>
                    <a:pt x="150" y="796"/>
                  </a:lnTo>
                  <a:lnTo>
                    <a:pt x="155" y="786"/>
                  </a:lnTo>
                  <a:lnTo>
                    <a:pt x="163" y="772"/>
                  </a:lnTo>
                  <a:lnTo>
                    <a:pt x="180" y="701"/>
                  </a:lnTo>
                  <a:lnTo>
                    <a:pt x="186" y="656"/>
                  </a:lnTo>
                  <a:lnTo>
                    <a:pt x="197" y="547"/>
                  </a:lnTo>
                  <a:lnTo>
                    <a:pt x="109" y="459"/>
                  </a:lnTo>
                  <a:lnTo>
                    <a:pt x="63" y="410"/>
                  </a:lnTo>
                  <a:lnTo>
                    <a:pt x="26" y="353"/>
                  </a:lnTo>
                  <a:lnTo>
                    <a:pt x="11" y="314"/>
                  </a:lnTo>
                  <a:lnTo>
                    <a:pt x="8" y="292"/>
                  </a:lnTo>
                  <a:lnTo>
                    <a:pt x="4" y="266"/>
                  </a:lnTo>
                  <a:lnTo>
                    <a:pt x="6" y="219"/>
                  </a:lnTo>
                  <a:lnTo>
                    <a:pt x="14" y="177"/>
                  </a:lnTo>
                  <a:lnTo>
                    <a:pt x="32" y="142"/>
                  </a:lnTo>
                  <a:lnTo>
                    <a:pt x="57" y="114"/>
                  </a:lnTo>
                  <a:lnTo>
                    <a:pt x="89" y="91"/>
                  </a:lnTo>
                  <a:lnTo>
                    <a:pt x="129" y="76"/>
                  </a:lnTo>
                  <a:lnTo>
                    <a:pt x="176" y="69"/>
                  </a:lnTo>
                  <a:lnTo>
                    <a:pt x="200" y="69"/>
                  </a:lnTo>
                  <a:lnTo>
                    <a:pt x="236" y="70"/>
                  </a:lnTo>
                  <a:lnTo>
                    <a:pt x="294" y="92"/>
                  </a:lnTo>
                  <a:lnTo>
                    <a:pt x="334" y="131"/>
                  </a:lnTo>
                  <a:lnTo>
                    <a:pt x="356" y="186"/>
                  </a:lnTo>
                  <a:lnTo>
                    <a:pt x="357" y="217"/>
                  </a:lnTo>
                  <a:lnTo>
                    <a:pt x="356" y="246"/>
                  </a:lnTo>
                  <a:lnTo>
                    <a:pt x="347" y="289"/>
                  </a:lnTo>
                  <a:lnTo>
                    <a:pt x="340" y="297"/>
                  </a:lnTo>
                  <a:lnTo>
                    <a:pt x="331" y="305"/>
                  </a:lnTo>
                  <a:lnTo>
                    <a:pt x="322" y="338"/>
                  </a:lnTo>
                  <a:lnTo>
                    <a:pt x="322" y="381"/>
                  </a:lnTo>
                  <a:lnTo>
                    <a:pt x="331" y="415"/>
                  </a:lnTo>
                  <a:lnTo>
                    <a:pt x="340" y="423"/>
                  </a:lnTo>
                  <a:lnTo>
                    <a:pt x="345" y="425"/>
                  </a:lnTo>
                  <a:lnTo>
                    <a:pt x="366" y="415"/>
                  </a:lnTo>
                  <a:lnTo>
                    <a:pt x="410" y="379"/>
                  </a:lnTo>
                  <a:lnTo>
                    <a:pt x="481" y="305"/>
                  </a:lnTo>
                  <a:lnTo>
                    <a:pt x="540" y="229"/>
                  </a:lnTo>
                  <a:lnTo>
                    <a:pt x="556" y="200"/>
                  </a:lnTo>
                  <a:lnTo>
                    <a:pt x="572" y="167"/>
                  </a:lnTo>
                  <a:lnTo>
                    <a:pt x="628" y="98"/>
                  </a:lnTo>
                  <a:lnTo>
                    <a:pt x="697" y="39"/>
                  </a:lnTo>
                  <a:lnTo>
                    <a:pt x="747" y="10"/>
                  </a:lnTo>
                  <a:lnTo>
                    <a:pt x="778" y="1"/>
                  </a:lnTo>
                  <a:lnTo>
                    <a:pt x="790" y="0"/>
                  </a:lnTo>
                  <a:lnTo>
                    <a:pt x="816" y="3"/>
                  </a:lnTo>
                  <a:lnTo>
                    <a:pt x="875" y="34"/>
                  </a:lnTo>
                  <a:lnTo>
                    <a:pt x="930" y="83"/>
                  </a:lnTo>
                  <a:lnTo>
                    <a:pt x="959" y="122"/>
                  </a:lnTo>
                  <a:lnTo>
                    <a:pt x="968" y="147"/>
                  </a:lnTo>
                  <a:lnTo>
                    <a:pt x="969" y="158"/>
                  </a:lnTo>
                  <a:lnTo>
                    <a:pt x="970" y="174"/>
                  </a:lnTo>
                  <a:lnTo>
                    <a:pt x="981" y="201"/>
                  </a:lnTo>
                  <a:lnTo>
                    <a:pt x="988" y="207"/>
                  </a:lnTo>
                  <a:lnTo>
                    <a:pt x="995" y="216"/>
                  </a:lnTo>
                  <a:lnTo>
                    <a:pt x="1004" y="261"/>
                  </a:lnTo>
                  <a:lnTo>
                    <a:pt x="1004" y="314"/>
                  </a:lnTo>
                  <a:lnTo>
                    <a:pt x="996" y="356"/>
                  </a:lnTo>
                  <a:lnTo>
                    <a:pt x="989" y="364"/>
                  </a:lnTo>
                  <a:lnTo>
                    <a:pt x="979" y="376"/>
                  </a:lnTo>
                  <a:lnTo>
                    <a:pt x="955" y="477"/>
                  </a:lnTo>
                  <a:lnTo>
                    <a:pt x="942" y="548"/>
                  </a:lnTo>
                  <a:lnTo>
                    <a:pt x="929" y="623"/>
                  </a:lnTo>
                  <a:lnTo>
                    <a:pt x="904" y="740"/>
                  </a:lnTo>
                  <a:lnTo>
                    <a:pt x="896" y="764"/>
                  </a:lnTo>
                  <a:lnTo>
                    <a:pt x="888" y="782"/>
                  </a:lnTo>
                  <a:lnTo>
                    <a:pt x="880" y="825"/>
                  </a:lnTo>
                  <a:lnTo>
                    <a:pt x="880" y="847"/>
                  </a:lnTo>
                  <a:lnTo>
                    <a:pt x="874" y="913"/>
                  </a:lnTo>
                  <a:lnTo>
                    <a:pt x="860" y="1035"/>
                  </a:lnTo>
                  <a:lnTo>
                    <a:pt x="852" y="1093"/>
                  </a:lnTo>
                  <a:lnTo>
                    <a:pt x="847" y="1214"/>
                  </a:lnTo>
                  <a:lnTo>
                    <a:pt x="851" y="1323"/>
                  </a:lnTo>
                  <a:lnTo>
                    <a:pt x="862" y="1404"/>
                  </a:lnTo>
                  <a:lnTo>
                    <a:pt x="873" y="1424"/>
                  </a:lnTo>
                  <a:lnTo>
                    <a:pt x="884" y="1450"/>
                  </a:lnTo>
                  <a:lnTo>
                    <a:pt x="888" y="1476"/>
                  </a:lnTo>
                  <a:lnTo>
                    <a:pt x="891" y="1489"/>
                  </a:lnTo>
                  <a:lnTo>
                    <a:pt x="929" y="1528"/>
                  </a:lnTo>
                  <a:lnTo>
                    <a:pt x="956" y="1546"/>
                  </a:lnTo>
                  <a:lnTo>
                    <a:pt x="982" y="1565"/>
                  </a:lnTo>
                  <a:lnTo>
                    <a:pt x="1014" y="1598"/>
                  </a:lnTo>
                  <a:lnTo>
                    <a:pt x="1021" y="1634"/>
                  </a:lnTo>
                  <a:lnTo>
                    <a:pt x="1004" y="1674"/>
                  </a:lnTo>
                  <a:lnTo>
                    <a:pt x="985" y="1699"/>
                  </a:lnTo>
                  <a:lnTo>
                    <a:pt x="973" y="1713"/>
                  </a:lnTo>
                  <a:lnTo>
                    <a:pt x="952" y="1732"/>
                  </a:lnTo>
                  <a:lnTo>
                    <a:pt x="904" y="1745"/>
                  </a:lnTo>
                  <a:lnTo>
                    <a:pt x="847" y="1744"/>
                  </a:lnTo>
                  <a:lnTo>
                    <a:pt x="803" y="1744"/>
                  </a:lnTo>
                  <a:lnTo>
                    <a:pt x="726" y="1735"/>
                  </a:lnTo>
                  <a:lnTo>
                    <a:pt x="703" y="1728"/>
                  </a:lnTo>
                  <a:close/>
                </a:path>
              </a:pathLst>
            </a:custGeom>
            <a:solidFill>
              <a:srgbClr val="C00000"/>
            </a:solidFill>
            <a:ln>
              <a:noFill/>
            </a:ln>
          </p:spPr>
          <p:txBody>
            <a:bodyPr vert="horz" wrap="square" lIns="91440" tIns="45720" rIns="91440" bIns="45720" numCol="1" anchor="t" anchorCtr="0" compatLnSpc="1">
              <a:prstTxWarp prst="textNoShape">
                <a:avLst/>
              </a:prstTxWarp>
            </a:bodyPr>
            <a:lstStyle/>
            <a:p>
              <a:endParaRPr lang="es-PE"/>
            </a:p>
          </p:txBody>
        </p:sp>
        <p:sp>
          <p:nvSpPr>
            <p:cNvPr id="28" name="Freeform 24"/>
            <p:cNvSpPr>
              <a:spLocks noEditPoints="1"/>
            </p:cNvSpPr>
            <p:nvPr/>
          </p:nvSpPr>
          <p:spPr bwMode="auto">
            <a:xfrm>
              <a:off x="4152221" y="1501320"/>
              <a:ext cx="731838" cy="1079500"/>
            </a:xfrm>
            <a:custGeom>
              <a:avLst/>
              <a:gdLst>
                <a:gd name="T0" fmla="*/ 287 w 1383"/>
                <a:gd name="T1" fmla="*/ 1981 h 2039"/>
                <a:gd name="T2" fmla="*/ 192 w 1383"/>
                <a:gd name="T3" fmla="*/ 1918 h 2039"/>
                <a:gd name="T4" fmla="*/ 161 w 1383"/>
                <a:gd name="T5" fmla="*/ 1902 h 2039"/>
                <a:gd name="T6" fmla="*/ 141 w 1383"/>
                <a:gd name="T7" fmla="*/ 1850 h 2039"/>
                <a:gd name="T8" fmla="*/ 78 w 1383"/>
                <a:gd name="T9" fmla="*/ 1742 h 2039"/>
                <a:gd name="T10" fmla="*/ 14 w 1383"/>
                <a:gd name="T11" fmla="*/ 1552 h 2039"/>
                <a:gd name="T12" fmla="*/ 0 w 1383"/>
                <a:gd name="T13" fmla="*/ 1284 h 2039"/>
                <a:gd name="T14" fmla="*/ 24 w 1383"/>
                <a:gd name="T15" fmla="*/ 1162 h 2039"/>
                <a:gd name="T16" fmla="*/ 36 w 1383"/>
                <a:gd name="T17" fmla="*/ 1081 h 2039"/>
                <a:gd name="T18" fmla="*/ 115 w 1383"/>
                <a:gd name="T19" fmla="*/ 788 h 2039"/>
                <a:gd name="T20" fmla="*/ 147 w 1383"/>
                <a:gd name="T21" fmla="*/ 697 h 2039"/>
                <a:gd name="T22" fmla="*/ 242 w 1383"/>
                <a:gd name="T23" fmla="*/ 505 h 2039"/>
                <a:gd name="T24" fmla="*/ 562 w 1383"/>
                <a:gd name="T25" fmla="*/ 150 h 2039"/>
                <a:gd name="T26" fmla="*/ 701 w 1383"/>
                <a:gd name="T27" fmla="*/ 69 h 2039"/>
                <a:gd name="T28" fmla="*/ 946 w 1383"/>
                <a:gd name="T29" fmla="*/ 1 h 2039"/>
                <a:gd name="T30" fmla="*/ 1116 w 1383"/>
                <a:gd name="T31" fmla="*/ 3 h 2039"/>
                <a:gd name="T32" fmla="*/ 1213 w 1383"/>
                <a:gd name="T33" fmla="*/ 60 h 2039"/>
                <a:gd name="T34" fmla="*/ 1277 w 1383"/>
                <a:gd name="T35" fmla="*/ 145 h 2039"/>
                <a:gd name="T36" fmla="*/ 1309 w 1383"/>
                <a:gd name="T37" fmla="*/ 199 h 2039"/>
                <a:gd name="T38" fmla="*/ 1339 w 1383"/>
                <a:gd name="T39" fmla="*/ 324 h 2039"/>
                <a:gd name="T40" fmla="*/ 1331 w 1383"/>
                <a:gd name="T41" fmla="*/ 619 h 2039"/>
                <a:gd name="T42" fmla="*/ 1309 w 1383"/>
                <a:gd name="T43" fmla="*/ 658 h 2039"/>
                <a:gd name="T44" fmla="*/ 1263 w 1383"/>
                <a:gd name="T45" fmla="*/ 773 h 2039"/>
                <a:gd name="T46" fmla="*/ 1218 w 1383"/>
                <a:gd name="T47" fmla="*/ 835 h 2039"/>
                <a:gd name="T48" fmla="*/ 1204 w 1383"/>
                <a:gd name="T49" fmla="*/ 873 h 2039"/>
                <a:gd name="T50" fmla="*/ 1066 w 1383"/>
                <a:gd name="T51" fmla="*/ 1050 h 2039"/>
                <a:gd name="T52" fmla="*/ 860 w 1383"/>
                <a:gd name="T53" fmla="*/ 1227 h 2039"/>
                <a:gd name="T54" fmla="*/ 637 w 1383"/>
                <a:gd name="T55" fmla="*/ 1326 h 2039"/>
                <a:gd name="T56" fmla="*/ 550 w 1383"/>
                <a:gd name="T57" fmla="*/ 1356 h 2039"/>
                <a:gd name="T58" fmla="*/ 481 w 1383"/>
                <a:gd name="T59" fmla="*/ 1362 h 2039"/>
                <a:gd name="T60" fmla="*/ 467 w 1383"/>
                <a:gd name="T61" fmla="*/ 1449 h 2039"/>
                <a:gd name="T62" fmla="*/ 482 w 1383"/>
                <a:gd name="T63" fmla="*/ 1571 h 2039"/>
                <a:gd name="T64" fmla="*/ 537 w 1383"/>
                <a:gd name="T65" fmla="*/ 1716 h 2039"/>
                <a:gd name="T66" fmla="*/ 655 w 1383"/>
                <a:gd name="T67" fmla="*/ 1834 h 2039"/>
                <a:gd name="T68" fmla="*/ 773 w 1383"/>
                <a:gd name="T69" fmla="*/ 1840 h 2039"/>
                <a:gd name="T70" fmla="*/ 988 w 1383"/>
                <a:gd name="T71" fmla="*/ 1653 h 2039"/>
                <a:gd name="T72" fmla="*/ 1008 w 1383"/>
                <a:gd name="T73" fmla="*/ 1610 h 2039"/>
                <a:gd name="T74" fmla="*/ 1046 w 1383"/>
                <a:gd name="T75" fmla="*/ 1578 h 2039"/>
                <a:gd name="T76" fmla="*/ 1095 w 1383"/>
                <a:gd name="T77" fmla="*/ 1492 h 2039"/>
                <a:gd name="T78" fmla="*/ 1216 w 1383"/>
                <a:gd name="T79" fmla="*/ 1322 h 2039"/>
                <a:gd name="T80" fmla="*/ 1296 w 1383"/>
                <a:gd name="T81" fmla="*/ 1312 h 2039"/>
                <a:gd name="T82" fmla="*/ 1365 w 1383"/>
                <a:gd name="T83" fmla="*/ 1379 h 2039"/>
                <a:gd name="T84" fmla="*/ 1383 w 1383"/>
                <a:gd name="T85" fmla="*/ 1513 h 2039"/>
                <a:gd name="T86" fmla="*/ 1352 w 1383"/>
                <a:gd name="T87" fmla="*/ 1607 h 2039"/>
                <a:gd name="T88" fmla="*/ 1080 w 1383"/>
                <a:gd name="T89" fmla="*/ 1878 h 2039"/>
                <a:gd name="T90" fmla="*/ 925 w 1383"/>
                <a:gd name="T91" fmla="*/ 1970 h 2039"/>
                <a:gd name="T92" fmla="*/ 853 w 1383"/>
                <a:gd name="T93" fmla="*/ 2000 h 2039"/>
                <a:gd name="T94" fmla="*/ 700 w 1383"/>
                <a:gd name="T95" fmla="*/ 2030 h 2039"/>
                <a:gd name="T96" fmla="*/ 372 w 1383"/>
                <a:gd name="T97" fmla="*/ 2024 h 2039"/>
                <a:gd name="T98" fmla="*/ 644 w 1383"/>
                <a:gd name="T99" fmla="*/ 1035 h 2039"/>
                <a:gd name="T100" fmla="*/ 688 w 1383"/>
                <a:gd name="T101" fmla="*/ 1017 h 2039"/>
                <a:gd name="T102" fmla="*/ 894 w 1383"/>
                <a:gd name="T103" fmla="*/ 775 h 2039"/>
                <a:gd name="T104" fmla="*/ 969 w 1383"/>
                <a:gd name="T105" fmla="*/ 592 h 2039"/>
                <a:gd name="T106" fmla="*/ 981 w 1383"/>
                <a:gd name="T107" fmla="*/ 357 h 2039"/>
                <a:gd name="T108" fmla="*/ 923 w 1383"/>
                <a:gd name="T109" fmla="*/ 298 h 2039"/>
                <a:gd name="T110" fmla="*/ 817 w 1383"/>
                <a:gd name="T111" fmla="*/ 405 h 2039"/>
                <a:gd name="T112" fmla="*/ 701 w 1383"/>
                <a:gd name="T113" fmla="*/ 608 h 2039"/>
                <a:gd name="T114" fmla="*/ 677 w 1383"/>
                <a:gd name="T115" fmla="*/ 651 h 2039"/>
                <a:gd name="T116" fmla="*/ 631 w 1383"/>
                <a:gd name="T117" fmla="*/ 746 h 2039"/>
                <a:gd name="T118" fmla="*/ 563 w 1383"/>
                <a:gd name="T119" fmla="*/ 930 h 2039"/>
                <a:gd name="T120" fmla="*/ 521 w 1383"/>
                <a:gd name="T121" fmla="*/ 1097 h 2039"/>
                <a:gd name="T122" fmla="*/ 579 w 1383"/>
                <a:gd name="T123" fmla="*/ 1089 h 20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383" h="2039">
                  <a:moveTo>
                    <a:pt x="372" y="2024"/>
                  </a:moveTo>
                  <a:lnTo>
                    <a:pt x="347" y="2014"/>
                  </a:lnTo>
                  <a:lnTo>
                    <a:pt x="287" y="1981"/>
                  </a:lnTo>
                  <a:lnTo>
                    <a:pt x="259" y="1963"/>
                  </a:lnTo>
                  <a:lnTo>
                    <a:pt x="233" y="1944"/>
                  </a:lnTo>
                  <a:lnTo>
                    <a:pt x="192" y="1918"/>
                  </a:lnTo>
                  <a:lnTo>
                    <a:pt x="180" y="1917"/>
                  </a:lnTo>
                  <a:lnTo>
                    <a:pt x="173" y="1915"/>
                  </a:lnTo>
                  <a:lnTo>
                    <a:pt x="161" y="1902"/>
                  </a:lnTo>
                  <a:lnTo>
                    <a:pt x="161" y="1892"/>
                  </a:lnTo>
                  <a:lnTo>
                    <a:pt x="158" y="1881"/>
                  </a:lnTo>
                  <a:lnTo>
                    <a:pt x="141" y="1850"/>
                  </a:lnTo>
                  <a:lnTo>
                    <a:pt x="128" y="1837"/>
                  </a:lnTo>
                  <a:lnTo>
                    <a:pt x="112" y="1819"/>
                  </a:lnTo>
                  <a:lnTo>
                    <a:pt x="78" y="1742"/>
                  </a:lnTo>
                  <a:lnTo>
                    <a:pt x="63" y="1695"/>
                  </a:lnTo>
                  <a:lnTo>
                    <a:pt x="35" y="1601"/>
                  </a:lnTo>
                  <a:lnTo>
                    <a:pt x="14" y="1552"/>
                  </a:lnTo>
                  <a:lnTo>
                    <a:pt x="7" y="1528"/>
                  </a:lnTo>
                  <a:lnTo>
                    <a:pt x="0" y="1417"/>
                  </a:lnTo>
                  <a:lnTo>
                    <a:pt x="0" y="1284"/>
                  </a:lnTo>
                  <a:lnTo>
                    <a:pt x="9" y="1184"/>
                  </a:lnTo>
                  <a:lnTo>
                    <a:pt x="17" y="1169"/>
                  </a:lnTo>
                  <a:lnTo>
                    <a:pt x="24" y="1162"/>
                  </a:lnTo>
                  <a:lnTo>
                    <a:pt x="33" y="1130"/>
                  </a:lnTo>
                  <a:lnTo>
                    <a:pt x="35" y="1110"/>
                  </a:lnTo>
                  <a:lnTo>
                    <a:pt x="36" y="1081"/>
                  </a:lnTo>
                  <a:lnTo>
                    <a:pt x="50" y="1001"/>
                  </a:lnTo>
                  <a:lnTo>
                    <a:pt x="88" y="858"/>
                  </a:lnTo>
                  <a:lnTo>
                    <a:pt x="115" y="788"/>
                  </a:lnTo>
                  <a:lnTo>
                    <a:pt x="137" y="740"/>
                  </a:lnTo>
                  <a:lnTo>
                    <a:pt x="143" y="711"/>
                  </a:lnTo>
                  <a:lnTo>
                    <a:pt x="147" y="697"/>
                  </a:lnTo>
                  <a:lnTo>
                    <a:pt x="183" y="613"/>
                  </a:lnTo>
                  <a:lnTo>
                    <a:pt x="212" y="560"/>
                  </a:lnTo>
                  <a:lnTo>
                    <a:pt x="242" y="505"/>
                  </a:lnTo>
                  <a:lnTo>
                    <a:pt x="347" y="369"/>
                  </a:lnTo>
                  <a:lnTo>
                    <a:pt x="474" y="230"/>
                  </a:lnTo>
                  <a:lnTo>
                    <a:pt x="562" y="150"/>
                  </a:lnTo>
                  <a:lnTo>
                    <a:pt x="609" y="114"/>
                  </a:lnTo>
                  <a:lnTo>
                    <a:pt x="629" y="104"/>
                  </a:lnTo>
                  <a:lnTo>
                    <a:pt x="701" y="69"/>
                  </a:lnTo>
                  <a:lnTo>
                    <a:pt x="801" y="27"/>
                  </a:lnTo>
                  <a:lnTo>
                    <a:pt x="871" y="7"/>
                  </a:lnTo>
                  <a:lnTo>
                    <a:pt x="946" y="1"/>
                  </a:lnTo>
                  <a:lnTo>
                    <a:pt x="998" y="1"/>
                  </a:lnTo>
                  <a:lnTo>
                    <a:pt x="1048" y="0"/>
                  </a:lnTo>
                  <a:lnTo>
                    <a:pt x="1116" y="3"/>
                  </a:lnTo>
                  <a:lnTo>
                    <a:pt x="1156" y="13"/>
                  </a:lnTo>
                  <a:lnTo>
                    <a:pt x="1190" y="39"/>
                  </a:lnTo>
                  <a:lnTo>
                    <a:pt x="1213" y="60"/>
                  </a:lnTo>
                  <a:lnTo>
                    <a:pt x="1239" y="86"/>
                  </a:lnTo>
                  <a:lnTo>
                    <a:pt x="1273" y="132"/>
                  </a:lnTo>
                  <a:lnTo>
                    <a:pt x="1277" y="145"/>
                  </a:lnTo>
                  <a:lnTo>
                    <a:pt x="1279" y="156"/>
                  </a:lnTo>
                  <a:lnTo>
                    <a:pt x="1296" y="184"/>
                  </a:lnTo>
                  <a:lnTo>
                    <a:pt x="1309" y="199"/>
                  </a:lnTo>
                  <a:lnTo>
                    <a:pt x="1318" y="209"/>
                  </a:lnTo>
                  <a:lnTo>
                    <a:pt x="1331" y="239"/>
                  </a:lnTo>
                  <a:lnTo>
                    <a:pt x="1339" y="324"/>
                  </a:lnTo>
                  <a:lnTo>
                    <a:pt x="1339" y="438"/>
                  </a:lnTo>
                  <a:lnTo>
                    <a:pt x="1339" y="534"/>
                  </a:lnTo>
                  <a:lnTo>
                    <a:pt x="1331" y="619"/>
                  </a:lnTo>
                  <a:lnTo>
                    <a:pt x="1324" y="647"/>
                  </a:lnTo>
                  <a:lnTo>
                    <a:pt x="1318" y="651"/>
                  </a:lnTo>
                  <a:lnTo>
                    <a:pt x="1309" y="658"/>
                  </a:lnTo>
                  <a:lnTo>
                    <a:pt x="1285" y="707"/>
                  </a:lnTo>
                  <a:lnTo>
                    <a:pt x="1273" y="740"/>
                  </a:lnTo>
                  <a:lnTo>
                    <a:pt x="1263" y="773"/>
                  </a:lnTo>
                  <a:lnTo>
                    <a:pt x="1237" y="824"/>
                  </a:lnTo>
                  <a:lnTo>
                    <a:pt x="1228" y="831"/>
                  </a:lnTo>
                  <a:lnTo>
                    <a:pt x="1218" y="835"/>
                  </a:lnTo>
                  <a:lnTo>
                    <a:pt x="1205" y="854"/>
                  </a:lnTo>
                  <a:lnTo>
                    <a:pt x="1205" y="863"/>
                  </a:lnTo>
                  <a:lnTo>
                    <a:pt x="1204" y="873"/>
                  </a:lnTo>
                  <a:lnTo>
                    <a:pt x="1190" y="900"/>
                  </a:lnTo>
                  <a:lnTo>
                    <a:pt x="1149" y="956"/>
                  </a:lnTo>
                  <a:lnTo>
                    <a:pt x="1066" y="1050"/>
                  </a:lnTo>
                  <a:lnTo>
                    <a:pt x="966" y="1143"/>
                  </a:lnTo>
                  <a:lnTo>
                    <a:pt x="919" y="1184"/>
                  </a:lnTo>
                  <a:lnTo>
                    <a:pt x="860" y="1227"/>
                  </a:lnTo>
                  <a:lnTo>
                    <a:pt x="750" y="1289"/>
                  </a:lnTo>
                  <a:lnTo>
                    <a:pt x="706" y="1305"/>
                  </a:lnTo>
                  <a:lnTo>
                    <a:pt x="637" y="1326"/>
                  </a:lnTo>
                  <a:lnTo>
                    <a:pt x="603" y="1342"/>
                  </a:lnTo>
                  <a:lnTo>
                    <a:pt x="592" y="1348"/>
                  </a:lnTo>
                  <a:lnTo>
                    <a:pt x="550" y="1356"/>
                  </a:lnTo>
                  <a:lnTo>
                    <a:pt x="526" y="1358"/>
                  </a:lnTo>
                  <a:lnTo>
                    <a:pt x="506" y="1358"/>
                  </a:lnTo>
                  <a:lnTo>
                    <a:pt x="481" y="1362"/>
                  </a:lnTo>
                  <a:lnTo>
                    <a:pt x="470" y="1379"/>
                  </a:lnTo>
                  <a:lnTo>
                    <a:pt x="467" y="1417"/>
                  </a:lnTo>
                  <a:lnTo>
                    <a:pt x="467" y="1449"/>
                  </a:lnTo>
                  <a:lnTo>
                    <a:pt x="468" y="1486"/>
                  </a:lnTo>
                  <a:lnTo>
                    <a:pt x="477" y="1552"/>
                  </a:lnTo>
                  <a:lnTo>
                    <a:pt x="482" y="1571"/>
                  </a:lnTo>
                  <a:lnTo>
                    <a:pt x="500" y="1610"/>
                  </a:lnTo>
                  <a:lnTo>
                    <a:pt x="521" y="1673"/>
                  </a:lnTo>
                  <a:lnTo>
                    <a:pt x="537" y="1716"/>
                  </a:lnTo>
                  <a:lnTo>
                    <a:pt x="580" y="1784"/>
                  </a:lnTo>
                  <a:lnTo>
                    <a:pt x="624" y="1819"/>
                  </a:lnTo>
                  <a:lnTo>
                    <a:pt x="655" y="1834"/>
                  </a:lnTo>
                  <a:lnTo>
                    <a:pt x="710" y="1847"/>
                  </a:lnTo>
                  <a:lnTo>
                    <a:pt x="752" y="1847"/>
                  </a:lnTo>
                  <a:lnTo>
                    <a:pt x="773" y="1840"/>
                  </a:lnTo>
                  <a:lnTo>
                    <a:pt x="851" y="1784"/>
                  </a:lnTo>
                  <a:lnTo>
                    <a:pt x="939" y="1706"/>
                  </a:lnTo>
                  <a:lnTo>
                    <a:pt x="988" y="1653"/>
                  </a:lnTo>
                  <a:lnTo>
                    <a:pt x="1005" y="1627"/>
                  </a:lnTo>
                  <a:lnTo>
                    <a:pt x="1007" y="1618"/>
                  </a:lnTo>
                  <a:lnTo>
                    <a:pt x="1008" y="1610"/>
                  </a:lnTo>
                  <a:lnTo>
                    <a:pt x="1023" y="1591"/>
                  </a:lnTo>
                  <a:lnTo>
                    <a:pt x="1034" y="1585"/>
                  </a:lnTo>
                  <a:lnTo>
                    <a:pt x="1046" y="1578"/>
                  </a:lnTo>
                  <a:lnTo>
                    <a:pt x="1071" y="1545"/>
                  </a:lnTo>
                  <a:lnTo>
                    <a:pt x="1080" y="1525"/>
                  </a:lnTo>
                  <a:lnTo>
                    <a:pt x="1095" y="1492"/>
                  </a:lnTo>
                  <a:lnTo>
                    <a:pt x="1132" y="1423"/>
                  </a:lnTo>
                  <a:lnTo>
                    <a:pt x="1177" y="1362"/>
                  </a:lnTo>
                  <a:lnTo>
                    <a:pt x="1216" y="1322"/>
                  </a:lnTo>
                  <a:lnTo>
                    <a:pt x="1231" y="1315"/>
                  </a:lnTo>
                  <a:lnTo>
                    <a:pt x="1254" y="1310"/>
                  </a:lnTo>
                  <a:lnTo>
                    <a:pt x="1296" y="1312"/>
                  </a:lnTo>
                  <a:lnTo>
                    <a:pt x="1331" y="1329"/>
                  </a:lnTo>
                  <a:lnTo>
                    <a:pt x="1357" y="1359"/>
                  </a:lnTo>
                  <a:lnTo>
                    <a:pt x="1365" y="1379"/>
                  </a:lnTo>
                  <a:lnTo>
                    <a:pt x="1374" y="1407"/>
                  </a:lnTo>
                  <a:lnTo>
                    <a:pt x="1383" y="1461"/>
                  </a:lnTo>
                  <a:lnTo>
                    <a:pt x="1383" y="1513"/>
                  </a:lnTo>
                  <a:lnTo>
                    <a:pt x="1372" y="1564"/>
                  </a:lnTo>
                  <a:lnTo>
                    <a:pt x="1364" y="1587"/>
                  </a:lnTo>
                  <a:lnTo>
                    <a:pt x="1352" y="1607"/>
                  </a:lnTo>
                  <a:lnTo>
                    <a:pt x="1312" y="1660"/>
                  </a:lnTo>
                  <a:lnTo>
                    <a:pt x="1223" y="1752"/>
                  </a:lnTo>
                  <a:lnTo>
                    <a:pt x="1080" y="1878"/>
                  </a:lnTo>
                  <a:lnTo>
                    <a:pt x="987" y="1944"/>
                  </a:lnTo>
                  <a:lnTo>
                    <a:pt x="939" y="1967"/>
                  </a:lnTo>
                  <a:lnTo>
                    <a:pt x="925" y="1970"/>
                  </a:lnTo>
                  <a:lnTo>
                    <a:pt x="910" y="1971"/>
                  </a:lnTo>
                  <a:lnTo>
                    <a:pt x="871" y="1988"/>
                  </a:lnTo>
                  <a:lnTo>
                    <a:pt x="853" y="2000"/>
                  </a:lnTo>
                  <a:lnTo>
                    <a:pt x="840" y="2007"/>
                  </a:lnTo>
                  <a:lnTo>
                    <a:pt x="795" y="2017"/>
                  </a:lnTo>
                  <a:lnTo>
                    <a:pt x="700" y="2030"/>
                  </a:lnTo>
                  <a:lnTo>
                    <a:pt x="546" y="2039"/>
                  </a:lnTo>
                  <a:lnTo>
                    <a:pt x="412" y="2033"/>
                  </a:lnTo>
                  <a:lnTo>
                    <a:pt x="372" y="2024"/>
                  </a:lnTo>
                  <a:close/>
                  <a:moveTo>
                    <a:pt x="616" y="1060"/>
                  </a:moveTo>
                  <a:lnTo>
                    <a:pt x="622" y="1048"/>
                  </a:lnTo>
                  <a:lnTo>
                    <a:pt x="644" y="1035"/>
                  </a:lnTo>
                  <a:lnTo>
                    <a:pt x="652" y="1034"/>
                  </a:lnTo>
                  <a:lnTo>
                    <a:pt x="661" y="1032"/>
                  </a:lnTo>
                  <a:lnTo>
                    <a:pt x="688" y="1017"/>
                  </a:lnTo>
                  <a:lnTo>
                    <a:pt x="740" y="969"/>
                  </a:lnTo>
                  <a:lnTo>
                    <a:pt x="822" y="875"/>
                  </a:lnTo>
                  <a:lnTo>
                    <a:pt x="894" y="775"/>
                  </a:lnTo>
                  <a:lnTo>
                    <a:pt x="919" y="730"/>
                  </a:lnTo>
                  <a:lnTo>
                    <a:pt x="939" y="684"/>
                  </a:lnTo>
                  <a:lnTo>
                    <a:pt x="969" y="592"/>
                  </a:lnTo>
                  <a:lnTo>
                    <a:pt x="985" y="503"/>
                  </a:lnTo>
                  <a:lnTo>
                    <a:pt x="989" y="422"/>
                  </a:lnTo>
                  <a:lnTo>
                    <a:pt x="981" y="357"/>
                  </a:lnTo>
                  <a:lnTo>
                    <a:pt x="962" y="312"/>
                  </a:lnTo>
                  <a:lnTo>
                    <a:pt x="940" y="298"/>
                  </a:lnTo>
                  <a:lnTo>
                    <a:pt x="923" y="298"/>
                  </a:lnTo>
                  <a:lnTo>
                    <a:pt x="893" y="312"/>
                  </a:lnTo>
                  <a:lnTo>
                    <a:pt x="870" y="337"/>
                  </a:lnTo>
                  <a:lnTo>
                    <a:pt x="817" y="405"/>
                  </a:lnTo>
                  <a:lnTo>
                    <a:pt x="736" y="528"/>
                  </a:lnTo>
                  <a:lnTo>
                    <a:pt x="704" y="592"/>
                  </a:lnTo>
                  <a:lnTo>
                    <a:pt x="701" y="608"/>
                  </a:lnTo>
                  <a:lnTo>
                    <a:pt x="700" y="621"/>
                  </a:lnTo>
                  <a:lnTo>
                    <a:pt x="687" y="644"/>
                  </a:lnTo>
                  <a:lnTo>
                    <a:pt x="677" y="651"/>
                  </a:lnTo>
                  <a:lnTo>
                    <a:pt x="667" y="661"/>
                  </a:lnTo>
                  <a:lnTo>
                    <a:pt x="641" y="713"/>
                  </a:lnTo>
                  <a:lnTo>
                    <a:pt x="631" y="746"/>
                  </a:lnTo>
                  <a:lnTo>
                    <a:pt x="608" y="822"/>
                  </a:lnTo>
                  <a:lnTo>
                    <a:pt x="583" y="881"/>
                  </a:lnTo>
                  <a:lnTo>
                    <a:pt x="563" y="930"/>
                  </a:lnTo>
                  <a:lnTo>
                    <a:pt x="526" y="1060"/>
                  </a:lnTo>
                  <a:lnTo>
                    <a:pt x="521" y="1093"/>
                  </a:lnTo>
                  <a:lnTo>
                    <a:pt x="521" y="1097"/>
                  </a:lnTo>
                  <a:lnTo>
                    <a:pt x="529" y="1102"/>
                  </a:lnTo>
                  <a:lnTo>
                    <a:pt x="546" y="1100"/>
                  </a:lnTo>
                  <a:lnTo>
                    <a:pt x="579" y="1089"/>
                  </a:lnTo>
                  <a:lnTo>
                    <a:pt x="608" y="1070"/>
                  </a:lnTo>
                  <a:lnTo>
                    <a:pt x="616" y="1060"/>
                  </a:lnTo>
                  <a:close/>
                </a:path>
              </a:pathLst>
            </a:custGeom>
            <a:solidFill>
              <a:srgbClr val="C00000"/>
            </a:solidFill>
            <a:ln>
              <a:noFill/>
            </a:ln>
          </p:spPr>
          <p:txBody>
            <a:bodyPr vert="horz" wrap="square" lIns="91440" tIns="45720" rIns="91440" bIns="45720" numCol="1" anchor="t" anchorCtr="0" compatLnSpc="1">
              <a:prstTxWarp prst="textNoShape">
                <a:avLst/>
              </a:prstTxWarp>
            </a:bodyPr>
            <a:lstStyle/>
            <a:p>
              <a:endParaRPr lang="es-PE"/>
            </a:p>
          </p:txBody>
        </p:sp>
        <p:sp>
          <p:nvSpPr>
            <p:cNvPr id="29" name="Freeform 25"/>
            <p:cNvSpPr>
              <a:spLocks noEditPoints="1"/>
            </p:cNvSpPr>
            <p:nvPr/>
          </p:nvSpPr>
          <p:spPr bwMode="auto">
            <a:xfrm>
              <a:off x="5304746" y="1563233"/>
              <a:ext cx="679450" cy="971550"/>
            </a:xfrm>
            <a:custGeom>
              <a:avLst/>
              <a:gdLst>
                <a:gd name="T0" fmla="*/ 249 w 1285"/>
                <a:gd name="T1" fmla="*/ 1736 h 1836"/>
                <a:gd name="T2" fmla="*/ 147 w 1285"/>
                <a:gd name="T3" fmla="*/ 1620 h 1836"/>
                <a:gd name="T4" fmla="*/ 71 w 1285"/>
                <a:gd name="T5" fmla="*/ 1483 h 1836"/>
                <a:gd name="T6" fmla="*/ 53 w 1285"/>
                <a:gd name="T7" fmla="*/ 1457 h 1836"/>
                <a:gd name="T8" fmla="*/ 16 w 1285"/>
                <a:gd name="T9" fmla="*/ 1311 h 1836"/>
                <a:gd name="T10" fmla="*/ 11 w 1285"/>
                <a:gd name="T11" fmla="*/ 937 h 1836"/>
                <a:gd name="T12" fmla="*/ 71 w 1285"/>
                <a:gd name="T13" fmla="*/ 750 h 1836"/>
                <a:gd name="T14" fmla="*/ 102 w 1285"/>
                <a:gd name="T15" fmla="*/ 571 h 1836"/>
                <a:gd name="T16" fmla="*/ 131 w 1285"/>
                <a:gd name="T17" fmla="*/ 404 h 1836"/>
                <a:gd name="T18" fmla="*/ 151 w 1285"/>
                <a:gd name="T19" fmla="*/ 341 h 1836"/>
                <a:gd name="T20" fmla="*/ 220 w 1285"/>
                <a:gd name="T21" fmla="*/ 246 h 1836"/>
                <a:gd name="T22" fmla="*/ 418 w 1285"/>
                <a:gd name="T23" fmla="*/ 73 h 1836"/>
                <a:gd name="T24" fmla="*/ 481 w 1285"/>
                <a:gd name="T25" fmla="*/ 53 h 1836"/>
                <a:gd name="T26" fmla="*/ 619 w 1285"/>
                <a:gd name="T27" fmla="*/ 7 h 1836"/>
                <a:gd name="T28" fmla="*/ 789 w 1285"/>
                <a:gd name="T29" fmla="*/ 1 h 1836"/>
                <a:gd name="T30" fmla="*/ 937 w 1285"/>
                <a:gd name="T31" fmla="*/ 51 h 1836"/>
                <a:gd name="T32" fmla="*/ 1154 w 1285"/>
                <a:gd name="T33" fmla="*/ 221 h 1836"/>
                <a:gd name="T34" fmla="*/ 1243 w 1285"/>
                <a:gd name="T35" fmla="*/ 432 h 1836"/>
                <a:gd name="T36" fmla="*/ 1276 w 1285"/>
                <a:gd name="T37" fmla="*/ 551 h 1836"/>
                <a:gd name="T38" fmla="*/ 1276 w 1285"/>
                <a:gd name="T39" fmla="*/ 977 h 1836"/>
                <a:gd name="T40" fmla="*/ 1243 w 1285"/>
                <a:gd name="T41" fmla="*/ 1098 h 1836"/>
                <a:gd name="T42" fmla="*/ 1178 w 1285"/>
                <a:gd name="T43" fmla="*/ 1296 h 1836"/>
                <a:gd name="T44" fmla="*/ 1069 w 1285"/>
                <a:gd name="T45" fmla="*/ 1499 h 1836"/>
                <a:gd name="T46" fmla="*/ 903 w 1285"/>
                <a:gd name="T47" fmla="*/ 1676 h 1836"/>
                <a:gd name="T48" fmla="*/ 773 w 1285"/>
                <a:gd name="T49" fmla="*/ 1768 h 1836"/>
                <a:gd name="T50" fmla="*/ 690 w 1285"/>
                <a:gd name="T51" fmla="*/ 1808 h 1836"/>
                <a:gd name="T52" fmla="*/ 507 w 1285"/>
                <a:gd name="T53" fmla="*/ 1836 h 1836"/>
                <a:gd name="T54" fmla="*/ 320 w 1285"/>
                <a:gd name="T55" fmla="*/ 1782 h 1836"/>
                <a:gd name="T56" fmla="*/ 757 w 1285"/>
                <a:gd name="T57" fmla="*/ 1432 h 1836"/>
                <a:gd name="T58" fmla="*/ 783 w 1285"/>
                <a:gd name="T59" fmla="*/ 1369 h 1836"/>
                <a:gd name="T60" fmla="*/ 821 w 1285"/>
                <a:gd name="T61" fmla="*/ 1288 h 1836"/>
                <a:gd name="T62" fmla="*/ 874 w 1285"/>
                <a:gd name="T63" fmla="*/ 1080 h 1836"/>
                <a:gd name="T64" fmla="*/ 896 w 1285"/>
                <a:gd name="T65" fmla="*/ 964 h 1836"/>
                <a:gd name="T66" fmla="*/ 925 w 1285"/>
                <a:gd name="T67" fmla="*/ 774 h 1836"/>
                <a:gd name="T68" fmla="*/ 907 w 1285"/>
                <a:gd name="T69" fmla="*/ 508 h 1836"/>
                <a:gd name="T70" fmla="*/ 890 w 1285"/>
                <a:gd name="T71" fmla="*/ 466 h 1836"/>
                <a:gd name="T72" fmla="*/ 889 w 1285"/>
                <a:gd name="T73" fmla="*/ 432 h 1836"/>
                <a:gd name="T74" fmla="*/ 863 w 1285"/>
                <a:gd name="T75" fmla="*/ 413 h 1836"/>
                <a:gd name="T76" fmla="*/ 832 w 1285"/>
                <a:gd name="T77" fmla="*/ 341 h 1836"/>
                <a:gd name="T78" fmla="*/ 770 w 1285"/>
                <a:gd name="T79" fmla="*/ 283 h 1836"/>
                <a:gd name="T80" fmla="*/ 671 w 1285"/>
                <a:gd name="T81" fmla="*/ 269 h 1836"/>
                <a:gd name="T82" fmla="*/ 536 w 1285"/>
                <a:gd name="T83" fmla="*/ 302 h 1836"/>
                <a:gd name="T84" fmla="*/ 477 w 1285"/>
                <a:gd name="T85" fmla="*/ 367 h 1836"/>
                <a:gd name="T86" fmla="*/ 536 w 1285"/>
                <a:gd name="T87" fmla="*/ 409 h 1836"/>
                <a:gd name="T88" fmla="*/ 637 w 1285"/>
                <a:gd name="T89" fmla="*/ 466 h 1836"/>
                <a:gd name="T90" fmla="*/ 683 w 1285"/>
                <a:gd name="T91" fmla="*/ 616 h 1836"/>
                <a:gd name="T92" fmla="*/ 632 w 1285"/>
                <a:gd name="T93" fmla="*/ 727 h 1836"/>
                <a:gd name="T94" fmla="*/ 576 w 1285"/>
                <a:gd name="T95" fmla="*/ 756 h 1836"/>
                <a:gd name="T96" fmla="*/ 491 w 1285"/>
                <a:gd name="T97" fmla="*/ 902 h 1836"/>
                <a:gd name="T98" fmla="*/ 449 w 1285"/>
                <a:gd name="T99" fmla="*/ 1078 h 1836"/>
                <a:gd name="T100" fmla="*/ 420 w 1285"/>
                <a:gd name="T101" fmla="*/ 1153 h 1836"/>
                <a:gd name="T102" fmla="*/ 419 w 1285"/>
                <a:gd name="T103" fmla="*/ 1327 h 1836"/>
                <a:gd name="T104" fmla="*/ 449 w 1285"/>
                <a:gd name="T105" fmla="*/ 1406 h 1836"/>
                <a:gd name="T106" fmla="*/ 488 w 1285"/>
                <a:gd name="T107" fmla="*/ 1535 h 1836"/>
                <a:gd name="T108" fmla="*/ 546 w 1285"/>
                <a:gd name="T109" fmla="*/ 1572 h 1836"/>
                <a:gd name="T110" fmla="*/ 670 w 1285"/>
                <a:gd name="T111" fmla="*/ 1542 h 18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285" h="1836">
                  <a:moveTo>
                    <a:pt x="320" y="1782"/>
                  </a:moveTo>
                  <a:lnTo>
                    <a:pt x="295" y="1768"/>
                  </a:lnTo>
                  <a:lnTo>
                    <a:pt x="249" y="1736"/>
                  </a:lnTo>
                  <a:lnTo>
                    <a:pt x="209" y="1699"/>
                  </a:lnTo>
                  <a:lnTo>
                    <a:pt x="168" y="1650"/>
                  </a:lnTo>
                  <a:lnTo>
                    <a:pt x="147" y="1620"/>
                  </a:lnTo>
                  <a:lnTo>
                    <a:pt x="117" y="1573"/>
                  </a:lnTo>
                  <a:lnTo>
                    <a:pt x="73" y="1499"/>
                  </a:lnTo>
                  <a:lnTo>
                    <a:pt x="71" y="1483"/>
                  </a:lnTo>
                  <a:lnTo>
                    <a:pt x="69" y="1471"/>
                  </a:lnTo>
                  <a:lnTo>
                    <a:pt x="60" y="1458"/>
                  </a:lnTo>
                  <a:lnTo>
                    <a:pt x="53" y="1457"/>
                  </a:lnTo>
                  <a:lnTo>
                    <a:pt x="46" y="1448"/>
                  </a:lnTo>
                  <a:lnTo>
                    <a:pt x="26" y="1370"/>
                  </a:lnTo>
                  <a:lnTo>
                    <a:pt x="16" y="1311"/>
                  </a:lnTo>
                  <a:lnTo>
                    <a:pt x="6" y="1235"/>
                  </a:lnTo>
                  <a:lnTo>
                    <a:pt x="0" y="1081"/>
                  </a:lnTo>
                  <a:lnTo>
                    <a:pt x="11" y="937"/>
                  </a:lnTo>
                  <a:lnTo>
                    <a:pt x="39" y="817"/>
                  </a:lnTo>
                  <a:lnTo>
                    <a:pt x="59" y="773"/>
                  </a:lnTo>
                  <a:lnTo>
                    <a:pt x="71" y="750"/>
                  </a:lnTo>
                  <a:lnTo>
                    <a:pt x="88" y="707"/>
                  </a:lnTo>
                  <a:lnTo>
                    <a:pt x="101" y="635"/>
                  </a:lnTo>
                  <a:lnTo>
                    <a:pt x="102" y="571"/>
                  </a:lnTo>
                  <a:lnTo>
                    <a:pt x="104" y="512"/>
                  </a:lnTo>
                  <a:lnTo>
                    <a:pt x="118" y="430"/>
                  </a:lnTo>
                  <a:lnTo>
                    <a:pt x="131" y="404"/>
                  </a:lnTo>
                  <a:lnTo>
                    <a:pt x="143" y="384"/>
                  </a:lnTo>
                  <a:lnTo>
                    <a:pt x="153" y="350"/>
                  </a:lnTo>
                  <a:lnTo>
                    <a:pt x="151" y="341"/>
                  </a:lnTo>
                  <a:lnTo>
                    <a:pt x="150" y="335"/>
                  </a:lnTo>
                  <a:lnTo>
                    <a:pt x="167" y="308"/>
                  </a:lnTo>
                  <a:lnTo>
                    <a:pt x="220" y="246"/>
                  </a:lnTo>
                  <a:lnTo>
                    <a:pt x="320" y="149"/>
                  </a:lnTo>
                  <a:lnTo>
                    <a:pt x="386" y="93"/>
                  </a:lnTo>
                  <a:lnTo>
                    <a:pt x="418" y="73"/>
                  </a:lnTo>
                  <a:lnTo>
                    <a:pt x="426" y="72"/>
                  </a:lnTo>
                  <a:lnTo>
                    <a:pt x="442" y="69"/>
                  </a:lnTo>
                  <a:lnTo>
                    <a:pt x="481" y="53"/>
                  </a:lnTo>
                  <a:lnTo>
                    <a:pt x="500" y="40"/>
                  </a:lnTo>
                  <a:lnTo>
                    <a:pt x="526" y="27"/>
                  </a:lnTo>
                  <a:lnTo>
                    <a:pt x="619" y="7"/>
                  </a:lnTo>
                  <a:lnTo>
                    <a:pt x="683" y="3"/>
                  </a:lnTo>
                  <a:lnTo>
                    <a:pt x="726" y="0"/>
                  </a:lnTo>
                  <a:lnTo>
                    <a:pt x="789" y="1"/>
                  </a:lnTo>
                  <a:lnTo>
                    <a:pt x="841" y="11"/>
                  </a:lnTo>
                  <a:lnTo>
                    <a:pt x="900" y="34"/>
                  </a:lnTo>
                  <a:lnTo>
                    <a:pt x="937" y="51"/>
                  </a:lnTo>
                  <a:lnTo>
                    <a:pt x="989" y="77"/>
                  </a:lnTo>
                  <a:lnTo>
                    <a:pt x="1082" y="144"/>
                  </a:lnTo>
                  <a:lnTo>
                    <a:pt x="1154" y="221"/>
                  </a:lnTo>
                  <a:lnTo>
                    <a:pt x="1205" y="309"/>
                  </a:lnTo>
                  <a:lnTo>
                    <a:pt x="1220" y="355"/>
                  </a:lnTo>
                  <a:lnTo>
                    <a:pt x="1243" y="432"/>
                  </a:lnTo>
                  <a:lnTo>
                    <a:pt x="1263" y="483"/>
                  </a:lnTo>
                  <a:lnTo>
                    <a:pt x="1269" y="496"/>
                  </a:lnTo>
                  <a:lnTo>
                    <a:pt x="1276" y="551"/>
                  </a:lnTo>
                  <a:lnTo>
                    <a:pt x="1285" y="669"/>
                  </a:lnTo>
                  <a:lnTo>
                    <a:pt x="1285" y="858"/>
                  </a:lnTo>
                  <a:lnTo>
                    <a:pt x="1276" y="977"/>
                  </a:lnTo>
                  <a:lnTo>
                    <a:pt x="1269" y="1031"/>
                  </a:lnTo>
                  <a:lnTo>
                    <a:pt x="1263" y="1045"/>
                  </a:lnTo>
                  <a:lnTo>
                    <a:pt x="1243" y="1098"/>
                  </a:lnTo>
                  <a:lnTo>
                    <a:pt x="1220" y="1177"/>
                  </a:lnTo>
                  <a:lnTo>
                    <a:pt x="1211" y="1212"/>
                  </a:lnTo>
                  <a:lnTo>
                    <a:pt x="1178" y="1296"/>
                  </a:lnTo>
                  <a:lnTo>
                    <a:pt x="1136" y="1383"/>
                  </a:lnTo>
                  <a:lnTo>
                    <a:pt x="1092" y="1465"/>
                  </a:lnTo>
                  <a:lnTo>
                    <a:pt x="1069" y="1499"/>
                  </a:lnTo>
                  <a:lnTo>
                    <a:pt x="1047" y="1527"/>
                  </a:lnTo>
                  <a:lnTo>
                    <a:pt x="981" y="1601"/>
                  </a:lnTo>
                  <a:lnTo>
                    <a:pt x="903" y="1676"/>
                  </a:lnTo>
                  <a:lnTo>
                    <a:pt x="835" y="1733"/>
                  </a:lnTo>
                  <a:lnTo>
                    <a:pt x="814" y="1746"/>
                  </a:lnTo>
                  <a:lnTo>
                    <a:pt x="773" y="1768"/>
                  </a:lnTo>
                  <a:lnTo>
                    <a:pt x="755" y="1781"/>
                  </a:lnTo>
                  <a:lnTo>
                    <a:pt x="743" y="1789"/>
                  </a:lnTo>
                  <a:lnTo>
                    <a:pt x="690" y="1808"/>
                  </a:lnTo>
                  <a:lnTo>
                    <a:pt x="616" y="1824"/>
                  </a:lnTo>
                  <a:lnTo>
                    <a:pt x="540" y="1834"/>
                  </a:lnTo>
                  <a:lnTo>
                    <a:pt x="507" y="1836"/>
                  </a:lnTo>
                  <a:lnTo>
                    <a:pt x="461" y="1833"/>
                  </a:lnTo>
                  <a:lnTo>
                    <a:pt x="370" y="1808"/>
                  </a:lnTo>
                  <a:lnTo>
                    <a:pt x="320" y="1782"/>
                  </a:lnTo>
                  <a:close/>
                  <a:moveTo>
                    <a:pt x="693" y="1519"/>
                  </a:moveTo>
                  <a:lnTo>
                    <a:pt x="719" y="1490"/>
                  </a:lnTo>
                  <a:lnTo>
                    <a:pt x="757" y="1432"/>
                  </a:lnTo>
                  <a:lnTo>
                    <a:pt x="765" y="1411"/>
                  </a:lnTo>
                  <a:lnTo>
                    <a:pt x="769" y="1393"/>
                  </a:lnTo>
                  <a:lnTo>
                    <a:pt x="783" y="1369"/>
                  </a:lnTo>
                  <a:lnTo>
                    <a:pt x="791" y="1368"/>
                  </a:lnTo>
                  <a:lnTo>
                    <a:pt x="796" y="1359"/>
                  </a:lnTo>
                  <a:lnTo>
                    <a:pt x="821" y="1288"/>
                  </a:lnTo>
                  <a:lnTo>
                    <a:pt x="834" y="1238"/>
                  </a:lnTo>
                  <a:lnTo>
                    <a:pt x="860" y="1130"/>
                  </a:lnTo>
                  <a:lnTo>
                    <a:pt x="874" y="1080"/>
                  </a:lnTo>
                  <a:lnTo>
                    <a:pt x="884" y="1048"/>
                  </a:lnTo>
                  <a:lnTo>
                    <a:pt x="889" y="1008"/>
                  </a:lnTo>
                  <a:lnTo>
                    <a:pt x="896" y="964"/>
                  </a:lnTo>
                  <a:lnTo>
                    <a:pt x="909" y="925"/>
                  </a:lnTo>
                  <a:lnTo>
                    <a:pt x="917" y="895"/>
                  </a:lnTo>
                  <a:lnTo>
                    <a:pt x="925" y="774"/>
                  </a:lnTo>
                  <a:lnTo>
                    <a:pt x="923" y="630"/>
                  </a:lnTo>
                  <a:lnTo>
                    <a:pt x="916" y="544"/>
                  </a:lnTo>
                  <a:lnTo>
                    <a:pt x="907" y="508"/>
                  </a:lnTo>
                  <a:lnTo>
                    <a:pt x="903" y="501"/>
                  </a:lnTo>
                  <a:lnTo>
                    <a:pt x="896" y="492"/>
                  </a:lnTo>
                  <a:lnTo>
                    <a:pt x="890" y="466"/>
                  </a:lnTo>
                  <a:lnTo>
                    <a:pt x="893" y="456"/>
                  </a:lnTo>
                  <a:lnTo>
                    <a:pt x="896" y="446"/>
                  </a:lnTo>
                  <a:lnTo>
                    <a:pt x="889" y="432"/>
                  </a:lnTo>
                  <a:lnTo>
                    <a:pt x="881" y="432"/>
                  </a:lnTo>
                  <a:lnTo>
                    <a:pt x="874" y="429"/>
                  </a:lnTo>
                  <a:lnTo>
                    <a:pt x="863" y="413"/>
                  </a:lnTo>
                  <a:lnTo>
                    <a:pt x="863" y="400"/>
                  </a:lnTo>
                  <a:lnTo>
                    <a:pt x="860" y="386"/>
                  </a:lnTo>
                  <a:lnTo>
                    <a:pt x="832" y="341"/>
                  </a:lnTo>
                  <a:lnTo>
                    <a:pt x="814" y="319"/>
                  </a:lnTo>
                  <a:lnTo>
                    <a:pt x="798" y="305"/>
                  </a:lnTo>
                  <a:lnTo>
                    <a:pt x="770" y="283"/>
                  </a:lnTo>
                  <a:lnTo>
                    <a:pt x="740" y="273"/>
                  </a:lnTo>
                  <a:lnTo>
                    <a:pt x="698" y="269"/>
                  </a:lnTo>
                  <a:lnTo>
                    <a:pt x="671" y="269"/>
                  </a:lnTo>
                  <a:lnTo>
                    <a:pt x="621" y="270"/>
                  </a:lnTo>
                  <a:lnTo>
                    <a:pt x="567" y="283"/>
                  </a:lnTo>
                  <a:lnTo>
                    <a:pt x="536" y="302"/>
                  </a:lnTo>
                  <a:lnTo>
                    <a:pt x="520" y="316"/>
                  </a:lnTo>
                  <a:lnTo>
                    <a:pt x="487" y="344"/>
                  </a:lnTo>
                  <a:lnTo>
                    <a:pt x="477" y="367"/>
                  </a:lnTo>
                  <a:lnTo>
                    <a:pt x="487" y="380"/>
                  </a:lnTo>
                  <a:lnTo>
                    <a:pt x="498" y="388"/>
                  </a:lnTo>
                  <a:lnTo>
                    <a:pt x="536" y="409"/>
                  </a:lnTo>
                  <a:lnTo>
                    <a:pt x="582" y="424"/>
                  </a:lnTo>
                  <a:lnTo>
                    <a:pt x="601" y="430"/>
                  </a:lnTo>
                  <a:lnTo>
                    <a:pt x="637" y="466"/>
                  </a:lnTo>
                  <a:lnTo>
                    <a:pt x="665" y="518"/>
                  </a:lnTo>
                  <a:lnTo>
                    <a:pt x="680" y="583"/>
                  </a:lnTo>
                  <a:lnTo>
                    <a:pt x="683" y="616"/>
                  </a:lnTo>
                  <a:lnTo>
                    <a:pt x="680" y="638"/>
                  </a:lnTo>
                  <a:lnTo>
                    <a:pt x="661" y="685"/>
                  </a:lnTo>
                  <a:lnTo>
                    <a:pt x="632" y="727"/>
                  </a:lnTo>
                  <a:lnTo>
                    <a:pt x="598" y="753"/>
                  </a:lnTo>
                  <a:lnTo>
                    <a:pt x="583" y="756"/>
                  </a:lnTo>
                  <a:lnTo>
                    <a:pt x="576" y="756"/>
                  </a:lnTo>
                  <a:lnTo>
                    <a:pt x="560" y="771"/>
                  </a:lnTo>
                  <a:lnTo>
                    <a:pt x="531" y="816"/>
                  </a:lnTo>
                  <a:lnTo>
                    <a:pt x="491" y="902"/>
                  </a:lnTo>
                  <a:lnTo>
                    <a:pt x="462" y="997"/>
                  </a:lnTo>
                  <a:lnTo>
                    <a:pt x="455" y="1039"/>
                  </a:lnTo>
                  <a:lnTo>
                    <a:pt x="449" y="1078"/>
                  </a:lnTo>
                  <a:lnTo>
                    <a:pt x="433" y="1134"/>
                  </a:lnTo>
                  <a:lnTo>
                    <a:pt x="428" y="1144"/>
                  </a:lnTo>
                  <a:lnTo>
                    <a:pt x="420" y="1153"/>
                  </a:lnTo>
                  <a:lnTo>
                    <a:pt x="413" y="1205"/>
                  </a:lnTo>
                  <a:lnTo>
                    <a:pt x="413" y="1273"/>
                  </a:lnTo>
                  <a:lnTo>
                    <a:pt x="419" y="1327"/>
                  </a:lnTo>
                  <a:lnTo>
                    <a:pt x="426" y="1339"/>
                  </a:lnTo>
                  <a:lnTo>
                    <a:pt x="432" y="1349"/>
                  </a:lnTo>
                  <a:lnTo>
                    <a:pt x="449" y="1406"/>
                  </a:lnTo>
                  <a:lnTo>
                    <a:pt x="456" y="1444"/>
                  </a:lnTo>
                  <a:lnTo>
                    <a:pt x="468" y="1491"/>
                  </a:lnTo>
                  <a:lnTo>
                    <a:pt x="488" y="1535"/>
                  </a:lnTo>
                  <a:lnTo>
                    <a:pt x="508" y="1553"/>
                  </a:lnTo>
                  <a:lnTo>
                    <a:pt x="520" y="1559"/>
                  </a:lnTo>
                  <a:lnTo>
                    <a:pt x="546" y="1572"/>
                  </a:lnTo>
                  <a:lnTo>
                    <a:pt x="589" y="1581"/>
                  </a:lnTo>
                  <a:lnTo>
                    <a:pt x="628" y="1572"/>
                  </a:lnTo>
                  <a:lnTo>
                    <a:pt x="670" y="1542"/>
                  </a:lnTo>
                  <a:lnTo>
                    <a:pt x="693" y="1519"/>
                  </a:lnTo>
                  <a:close/>
                </a:path>
              </a:pathLst>
            </a:custGeom>
            <a:solidFill>
              <a:srgbClr val="C00000"/>
            </a:solidFill>
            <a:ln>
              <a:noFill/>
            </a:ln>
          </p:spPr>
          <p:txBody>
            <a:bodyPr vert="horz" wrap="square" lIns="91440" tIns="45720" rIns="91440" bIns="45720" numCol="1" anchor="t" anchorCtr="0" compatLnSpc="1">
              <a:prstTxWarp prst="textNoShape">
                <a:avLst/>
              </a:prstTxWarp>
            </a:bodyPr>
            <a:lstStyle/>
            <a:p>
              <a:endParaRPr lang="es-PE"/>
            </a:p>
          </p:txBody>
        </p:sp>
        <p:sp>
          <p:nvSpPr>
            <p:cNvPr id="30" name="Freeform 26"/>
            <p:cNvSpPr>
              <a:spLocks/>
            </p:cNvSpPr>
            <p:nvPr/>
          </p:nvSpPr>
          <p:spPr bwMode="auto">
            <a:xfrm>
              <a:off x="5103134" y="1155245"/>
              <a:ext cx="219075" cy="312738"/>
            </a:xfrm>
            <a:custGeom>
              <a:avLst/>
              <a:gdLst>
                <a:gd name="T0" fmla="*/ 102 w 412"/>
                <a:gd name="T1" fmla="*/ 556 h 590"/>
                <a:gd name="T2" fmla="*/ 83 w 412"/>
                <a:gd name="T3" fmla="*/ 538 h 590"/>
                <a:gd name="T4" fmla="*/ 49 w 412"/>
                <a:gd name="T5" fmla="*/ 481 h 590"/>
                <a:gd name="T6" fmla="*/ 18 w 412"/>
                <a:gd name="T7" fmla="*/ 407 h 590"/>
                <a:gd name="T8" fmla="*/ 1 w 412"/>
                <a:gd name="T9" fmla="*/ 334 h 590"/>
                <a:gd name="T10" fmla="*/ 0 w 412"/>
                <a:gd name="T11" fmla="*/ 304 h 590"/>
                <a:gd name="T12" fmla="*/ 1 w 412"/>
                <a:gd name="T13" fmla="*/ 273 h 590"/>
                <a:gd name="T14" fmla="*/ 18 w 412"/>
                <a:gd name="T15" fmla="*/ 201 h 590"/>
                <a:gd name="T16" fmla="*/ 47 w 412"/>
                <a:gd name="T17" fmla="*/ 129 h 590"/>
                <a:gd name="T18" fmla="*/ 80 w 412"/>
                <a:gd name="T19" fmla="*/ 70 h 590"/>
                <a:gd name="T20" fmla="*/ 99 w 412"/>
                <a:gd name="T21" fmla="*/ 52 h 590"/>
                <a:gd name="T22" fmla="*/ 121 w 412"/>
                <a:gd name="T23" fmla="*/ 34 h 590"/>
                <a:gd name="T24" fmla="*/ 184 w 412"/>
                <a:gd name="T25" fmla="*/ 8 h 590"/>
                <a:gd name="T26" fmla="*/ 220 w 412"/>
                <a:gd name="T27" fmla="*/ 3 h 590"/>
                <a:gd name="T28" fmla="*/ 243 w 412"/>
                <a:gd name="T29" fmla="*/ 0 h 590"/>
                <a:gd name="T30" fmla="*/ 278 w 412"/>
                <a:gd name="T31" fmla="*/ 1 h 590"/>
                <a:gd name="T32" fmla="*/ 305 w 412"/>
                <a:gd name="T33" fmla="*/ 10 h 590"/>
                <a:gd name="T34" fmla="*/ 331 w 412"/>
                <a:gd name="T35" fmla="*/ 32 h 590"/>
                <a:gd name="T36" fmla="*/ 347 w 412"/>
                <a:gd name="T37" fmla="*/ 47 h 590"/>
                <a:gd name="T38" fmla="*/ 370 w 412"/>
                <a:gd name="T39" fmla="*/ 75 h 590"/>
                <a:gd name="T40" fmla="*/ 400 w 412"/>
                <a:gd name="T41" fmla="*/ 138 h 590"/>
                <a:gd name="T42" fmla="*/ 412 w 412"/>
                <a:gd name="T43" fmla="*/ 212 h 590"/>
                <a:gd name="T44" fmla="*/ 402 w 412"/>
                <a:gd name="T45" fmla="*/ 294 h 590"/>
                <a:gd name="T46" fmla="*/ 389 w 412"/>
                <a:gd name="T47" fmla="*/ 337 h 590"/>
                <a:gd name="T48" fmla="*/ 377 w 412"/>
                <a:gd name="T49" fmla="*/ 373 h 590"/>
                <a:gd name="T50" fmla="*/ 341 w 412"/>
                <a:gd name="T51" fmla="*/ 446 h 590"/>
                <a:gd name="T52" fmla="*/ 301 w 412"/>
                <a:gd name="T53" fmla="*/ 515 h 590"/>
                <a:gd name="T54" fmla="*/ 262 w 412"/>
                <a:gd name="T55" fmla="*/ 564 h 590"/>
                <a:gd name="T56" fmla="*/ 246 w 412"/>
                <a:gd name="T57" fmla="*/ 577 h 590"/>
                <a:gd name="T58" fmla="*/ 232 w 412"/>
                <a:gd name="T59" fmla="*/ 584 h 590"/>
                <a:gd name="T60" fmla="*/ 197 w 412"/>
                <a:gd name="T61" fmla="*/ 590 h 590"/>
                <a:gd name="T62" fmla="*/ 158 w 412"/>
                <a:gd name="T63" fmla="*/ 584 h 590"/>
                <a:gd name="T64" fmla="*/ 121 w 412"/>
                <a:gd name="T65" fmla="*/ 569 h 590"/>
                <a:gd name="T66" fmla="*/ 102 w 412"/>
                <a:gd name="T67" fmla="*/ 556 h 5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12" h="590">
                  <a:moveTo>
                    <a:pt x="102" y="556"/>
                  </a:moveTo>
                  <a:lnTo>
                    <a:pt x="83" y="538"/>
                  </a:lnTo>
                  <a:lnTo>
                    <a:pt x="49" y="481"/>
                  </a:lnTo>
                  <a:lnTo>
                    <a:pt x="18" y="407"/>
                  </a:lnTo>
                  <a:lnTo>
                    <a:pt x="1" y="334"/>
                  </a:lnTo>
                  <a:lnTo>
                    <a:pt x="0" y="304"/>
                  </a:lnTo>
                  <a:lnTo>
                    <a:pt x="1" y="273"/>
                  </a:lnTo>
                  <a:lnTo>
                    <a:pt x="18" y="201"/>
                  </a:lnTo>
                  <a:lnTo>
                    <a:pt x="47" y="129"/>
                  </a:lnTo>
                  <a:lnTo>
                    <a:pt x="80" y="70"/>
                  </a:lnTo>
                  <a:lnTo>
                    <a:pt x="99" y="52"/>
                  </a:lnTo>
                  <a:lnTo>
                    <a:pt x="121" y="34"/>
                  </a:lnTo>
                  <a:lnTo>
                    <a:pt x="184" y="8"/>
                  </a:lnTo>
                  <a:lnTo>
                    <a:pt x="220" y="3"/>
                  </a:lnTo>
                  <a:lnTo>
                    <a:pt x="243" y="0"/>
                  </a:lnTo>
                  <a:lnTo>
                    <a:pt x="278" y="1"/>
                  </a:lnTo>
                  <a:lnTo>
                    <a:pt x="305" y="10"/>
                  </a:lnTo>
                  <a:lnTo>
                    <a:pt x="331" y="32"/>
                  </a:lnTo>
                  <a:lnTo>
                    <a:pt x="347" y="47"/>
                  </a:lnTo>
                  <a:lnTo>
                    <a:pt x="370" y="75"/>
                  </a:lnTo>
                  <a:lnTo>
                    <a:pt x="400" y="138"/>
                  </a:lnTo>
                  <a:lnTo>
                    <a:pt x="412" y="212"/>
                  </a:lnTo>
                  <a:lnTo>
                    <a:pt x="402" y="294"/>
                  </a:lnTo>
                  <a:lnTo>
                    <a:pt x="389" y="337"/>
                  </a:lnTo>
                  <a:lnTo>
                    <a:pt x="377" y="373"/>
                  </a:lnTo>
                  <a:lnTo>
                    <a:pt x="341" y="446"/>
                  </a:lnTo>
                  <a:lnTo>
                    <a:pt x="301" y="515"/>
                  </a:lnTo>
                  <a:lnTo>
                    <a:pt x="262" y="564"/>
                  </a:lnTo>
                  <a:lnTo>
                    <a:pt x="246" y="577"/>
                  </a:lnTo>
                  <a:lnTo>
                    <a:pt x="232" y="584"/>
                  </a:lnTo>
                  <a:lnTo>
                    <a:pt x="197" y="590"/>
                  </a:lnTo>
                  <a:lnTo>
                    <a:pt x="158" y="584"/>
                  </a:lnTo>
                  <a:lnTo>
                    <a:pt x="121" y="569"/>
                  </a:lnTo>
                  <a:lnTo>
                    <a:pt x="102" y="556"/>
                  </a:lnTo>
                  <a:close/>
                </a:path>
              </a:pathLst>
            </a:custGeom>
            <a:solidFill>
              <a:srgbClr val="C00000"/>
            </a:solidFill>
            <a:ln>
              <a:noFill/>
            </a:ln>
          </p:spPr>
          <p:txBody>
            <a:bodyPr vert="horz" wrap="square" lIns="91440" tIns="45720" rIns="91440" bIns="45720" numCol="1" anchor="t" anchorCtr="0" compatLnSpc="1">
              <a:prstTxWarp prst="textNoShape">
                <a:avLst/>
              </a:prstTxWarp>
            </a:bodyPr>
            <a:lstStyle/>
            <a:p>
              <a:endParaRPr lang="es-PE"/>
            </a:p>
          </p:txBody>
        </p:sp>
      </p:grpSp>
    </p:spTree>
    <p:extLst>
      <p:ext uri="{BB962C8B-B14F-4D97-AF65-F5344CB8AC3E}">
        <p14:creationId xmlns:p14="http://schemas.microsoft.com/office/powerpoint/2010/main" val="3732536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1+#ppt_w/2"/>
                                          </p:val>
                                        </p:tav>
                                        <p:tav tm="100000">
                                          <p:val>
                                            <p:strVal val="#ppt_x"/>
                                          </p:val>
                                        </p:tav>
                                      </p:tavLst>
                                    </p:anim>
                                    <p:anim calcmode="lin" valueType="num">
                                      <p:cBhvr additive="base">
                                        <p:cTn id="12"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Blanco total">
    <p:spTree>
      <p:nvGrpSpPr>
        <p:cNvPr id="1" name=""/>
        <p:cNvGrpSpPr/>
        <p:nvPr/>
      </p:nvGrpSpPr>
      <p:grpSpPr>
        <a:xfrm>
          <a:off x="0" y="0"/>
          <a:ext cx="0" cy="0"/>
          <a:chOff x="0" y="0"/>
          <a:chExt cx="0" cy="0"/>
        </a:xfrm>
      </p:grpSpPr>
      <p:sp>
        <p:nvSpPr>
          <p:cNvPr id="6" name="Rectángulo 5"/>
          <p:cNvSpPr/>
          <p:nvPr/>
        </p:nvSpPr>
        <p:spPr>
          <a:xfrm>
            <a:off x="0" y="0"/>
            <a:ext cx="12192000" cy="685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Tree>
    <p:extLst>
      <p:ext uri="{BB962C8B-B14F-4D97-AF65-F5344CB8AC3E}">
        <p14:creationId xmlns:p14="http://schemas.microsoft.com/office/powerpoint/2010/main" val="17611562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LEMA CAMPAÑA">
    <p:spTree>
      <p:nvGrpSpPr>
        <p:cNvPr id="1" name=""/>
        <p:cNvGrpSpPr/>
        <p:nvPr/>
      </p:nvGrpSpPr>
      <p:grpSpPr>
        <a:xfrm>
          <a:off x="0" y="0"/>
          <a:ext cx="0" cy="0"/>
          <a:chOff x="0" y="0"/>
          <a:chExt cx="0" cy="0"/>
        </a:xfrm>
      </p:grpSpPr>
      <p:sp>
        <p:nvSpPr>
          <p:cNvPr id="7" name="Rectángulo 6"/>
          <p:cNvSpPr/>
          <p:nvPr/>
        </p:nvSpPr>
        <p:spPr>
          <a:xfrm>
            <a:off x="0" y="0"/>
            <a:ext cx="12192000" cy="685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grpSp>
        <p:nvGrpSpPr>
          <p:cNvPr id="4" name="Grupo 3"/>
          <p:cNvGrpSpPr/>
          <p:nvPr/>
        </p:nvGrpSpPr>
        <p:grpSpPr>
          <a:xfrm>
            <a:off x="3561390" y="1462205"/>
            <a:ext cx="5069221" cy="3933590"/>
            <a:chOff x="1383621" y="1155245"/>
            <a:chExt cx="7043738" cy="5465763"/>
          </a:xfrm>
        </p:grpSpPr>
        <p:sp>
          <p:nvSpPr>
            <p:cNvPr id="5" name="Freeform 5"/>
            <p:cNvSpPr>
              <a:spLocks/>
            </p:cNvSpPr>
            <p:nvPr/>
          </p:nvSpPr>
          <p:spPr bwMode="auto">
            <a:xfrm>
              <a:off x="5369834" y="4916033"/>
              <a:ext cx="1028700" cy="1704975"/>
            </a:xfrm>
            <a:custGeom>
              <a:avLst/>
              <a:gdLst>
                <a:gd name="T0" fmla="*/ 78 w 1943"/>
                <a:gd name="T1" fmla="*/ 3046 h 3223"/>
                <a:gd name="T2" fmla="*/ 34 w 1943"/>
                <a:gd name="T3" fmla="*/ 2804 h 3223"/>
                <a:gd name="T4" fmla="*/ 20 w 1943"/>
                <a:gd name="T5" fmla="*/ 2664 h 3223"/>
                <a:gd name="T6" fmla="*/ 0 w 1943"/>
                <a:gd name="T7" fmla="*/ 2405 h 3223"/>
                <a:gd name="T8" fmla="*/ 26 w 1943"/>
                <a:gd name="T9" fmla="*/ 2268 h 3223"/>
                <a:gd name="T10" fmla="*/ 85 w 1943"/>
                <a:gd name="T11" fmla="*/ 1797 h 3223"/>
                <a:gd name="T12" fmla="*/ 109 w 1943"/>
                <a:gd name="T13" fmla="*/ 1666 h 3223"/>
                <a:gd name="T14" fmla="*/ 157 w 1943"/>
                <a:gd name="T15" fmla="*/ 1525 h 3223"/>
                <a:gd name="T16" fmla="*/ 216 w 1943"/>
                <a:gd name="T17" fmla="*/ 1305 h 3223"/>
                <a:gd name="T18" fmla="*/ 307 w 1943"/>
                <a:gd name="T19" fmla="*/ 1025 h 3223"/>
                <a:gd name="T20" fmla="*/ 394 w 1943"/>
                <a:gd name="T21" fmla="*/ 769 h 3223"/>
                <a:gd name="T22" fmla="*/ 448 w 1943"/>
                <a:gd name="T23" fmla="*/ 627 h 3223"/>
                <a:gd name="T24" fmla="*/ 649 w 1943"/>
                <a:gd name="T25" fmla="*/ 228 h 3223"/>
                <a:gd name="T26" fmla="*/ 829 w 1943"/>
                <a:gd name="T27" fmla="*/ 58 h 3223"/>
                <a:gd name="T28" fmla="*/ 1031 w 1943"/>
                <a:gd name="T29" fmla="*/ 51 h 3223"/>
                <a:gd name="T30" fmla="*/ 1094 w 1943"/>
                <a:gd name="T31" fmla="*/ 153 h 3223"/>
                <a:gd name="T32" fmla="*/ 1188 w 1943"/>
                <a:gd name="T33" fmla="*/ 206 h 3223"/>
                <a:gd name="T34" fmla="*/ 1551 w 1943"/>
                <a:gd name="T35" fmla="*/ 2 h 3223"/>
                <a:gd name="T36" fmla="*/ 1781 w 1943"/>
                <a:gd name="T37" fmla="*/ 38 h 3223"/>
                <a:gd name="T38" fmla="*/ 1915 w 1943"/>
                <a:gd name="T39" fmla="*/ 169 h 3223"/>
                <a:gd name="T40" fmla="*/ 1943 w 1943"/>
                <a:gd name="T41" fmla="*/ 341 h 3223"/>
                <a:gd name="T42" fmla="*/ 1873 w 1943"/>
                <a:gd name="T43" fmla="*/ 781 h 3223"/>
                <a:gd name="T44" fmla="*/ 1787 w 1943"/>
                <a:gd name="T45" fmla="*/ 1021 h 3223"/>
                <a:gd name="T46" fmla="*/ 1744 w 1943"/>
                <a:gd name="T47" fmla="*/ 1109 h 3223"/>
                <a:gd name="T48" fmla="*/ 1688 w 1943"/>
                <a:gd name="T49" fmla="*/ 1205 h 3223"/>
                <a:gd name="T50" fmla="*/ 1636 w 1943"/>
                <a:gd name="T51" fmla="*/ 1305 h 3223"/>
                <a:gd name="T52" fmla="*/ 1547 w 1943"/>
                <a:gd name="T53" fmla="*/ 1447 h 3223"/>
                <a:gd name="T54" fmla="*/ 1477 w 1943"/>
                <a:gd name="T55" fmla="*/ 1512 h 3223"/>
                <a:gd name="T56" fmla="*/ 1379 w 1943"/>
                <a:gd name="T57" fmla="*/ 1633 h 3223"/>
                <a:gd name="T58" fmla="*/ 1287 w 1943"/>
                <a:gd name="T59" fmla="*/ 1695 h 3223"/>
                <a:gd name="T60" fmla="*/ 1240 w 1943"/>
                <a:gd name="T61" fmla="*/ 1745 h 3223"/>
                <a:gd name="T62" fmla="*/ 1148 w 1943"/>
                <a:gd name="T63" fmla="*/ 1796 h 3223"/>
                <a:gd name="T64" fmla="*/ 913 w 1943"/>
                <a:gd name="T65" fmla="*/ 1842 h 3223"/>
                <a:gd name="T66" fmla="*/ 753 w 1943"/>
                <a:gd name="T67" fmla="*/ 1780 h 3223"/>
                <a:gd name="T68" fmla="*/ 724 w 1943"/>
                <a:gd name="T69" fmla="*/ 1665 h 3223"/>
                <a:gd name="T70" fmla="*/ 818 w 1943"/>
                <a:gd name="T71" fmla="*/ 1584 h 3223"/>
                <a:gd name="T72" fmla="*/ 930 w 1943"/>
                <a:gd name="T73" fmla="*/ 1538 h 3223"/>
                <a:gd name="T74" fmla="*/ 1096 w 1943"/>
                <a:gd name="T75" fmla="*/ 1335 h 3223"/>
                <a:gd name="T76" fmla="*/ 1287 w 1943"/>
                <a:gd name="T77" fmla="*/ 910 h 3223"/>
                <a:gd name="T78" fmla="*/ 1322 w 1943"/>
                <a:gd name="T79" fmla="*/ 838 h 3223"/>
                <a:gd name="T80" fmla="*/ 1400 w 1943"/>
                <a:gd name="T81" fmla="*/ 583 h 3223"/>
                <a:gd name="T82" fmla="*/ 1417 w 1943"/>
                <a:gd name="T83" fmla="*/ 513 h 3223"/>
                <a:gd name="T84" fmla="*/ 1428 w 1943"/>
                <a:gd name="T85" fmla="*/ 438 h 3223"/>
                <a:gd name="T86" fmla="*/ 1451 w 1943"/>
                <a:gd name="T87" fmla="*/ 259 h 3223"/>
                <a:gd name="T88" fmla="*/ 1388 w 1943"/>
                <a:gd name="T89" fmla="*/ 277 h 3223"/>
                <a:gd name="T90" fmla="*/ 1078 w 1943"/>
                <a:gd name="T91" fmla="*/ 591 h 3223"/>
                <a:gd name="T92" fmla="*/ 1009 w 1943"/>
                <a:gd name="T93" fmla="*/ 677 h 3223"/>
                <a:gd name="T94" fmla="*/ 972 w 1943"/>
                <a:gd name="T95" fmla="*/ 758 h 3223"/>
                <a:gd name="T96" fmla="*/ 724 w 1943"/>
                <a:gd name="T97" fmla="*/ 1285 h 3223"/>
                <a:gd name="T98" fmla="*/ 658 w 1943"/>
                <a:gd name="T99" fmla="*/ 1558 h 3223"/>
                <a:gd name="T100" fmla="*/ 595 w 1943"/>
                <a:gd name="T101" fmla="*/ 2373 h 3223"/>
                <a:gd name="T102" fmla="*/ 580 w 1943"/>
                <a:gd name="T103" fmla="*/ 3054 h 3223"/>
                <a:gd name="T104" fmla="*/ 559 w 1943"/>
                <a:gd name="T105" fmla="*/ 3089 h 3223"/>
                <a:gd name="T106" fmla="*/ 492 w 1943"/>
                <a:gd name="T107" fmla="*/ 3182 h 3223"/>
                <a:gd name="T108" fmla="*/ 328 w 1943"/>
                <a:gd name="T109" fmla="*/ 3223 h 3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943" h="3223">
                  <a:moveTo>
                    <a:pt x="207" y="3172"/>
                  </a:moveTo>
                  <a:lnTo>
                    <a:pt x="158" y="3138"/>
                  </a:lnTo>
                  <a:lnTo>
                    <a:pt x="105" y="3084"/>
                  </a:lnTo>
                  <a:lnTo>
                    <a:pt x="78" y="3046"/>
                  </a:lnTo>
                  <a:lnTo>
                    <a:pt x="57" y="3004"/>
                  </a:lnTo>
                  <a:lnTo>
                    <a:pt x="44" y="2956"/>
                  </a:lnTo>
                  <a:lnTo>
                    <a:pt x="34" y="2873"/>
                  </a:lnTo>
                  <a:lnTo>
                    <a:pt x="34" y="2804"/>
                  </a:lnTo>
                  <a:lnTo>
                    <a:pt x="36" y="2742"/>
                  </a:lnTo>
                  <a:lnTo>
                    <a:pt x="30" y="2683"/>
                  </a:lnTo>
                  <a:lnTo>
                    <a:pt x="23" y="2665"/>
                  </a:lnTo>
                  <a:lnTo>
                    <a:pt x="20" y="2664"/>
                  </a:lnTo>
                  <a:lnTo>
                    <a:pt x="16" y="2660"/>
                  </a:lnTo>
                  <a:lnTo>
                    <a:pt x="8" y="2629"/>
                  </a:lnTo>
                  <a:lnTo>
                    <a:pt x="1" y="2547"/>
                  </a:lnTo>
                  <a:lnTo>
                    <a:pt x="0" y="2405"/>
                  </a:lnTo>
                  <a:lnTo>
                    <a:pt x="7" y="2317"/>
                  </a:lnTo>
                  <a:lnTo>
                    <a:pt x="13" y="2282"/>
                  </a:lnTo>
                  <a:lnTo>
                    <a:pt x="19" y="2277"/>
                  </a:lnTo>
                  <a:lnTo>
                    <a:pt x="26" y="2268"/>
                  </a:lnTo>
                  <a:lnTo>
                    <a:pt x="34" y="2222"/>
                  </a:lnTo>
                  <a:lnTo>
                    <a:pt x="36" y="2192"/>
                  </a:lnTo>
                  <a:lnTo>
                    <a:pt x="42" y="2100"/>
                  </a:lnTo>
                  <a:lnTo>
                    <a:pt x="85" y="1797"/>
                  </a:lnTo>
                  <a:lnTo>
                    <a:pt x="102" y="1728"/>
                  </a:lnTo>
                  <a:lnTo>
                    <a:pt x="109" y="1701"/>
                  </a:lnTo>
                  <a:lnTo>
                    <a:pt x="109" y="1678"/>
                  </a:lnTo>
                  <a:lnTo>
                    <a:pt x="109" y="1666"/>
                  </a:lnTo>
                  <a:lnTo>
                    <a:pt x="116" y="1642"/>
                  </a:lnTo>
                  <a:lnTo>
                    <a:pt x="122" y="1632"/>
                  </a:lnTo>
                  <a:lnTo>
                    <a:pt x="131" y="1614"/>
                  </a:lnTo>
                  <a:lnTo>
                    <a:pt x="157" y="1525"/>
                  </a:lnTo>
                  <a:lnTo>
                    <a:pt x="171" y="1466"/>
                  </a:lnTo>
                  <a:lnTo>
                    <a:pt x="184" y="1408"/>
                  </a:lnTo>
                  <a:lnTo>
                    <a:pt x="209" y="1321"/>
                  </a:lnTo>
                  <a:lnTo>
                    <a:pt x="216" y="1305"/>
                  </a:lnTo>
                  <a:lnTo>
                    <a:pt x="233" y="1263"/>
                  </a:lnTo>
                  <a:lnTo>
                    <a:pt x="260" y="1161"/>
                  </a:lnTo>
                  <a:lnTo>
                    <a:pt x="291" y="1061"/>
                  </a:lnTo>
                  <a:lnTo>
                    <a:pt x="307" y="1025"/>
                  </a:lnTo>
                  <a:lnTo>
                    <a:pt x="322" y="992"/>
                  </a:lnTo>
                  <a:lnTo>
                    <a:pt x="350" y="902"/>
                  </a:lnTo>
                  <a:lnTo>
                    <a:pt x="364" y="853"/>
                  </a:lnTo>
                  <a:lnTo>
                    <a:pt x="394" y="769"/>
                  </a:lnTo>
                  <a:lnTo>
                    <a:pt x="404" y="749"/>
                  </a:lnTo>
                  <a:lnTo>
                    <a:pt x="426" y="706"/>
                  </a:lnTo>
                  <a:lnTo>
                    <a:pt x="440" y="651"/>
                  </a:lnTo>
                  <a:lnTo>
                    <a:pt x="448" y="627"/>
                  </a:lnTo>
                  <a:lnTo>
                    <a:pt x="487" y="534"/>
                  </a:lnTo>
                  <a:lnTo>
                    <a:pt x="574" y="356"/>
                  </a:lnTo>
                  <a:lnTo>
                    <a:pt x="632" y="254"/>
                  </a:lnTo>
                  <a:lnTo>
                    <a:pt x="649" y="228"/>
                  </a:lnTo>
                  <a:lnTo>
                    <a:pt x="694" y="172"/>
                  </a:lnTo>
                  <a:lnTo>
                    <a:pt x="747" y="118"/>
                  </a:lnTo>
                  <a:lnTo>
                    <a:pt x="803" y="74"/>
                  </a:lnTo>
                  <a:lnTo>
                    <a:pt x="829" y="58"/>
                  </a:lnTo>
                  <a:lnTo>
                    <a:pt x="865" y="38"/>
                  </a:lnTo>
                  <a:lnTo>
                    <a:pt x="927" y="17"/>
                  </a:lnTo>
                  <a:lnTo>
                    <a:pt x="982" y="22"/>
                  </a:lnTo>
                  <a:lnTo>
                    <a:pt x="1031" y="51"/>
                  </a:lnTo>
                  <a:lnTo>
                    <a:pt x="1053" y="75"/>
                  </a:lnTo>
                  <a:lnTo>
                    <a:pt x="1067" y="92"/>
                  </a:lnTo>
                  <a:lnTo>
                    <a:pt x="1086" y="121"/>
                  </a:lnTo>
                  <a:lnTo>
                    <a:pt x="1094" y="153"/>
                  </a:lnTo>
                  <a:lnTo>
                    <a:pt x="1096" y="193"/>
                  </a:lnTo>
                  <a:lnTo>
                    <a:pt x="1094" y="219"/>
                  </a:lnTo>
                  <a:lnTo>
                    <a:pt x="1089" y="304"/>
                  </a:lnTo>
                  <a:lnTo>
                    <a:pt x="1188" y="206"/>
                  </a:lnTo>
                  <a:lnTo>
                    <a:pt x="1241" y="156"/>
                  </a:lnTo>
                  <a:lnTo>
                    <a:pt x="1345" y="78"/>
                  </a:lnTo>
                  <a:lnTo>
                    <a:pt x="1449" y="28"/>
                  </a:lnTo>
                  <a:lnTo>
                    <a:pt x="1551" y="2"/>
                  </a:lnTo>
                  <a:lnTo>
                    <a:pt x="1603" y="0"/>
                  </a:lnTo>
                  <a:lnTo>
                    <a:pt x="1647" y="0"/>
                  </a:lnTo>
                  <a:lnTo>
                    <a:pt x="1719" y="12"/>
                  </a:lnTo>
                  <a:lnTo>
                    <a:pt x="1781" y="38"/>
                  </a:lnTo>
                  <a:lnTo>
                    <a:pt x="1839" y="82"/>
                  </a:lnTo>
                  <a:lnTo>
                    <a:pt x="1871" y="115"/>
                  </a:lnTo>
                  <a:lnTo>
                    <a:pt x="1889" y="134"/>
                  </a:lnTo>
                  <a:lnTo>
                    <a:pt x="1915" y="169"/>
                  </a:lnTo>
                  <a:lnTo>
                    <a:pt x="1930" y="206"/>
                  </a:lnTo>
                  <a:lnTo>
                    <a:pt x="1938" y="254"/>
                  </a:lnTo>
                  <a:lnTo>
                    <a:pt x="1941" y="285"/>
                  </a:lnTo>
                  <a:lnTo>
                    <a:pt x="1943" y="341"/>
                  </a:lnTo>
                  <a:lnTo>
                    <a:pt x="1935" y="478"/>
                  </a:lnTo>
                  <a:lnTo>
                    <a:pt x="1917" y="621"/>
                  </a:lnTo>
                  <a:lnTo>
                    <a:pt x="1889" y="740"/>
                  </a:lnTo>
                  <a:lnTo>
                    <a:pt x="1873" y="781"/>
                  </a:lnTo>
                  <a:lnTo>
                    <a:pt x="1843" y="857"/>
                  </a:lnTo>
                  <a:lnTo>
                    <a:pt x="1816" y="940"/>
                  </a:lnTo>
                  <a:lnTo>
                    <a:pt x="1806" y="975"/>
                  </a:lnTo>
                  <a:lnTo>
                    <a:pt x="1787" y="1021"/>
                  </a:lnTo>
                  <a:lnTo>
                    <a:pt x="1780" y="1025"/>
                  </a:lnTo>
                  <a:lnTo>
                    <a:pt x="1774" y="1030"/>
                  </a:lnTo>
                  <a:lnTo>
                    <a:pt x="1754" y="1076"/>
                  </a:lnTo>
                  <a:lnTo>
                    <a:pt x="1744" y="1109"/>
                  </a:lnTo>
                  <a:lnTo>
                    <a:pt x="1732" y="1142"/>
                  </a:lnTo>
                  <a:lnTo>
                    <a:pt x="1706" y="1192"/>
                  </a:lnTo>
                  <a:lnTo>
                    <a:pt x="1698" y="1200"/>
                  </a:lnTo>
                  <a:lnTo>
                    <a:pt x="1688" y="1205"/>
                  </a:lnTo>
                  <a:lnTo>
                    <a:pt x="1675" y="1223"/>
                  </a:lnTo>
                  <a:lnTo>
                    <a:pt x="1675" y="1233"/>
                  </a:lnTo>
                  <a:lnTo>
                    <a:pt x="1670" y="1247"/>
                  </a:lnTo>
                  <a:lnTo>
                    <a:pt x="1636" y="1305"/>
                  </a:lnTo>
                  <a:lnTo>
                    <a:pt x="1611" y="1339"/>
                  </a:lnTo>
                  <a:lnTo>
                    <a:pt x="1562" y="1408"/>
                  </a:lnTo>
                  <a:lnTo>
                    <a:pt x="1548" y="1440"/>
                  </a:lnTo>
                  <a:lnTo>
                    <a:pt x="1547" y="1447"/>
                  </a:lnTo>
                  <a:lnTo>
                    <a:pt x="1526" y="1469"/>
                  </a:lnTo>
                  <a:lnTo>
                    <a:pt x="1512" y="1479"/>
                  </a:lnTo>
                  <a:lnTo>
                    <a:pt x="1498" y="1489"/>
                  </a:lnTo>
                  <a:lnTo>
                    <a:pt x="1477" y="1512"/>
                  </a:lnTo>
                  <a:lnTo>
                    <a:pt x="1476" y="1521"/>
                  </a:lnTo>
                  <a:lnTo>
                    <a:pt x="1472" y="1534"/>
                  </a:lnTo>
                  <a:lnTo>
                    <a:pt x="1434" y="1580"/>
                  </a:lnTo>
                  <a:lnTo>
                    <a:pt x="1379" y="1633"/>
                  </a:lnTo>
                  <a:lnTo>
                    <a:pt x="1331" y="1669"/>
                  </a:lnTo>
                  <a:lnTo>
                    <a:pt x="1318" y="1673"/>
                  </a:lnTo>
                  <a:lnTo>
                    <a:pt x="1309" y="1675"/>
                  </a:lnTo>
                  <a:lnTo>
                    <a:pt x="1287" y="1695"/>
                  </a:lnTo>
                  <a:lnTo>
                    <a:pt x="1279" y="1709"/>
                  </a:lnTo>
                  <a:lnTo>
                    <a:pt x="1269" y="1724"/>
                  </a:lnTo>
                  <a:lnTo>
                    <a:pt x="1248" y="1744"/>
                  </a:lnTo>
                  <a:lnTo>
                    <a:pt x="1240" y="1745"/>
                  </a:lnTo>
                  <a:lnTo>
                    <a:pt x="1230" y="1747"/>
                  </a:lnTo>
                  <a:lnTo>
                    <a:pt x="1191" y="1767"/>
                  </a:lnTo>
                  <a:lnTo>
                    <a:pt x="1171" y="1781"/>
                  </a:lnTo>
                  <a:lnTo>
                    <a:pt x="1148" y="1796"/>
                  </a:lnTo>
                  <a:lnTo>
                    <a:pt x="1094" y="1819"/>
                  </a:lnTo>
                  <a:lnTo>
                    <a:pt x="1035" y="1835"/>
                  </a:lnTo>
                  <a:lnTo>
                    <a:pt x="973" y="1842"/>
                  </a:lnTo>
                  <a:lnTo>
                    <a:pt x="913" y="1842"/>
                  </a:lnTo>
                  <a:lnTo>
                    <a:pt x="855" y="1833"/>
                  </a:lnTo>
                  <a:lnTo>
                    <a:pt x="805" y="1817"/>
                  </a:lnTo>
                  <a:lnTo>
                    <a:pt x="766" y="1794"/>
                  </a:lnTo>
                  <a:lnTo>
                    <a:pt x="753" y="1780"/>
                  </a:lnTo>
                  <a:lnTo>
                    <a:pt x="740" y="1764"/>
                  </a:lnTo>
                  <a:lnTo>
                    <a:pt x="726" y="1731"/>
                  </a:lnTo>
                  <a:lnTo>
                    <a:pt x="720" y="1698"/>
                  </a:lnTo>
                  <a:lnTo>
                    <a:pt x="724" y="1665"/>
                  </a:lnTo>
                  <a:lnTo>
                    <a:pt x="737" y="1636"/>
                  </a:lnTo>
                  <a:lnTo>
                    <a:pt x="757" y="1611"/>
                  </a:lnTo>
                  <a:lnTo>
                    <a:pt x="785" y="1594"/>
                  </a:lnTo>
                  <a:lnTo>
                    <a:pt x="818" y="1584"/>
                  </a:lnTo>
                  <a:lnTo>
                    <a:pt x="837" y="1584"/>
                  </a:lnTo>
                  <a:lnTo>
                    <a:pt x="851" y="1583"/>
                  </a:lnTo>
                  <a:lnTo>
                    <a:pt x="881" y="1573"/>
                  </a:lnTo>
                  <a:lnTo>
                    <a:pt x="930" y="1538"/>
                  </a:lnTo>
                  <a:lnTo>
                    <a:pt x="973" y="1493"/>
                  </a:lnTo>
                  <a:lnTo>
                    <a:pt x="1009" y="1453"/>
                  </a:lnTo>
                  <a:lnTo>
                    <a:pt x="1077" y="1368"/>
                  </a:lnTo>
                  <a:lnTo>
                    <a:pt x="1096" y="1335"/>
                  </a:lnTo>
                  <a:lnTo>
                    <a:pt x="1161" y="1214"/>
                  </a:lnTo>
                  <a:lnTo>
                    <a:pt x="1246" y="1031"/>
                  </a:lnTo>
                  <a:lnTo>
                    <a:pt x="1280" y="938"/>
                  </a:lnTo>
                  <a:lnTo>
                    <a:pt x="1287" y="910"/>
                  </a:lnTo>
                  <a:lnTo>
                    <a:pt x="1293" y="884"/>
                  </a:lnTo>
                  <a:lnTo>
                    <a:pt x="1307" y="850"/>
                  </a:lnTo>
                  <a:lnTo>
                    <a:pt x="1315" y="845"/>
                  </a:lnTo>
                  <a:lnTo>
                    <a:pt x="1322" y="838"/>
                  </a:lnTo>
                  <a:lnTo>
                    <a:pt x="1346" y="765"/>
                  </a:lnTo>
                  <a:lnTo>
                    <a:pt x="1361" y="710"/>
                  </a:lnTo>
                  <a:lnTo>
                    <a:pt x="1375" y="657"/>
                  </a:lnTo>
                  <a:lnTo>
                    <a:pt x="1400" y="583"/>
                  </a:lnTo>
                  <a:lnTo>
                    <a:pt x="1408" y="576"/>
                  </a:lnTo>
                  <a:lnTo>
                    <a:pt x="1414" y="572"/>
                  </a:lnTo>
                  <a:lnTo>
                    <a:pt x="1418" y="537"/>
                  </a:lnTo>
                  <a:lnTo>
                    <a:pt x="1417" y="513"/>
                  </a:lnTo>
                  <a:lnTo>
                    <a:pt x="1414" y="487"/>
                  </a:lnTo>
                  <a:lnTo>
                    <a:pt x="1417" y="451"/>
                  </a:lnTo>
                  <a:lnTo>
                    <a:pt x="1423" y="447"/>
                  </a:lnTo>
                  <a:lnTo>
                    <a:pt x="1428" y="438"/>
                  </a:lnTo>
                  <a:lnTo>
                    <a:pt x="1443" y="385"/>
                  </a:lnTo>
                  <a:lnTo>
                    <a:pt x="1449" y="347"/>
                  </a:lnTo>
                  <a:lnTo>
                    <a:pt x="1456" y="294"/>
                  </a:lnTo>
                  <a:lnTo>
                    <a:pt x="1451" y="259"/>
                  </a:lnTo>
                  <a:lnTo>
                    <a:pt x="1440" y="252"/>
                  </a:lnTo>
                  <a:lnTo>
                    <a:pt x="1431" y="252"/>
                  </a:lnTo>
                  <a:lnTo>
                    <a:pt x="1423" y="254"/>
                  </a:lnTo>
                  <a:lnTo>
                    <a:pt x="1388" y="277"/>
                  </a:lnTo>
                  <a:lnTo>
                    <a:pt x="1313" y="339"/>
                  </a:lnTo>
                  <a:lnTo>
                    <a:pt x="1195" y="452"/>
                  </a:lnTo>
                  <a:lnTo>
                    <a:pt x="1099" y="557"/>
                  </a:lnTo>
                  <a:lnTo>
                    <a:pt x="1078" y="591"/>
                  </a:lnTo>
                  <a:lnTo>
                    <a:pt x="1053" y="631"/>
                  </a:lnTo>
                  <a:lnTo>
                    <a:pt x="1031" y="652"/>
                  </a:lnTo>
                  <a:lnTo>
                    <a:pt x="1022" y="660"/>
                  </a:lnTo>
                  <a:lnTo>
                    <a:pt x="1009" y="677"/>
                  </a:lnTo>
                  <a:lnTo>
                    <a:pt x="1008" y="686"/>
                  </a:lnTo>
                  <a:lnTo>
                    <a:pt x="1006" y="696"/>
                  </a:lnTo>
                  <a:lnTo>
                    <a:pt x="986" y="734"/>
                  </a:lnTo>
                  <a:lnTo>
                    <a:pt x="972" y="758"/>
                  </a:lnTo>
                  <a:lnTo>
                    <a:pt x="933" y="814"/>
                  </a:lnTo>
                  <a:lnTo>
                    <a:pt x="852" y="963"/>
                  </a:lnTo>
                  <a:lnTo>
                    <a:pt x="779" y="1130"/>
                  </a:lnTo>
                  <a:lnTo>
                    <a:pt x="724" y="1285"/>
                  </a:lnTo>
                  <a:lnTo>
                    <a:pt x="711" y="1346"/>
                  </a:lnTo>
                  <a:lnTo>
                    <a:pt x="685" y="1476"/>
                  </a:lnTo>
                  <a:lnTo>
                    <a:pt x="667" y="1538"/>
                  </a:lnTo>
                  <a:lnTo>
                    <a:pt x="658" y="1558"/>
                  </a:lnTo>
                  <a:lnTo>
                    <a:pt x="644" y="1623"/>
                  </a:lnTo>
                  <a:lnTo>
                    <a:pt x="625" y="1768"/>
                  </a:lnTo>
                  <a:lnTo>
                    <a:pt x="605" y="2040"/>
                  </a:lnTo>
                  <a:lnTo>
                    <a:pt x="595" y="2373"/>
                  </a:lnTo>
                  <a:lnTo>
                    <a:pt x="595" y="2556"/>
                  </a:lnTo>
                  <a:lnTo>
                    <a:pt x="593" y="2781"/>
                  </a:lnTo>
                  <a:lnTo>
                    <a:pt x="586" y="2988"/>
                  </a:lnTo>
                  <a:lnTo>
                    <a:pt x="580" y="3054"/>
                  </a:lnTo>
                  <a:lnTo>
                    <a:pt x="576" y="3060"/>
                  </a:lnTo>
                  <a:lnTo>
                    <a:pt x="569" y="3061"/>
                  </a:lnTo>
                  <a:lnTo>
                    <a:pt x="559" y="3076"/>
                  </a:lnTo>
                  <a:lnTo>
                    <a:pt x="559" y="3089"/>
                  </a:lnTo>
                  <a:lnTo>
                    <a:pt x="554" y="3102"/>
                  </a:lnTo>
                  <a:lnTo>
                    <a:pt x="527" y="3146"/>
                  </a:lnTo>
                  <a:lnTo>
                    <a:pt x="505" y="3169"/>
                  </a:lnTo>
                  <a:lnTo>
                    <a:pt x="492" y="3182"/>
                  </a:lnTo>
                  <a:lnTo>
                    <a:pt x="461" y="3202"/>
                  </a:lnTo>
                  <a:lnTo>
                    <a:pt x="425" y="3215"/>
                  </a:lnTo>
                  <a:lnTo>
                    <a:pt x="387" y="3223"/>
                  </a:lnTo>
                  <a:lnTo>
                    <a:pt x="328" y="3223"/>
                  </a:lnTo>
                  <a:lnTo>
                    <a:pt x="246" y="3197"/>
                  </a:lnTo>
                  <a:lnTo>
                    <a:pt x="207" y="3172"/>
                  </a:lnTo>
                  <a:close/>
                </a:path>
              </a:pathLst>
            </a:custGeom>
            <a:solidFill>
              <a:srgbClr val="C00000"/>
            </a:solidFill>
            <a:ln>
              <a:noFill/>
            </a:ln>
          </p:spPr>
          <p:txBody>
            <a:bodyPr vert="horz" wrap="square" lIns="91440" tIns="45720" rIns="91440" bIns="45720" numCol="1" anchor="t" anchorCtr="0" compatLnSpc="1">
              <a:prstTxWarp prst="textNoShape">
                <a:avLst/>
              </a:prstTxWarp>
            </a:bodyPr>
            <a:lstStyle/>
            <a:p>
              <a:endParaRPr lang="es-PE"/>
            </a:p>
          </p:txBody>
        </p:sp>
        <p:sp>
          <p:nvSpPr>
            <p:cNvPr id="8" name="Freeform 6"/>
            <p:cNvSpPr>
              <a:spLocks/>
            </p:cNvSpPr>
            <p:nvPr/>
          </p:nvSpPr>
          <p:spPr bwMode="auto">
            <a:xfrm>
              <a:off x="2188484" y="4747758"/>
              <a:ext cx="1047750" cy="1443038"/>
            </a:xfrm>
            <a:custGeom>
              <a:avLst/>
              <a:gdLst>
                <a:gd name="T0" fmla="*/ 450 w 1979"/>
                <a:gd name="T1" fmla="*/ 2669 h 2728"/>
                <a:gd name="T2" fmla="*/ 295 w 1979"/>
                <a:gd name="T3" fmla="*/ 2607 h 2728"/>
                <a:gd name="T4" fmla="*/ 154 w 1979"/>
                <a:gd name="T5" fmla="*/ 2514 h 2728"/>
                <a:gd name="T6" fmla="*/ 113 w 1979"/>
                <a:gd name="T7" fmla="*/ 2450 h 2728"/>
                <a:gd name="T8" fmla="*/ 22 w 1979"/>
                <a:gd name="T9" fmla="*/ 2250 h 2728"/>
                <a:gd name="T10" fmla="*/ 0 w 1979"/>
                <a:gd name="T11" fmla="*/ 2005 h 2728"/>
                <a:gd name="T12" fmla="*/ 51 w 1979"/>
                <a:gd name="T13" fmla="*/ 1828 h 2728"/>
                <a:gd name="T14" fmla="*/ 287 w 1979"/>
                <a:gd name="T15" fmla="*/ 1583 h 2728"/>
                <a:gd name="T16" fmla="*/ 595 w 1979"/>
                <a:gd name="T17" fmla="*/ 1524 h 2728"/>
                <a:gd name="T18" fmla="*/ 964 w 1979"/>
                <a:gd name="T19" fmla="*/ 1652 h 2728"/>
                <a:gd name="T20" fmla="*/ 1098 w 1979"/>
                <a:gd name="T21" fmla="*/ 2014 h 2728"/>
                <a:gd name="T22" fmla="*/ 981 w 1979"/>
                <a:gd name="T23" fmla="*/ 2247 h 2728"/>
                <a:gd name="T24" fmla="*/ 689 w 1979"/>
                <a:gd name="T25" fmla="*/ 2256 h 2728"/>
                <a:gd name="T26" fmla="*/ 632 w 1979"/>
                <a:gd name="T27" fmla="*/ 2113 h 2728"/>
                <a:gd name="T28" fmla="*/ 663 w 1979"/>
                <a:gd name="T29" fmla="*/ 1835 h 2728"/>
                <a:gd name="T30" fmla="*/ 509 w 1979"/>
                <a:gd name="T31" fmla="*/ 1732 h 2728"/>
                <a:gd name="T32" fmla="*/ 455 w 1979"/>
                <a:gd name="T33" fmla="*/ 1742 h 2728"/>
                <a:gd name="T34" fmla="*/ 373 w 1979"/>
                <a:gd name="T35" fmla="*/ 1796 h 2728"/>
                <a:gd name="T36" fmla="*/ 291 w 1979"/>
                <a:gd name="T37" fmla="*/ 1902 h 2728"/>
                <a:gd name="T38" fmla="*/ 294 w 1979"/>
                <a:gd name="T39" fmla="*/ 2191 h 2728"/>
                <a:gd name="T40" fmla="*/ 379 w 1979"/>
                <a:gd name="T41" fmla="*/ 2329 h 2728"/>
                <a:gd name="T42" fmla="*/ 617 w 1979"/>
                <a:gd name="T43" fmla="*/ 2469 h 2728"/>
                <a:gd name="T44" fmla="*/ 1044 w 1979"/>
                <a:gd name="T45" fmla="*/ 2442 h 2728"/>
                <a:gd name="T46" fmla="*/ 1342 w 1979"/>
                <a:gd name="T47" fmla="*/ 2162 h 2728"/>
                <a:gd name="T48" fmla="*/ 1354 w 1979"/>
                <a:gd name="T49" fmla="*/ 1820 h 2728"/>
                <a:gd name="T50" fmla="*/ 1072 w 1979"/>
                <a:gd name="T51" fmla="*/ 1542 h 2728"/>
                <a:gd name="T52" fmla="*/ 812 w 1979"/>
                <a:gd name="T53" fmla="*/ 1437 h 2728"/>
                <a:gd name="T54" fmla="*/ 497 w 1979"/>
                <a:gd name="T55" fmla="*/ 1261 h 2728"/>
                <a:gd name="T56" fmla="*/ 301 w 1979"/>
                <a:gd name="T57" fmla="*/ 996 h 2728"/>
                <a:gd name="T58" fmla="*/ 287 w 1979"/>
                <a:gd name="T59" fmla="*/ 668 h 2728"/>
                <a:gd name="T60" fmla="*/ 536 w 1979"/>
                <a:gd name="T61" fmla="*/ 335 h 2728"/>
                <a:gd name="T62" fmla="*/ 956 w 1979"/>
                <a:gd name="T63" fmla="*/ 86 h 2728"/>
                <a:gd name="T64" fmla="*/ 1155 w 1979"/>
                <a:gd name="T65" fmla="*/ 31 h 2728"/>
                <a:gd name="T66" fmla="*/ 1422 w 1979"/>
                <a:gd name="T67" fmla="*/ 0 h 2728"/>
                <a:gd name="T68" fmla="*/ 1780 w 1979"/>
                <a:gd name="T69" fmla="*/ 116 h 2728"/>
                <a:gd name="T70" fmla="*/ 1920 w 1979"/>
                <a:gd name="T71" fmla="*/ 306 h 2728"/>
                <a:gd name="T72" fmla="*/ 1871 w 1979"/>
                <a:gd name="T73" fmla="*/ 611 h 2728"/>
                <a:gd name="T74" fmla="*/ 1590 w 1979"/>
                <a:gd name="T75" fmla="*/ 766 h 2728"/>
                <a:gd name="T76" fmla="*/ 1475 w 1979"/>
                <a:gd name="T77" fmla="*/ 742 h 2728"/>
                <a:gd name="T78" fmla="*/ 1430 w 1979"/>
                <a:gd name="T79" fmla="*/ 719 h 2728"/>
                <a:gd name="T80" fmla="*/ 1495 w 1979"/>
                <a:gd name="T81" fmla="*/ 456 h 2728"/>
                <a:gd name="T82" fmla="*/ 1518 w 1979"/>
                <a:gd name="T83" fmla="*/ 407 h 2728"/>
                <a:gd name="T84" fmla="*/ 1495 w 1979"/>
                <a:gd name="T85" fmla="*/ 256 h 2728"/>
                <a:gd name="T86" fmla="*/ 1283 w 1979"/>
                <a:gd name="T87" fmla="*/ 237 h 2728"/>
                <a:gd name="T88" fmla="*/ 1023 w 1979"/>
                <a:gd name="T89" fmla="*/ 341 h 2728"/>
                <a:gd name="T90" fmla="*/ 943 w 1979"/>
                <a:gd name="T91" fmla="*/ 408 h 2728"/>
                <a:gd name="T92" fmla="*/ 870 w 1979"/>
                <a:gd name="T93" fmla="*/ 496 h 2728"/>
                <a:gd name="T94" fmla="*/ 794 w 1979"/>
                <a:gd name="T95" fmla="*/ 662 h 2728"/>
                <a:gd name="T96" fmla="*/ 859 w 1979"/>
                <a:gd name="T97" fmla="*/ 889 h 2728"/>
                <a:gd name="T98" fmla="*/ 992 w 1979"/>
                <a:gd name="T99" fmla="*/ 982 h 2728"/>
                <a:gd name="T100" fmla="*/ 1279 w 1979"/>
                <a:gd name="T101" fmla="*/ 1111 h 2728"/>
                <a:gd name="T102" fmla="*/ 1691 w 1979"/>
                <a:gd name="T103" fmla="*/ 1307 h 2728"/>
                <a:gd name="T104" fmla="*/ 1927 w 1979"/>
                <a:gd name="T105" fmla="*/ 1573 h 2728"/>
                <a:gd name="T106" fmla="*/ 1963 w 1979"/>
                <a:gd name="T107" fmla="*/ 1704 h 2728"/>
                <a:gd name="T108" fmla="*/ 1972 w 1979"/>
                <a:gd name="T109" fmla="*/ 1932 h 2728"/>
                <a:gd name="T110" fmla="*/ 1893 w 1979"/>
                <a:gd name="T111" fmla="*/ 2158 h 2728"/>
                <a:gd name="T112" fmla="*/ 1776 w 1979"/>
                <a:gd name="T113" fmla="*/ 2316 h 2728"/>
                <a:gd name="T114" fmla="*/ 1387 w 1979"/>
                <a:gd name="T115" fmla="*/ 2596 h 2728"/>
                <a:gd name="T116" fmla="*/ 1171 w 1979"/>
                <a:gd name="T117" fmla="*/ 2678 h 2728"/>
                <a:gd name="T118" fmla="*/ 769 w 1979"/>
                <a:gd name="T119" fmla="*/ 2728 h 2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979" h="2728">
                  <a:moveTo>
                    <a:pt x="559" y="2711"/>
                  </a:moveTo>
                  <a:lnTo>
                    <a:pt x="519" y="2702"/>
                  </a:lnTo>
                  <a:lnTo>
                    <a:pt x="462" y="2683"/>
                  </a:lnTo>
                  <a:lnTo>
                    <a:pt x="454" y="2676"/>
                  </a:lnTo>
                  <a:lnTo>
                    <a:pt x="450" y="2669"/>
                  </a:lnTo>
                  <a:lnTo>
                    <a:pt x="432" y="2659"/>
                  </a:lnTo>
                  <a:lnTo>
                    <a:pt x="424" y="2659"/>
                  </a:lnTo>
                  <a:lnTo>
                    <a:pt x="406" y="2656"/>
                  </a:lnTo>
                  <a:lnTo>
                    <a:pt x="354" y="2637"/>
                  </a:lnTo>
                  <a:lnTo>
                    <a:pt x="295" y="2607"/>
                  </a:lnTo>
                  <a:lnTo>
                    <a:pt x="241" y="2573"/>
                  </a:lnTo>
                  <a:lnTo>
                    <a:pt x="221" y="2555"/>
                  </a:lnTo>
                  <a:lnTo>
                    <a:pt x="182" y="2524"/>
                  </a:lnTo>
                  <a:lnTo>
                    <a:pt x="160" y="2515"/>
                  </a:lnTo>
                  <a:lnTo>
                    <a:pt x="154" y="2514"/>
                  </a:lnTo>
                  <a:lnTo>
                    <a:pt x="146" y="2501"/>
                  </a:lnTo>
                  <a:lnTo>
                    <a:pt x="144" y="2491"/>
                  </a:lnTo>
                  <a:lnTo>
                    <a:pt x="143" y="2480"/>
                  </a:lnTo>
                  <a:lnTo>
                    <a:pt x="125" y="2459"/>
                  </a:lnTo>
                  <a:lnTo>
                    <a:pt x="113" y="2450"/>
                  </a:lnTo>
                  <a:lnTo>
                    <a:pt x="98" y="2436"/>
                  </a:lnTo>
                  <a:lnTo>
                    <a:pt x="66" y="2374"/>
                  </a:lnTo>
                  <a:lnTo>
                    <a:pt x="55" y="2336"/>
                  </a:lnTo>
                  <a:lnTo>
                    <a:pt x="43" y="2299"/>
                  </a:lnTo>
                  <a:lnTo>
                    <a:pt x="22" y="2250"/>
                  </a:lnTo>
                  <a:lnTo>
                    <a:pt x="15" y="2244"/>
                  </a:lnTo>
                  <a:lnTo>
                    <a:pt x="9" y="2234"/>
                  </a:lnTo>
                  <a:lnTo>
                    <a:pt x="2" y="2142"/>
                  </a:lnTo>
                  <a:lnTo>
                    <a:pt x="0" y="2073"/>
                  </a:lnTo>
                  <a:lnTo>
                    <a:pt x="0" y="2005"/>
                  </a:lnTo>
                  <a:lnTo>
                    <a:pt x="9" y="1912"/>
                  </a:lnTo>
                  <a:lnTo>
                    <a:pt x="15" y="1903"/>
                  </a:lnTo>
                  <a:lnTo>
                    <a:pt x="22" y="1899"/>
                  </a:lnTo>
                  <a:lnTo>
                    <a:pt x="41" y="1858"/>
                  </a:lnTo>
                  <a:lnTo>
                    <a:pt x="51" y="1828"/>
                  </a:lnTo>
                  <a:lnTo>
                    <a:pt x="62" y="1798"/>
                  </a:lnTo>
                  <a:lnTo>
                    <a:pt x="102" y="1735"/>
                  </a:lnTo>
                  <a:lnTo>
                    <a:pt x="163" y="1671"/>
                  </a:lnTo>
                  <a:lnTo>
                    <a:pt x="241" y="1612"/>
                  </a:lnTo>
                  <a:lnTo>
                    <a:pt x="287" y="1583"/>
                  </a:lnTo>
                  <a:lnTo>
                    <a:pt x="311" y="1570"/>
                  </a:lnTo>
                  <a:lnTo>
                    <a:pt x="357" y="1550"/>
                  </a:lnTo>
                  <a:lnTo>
                    <a:pt x="437" y="1533"/>
                  </a:lnTo>
                  <a:lnTo>
                    <a:pt x="517" y="1529"/>
                  </a:lnTo>
                  <a:lnTo>
                    <a:pt x="595" y="1524"/>
                  </a:lnTo>
                  <a:lnTo>
                    <a:pt x="715" y="1527"/>
                  </a:lnTo>
                  <a:lnTo>
                    <a:pt x="804" y="1547"/>
                  </a:lnTo>
                  <a:lnTo>
                    <a:pt x="879" y="1586"/>
                  </a:lnTo>
                  <a:lnTo>
                    <a:pt x="916" y="1615"/>
                  </a:lnTo>
                  <a:lnTo>
                    <a:pt x="964" y="1652"/>
                  </a:lnTo>
                  <a:lnTo>
                    <a:pt x="1033" y="1732"/>
                  </a:lnTo>
                  <a:lnTo>
                    <a:pt x="1076" y="1814"/>
                  </a:lnTo>
                  <a:lnTo>
                    <a:pt x="1096" y="1909"/>
                  </a:lnTo>
                  <a:lnTo>
                    <a:pt x="1099" y="1964"/>
                  </a:lnTo>
                  <a:lnTo>
                    <a:pt x="1098" y="2014"/>
                  </a:lnTo>
                  <a:lnTo>
                    <a:pt x="1085" y="2100"/>
                  </a:lnTo>
                  <a:lnTo>
                    <a:pt x="1062" y="2168"/>
                  </a:lnTo>
                  <a:lnTo>
                    <a:pt x="1026" y="2218"/>
                  </a:lnTo>
                  <a:lnTo>
                    <a:pt x="1003" y="2236"/>
                  </a:lnTo>
                  <a:lnTo>
                    <a:pt x="981" y="2247"/>
                  </a:lnTo>
                  <a:lnTo>
                    <a:pt x="929" y="2264"/>
                  </a:lnTo>
                  <a:lnTo>
                    <a:pt x="869" y="2275"/>
                  </a:lnTo>
                  <a:lnTo>
                    <a:pt x="805" y="2275"/>
                  </a:lnTo>
                  <a:lnTo>
                    <a:pt x="743" y="2269"/>
                  </a:lnTo>
                  <a:lnTo>
                    <a:pt x="689" y="2256"/>
                  </a:lnTo>
                  <a:lnTo>
                    <a:pt x="647" y="2236"/>
                  </a:lnTo>
                  <a:lnTo>
                    <a:pt x="621" y="2210"/>
                  </a:lnTo>
                  <a:lnTo>
                    <a:pt x="617" y="2194"/>
                  </a:lnTo>
                  <a:lnTo>
                    <a:pt x="615" y="2175"/>
                  </a:lnTo>
                  <a:lnTo>
                    <a:pt x="632" y="2113"/>
                  </a:lnTo>
                  <a:lnTo>
                    <a:pt x="647" y="2080"/>
                  </a:lnTo>
                  <a:lnTo>
                    <a:pt x="663" y="2043"/>
                  </a:lnTo>
                  <a:lnTo>
                    <a:pt x="681" y="1968"/>
                  </a:lnTo>
                  <a:lnTo>
                    <a:pt x="681" y="1897"/>
                  </a:lnTo>
                  <a:lnTo>
                    <a:pt x="663" y="1835"/>
                  </a:lnTo>
                  <a:lnTo>
                    <a:pt x="647" y="1809"/>
                  </a:lnTo>
                  <a:lnTo>
                    <a:pt x="628" y="1786"/>
                  </a:lnTo>
                  <a:lnTo>
                    <a:pt x="588" y="1752"/>
                  </a:lnTo>
                  <a:lnTo>
                    <a:pt x="545" y="1733"/>
                  </a:lnTo>
                  <a:lnTo>
                    <a:pt x="509" y="1732"/>
                  </a:lnTo>
                  <a:lnTo>
                    <a:pt x="496" y="1740"/>
                  </a:lnTo>
                  <a:lnTo>
                    <a:pt x="487" y="1746"/>
                  </a:lnTo>
                  <a:lnTo>
                    <a:pt x="468" y="1750"/>
                  </a:lnTo>
                  <a:lnTo>
                    <a:pt x="461" y="1746"/>
                  </a:lnTo>
                  <a:lnTo>
                    <a:pt x="455" y="1742"/>
                  </a:lnTo>
                  <a:lnTo>
                    <a:pt x="442" y="1743"/>
                  </a:lnTo>
                  <a:lnTo>
                    <a:pt x="437" y="1749"/>
                  </a:lnTo>
                  <a:lnTo>
                    <a:pt x="418" y="1768"/>
                  </a:lnTo>
                  <a:lnTo>
                    <a:pt x="389" y="1788"/>
                  </a:lnTo>
                  <a:lnTo>
                    <a:pt x="373" y="1796"/>
                  </a:lnTo>
                  <a:lnTo>
                    <a:pt x="344" y="1825"/>
                  </a:lnTo>
                  <a:lnTo>
                    <a:pt x="336" y="1841"/>
                  </a:lnTo>
                  <a:lnTo>
                    <a:pt x="316" y="1870"/>
                  </a:lnTo>
                  <a:lnTo>
                    <a:pt x="297" y="1889"/>
                  </a:lnTo>
                  <a:lnTo>
                    <a:pt x="291" y="1902"/>
                  </a:lnTo>
                  <a:lnTo>
                    <a:pt x="281" y="1985"/>
                  </a:lnTo>
                  <a:lnTo>
                    <a:pt x="280" y="2043"/>
                  </a:lnTo>
                  <a:lnTo>
                    <a:pt x="280" y="2087"/>
                  </a:lnTo>
                  <a:lnTo>
                    <a:pt x="282" y="2149"/>
                  </a:lnTo>
                  <a:lnTo>
                    <a:pt x="294" y="2191"/>
                  </a:lnTo>
                  <a:lnTo>
                    <a:pt x="314" y="2228"/>
                  </a:lnTo>
                  <a:lnTo>
                    <a:pt x="330" y="2250"/>
                  </a:lnTo>
                  <a:lnTo>
                    <a:pt x="349" y="2276"/>
                  </a:lnTo>
                  <a:lnTo>
                    <a:pt x="376" y="2319"/>
                  </a:lnTo>
                  <a:lnTo>
                    <a:pt x="379" y="2329"/>
                  </a:lnTo>
                  <a:lnTo>
                    <a:pt x="383" y="2338"/>
                  </a:lnTo>
                  <a:lnTo>
                    <a:pt x="425" y="2371"/>
                  </a:lnTo>
                  <a:lnTo>
                    <a:pt x="524" y="2431"/>
                  </a:lnTo>
                  <a:lnTo>
                    <a:pt x="583" y="2459"/>
                  </a:lnTo>
                  <a:lnTo>
                    <a:pt x="617" y="2469"/>
                  </a:lnTo>
                  <a:lnTo>
                    <a:pt x="725" y="2478"/>
                  </a:lnTo>
                  <a:lnTo>
                    <a:pt x="853" y="2475"/>
                  </a:lnTo>
                  <a:lnTo>
                    <a:pt x="975" y="2460"/>
                  </a:lnTo>
                  <a:lnTo>
                    <a:pt x="1021" y="2450"/>
                  </a:lnTo>
                  <a:lnTo>
                    <a:pt x="1044" y="2442"/>
                  </a:lnTo>
                  <a:lnTo>
                    <a:pt x="1095" y="2417"/>
                  </a:lnTo>
                  <a:lnTo>
                    <a:pt x="1172" y="2365"/>
                  </a:lnTo>
                  <a:lnTo>
                    <a:pt x="1266" y="2277"/>
                  </a:lnTo>
                  <a:lnTo>
                    <a:pt x="1319" y="2207"/>
                  </a:lnTo>
                  <a:lnTo>
                    <a:pt x="1342" y="2162"/>
                  </a:lnTo>
                  <a:lnTo>
                    <a:pt x="1348" y="2142"/>
                  </a:lnTo>
                  <a:lnTo>
                    <a:pt x="1358" y="2103"/>
                  </a:lnTo>
                  <a:lnTo>
                    <a:pt x="1367" y="2007"/>
                  </a:lnTo>
                  <a:lnTo>
                    <a:pt x="1365" y="1906"/>
                  </a:lnTo>
                  <a:lnTo>
                    <a:pt x="1354" y="1820"/>
                  </a:lnTo>
                  <a:lnTo>
                    <a:pt x="1344" y="1789"/>
                  </a:lnTo>
                  <a:lnTo>
                    <a:pt x="1327" y="1756"/>
                  </a:lnTo>
                  <a:lnTo>
                    <a:pt x="1260" y="1678"/>
                  </a:lnTo>
                  <a:lnTo>
                    <a:pt x="1170" y="1604"/>
                  </a:lnTo>
                  <a:lnTo>
                    <a:pt x="1072" y="1542"/>
                  </a:lnTo>
                  <a:lnTo>
                    <a:pt x="1027" y="1523"/>
                  </a:lnTo>
                  <a:lnTo>
                    <a:pt x="946" y="1491"/>
                  </a:lnTo>
                  <a:lnTo>
                    <a:pt x="909" y="1473"/>
                  </a:lnTo>
                  <a:lnTo>
                    <a:pt x="877" y="1457"/>
                  </a:lnTo>
                  <a:lnTo>
                    <a:pt x="812" y="1437"/>
                  </a:lnTo>
                  <a:lnTo>
                    <a:pt x="775" y="1425"/>
                  </a:lnTo>
                  <a:lnTo>
                    <a:pt x="702" y="1395"/>
                  </a:lnTo>
                  <a:lnTo>
                    <a:pt x="630" y="1357"/>
                  </a:lnTo>
                  <a:lnTo>
                    <a:pt x="560" y="1311"/>
                  </a:lnTo>
                  <a:lnTo>
                    <a:pt x="497" y="1261"/>
                  </a:lnTo>
                  <a:lnTo>
                    <a:pt x="438" y="1206"/>
                  </a:lnTo>
                  <a:lnTo>
                    <a:pt x="388" y="1149"/>
                  </a:lnTo>
                  <a:lnTo>
                    <a:pt x="346" y="1088"/>
                  </a:lnTo>
                  <a:lnTo>
                    <a:pt x="330" y="1058"/>
                  </a:lnTo>
                  <a:lnTo>
                    <a:pt x="301" y="996"/>
                  </a:lnTo>
                  <a:lnTo>
                    <a:pt x="274" y="904"/>
                  </a:lnTo>
                  <a:lnTo>
                    <a:pt x="265" y="845"/>
                  </a:lnTo>
                  <a:lnTo>
                    <a:pt x="265" y="786"/>
                  </a:lnTo>
                  <a:lnTo>
                    <a:pt x="272" y="727"/>
                  </a:lnTo>
                  <a:lnTo>
                    <a:pt x="287" y="668"/>
                  </a:lnTo>
                  <a:lnTo>
                    <a:pt x="310" y="609"/>
                  </a:lnTo>
                  <a:lnTo>
                    <a:pt x="324" y="580"/>
                  </a:lnTo>
                  <a:lnTo>
                    <a:pt x="347" y="541"/>
                  </a:lnTo>
                  <a:lnTo>
                    <a:pt x="429" y="440"/>
                  </a:lnTo>
                  <a:lnTo>
                    <a:pt x="536" y="335"/>
                  </a:lnTo>
                  <a:lnTo>
                    <a:pt x="641" y="249"/>
                  </a:lnTo>
                  <a:lnTo>
                    <a:pt x="684" y="221"/>
                  </a:lnTo>
                  <a:lnTo>
                    <a:pt x="843" y="136"/>
                  </a:lnTo>
                  <a:lnTo>
                    <a:pt x="936" y="93"/>
                  </a:lnTo>
                  <a:lnTo>
                    <a:pt x="956" y="86"/>
                  </a:lnTo>
                  <a:lnTo>
                    <a:pt x="1000" y="69"/>
                  </a:lnTo>
                  <a:lnTo>
                    <a:pt x="1026" y="59"/>
                  </a:lnTo>
                  <a:lnTo>
                    <a:pt x="1093" y="41"/>
                  </a:lnTo>
                  <a:lnTo>
                    <a:pt x="1125" y="35"/>
                  </a:lnTo>
                  <a:lnTo>
                    <a:pt x="1155" y="31"/>
                  </a:lnTo>
                  <a:lnTo>
                    <a:pt x="1204" y="18"/>
                  </a:lnTo>
                  <a:lnTo>
                    <a:pt x="1216" y="12"/>
                  </a:lnTo>
                  <a:lnTo>
                    <a:pt x="1233" y="5"/>
                  </a:lnTo>
                  <a:lnTo>
                    <a:pt x="1314" y="0"/>
                  </a:lnTo>
                  <a:lnTo>
                    <a:pt x="1422" y="0"/>
                  </a:lnTo>
                  <a:lnTo>
                    <a:pt x="1518" y="8"/>
                  </a:lnTo>
                  <a:lnTo>
                    <a:pt x="1548" y="17"/>
                  </a:lnTo>
                  <a:lnTo>
                    <a:pt x="1630" y="43"/>
                  </a:lnTo>
                  <a:lnTo>
                    <a:pt x="1727" y="86"/>
                  </a:lnTo>
                  <a:lnTo>
                    <a:pt x="1780" y="116"/>
                  </a:lnTo>
                  <a:lnTo>
                    <a:pt x="1823" y="151"/>
                  </a:lnTo>
                  <a:lnTo>
                    <a:pt x="1858" y="188"/>
                  </a:lnTo>
                  <a:lnTo>
                    <a:pt x="1887" y="231"/>
                  </a:lnTo>
                  <a:lnTo>
                    <a:pt x="1910" y="279"/>
                  </a:lnTo>
                  <a:lnTo>
                    <a:pt x="1920" y="306"/>
                  </a:lnTo>
                  <a:lnTo>
                    <a:pt x="1933" y="354"/>
                  </a:lnTo>
                  <a:lnTo>
                    <a:pt x="1943" y="443"/>
                  </a:lnTo>
                  <a:lnTo>
                    <a:pt x="1931" y="519"/>
                  </a:lnTo>
                  <a:lnTo>
                    <a:pt x="1897" y="584"/>
                  </a:lnTo>
                  <a:lnTo>
                    <a:pt x="1871" y="611"/>
                  </a:lnTo>
                  <a:lnTo>
                    <a:pt x="1831" y="647"/>
                  </a:lnTo>
                  <a:lnTo>
                    <a:pt x="1751" y="701"/>
                  </a:lnTo>
                  <a:lnTo>
                    <a:pt x="1679" y="741"/>
                  </a:lnTo>
                  <a:lnTo>
                    <a:pt x="1655" y="753"/>
                  </a:lnTo>
                  <a:lnTo>
                    <a:pt x="1590" y="766"/>
                  </a:lnTo>
                  <a:lnTo>
                    <a:pt x="1525" y="767"/>
                  </a:lnTo>
                  <a:lnTo>
                    <a:pt x="1489" y="761"/>
                  </a:lnTo>
                  <a:lnTo>
                    <a:pt x="1478" y="754"/>
                  </a:lnTo>
                  <a:lnTo>
                    <a:pt x="1476" y="748"/>
                  </a:lnTo>
                  <a:lnTo>
                    <a:pt x="1475" y="742"/>
                  </a:lnTo>
                  <a:lnTo>
                    <a:pt x="1466" y="737"/>
                  </a:lnTo>
                  <a:lnTo>
                    <a:pt x="1461" y="740"/>
                  </a:lnTo>
                  <a:lnTo>
                    <a:pt x="1455" y="742"/>
                  </a:lnTo>
                  <a:lnTo>
                    <a:pt x="1443" y="740"/>
                  </a:lnTo>
                  <a:lnTo>
                    <a:pt x="1430" y="719"/>
                  </a:lnTo>
                  <a:lnTo>
                    <a:pt x="1423" y="675"/>
                  </a:lnTo>
                  <a:lnTo>
                    <a:pt x="1427" y="626"/>
                  </a:lnTo>
                  <a:lnTo>
                    <a:pt x="1435" y="607"/>
                  </a:lnTo>
                  <a:lnTo>
                    <a:pt x="1462" y="552"/>
                  </a:lnTo>
                  <a:lnTo>
                    <a:pt x="1495" y="456"/>
                  </a:lnTo>
                  <a:lnTo>
                    <a:pt x="1497" y="431"/>
                  </a:lnTo>
                  <a:lnTo>
                    <a:pt x="1497" y="423"/>
                  </a:lnTo>
                  <a:lnTo>
                    <a:pt x="1505" y="410"/>
                  </a:lnTo>
                  <a:lnTo>
                    <a:pt x="1512" y="408"/>
                  </a:lnTo>
                  <a:lnTo>
                    <a:pt x="1518" y="407"/>
                  </a:lnTo>
                  <a:lnTo>
                    <a:pt x="1527" y="397"/>
                  </a:lnTo>
                  <a:lnTo>
                    <a:pt x="1531" y="370"/>
                  </a:lnTo>
                  <a:lnTo>
                    <a:pt x="1525" y="319"/>
                  </a:lnTo>
                  <a:lnTo>
                    <a:pt x="1508" y="270"/>
                  </a:lnTo>
                  <a:lnTo>
                    <a:pt x="1495" y="256"/>
                  </a:lnTo>
                  <a:lnTo>
                    <a:pt x="1484" y="246"/>
                  </a:lnTo>
                  <a:lnTo>
                    <a:pt x="1459" y="234"/>
                  </a:lnTo>
                  <a:lnTo>
                    <a:pt x="1403" y="228"/>
                  </a:lnTo>
                  <a:lnTo>
                    <a:pt x="1337" y="233"/>
                  </a:lnTo>
                  <a:lnTo>
                    <a:pt x="1283" y="237"/>
                  </a:lnTo>
                  <a:lnTo>
                    <a:pt x="1184" y="259"/>
                  </a:lnTo>
                  <a:lnTo>
                    <a:pt x="1154" y="272"/>
                  </a:lnTo>
                  <a:lnTo>
                    <a:pt x="1099" y="300"/>
                  </a:lnTo>
                  <a:lnTo>
                    <a:pt x="1044" y="329"/>
                  </a:lnTo>
                  <a:lnTo>
                    <a:pt x="1023" y="341"/>
                  </a:lnTo>
                  <a:lnTo>
                    <a:pt x="994" y="365"/>
                  </a:lnTo>
                  <a:lnTo>
                    <a:pt x="991" y="374"/>
                  </a:lnTo>
                  <a:lnTo>
                    <a:pt x="988" y="383"/>
                  </a:lnTo>
                  <a:lnTo>
                    <a:pt x="962" y="401"/>
                  </a:lnTo>
                  <a:lnTo>
                    <a:pt x="943" y="408"/>
                  </a:lnTo>
                  <a:lnTo>
                    <a:pt x="925" y="419"/>
                  </a:lnTo>
                  <a:lnTo>
                    <a:pt x="895" y="447"/>
                  </a:lnTo>
                  <a:lnTo>
                    <a:pt x="887" y="463"/>
                  </a:lnTo>
                  <a:lnTo>
                    <a:pt x="883" y="478"/>
                  </a:lnTo>
                  <a:lnTo>
                    <a:pt x="870" y="496"/>
                  </a:lnTo>
                  <a:lnTo>
                    <a:pt x="863" y="499"/>
                  </a:lnTo>
                  <a:lnTo>
                    <a:pt x="853" y="502"/>
                  </a:lnTo>
                  <a:lnTo>
                    <a:pt x="830" y="541"/>
                  </a:lnTo>
                  <a:lnTo>
                    <a:pt x="808" y="600"/>
                  </a:lnTo>
                  <a:lnTo>
                    <a:pt x="794" y="662"/>
                  </a:lnTo>
                  <a:lnTo>
                    <a:pt x="792" y="689"/>
                  </a:lnTo>
                  <a:lnTo>
                    <a:pt x="794" y="715"/>
                  </a:lnTo>
                  <a:lnTo>
                    <a:pt x="810" y="781"/>
                  </a:lnTo>
                  <a:lnTo>
                    <a:pt x="834" y="848"/>
                  </a:lnTo>
                  <a:lnTo>
                    <a:pt x="859" y="889"/>
                  </a:lnTo>
                  <a:lnTo>
                    <a:pt x="869" y="895"/>
                  </a:lnTo>
                  <a:lnTo>
                    <a:pt x="883" y="899"/>
                  </a:lnTo>
                  <a:lnTo>
                    <a:pt x="906" y="920"/>
                  </a:lnTo>
                  <a:lnTo>
                    <a:pt x="926" y="938"/>
                  </a:lnTo>
                  <a:lnTo>
                    <a:pt x="992" y="982"/>
                  </a:lnTo>
                  <a:lnTo>
                    <a:pt x="1075" y="1026"/>
                  </a:lnTo>
                  <a:lnTo>
                    <a:pt x="1155" y="1064"/>
                  </a:lnTo>
                  <a:lnTo>
                    <a:pt x="1188" y="1075"/>
                  </a:lnTo>
                  <a:lnTo>
                    <a:pt x="1253" y="1097"/>
                  </a:lnTo>
                  <a:lnTo>
                    <a:pt x="1279" y="1111"/>
                  </a:lnTo>
                  <a:lnTo>
                    <a:pt x="1304" y="1124"/>
                  </a:lnTo>
                  <a:lnTo>
                    <a:pt x="1368" y="1147"/>
                  </a:lnTo>
                  <a:lnTo>
                    <a:pt x="1429" y="1167"/>
                  </a:lnTo>
                  <a:lnTo>
                    <a:pt x="1561" y="1231"/>
                  </a:lnTo>
                  <a:lnTo>
                    <a:pt x="1691" y="1307"/>
                  </a:lnTo>
                  <a:lnTo>
                    <a:pt x="1800" y="1389"/>
                  </a:lnTo>
                  <a:lnTo>
                    <a:pt x="1841" y="1429"/>
                  </a:lnTo>
                  <a:lnTo>
                    <a:pt x="1861" y="1452"/>
                  </a:lnTo>
                  <a:lnTo>
                    <a:pt x="1898" y="1510"/>
                  </a:lnTo>
                  <a:lnTo>
                    <a:pt x="1927" y="1573"/>
                  </a:lnTo>
                  <a:lnTo>
                    <a:pt x="1943" y="1634"/>
                  </a:lnTo>
                  <a:lnTo>
                    <a:pt x="1944" y="1660"/>
                  </a:lnTo>
                  <a:lnTo>
                    <a:pt x="1946" y="1677"/>
                  </a:lnTo>
                  <a:lnTo>
                    <a:pt x="1956" y="1701"/>
                  </a:lnTo>
                  <a:lnTo>
                    <a:pt x="1963" y="1704"/>
                  </a:lnTo>
                  <a:lnTo>
                    <a:pt x="1966" y="1706"/>
                  </a:lnTo>
                  <a:lnTo>
                    <a:pt x="1973" y="1723"/>
                  </a:lnTo>
                  <a:lnTo>
                    <a:pt x="1979" y="1771"/>
                  </a:lnTo>
                  <a:lnTo>
                    <a:pt x="1979" y="1856"/>
                  </a:lnTo>
                  <a:lnTo>
                    <a:pt x="1972" y="1932"/>
                  </a:lnTo>
                  <a:lnTo>
                    <a:pt x="1965" y="1953"/>
                  </a:lnTo>
                  <a:lnTo>
                    <a:pt x="1946" y="1995"/>
                  </a:lnTo>
                  <a:lnTo>
                    <a:pt x="1924" y="2070"/>
                  </a:lnTo>
                  <a:lnTo>
                    <a:pt x="1916" y="2105"/>
                  </a:lnTo>
                  <a:lnTo>
                    <a:pt x="1893" y="2158"/>
                  </a:lnTo>
                  <a:lnTo>
                    <a:pt x="1884" y="2169"/>
                  </a:lnTo>
                  <a:lnTo>
                    <a:pt x="1862" y="2191"/>
                  </a:lnTo>
                  <a:lnTo>
                    <a:pt x="1836" y="2231"/>
                  </a:lnTo>
                  <a:lnTo>
                    <a:pt x="1822" y="2259"/>
                  </a:lnTo>
                  <a:lnTo>
                    <a:pt x="1776" y="2316"/>
                  </a:lnTo>
                  <a:lnTo>
                    <a:pt x="1714" y="2377"/>
                  </a:lnTo>
                  <a:lnTo>
                    <a:pt x="1639" y="2439"/>
                  </a:lnTo>
                  <a:lnTo>
                    <a:pt x="1558" y="2498"/>
                  </a:lnTo>
                  <a:lnTo>
                    <a:pt x="1473" y="2551"/>
                  </a:lnTo>
                  <a:lnTo>
                    <a:pt x="1387" y="2596"/>
                  </a:lnTo>
                  <a:lnTo>
                    <a:pt x="1306" y="2629"/>
                  </a:lnTo>
                  <a:lnTo>
                    <a:pt x="1269" y="2640"/>
                  </a:lnTo>
                  <a:lnTo>
                    <a:pt x="1233" y="2650"/>
                  </a:lnTo>
                  <a:lnTo>
                    <a:pt x="1180" y="2672"/>
                  </a:lnTo>
                  <a:lnTo>
                    <a:pt x="1171" y="2678"/>
                  </a:lnTo>
                  <a:lnTo>
                    <a:pt x="1157" y="2686"/>
                  </a:lnTo>
                  <a:lnTo>
                    <a:pt x="1072" y="2704"/>
                  </a:lnTo>
                  <a:lnTo>
                    <a:pt x="948" y="2719"/>
                  </a:lnTo>
                  <a:lnTo>
                    <a:pt x="820" y="2728"/>
                  </a:lnTo>
                  <a:lnTo>
                    <a:pt x="769" y="2728"/>
                  </a:lnTo>
                  <a:lnTo>
                    <a:pt x="660" y="2724"/>
                  </a:lnTo>
                  <a:lnTo>
                    <a:pt x="559" y="2711"/>
                  </a:lnTo>
                  <a:close/>
                </a:path>
              </a:pathLst>
            </a:custGeom>
            <a:solidFill>
              <a:srgbClr val="C00000"/>
            </a:solidFill>
            <a:ln>
              <a:noFill/>
            </a:ln>
          </p:spPr>
          <p:txBody>
            <a:bodyPr vert="horz" wrap="square" lIns="91440" tIns="45720" rIns="91440" bIns="45720" numCol="1" anchor="t" anchorCtr="0" compatLnSpc="1">
              <a:prstTxWarp prst="textNoShape">
                <a:avLst/>
              </a:prstTxWarp>
            </a:bodyPr>
            <a:lstStyle/>
            <a:p>
              <a:endParaRPr lang="es-PE"/>
            </a:p>
          </p:txBody>
        </p:sp>
        <p:sp>
          <p:nvSpPr>
            <p:cNvPr id="9" name="Freeform 7"/>
            <p:cNvSpPr>
              <a:spLocks/>
            </p:cNvSpPr>
            <p:nvPr/>
          </p:nvSpPr>
          <p:spPr bwMode="auto">
            <a:xfrm>
              <a:off x="6303284" y="4963658"/>
              <a:ext cx="771525" cy="1136650"/>
            </a:xfrm>
            <a:custGeom>
              <a:avLst/>
              <a:gdLst>
                <a:gd name="T0" fmla="*/ 637 w 1456"/>
                <a:gd name="T1" fmla="*/ 2061 h 2149"/>
                <a:gd name="T2" fmla="*/ 510 w 1456"/>
                <a:gd name="T3" fmla="*/ 1908 h 2149"/>
                <a:gd name="T4" fmla="*/ 480 w 1456"/>
                <a:gd name="T5" fmla="*/ 1851 h 2149"/>
                <a:gd name="T6" fmla="*/ 461 w 1456"/>
                <a:gd name="T7" fmla="*/ 1704 h 2149"/>
                <a:gd name="T8" fmla="*/ 472 w 1456"/>
                <a:gd name="T9" fmla="*/ 1397 h 2149"/>
                <a:gd name="T10" fmla="*/ 516 w 1456"/>
                <a:gd name="T11" fmla="*/ 1296 h 2149"/>
                <a:gd name="T12" fmla="*/ 577 w 1456"/>
                <a:gd name="T13" fmla="*/ 1080 h 2149"/>
                <a:gd name="T14" fmla="*/ 703 w 1456"/>
                <a:gd name="T15" fmla="*/ 797 h 2149"/>
                <a:gd name="T16" fmla="*/ 782 w 1456"/>
                <a:gd name="T17" fmla="*/ 669 h 2149"/>
                <a:gd name="T18" fmla="*/ 745 w 1456"/>
                <a:gd name="T19" fmla="*/ 631 h 2149"/>
                <a:gd name="T20" fmla="*/ 625 w 1456"/>
                <a:gd name="T21" fmla="*/ 707 h 2149"/>
                <a:gd name="T22" fmla="*/ 524 w 1456"/>
                <a:gd name="T23" fmla="*/ 961 h 2149"/>
                <a:gd name="T24" fmla="*/ 465 w 1456"/>
                <a:gd name="T25" fmla="*/ 1044 h 2149"/>
                <a:gd name="T26" fmla="*/ 451 w 1456"/>
                <a:gd name="T27" fmla="*/ 1072 h 2149"/>
                <a:gd name="T28" fmla="*/ 334 w 1456"/>
                <a:gd name="T29" fmla="*/ 1210 h 2149"/>
                <a:gd name="T30" fmla="*/ 266 w 1456"/>
                <a:gd name="T31" fmla="*/ 1250 h 2149"/>
                <a:gd name="T32" fmla="*/ 235 w 1456"/>
                <a:gd name="T33" fmla="*/ 1259 h 2149"/>
                <a:gd name="T34" fmla="*/ 174 w 1456"/>
                <a:gd name="T35" fmla="*/ 1282 h 2149"/>
                <a:gd name="T36" fmla="*/ 36 w 1456"/>
                <a:gd name="T37" fmla="*/ 1252 h 2149"/>
                <a:gd name="T38" fmla="*/ 0 w 1456"/>
                <a:gd name="T39" fmla="*/ 1201 h 2149"/>
                <a:gd name="T40" fmla="*/ 144 w 1456"/>
                <a:gd name="T41" fmla="*/ 1043 h 2149"/>
                <a:gd name="T42" fmla="*/ 337 w 1456"/>
                <a:gd name="T43" fmla="*/ 807 h 2149"/>
                <a:gd name="T44" fmla="*/ 392 w 1456"/>
                <a:gd name="T45" fmla="*/ 687 h 2149"/>
                <a:gd name="T46" fmla="*/ 439 w 1456"/>
                <a:gd name="T47" fmla="*/ 574 h 2149"/>
                <a:gd name="T48" fmla="*/ 403 w 1456"/>
                <a:gd name="T49" fmla="*/ 458 h 2149"/>
                <a:gd name="T50" fmla="*/ 343 w 1456"/>
                <a:gd name="T51" fmla="*/ 327 h 2149"/>
                <a:gd name="T52" fmla="*/ 340 w 1456"/>
                <a:gd name="T53" fmla="*/ 162 h 2149"/>
                <a:gd name="T54" fmla="*/ 400 w 1456"/>
                <a:gd name="T55" fmla="*/ 52 h 2149"/>
                <a:gd name="T56" fmla="*/ 474 w 1456"/>
                <a:gd name="T57" fmla="*/ 6 h 2149"/>
                <a:gd name="T58" fmla="*/ 583 w 1456"/>
                <a:gd name="T59" fmla="*/ 2 h 2149"/>
                <a:gd name="T60" fmla="*/ 700 w 1456"/>
                <a:gd name="T61" fmla="*/ 54 h 2149"/>
                <a:gd name="T62" fmla="*/ 739 w 1456"/>
                <a:gd name="T63" fmla="*/ 178 h 2149"/>
                <a:gd name="T64" fmla="*/ 704 w 1456"/>
                <a:gd name="T65" fmla="*/ 320 h 2149"/>
                <a:gd name="T66" fmla="*/ 652 w 1456"/>
                <a:gd name="T67" fmla="*/ 395 h 2149"/>
                <a:gd name="T68" fmla="*/ 644 w 1456"/>
                <a:gd name="T69" fmla="*/ 467 h 2149"/>
                <a:gd name="T70" fmla="*/ 759 w 1456"/>
                <a:gd name="T71" fmla="*/ 450 h 2149"/>
                <a:gd name="T72" fmla="*/ 952 w 1456"/>
                <a:gd name="T73" fmla="*/ 314 h 2149"/>
                <a:gd name="T74" fmla="*/ 1148 w 1456"/>
                <a:gd name="T75" fmla="*/ 175 h 2149"/>
                <a:gd name="T76" fmla="*/ 1287 w 1456"/>
                <a:gd name="T77" fmla="*/ 163 h 2149"/>
                <a:gd name="T78" fmla="*/ 1385 w 1456"/>
                <a:gd name="T79" fmla="*/ 208 h 2149"/>
                <a:gd name="T80" fmla="*/ 1447 w 1456"/>
                <a:gd name="T81" fmla="*/ 286 h 2149"/>
                <a:gd name="T82" fmla="*/ 1453 w 1456"/>
                <a:gd name="T83" fmla="*/ 412 h 2149"/>
                <a:gd name="T84" fmla="*/ 1419 w 1456"/>
                <a:gd name="T85" fmla="*/ 584 h 2149"/>
                <a:gd name="T86" fmla="*/ 1315 w 1456"/>
                <a:gd name="T87" fmla="*/ 768 h 2149"/>
                <a:gd name="T88" fmla="*/ 1224 w 1456"/>
                <a:gd name="T89" fmla="*/ 936 h 2149"/>
                <a:gd name="T90" fmla="*/ 1146 w 1456"/>
                <a:gd name="T91" fmla="*/ 1079 h 2149"/>
                <a:gd name="T92" fmla="*/ 1099 w 1456"/>
                <a:gd name="T93" fmla="*/ 1151 h 2149"/>
                <a:gd name="T94" fmla="*/ 1069 w 1456"/>
                <a:gd name="T95" fmla="*/ 1250 h 2149"/>
                <a:gd name="T96" fmla="*/ 991 w 1456"/>
                <a:gd name="T97" fmla="*/ 1420 h 2149"/>
                <a:gd name="T98" fmla="*/ 955 w 1456"/>
                <a:gd name="T99" fmla="*/ 1531 h 2149"/>
                <a:gd name="T100" fmla="*/ 942 w 1456"/>
                <a:gd name="T101" fmla="*/ 1580 h 2149"/>
                <a:gd name="T102" fmla="*/ 919 w 1456"/>
                <a:gd name="T103" fmla="*/ 1615 h 2149"/>
                <a:gd name="T104" fmla="*/ 910 w 1456"/>
                <a:gd name="T105" fmla="*/ 1843 h 2149"/>
                <a:gd name="T106" fmla="*/ 952 w 1456"/>
                <a:gd name="T107" fmla="*/ 1937 h 2149"/>
                <a:gd name="T108" fmla="*/ 989 w 1456"/>
                <a:gd name="T109" fmla="*/ 1999 h 2149"/>
                <a:gd name="T110" fmla="*/ 966 w 1456"/>
                <a:gd name="T111" fmla="*/ 2116 h 2149"/>
                <a:gd name="T112" fmla="*/ 903 w 1456"/>
                <a:gd name="T113" fmla="*/ 2149 h 2149"/>
                <a:gd name="T114" fmla="*/ 753 w 1456"/>
                <a:gd name="T115" fmla="*/ 2129 h 2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456" h="2149">
                  <a:moveTo>
                    <a:pt x="753" y="2129"/>
                  </a:moveTo>
                  <a:lnTo>
                    <a:pt x="714" y="2113"/>
                  </a:lnTo>
                  <a:lnTo>
                    <a:pt x="637" y="2061"/>
                  </a:lnTo>
                  <a:lnTo>
                    <a:pt x="567" y="1998"/>
                  </a:lnTo>
                  <a:lnTo>
                    <a:pt x="518" y="1934"/>
                  </a:lnTo>
                  <a:lnTo>
                    <a:pt x="510" y="1908"/>
                  </a:lnTo>
                  <a:lnTo>
                    <a:pt x="504" y="1890"/>
                  </a:lnTo>
                  <a:lnTo>
                    <a:pt x="487" y="1858"/>
                  </a:lnTo>
                  <a:lnTo>
                    <a:pt x="480" y="1851"/>
                  </a:lnTo>
                  <a:lnTo>
                    <a:pt x="474" y="1845"/>
                  </a:lnTo>
                  <a:lnTo>
                    <a:pt x="467" y="1805"/>
                  </a:lnTo>
                  <a:lnTo>
                    <a:pt x="461" y="1704"/>
                  </a:lnTo>
                  <a:lnTo>
                    <a:pt x="459" y="1538"/>
                  </a:lnTo>
                  <a:lnTo>
                    <a:pt x="465" y="1437"/>
                  </a:lnTo>
                  <a:lnTo>
                    <a:pt x="472" y="1397"/>
                  </a:lnTo>
                  <a:lnTo>
                    <a:pt x="477" y="1390"/>
                  </a:lnTo>
                  <a:lnTo>
                    <a:pt x="487" y="1377"/>
                  </a:lnTo>
                  <a:lnTo>
                    <a:pt x="516" y="1296"/>
                  </a:lnTo>
                  <a:lnTo>
                    <a:pt x="530" y="1243"/>
                  </a:lnTo>
                  <a:lnTo>
                    <a:pt x="559" y="1132"/>
                  </a:lnTo>
                  <a:lnTo>
                    <a:pt x="577" y="1080"/>
                  </a:lnTo>
                  <a:lnTo>
                    <a:pt x="609" y="1018"/>
                  </a:lnTo>
                  <a:lnTo>
                    <a:pt x="691" y="831"/>
                  </a:lnTo>
                  <a:lnTo>
                    <a:pt x="703" y="797"/>
                  </a:lnTo>
                  <a:lnTo>
                    <a:pt x="711" y="772"/>
                  </a:lnTo>
                  <a:lnTo>
                    <a:pt x="747" y="720"/>
                  </a:lnTo>
                  <a:lnTo>
                    <a:pt x="782" y="669"/>
                  </a:lnTo>
                  <a:lnTo>
                    <a:pt x="792" y="645"/>
                  </a:lnTo>
                  <a:lnTo>
                    <a:pt x="788" y="640"/>
                  </a:lnTo>
                  <a:lnTo>
                    <a:pt x="745" y="631"/>
                  </a:lnTo>
                  <a:lnTo>
                    <a:pt x="713" y="631"/>
                  </a:lnTo>
                  <a:lnTo>
                    <a:pt x="635" y="631"/>
                  </a:lnTo>
                  <a:lnTo>
                    <a:pt x="625" y="707"/>
                  </a:lnTo>
                  <a:lnTo>
                    <a:pt x="618" y="743"/>
                  </a:lnTo>
                  <a:lnTo>
                    <a:pt x="577" y="850"/>
                  </a:lnTo>
                  <a:lnTo>
                    <a:pt x="524" y="961"/>
                  </a:lnTo>
                  <a:lnTo>
                    <a:pt x="488" y="1021"/>
                  </a:lnTo>
                  <a:lnTo>
                    <a:pt x="471" y="1043"/>
                  </a:lnTo>
                  <a:lnTo>
                    <a:pt x="465" y="1044"/>
                  </a:lnTo>
                  <a:lnTo>
                    <a:pt x="459" y="1046"/>
                  </a:lnTo>
                  <a:lnTo>
                    <a:pt x="451" y="1060"/>
                  </a:lnTo>
                  <a:lnTo>
                    <a:pt x="451" y="1072"/>
                  </a:lnTo>
                  <a:lnTo>
                    <a:pt x="445" y="1089"/>
                  </a:lnTo>
                  <a:lnTo>
                    <a:pt x="399" y="1148"/>
                  </a:lnTo>
                  <a:lnTo>
                    <a:pt x="334" y="1210"/>
                  </a:lnTo>
                  <a:lnTo>
                    <a:pt x="292" y="1242"/>
                  </a:lnTo>
                  <a:lnTo>
                    <a:pt x="272" y="1250"/>
                  </a:lnTo>
                  <a:lnTo>
                    <a:pt x="266" y="1250"/>
                  </a:lnTo>
                  <a:lnTo>
                    <a:pt x="258" y="1246"/>
                  </a:lnTo>
                  <a:lnTo>
                    <a:pt x="240" y="1252"/>
                  </a:lnTo>
                  <a:lnTo>
                    <a:pt x="235" y="1259"/>
                  </a:lnTo>
                  <a:lnTo>
                    <a:pt x="229" y="1265"/>
                  </a:lnTo>
                  <a:lnTo>
                    <a:pt x="212" y="1273"/>
                  </a:lnTo>
                  <a:lnTo>
                    <a:pt x="174" y="1282"/>
                  </a:lnTo>
                  <a:lnTo>
                    <a:pt x="111" y="1279"/>
                  </a:lnTo>
                  <a:lnTo>
                    <a:pt x="53" y="1263"/>
                  </a:lnTo>
                  <a:lnTo>
                    <a:pt x="36" y="1252"/>
                  </a:lnTo>
                  <a:lnTo>
                    <a:pt x="22" y="1237"/>
                  </a:lnTo>
                  <a:lnTo>
                    <a:pt x="1" y="1210"/>
                  </a:lnTo>
                  <a:lnTo>
                    <a:pt x="0" y="1201"/>
                  </a:lnTo>
                  <a:lnTo>
                    <a:pt x="9" y="1187"/>
                  </a:lnTo>
                  <a:lnTo>
                    <a:pt x="86" y="1101"/>
                  </a:lnTo>
                  <a:lnTo>
                    <a:pt x="144" y="1043"/>
                  </a:lnTo>
                  <a:lnTo>
                    <a:pt x="187" y="998"/>
                  </a:lnTo>
                  <a:lnTo>
                    <a:pt x="269" y="902"/>
                  </a:lnTo>
                  <a:lnTo>
                    <a:pt x="337" y="807"/>
                  </a:lnTo>
                  <a:lnTo>
                    <a:pt x="380" y="729"/>
                  </a:lnTo>
                  <a:lnTo>
                    <a:pt x="387" y="703"/>
                  </a:lnTo>
                  <a:lnTo>
                    <a:pt x="392" y="687"/>
                  </a:lnTo>
                  <a:lnTo>
                    <a:pt x="408" y="657"/>
                  </a:lnTo>
                  <a:lnTo>
                    <a:pt x="423" y="627"/>
                  </a:lnTo>
                  <a:lnTo>
                    <a:pt x="439" y="574"/>
                  </a:lnTo>
                  <a:lnTo>
                    <a:pt x="439" y="527"/>
                  </a:lnTo>
                  <a:lnTo>
                    <a:pt x="421" y="481"/>
                  </a:lnTo>
                  <a:lnTo>
                    <a:pt x="403" y="458"/>
                  </a:lnTo>
                  <a:lnTo>
                    <a:pt x="386" y="434"/>
                  </a:lnTo>
                  <a:lnTo>
                    <a:pt x="360" y="383"/>
                  </a:lnTo>
                  <a:lnTo>
                    <a:pt x="343" y="327"/>
                  </a:lnTo>
                  <a:lnTo>
                    <a:pt x="333" y="271"/>
                  </a:lnTo>
                  <a:lnTo>
                    <a:pt x="333" y="216"/>
                  </a:lnTo>
                  <a:lnTo>
                    <a:pt x="340" y="162"/>
                  </a:lnTo>
                  <a:lnTo>
                    <a:pt x="357" y="113"/>
                  </a:lnTo>
                  <a:lnTo>
                    <a:pt x="383" y="71"/>
                  </a:lnTo>
                  <a:lnTo>
                    <a:pt x="400" y="52"/>
                  </a:lnTo>
                  <a:lnTo>
                    <a:pt x="415" y="38"/>
                  </a:lnTo>
                  <a:lnTo>
                    <a:pt x="444" y="18"/>
                  </a:lnTo>
                  <a:lnTo>
                    <a:pt x="474" y="6"/>
                  </a:lnTo>
                  <a:lnTo>
                    <a:pt x="510" y="0"/>
                  </a:lnTo>
                  <a:lnTo>
                    <a:pt x="533" y="0"/>
                  </a:lnTo>
                  <a:lnTo>
                    <a:pt x="583" y="2"/>
                  </a:lnTo>
                  <a:lnTo>
                    <a:pt x="644" y="16"/>
                  </a:lnTo>
                  <a:lnTo>
                    <a:pt x="675" y="32"/>
                  </a:lnTo>
                  <a:lnTo>
                    <a:pt x="700" y="54"/>
                  </a:lnTo>
                  <a:lnTo>
                    <a:pt x="719" y="81"/>
                  </a:lnTo>
                  <a:lnTo>
                    <a:pt x="736" y="133"/>
                  </a:lnTo>
                  <a:lnTo>
                    <a:pt x="739" y="178"/>
                  </a:lnTo>
                  <a:lnTo>
                    <a:pt x="737" y="203"/>
                  </a:lnTo>
                  <a:lnTo>
                    <a:pt x="724" y="262"/>
                  </a:lnTo>
                  <a:lnTo>
                    <a:pt x="704" y="320"/>
                  </a:lnTo>
                  <a:lnTo>
                    <a:pt x="678" y="365"/>
                  </a:lnTo>
                  <a:lnTo>
                    <a:pt x="664" y="379"/>
                  </a:lnTo>
                  <a:lnTo>
                    <a:pt x="652" y="395"/>
                  </a:lnTo>
                  <a:lnTo>
                    <a:pt x="641" y="430"/>
                  </a:lnTo>
                  <a:lnTo>
                    <a:pt x="635" y="450"/>
                  </a:lnTo>
                  <a:lnTo>
                    <a:pt x="644" y="467"/>
                  </a:lnTo>
                  <a:lnTo>
                    <a:pt x="661" y="468"/>
                  </a:lnTo>
                  <a:lnTo>
                    <a:pt x="693" y="467"/>
                  </a:lnTo>
                  <a:lnTo>
                    <a:pt x="759" y="450"/>
                  </a:lnTo>
                  <a:lnTo>
                    <a:pt x="830" y="412"/>
                  </a:lnTo>
                  <a:lnTo>
                    <a:pt x="909" y="353"/>
                  </a:lnTo>
                  <a:lnTo>
                    <a:pt x="952" y="314"/>
                  </a:lnTo>
                  <a:lnTo>
                    <a:pt x="1005" y="267"/>
                  </a:lnTo>
                  <a:lnTo>
                    <a:pt x="1083" y="206"/>
                  </a:lnTo>
                  <a:lnTo>
                    <a:pt x="1148" y="175"/>
                  </a:lnTo>
                  <a:lnTo>
                    <a:pt x="1217" y="163"/>
                  </a:lnTo>
                  <a:lnTo>
                    <a:pt x="1260" y="163"/>
                  </a:lnTo>
                  <a:lnTo>
                    <a:pt x="1287" y="163"/>
                  </a:lnTo>
                  <a:lnTo>
                    <a:pt x="1326" y="167"/>
                  </a:lnTo>
                  <a:lnTo>
                    <a:pt x="1357" y="182"/>
                  </a:lnTo>
                  <a:lnTo>
                    <a:pt x="1385" y="208"/>
                  </a:lnTo>
                  <a:lnTo>
                    <a:pt x="1404" y="229"/>
                  </a:lnTo>
                  <a:lnTo>
                    <a:pt x="1423" y="251"/>
                  </a:lnTo>
                  <a:lnTo>
                    <a:pt x="1447" y="286"/>
                  </a:lnTo>
                  <a:lnTo>
                    <a:pt x="1456" y="320"/>
                  </a:lnTo>
                  <a:lnTo>
                    <a:pt x="1456" y="373"/>
                  </a:lnTo>
                  <a:lnTo>
                    <a:pt x="1453" y="412"/>
                  </a:lnTo>
                  <a:lnTo>
                    <a:pt x="1449" y="457"/>
                  </a:lnTo>
                  <a:lnTo>
                    <a:pt x="1439" y="525"/>
                  </a:lnTo>
                  <a:lnTo>
                    <a:pt x="1419" y="584"/>
                  </a:lnTo>
                  <a:lnTo>
                    <a:pt x="1384" y="651"/>
                  </a:lnTo>
                  <a:lnTo>
                    <a:pt x="1359" y="693"/>
                  </a:lnTo>
                  <a:lnTo>
                    <a:pt x="1315" y="768"/>
                  </a:lnTo>
                  <a:lnTo>
                    <a:pt x="1275" y="847"/>
                  </a:lnTo>
                  <a:lnTo>
                    <a:pt x="1240" y="912"/>
                  </a:lnTo>
                  <a:lnTo>
                    <a:pt x="1224" y="936"/>
                  </a:lnTo>
                  <a:lnTo>
                    <a:pt x="1208" y="959"/>
                  </a:lnTo>
                  <a:lnTo>
                    <a:pt x="1179" y="1017"/>
                  </a:lnTo>
                  <a:lnTo>
                    <a:pt x="1146" y="1079"/>
                  </a:lnTo>
                  <a:lnTo>
                    <a:pt x="1122" y="1113"/>
                  </a:lnTo>
                  <a:lnTo>
                    <a:pt x="1112" y="1124"/>
                  </a:lnTo>
                  <a:lnTo>
                    <a:pt x="1099" y="1151"/>
                  </a:lnTo>
                  <a:lnTo>
                    <a:pt x="1099" y="1164"/>
                  </a:lnTo>
                  <a:lnTo>
                    <a:pt x="1097" y="1183"/>
                  </a:lnTo>
                  <a:lnTo>
                    <a:pt x="1069" y="1250"/>
                  </a:lnTo>
                  <a:lnTo>
                    <a:pt x="1030" y="1327"/>
                  </a:lnTo>
                  <a:lnTo>
                    <a:pt x="999" y="1388"/>
                  </a:lnTo>
                  <a:lnTo>
                    <a:pt x="991" y="1420"/>
                  </a:lnTo>
                  <a:lnTo>
                    <a:pt x="985" y="1445"/>
                  </a:lnTo>
                  <a:lnTo>
                    <a:pt x="969" y="1489"/>
                  </a:lnTo>
                  <a:lnTo>
                    <a:pt x="955" y="1531"/>
                  </a:lnTo>
                  <a:lnTo>
                    <a:pt x="952" y="1556"/>
                  </a:lnTo>
                  <a:lnTo>
                    <a:pt x="952" y="1563"/>
                  </a:lnTo>
                  <a:lnTo>
                    <a:pt x="942" y="1580"/>
                  </a:lnTo>
                  <a:lnTo>
                    <a:pt x="933" y="1586"/>
                  </a:lnTo>
                  <a:lnTo>
                    <a:pt x="927" y="1592"/>
                  </a:lnTo>
                  <a:lnTo>
                    <a:pt x="919" y="1615"/>
                  </a:lnTo>
                  <a:lnTo>
                    <a:pt x="912" y="1682"/>
                  </a:lnTo>
                  <a:lnTo>
                    <a:pt x="909" y="1754"/>
                  </a:lnTo>
                  <a:lnTo>
                    <a:pt x="910" y="1843"/>
                  </a:lnTo>
                  <a:lnTo>
                    <a:pt x="920" y="1905"/>
                  </a:lnTo>
                  <a:lnTo>
                    <a:pt x="939" y="1927"/>
                  </a:lnTo>
                  <a:lnTo>
                    <a:pt x="952" y="1937"/>
                  </a:lnTo>
                  <a:lnTo>
                    <a:pt x="965" y="1946"/>
                  </a:lnTo>
                  <a:lnTo>
                    <a:pt x="981" y="1964"/>
                  </a:lnTo>
                  <a:lnTo>
                    <a:pt x="989" y="1999"/>
                  </a:lnTo>
                  <a:lnTo>
                    <a:pt x="985" y="2039"/>
                  </a:lnTo>
                  <a:lnTo>
                    <a:pt x="979" y="2068"/>
                  </a:lnTo>
                  <a:lnTo>
                    <a:pt x="966" y="2116"/>
                  </a:lnTo>
                  <a:lnTo>
                    <a:pt x="959" y="2126"/>
                  </a:lnTo>
                  <a:lnTo>
                    <a:pt x="946" y="2137"/>
                  </a:lnTo>
                  <a:lnTo>
                    <a:pt x="903" y="2149"/>
                  </a:lnTo>
                  <a:lnTo>
                    <a:pt x="847" y="2149"/>
                  </a:lnTo>
                  <a:lnTo>
                    <a:pt x="783" y="2139"/>
                  </a:lnTo>
                  <a:lnTo>
                    <a:pt x="753" y="2129"/>
                  </a:lnTo>
                  <a:close/>
                </a:path>
              </a:pathLst>
            </a:custGeom>
            <a:solidFill>
              <a:srgbClr val="C00000"/>
            </a:solidFill>
            <a:ln>
              <a:noFill/>
            </a:ln>
          </p:spPr>
          <p:txBody>
            <a:bodyPr vert="horz" wrap="square" lIns="91440" tIns="45720" rIns="91440" bIns="45720" numCol="1" anchor="t" anchorCtr="0" compatLnSpc="1">
              <a:prstTxWarp prst="textNoShape">
                <a:avLst/>
              </a:prstTxWarp>
            </a:bodyPr>
            <a:lstStyle/>
            <a:p>
              <a:endParaRPr lang="es-PE"/>
            </a:p>
          </p:txBody>
        </p:sp>
        <p:sp>
          <p:nvSpPr>
            <p:cNvPr id="10" name="Freeform 8"/>
            <p:cNvSpPr>
              <a:spLocks/>
            </p:cNvSpPr>
            <p:nvPr/>
          </p:nvSpPr>
          <p:spPr bwMode="auto">
            <a:xfrm>
              <a:off x="3314021" y="5319258"/>
              <a:ext cx="265113" cy="728663"/>
            </a:xfrm>
            <a:custGeom>
              <a:avLst/>
              <a:gdLst>
                <a:gd name="T0" fmla="*/ 160 w 502"/>
                <a:gd name="T1" fmla="*/ 1336 h 1376"/>
                <a:gd name="T2" fmla="*/ 62 w 502"/>
                <a:gd name="T3" fmla="*/ 1228 h 1376"/>
                <a:gd name="T4" fmla="*/ 27 w 502"/>
                <a:gd name="T5" fmla="*/ 1142 h 1376"/>
                <a:gd name="T6" fmla="*/ 13 w 502"/>
                <a:gd name="T7" fmla="*/ 1117 h 1376"/>
                <a:gd name="T8" fmla="*/ 0 w 502"/>
                <a:gd name="T9" fmla="*/ 976 h 1376"/>
                <a:gd name="T10" fmla="*/ 7 w 502"/>
                <a:gd name="T11" fmla="*/ 703 h 1376"/>
                <a:gd name="T12" fmla="*/ 21 w 502"/>
                <a:gd name="T13" fmla="*/ 681 h 1376"/>
                <a:gd name="T14" fmla="*/ 26 w 502"/>
                <a:gd name="T15" fmla="*/ 638 h 1376"/>
                <a:gd name="T16" fmla="*/ 27 w 502"/>
                <a:gd name="T17" fmla="*/ 590 h 1376"/>
                <a:gd name="T18" fmla="*/ 47 w 502"/>
                <a:gd name="T19" fmla="*/ 541 h 1376"/>
                <a:gd name="T20" fmla="*/ 91 w 502"/>
                <a:gd name="T21" fmla="*/ 366 h 1376"/>
                <a:gd name="T22" fmla="*/ 118 w 502"/>
                <a:gd name="T23" fmla="*/ 311 h 1376"/>
                <a:gd name="T24" fmla="*/ 125 w 502"/>
                <a:gd name="T25" fmla="*/ 284 h 1376"/>
                <a:gd name="T26" fmla="*/ 150 w 502"/>
                <a:gd name="T27" fmla="*/ 204 h 1376"/>
                <a:gd name="T28" fmla="*/ 216 w 502"/>
                <a:gd name="T29" fmla="*/ 82 h 1376"/>
                <a:gd name="T30" fmla="*/ 294 w 502"/>
                <a:gd name="T31" fmla="*/ 20 h 1376"/>
                <a:gd name="T32" fmla="*/ 350 w 502"/>
                <a:gd name="T33" fmla="*/ 0 h 1376"/>
                <a:gd name="T34" fmla="*/ 387 w 502"/>
                <a:gd name="T35" fmla="*/ 16 h 1376"/>
                <a:gd name="T36" fmla="*/ 433 w 502"/>
                <a:gd name="T37" fmla="*/ 49 h 1376"/>
                <a:gd name="T38" fmla="*/ 479 w 502"/>
                <a:gd name="T39" fmla="*/ 119 h 1376"/>
                <a:gd name="T40" fmla="*/ 501 w 502"/>
                <a:gd name="T41" fmla="*/ 201 h 1376"/>
                <a:gd name="T42" fmla="*/ 494 w 502"/>
                <a:gd name="T43" fmla="*/ 279 h 1376"/>
                <a:gd name="T44" fmla="*/ 478 w 502"/>
                <a:gd name="T45" fmla="*/ 315 h 1376"/>
                <a:gd name="T46" fmla="*/ 439 w 502"/>
                <a:gd name="T47" fmla="*/ 471 h 1376"/>
                <a:gd name="T48" fmla="*/ 393 w 502"/>
                <a:gd name="T49" fmla="*/ 646 h 1376"/>
                <a:gd name="T50" fmla="*/ 366 w 502"/>
                <a:gd name="T51" fmla="*/ 754 h 1376"/>
                <a:gd name="T52" fmla="*/ 341 w 502"/>
                <a:gd name="T53" fmla="*/ 1050 h 1376"/>
                <a:gd name="T54" fmla="*/ 354 w 502"/>
                <a:gd name="T55" fmla="*/ 1168 h 1376"/>
                <a:gd name="T56" fmla="*/ 387 w 502"/>
                <a:gd name="T57" fmla="*/ 1215 h 1376"/>
                <a:gd name="T58" fmla="*/ 428 w 502"/>
                <a:gd name="T59" fmla="*/ 1296 h 1376"/>
                <a:gd name="T60" fmla="*/ 425 w 502"/>
                <a:gd name="T61" fmla="*/ 1336 h 1376"/>
                <a:gd name="T62" fmla="*/ 397 w 502"/>
                <a:gd name="T63" fmla="*/ 1368 h 1376"/>
                <a:gd name="T64" fmla="*/ 331 w 502"/>
                <a:gd name="T65" fmla="*/ 1376 h 1376"/>
                <a:gd name="T66" fmla="*/ 214 w 502"/>
                <a:gd name="T67" fmla="*/ 1363 h 1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02" h="1376">
                  <a:moveTo>
                    <a:pt x="187" y="1352"/>
                  </a:moveTo>
                  <a:lnTo>
                    <a:pt x="160" y="1336"/>
                  </a:lnTo>
                  <a:lnTo>
                    <a:pt x="106" y="1287"/>
                  </a:lnTo>
                  <a:lnTo>
                    <a:pt x="62" y="1228"/>
                  </a:lnTo>
                  <a:lnTo>
                    <a:pt x="33" y="1169"/>
                  </a:lnTo>
                  <a:lnTo>
                    <a:pt x="27" y="1142"/>
                  </a:lnTo>
                  <a:lnTo>
                    <a:pt x="23" y="1130"/>
                  </a:lnTo>
                  <a:lnTo>
                    <a:pt x="13" y="1117"/>
                  </a:lnTo>
                  <a:lnTo>
                    <a:pt x="6" y="1097"/>
                  </a:lnTo>
                  <a:lnTo>
                    <a:pt x="0" y="976"/>
                  </a:lnTo>
                  <a:lnTo>
                    <a:pt x="0" y="821"/>
                  </a:lnTo>
                  <a:lnTo>
                    <a:pt x="7" y="703"/>
                  </a:lnTo>
                  <a:lnTo>
                    <a:pt x="14" y="687"/>
                  </a:lnTo>
                  <a:lnTo>
                    <a:pt x="21" y="681"/>
                  </a:lnTo>
                  <a:lnTo>
                    <a:pt x="27" y="654"/>
                  </a:lnTo>
                  <a:lnTo>
                    <a:pt x="26" y="638"/>
                  </a:lnTo>
                  <a:lnTo>
                    <a:pt x="23" y="620"/>
                  </a:lnTo>
                  <a:lnTo>
                    <a:pt x="27" y="590"/>
                  </a:lnTo>
                  <a:lnTo>
                    <a:pt x="33" y="580"/>
                  </a:lnTo>
                  <a:lnTo>
                    <a:pt x="47" y="541"/>
                  </a:lnTo>
                  <a:lnTo>
                    <a:pt x="69" y="452"/>
                  </a:lnTo>
                  <a:lnTo>
                    <a:pt x="91" y="366"/>
                  </a:lnTo>
                  <a:lnTo>
                    <a:pt x="106" y="327"/>
                  </a:lnTo>
                  <a:lnTo>
                    <a:pt x="118" y="311"/>
                  </a:lnTo>
                  <a:lnTo>
                    <a:pt x="122" y="299"/>
                  </a:lnTo>
                  <a:lnTo>
                    <a:pt x="125" y="284"/>
                  </a:lnTo>
                  <a:lnTo>
                    <a:pt x="134" y="255"/>
                  </a:lnTo>
                  <a:lnTo>
                    <a:pt x="150" y="204"/>
                  </a:lnTo>
                  <a:lnTo>
                    <a:pt x="181" y="132"/>
                  </a:lnTo>
                  <a:lnTo>
                    <a:pt x="216" y="82"/>
                  </a:lnTo>
                  <a:lnTo>
                    <a:pt x="262" y="42"/>
                  </a:lnTo>
                  <a:lnTo>
                    <a:pt x="294" y="20"/>
                  </a:lnTo>
                  <a:lnTo>
                    <a:pt x="320" y="4"/>
                  </a:lnTo>
                  <a:lnTo>
                    <a:pt x="350" y="0"/>
                  </a:lnTo>
                  <a:lnTo>
                    <a:pt x="373" y="7"/>
                  </a:lnTo>
                  <a:lnTo>
                    <a:pt x="387" y="16"/>
                  </a:lnTo>
                  <a:lnTo>
                    <a:pt x="405" y="24"/>
                  </a:lnTo>
                  <a:lnTo>
                    <a:pt x="433" y="49"/>
                  </a:lnTo>
                  <a:lnTo>
                    <a:pt x="459" y="82"/>
                  </a:lnTo>
                  <a:lnTo>
                    <a:pt x="479" y="119"/>
                  </a:lnTo>
                  <a:lnTo>
                    <a:pt x="494" y="160"/>
                  </a:lnTo>
                  <a:lnTo>
                    <a:pt x="501" y="201"/>
                  </a:lnTo>
                  <a:lnTo>
                    <a:pt x="502" y="242"/>
                  </a:lnTo>
                  <a:lnTo>
                    <a:pt x="494" y="279"/>
                  </a:lnTo>
                  <a:lnTo>
                    <a:pt x="487" y="296"/>
                  </a:lnTo>
                  <a:lnTo>
                    <a:pt x="478" y="315"/>
                  </a:lnTo>
                  <a:lnTo>
                    <a:pt x="452" y="412"/>
                  </a:lnTo>
                  <a:lnTo>
                    <a:pt x="439" y="471"/>
                  </a:lnTo>
                  <a:lnTo>
                    <a:pt x="413" y="589"/>
                  </a:lnTo>
                  <a:lnTo>
                    <a:pt x="393" y="646"/>
                  </a:lnTo>
                  <a:lnTo>
                    <a:pt x="384" y="668"/>
                  </a:lnTo>
                  <a:lnTo>
                    <a:pt x="366" y="754"/>
                  </a:lnTo>
                  <a:lnTo>
                    <a:pt x="345" y="933"/>
                  </a:lnTo>
                  <a:lnTo>
                    <a:pt x="341" y="1050"/>
                  </a:lnTo>
                  <a:lnTo>
                    <a:pt x="341" y="1111"/>
                  </a:lnTo>
                  <a:lnTo>
                    <a:pt x="354" y="1168"/>
                  </a:lnTo>
                  <a:lnTo>
                    <a:pt x="373" y="1199"/>
                  </a:lnTo>
                  <a:lnTo>
                    <a:pt x="387" y="1215"/>
                  </a:lnTo>
                  <a:lnTo>
                    <a:pt x="407" y="1242"/>
                  </a:lnTo>
                  <a:lnTo>
                    <a:pt x="428" y="1296"/>
                  </a:lnTo>
                  <a:lnTo>
                    <a:pt x="428" y="1320"/>
                  </a:lnTo>
                  <a:lnTo>
                    <a:pt x="425" y="1336"/>
                  </a:lnTo>
                  <a:lnTo>
                    <a:pt x="416" y="1358"/>
                  </a:lnTo>
                  <a:lnTo>
                    <a:pt x="397" y="1368"/>
                  </a:lnTo>
                  <a:lnTo>
                    <a:pt x="360" y="1374"/>
                  </a:lnTo>
                  <a:lnTo>
                    <a:pt x="331" y="1376"/>
                  </a:lnTo>
                  <a:lnTo>
                    <a:pt x="289" y="1375"/>
                  </a:lnTo>
                  <a:lnTo>
                    <a:pt x="214" y="1363"/>
                  </a:lnTo>
                  <a:lnTo>
                    <a:pt x="187" y="1352"/>
                  </a:lnTo>
                  <a:close/>
                </a:path>
              </a:pathLst>
            </a:custGeom>
            <a:solidFill>
              <a:srgbClr val="C00000"/>
            </a:solidFill>
            <a:ln>
              <a:noFill/>
            </a:ln>
          </p:spPr>
          <p:txBody>
            <a:bodyPr vert="horz" wrap="square" lIns="91440" tIns="45720" rIns="91440" bIns="45720" numCol="1" anchor="t" anchorCtr="0" compatLnSpc="1">
              <a:prstTxWarp prst="textNoShape">
                <a:avLst/>
              </a:prstTxWarp>
            </a:bodyPr>
            <a:lstStyle/>
            <a:p>
              <a:endParaRPr lang="es-PE"/>
            </a:p>
          </p:txBody>
        </p:sp>
        <p:sp>
          <p:nvSpPr>
            <p:cNvPr id="11" name="Freeform 9"/>
            <p:cNvSpPr>
              <a:spLocks noEditPoints="1"/>
            </p:cNvSpPr>
            <p:nvPr/>
          </p:nvSpPr>
          <p:spPr bwMode="auto">
            <a:xfrm>
              <a:off x="3668034" y="5030333"/>
              <a:ext cx="669925" cy="1000125"/>
            </a:xfrm>
            <a:custGeom>
              <a:avLst/>
              <a:gdLst>
                <a:gd name="T0" fmla="*/ 408 w 1264"/>
                <a:gd name="T1" fmla="*/ 1860 h 1889"/>
                <a:gd name="T2" fmla="*/ 297 w 1264"/>
                <a:gd name="T3" fmla="*/ 1829 h 1889"/>
                <a:gd name="T4" fmla="*/ 140 w 1264"/>
                <a:gd name="T5" fmla="*/ 1716 h 1889"/>
                <a:gd name="T6" fmla="*/ 55 w 1264"/>
                <a:gd name="T7" fmla="*/ 1548 h 1889"/>
                <a:gd name="T8" fmla="*/ 6 w 1264"/>
                <a:gd name="T9" fmla="*/ 1398 h 1889"/>
                <a:gd name="T10" fmla="*/ 6 w 1264"/>
                <a:gd name="T11" fmla="*/ 1089 h 1889"/>
                <a:gd name="T12" fmla="*/ 36 w 1264"/>
                <a:gd name="T13" fmla="*/ 997 h 1889"/>
                <a:gd name="T14" fmla="*/ 81 w 1264"/>
                <a:gd name="T15" fmla="*/ 786 h 1889"/>
                <a:gd name="T16" fmla="*/ 147 w 1264"/>
                <a:gd name="T17" fmla="*/ 629 h 1889"/>
                <a:gd name="T18" fmla="*/ 204 w 1264"/>
                <a:gd name="T19" fmla="*/ 503 h 1889"/>
                <a:gd name="T20" fmla="*/ 346 w 1264"/>
                <a:gd name="T21" fmla="*/ 311 h 1889"/>
                <a:gd name="T22" fmla="*/ 628 w 1264"/>
                <a:gd name="T23" fmla="*/ 84 h 1889"/>
                <a:gd name="T24" fmla="*/ 766 w 1264"/>
                <a:gd name="T25" fmla="*/ 36 h 1889"/>
                <a:gd name="T26" fmla="*/ 804 w 1264"/>
                <a:gd name="T27" fmla="*/ 17 h 1889"/>
                <a:gd name="T28" fmla="*/ 904 w 1264"/>
                <a:gd name="T29" fmla="*/ 0 h 1889"/>
                <a:gd name="T30" fmla="*/ 1093 w 1264"/>
                <a:gd name="T31" fmla="*/ 61 h 1889"/>
                <a:gd name="T32" fmla="*/ 1194 w 1264"/>
                <a:gd name="T33" fmla="*/ 180 h 1889"/>
                <a:gd name="T34" fmla="*/ 1226 w 1264"/>
                <a:gd name="T35" fmla="*/ 386 h 1889"/>
                <a:gd name="T36" fmla="*/ 1207 w 1264"/>
                <a:gd name="T37" fmla="*/ 580 h 1889"/>
                <a:gd name="T38" fmla="*/ 1116 w 1264"/>
                <a:gd name="T39" fmla="*/ 766 h 1889"/>
                <a:gd name="T40" fmla="*/ 863 w 1264"/>
                <a:gd name="T41" fmla="*/ 1071 h 1889"/>
                <a:gd name="T42" fmla="*/ 678 w 1264"/>
                <a:gd name="T43" fmla="*/ 1187 h 1889"/>
                <a:gd name="T44" fmla="*/ 603 w 1264"/>
                <a:gd name="T45" fmla="*/ 1207 h 1889"/>
                <a:gd name="T46" fmla="*/ 583 w 1264"/>
                <a:gd name="T47" fmla="*/ 1231 h 1889"/>
                <a:gd name="T48" fmla="*/ 444 w 1264"/>
                <a:gd name="T49" fmla="*/ 1241 h 1889"/>
                <a:gd name="T50" fmla="*/ 454 w 1264"/>
                <a:gd name="T51" fmla="*/ 1490 h 1889"/>
                <a:gd name="T52" fmla="*/ 482 w 1264"/>
                <a:gd name="T53" fmla="*/ 1544 h 1889"/>
                <a:gd name="T54" fmla="*/ 528 w 1264"/>
                <a:gd name="T55" fmla="*/ 1637 h 1889"/>
                <a:gd name="T56" fmla="*/ 642 w 1264"/>
                <a:gd name="T57" fmla="*/ 1709 h 1889"/>
                <a:gd name="T58" fmla="*/ 703 w 1264"/>
                <a:gd name="T59" fmla="*/ 1682 h 1889"/>
                <a:gd name="T60" fmla="*/ 750 w 1264"/>
                <a:gd name="T61" fmla="*/ 1656 h 1889"/>
                <a:gd name="T62" fmla="*/ 899 w 1264"/>
                <a:gd name="T63" fmla="*/ 1515 h 1889"/>
                <a:gd name="T64" fmla="*/ 992 w 1264"/>
                <a:gd name="T65" fmla="*/ 1374 h 1889"/>
                <a:gd name="T66" fmla="*/ 1112 w 1264"/>
                <a:gd name="T67" fmla="*/ 1215 h 1889"/>
                <a:gd name="T68" fmla="*/ 1155 w 1264"/>
                <a:gd name="T69" fmla="*/ 1200 h 1889"/>
                <a:gd name="T70" fmla="*/ 1253 w 1264"/>
                <a:gd name="T71" fmla="*/ 1283 h 1889"/>
                <a:gd name="T72" fmla="*/ 1262 w 1264"/>
                <a:gd name="T73" fmla="*/ 1395 h 1889"/>
                <a:gd name="T74" fmla="*/ 1149 w 1264"/>
                <a:gd name="T75" fmla="*/ 1565 h 1889"/>
                <a:gd name="T76" fmla="*/ 922 w 1264"/>
                <a:gd name="T77" fmla="*/ 1770 h 1889"/>
                <a:gd name="T78" fmla="*/ 756 w 1264"/>
                <a:gd name="T79" fmla="*/ 1833 h 1889"/>
                <a:gd name="T80" fmla="*/ 631 w 1264"/>
                <a:gd name="T81" fmla="*/ 1855 h 1889"/>
                <a:gd name="T82" fmla="*/ 560 w 1264"/>
                <a:gd name="T83" fmla="*/ 1869 h 1889"/>
                <a:gd name="T84" fmla="*/ 464 w 1264"/>
                <a:gd name="T85" fmla="*/ 1889 h 1889"/>
                <a:gd name="T86" fmla="*/ 546 w 1264"/>
                <a:gd name="T87" fmla="*/ 986 h 1889"/>
                <a:gd name="T88" fmla="*/ 724 w 1264"/>
                <a:gd name="T89" fmla="*/ 842 h 1889"/>
                <a:gd name="T90" fmla="*/ 796 w 1264"/>
                <a:gd name="T91" fmla="*/ 742 h 1889"/>
                <a:gd name="T92" fmla="*/ 867 w 1264"/>
                <a:gd name="T93" fmla="*/ 616 h 1889"/>
                <a:gd name="T94" fmla="*/ 893 w 1264"/>
                <a:gd name="T95" fmla="*/ 395 h 1889"/>
                <a:gd name="T96" fmla="*/ 876 w 1264"/>
                <a:gd name="T97" fmla="*/ 281 h 1889"/>
                <a:gd name="T98" fmla="*/ 763 w 1264"/>
                <a:gd name="T99" fmla="*/ 363 h 1889"/>
                <a:gd name="T100" fmla="*/ 648 w 1264"/>
                <a:gd name="T101" fmla="*/ 553 h 1889"/>
                <a:gd name="T102" fmla="*/ 602 w 1264"/>
                <a:gd name="T103" fmla="*/ 629 h 1889"/>
                <a:gd name="T104" fmla="*/ 570 w 1264"/>
                <a:gd name="T105" fmla="*/ 730 h 1889"/>
                <a:gd name="T106" fmla="*/ 498 w 1264"/>
                <a:gd name="T107" fmla="*/ 938 h 1889"/>
                <a:gd name="T108" fmla="*/ 505 w 1264"/>
                <a:gd name="T109" fmla="*/ 1002 h 18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264" h="1889">
                  <a:moveTo>
                    <a:pt x="426" y="1875"/>
                  </a:moveTo>
                  <a:lnTo>
                    <a:pt x="423" y="1869"/>
                  </a:lnTo>
                  <a:lnTo>
                    <a:pt x="408" y="1860"/>
                  </a:lnTo>
                  <a:lnTo>
                    <a:pt x="395" y="1859"/>
                  </a:lnTo>
                  <a:lnTo>
                    <a:pt x="366" y="1855"/>
                  </a:lnTo>
                  <a:lnTo>
                    <a:pt x="297" y="1829"/>
                  </a:lnTo>
                  <a:lnTo>
                    <a:pt x="225" y="1788"/>
                  </a:lnTo>
                  <a:lnTo>
                    <a:pt x="161" y="1741"/>
                  </a:lnTo>
                  <a:lnTo>
                    <a:pt x="140" y="1716"/>
                  </a:lnTo>
                  <a:lnTo>
                    <a:pt x="115" y="1682"/>
                  </a:lnTo>
                  <a:lnTo>
                    <a:pt x="69" y="1591"/>
                  </a:lnTo>
                  <a:lnTo>
                    <a:pt x="55" y="1548"/>
                  </a:lnTo>
                  <a:lnTo>
                    <a:pt x="29" y="1465"/>
                  </a:lnTo>
                  <a:lnTo>
                    <a:pt x="11" y="1420"/>
                  </a:lnTo>
                  <a:lnTo>
                    <a:pt x="6" y="1398"/>
                  </a:lnTo>
                  <a:lnTo>
                    <a:pt x="0" y="1299"/>
                  </a:lnTo>
                  <a:lnTo>
                    <a:pt x="0" y="1177"/>
                  </a:lnTo>
                  <a:lnTo>
                    <a:pt x="6" y="1089"/>
                  </a:lnTo>
                  <a:lnTo>
                    <a:pt x="11" y="1080"/>
                  </a:lnTo>
                  <a:lnTo>
                    <a:pt x="17" y="1071"/>
                  </a:lnTo>
                  <a:lnTo>
                    <a:pt x="36" y="997"/>
                  </a:lnTo>
                  <a:lnTo>
                    <a:pt x="46" y="940"/>
                  </a:lnTo>
                  <a:lnTo>
                    <a:pt x="56" y="883"/>
                  </a:lnTo>
                  <a:lnTo>
                    <a:pt x="81" y="786"/>
                  </a:lnTo>
                  <a:lnTo>
                    <a:pt x="91" y="765"/>
                  </a:lnTo>
                  <a:lnTo>
                    <a:pt x="117" y="714"/>
                  </a:lnTo>
                  <a:lnTo>
                    <a:pt x="147" y="629"/>
                  </a:lnTo>
                  <a:lnTo>
                    <a:pt x="174" y="552"/>
                  </a:lnTo>
                  <a:lnTo>
                    <a:pt x="190" y="521"/>
                  </a:lnTo>
                  <a:lnTo>
                    <a:pt x="204" y="503"/>
                  </a:lnTo>
                  <a:lnTo>
                    <a:pt x="228" y="458"/>
                  </a:lnTo>
                  <a:lnTo>
                    <a:pt x="252" y="418"/>
                  </a:lnTo>
                  <a:lnTo>
                    <a:pt x="346" y="311"/>
                  </a:lnTo>
                  <a:lnTo>
                    <a:pt x="465" y="197"/>
                  </a:lnTo>
                  <a:lnTo>
                    <a:pt x="582" y="108"/>
                  </a:lnTo>
                  <a:lnTo>
                    <a:pt x="628" y="84"/>
                  </a:lnTo>
                  <a:lnTo>
                    <a:pt x="670" y="65"/>
                  </a:lnTo>
                  <a:lnTo>
                    <a:pt x="746" y="38"/>
                  </a:lnTo>
                  <a:lnTo>
                    <a:pt x="766" y="36"/>
                  </a:lnTo>
                  <a:lnTo>
                    <a:pt x="782" y="35"/>
                  </a:lnTo>
                  <a:lnTo>
                    <a:pt x="802" y="25"/>
                  </a:lnTo>
                  <a:lnTo>
                    <a:pt x="804" y="17"/>
                  </a:lnTo>
                  <a:lnTo>
                    <a:pt x="809" y="10"/>
                  </a:lnTo>
                  <a:lnTo>
                    <a:pt x="864" y="0"/>
                  </a:lnTo>
                  <a:lnTo>
                    <a:pt x="904" y="0"/>
                  </a:lnTo>
                  <a:lnTo>
                    <a:pt x="946" y="2"/>
                  </a:lnTo>
                  <a:lnTo>
                    <a:pt x="1024" y="20"/>
                  </a:lnTo>
                  <a:lnTo>
                    <a:pt x="1093" y="61"/>
                  </a:lnTo>
                  <a:lnTo>
                    <a:pt x="1154" y="121"/>
                  </a:lnTo>
                  <a:lnTo>
                    <a:pt x="1182" y="160"/>
                  </a:lnTo>
                  <a:lnTo>
                    <a:pt x="1194" y="180"/>
                  </a:lnTo>
                  <a:lnTo>
                    <a:pt x="1211" y="219"/>
                  </a:lnTo>
                  <a:lnTo>
                    <a:pt x="1224" y="295"/>
                  </a:lnTo>
                  <a:lnTo>
                    <a:pt x="1226" y="386"/>
                  </a:lnTo>
                  <a:lnTo>
                    <a:pt x="1226" y="441"/>
                  </a:lnTo>
                  <a:lnTo>
                    <a:pt x="1221" y="518"/>
                  </a:lnTo>
                  <a:lnTo>
                    <a:pt x="1207" y="580"/>
                  </a:lnTo>
                  <a:lnTo>
                    <a:pt x="1172" y="657"/>
                  </a:lnTo>
                  <a:lnTo>
                    <a:pt x="1146" y="710"/>
                  </a:lnTo>
                  <a:lnTo>
                    <a:pt x="1116" y="766"/>
                  </a:lnTo>
                  <a:lnTo>
                    <a:pt x="1046" y="874"/>
                  </a:lnTo>
                  <a:lnTo>
                    <a:pt x="961" y="975"/>
                  </a:lnTo>
                  <a:lnTo>
                    <a:pt x="863" y="1071"/>
                  </a:lnTo>
                  <a:lnTo>
                    <a:pt x="809" y="1116"/>
                  </a:lnTo>
                  <a:lnTo>
                    <a:pt x="766" y="1145"/>
                  </a:lnTo>
                  <a:lnTo>
                    <a:pt x="678" y="1187"/>
                  </a:lnTo>
                  <a:lnTo>
                    <a:pt x="629" y="1204"/>
                  </a:lnTo>
                  <a:lnTo>
                    <a:pt x="615" y="1205"/>
                  </a:lnTo>
                  <a:lnTo>
                    <a:pt x="603" y="1207"/>
                  </a:lnTo>
                  <a:lnTo>
                    <a:pt x="589" y="1217"/>
                  </a:lnTo>
                  <a:lnTo>
                    <a:pt x="588" y="1224"/>
                  </a:lnTo>
                  <a:lnTo>
                    <a:pt x="583" y="1231"/>
                  </a:lnTo>
                  <a:lnTo>
                    <a:pt x="544" y="1240"/>
                  </a:lnTo>
                  <a:lnTo>
                    <a:pt x="516" y="1241"/>
                  </a:lnTo>
                  <a:lnTo>
                    <a:pt x="444" y="1241"/>
                  </a:lnTo>
                  <a:lnTo>
                    <a:pt x="444" y="1365"/>
                  </a:lnTo>
                  <a:lnTo>
                    <a:pt x="445" y="1417"/>
                  </a:lnTo>
                  <a:lnTo>
                    <a:pt x="454" y="1490"/>
                  </a:lnTo>
                  <a:lnTo>
                    <a:pt x="459" y="1502"/>
                  </a:lnTo>
                  <a:lnTo>
                    <a:pt x="467" y="1509"/>
                  </a:lnTo>
                  <a:lnTo>
                    <a:pt x="482" y="1544"/>
                  </a:lnTo>
                  <a:lnTo>
                    <a:pt x="488" y="1565"/>
                  </a:lnTo>
                  <a:lnTo>
                    <a:pt x="495" y="1588"/>
                  </a:lnTo>
                  <a:lnTo>
                    <a:pt x="528" y="1637"/>
                  </a:lnTo>
                  <a:lnTo>
                    <a:pt x="575" y="1680"/>
                  </a:lnTo>
                  <a:lnTo>
                    <a:pt x="622" y="1706"/>
                  </a:lnTo>
                  <a:lnTo>
                    <a:pt x="642" y="1709"/>
                  </a:lnTo>
                  <a:lnTo>
                    <a:pt x="657" y="1708"/>
                  </a:lnTo>
                  <a:lnTo>
                    <a:pt x="690" y="1693"/>
                  </a:lnTo>
                  <a:lnTo>
                    <a:pt x="703" y="1682"/>
                  </a:lnTo>
                  <a:lnTo>
                    <a:pt x="714" y="1672"/>
                  </a:lnTo>
                  <a:lnTo>
                    <a:pt x="739" y="1657"/>
                  </a:lnTo>
                  <a:lnTo>
                    <a:pt x="750" y="1656"/>
                  </a:lnTo>
                  <a:lnTo>
                    <a:pt x="765" y="1650"/>
                  </a:lnTo>
                  <a:lnTo>
                    <a:pt x="825" y="1596"/>
                  </a:lnTo>
                  <a:lnTo>
                    <a:pt x="899" y="1515"/>
                  </a:lnTo>
                  <a:lnTo>
                    <a:pt x="961" y="1434"/>
                  </a:lnTo>
                  <a:lnTo>
                    <a:pt x="976" y="1405"/>
                  </a:lnTo>
                  <a:lnTo>
                    <a:pt x="992" y="1374"/>
                  </a:lnTo>
                  <a:lnTo>
                    <a:pt x="1031" y="1310"/>
                  </a:lnTo>
                  <a:lnTo>
                    <a:pt x="1073" y="1256"/>
                  </a:lnTo>
                  <a:lnTo>
                    <a:pt x="1112" y="1215"/>
                  </a:lnTo>
                  <a:lnTo>
                    <a:pt x="1128" y="1205"/>
                  </a:lnTo>
                  <a:lnTo>
                    <a:pt x="1136" y="1201"/>
                  </a:lnTo>
                  <a:lnTo>
                    <a:pt x="1155" y="1200"/>
                  </a:lnTo>
                  <a:lnTo>
                    <a:pt x="1185" y="1210"/>
                  </a:lnTo>
                  <a:lnTo>
                    <a:pt x="1224" y="1240"/>
                  </a:lnTo>
                  <a:lnTo>
                    <a:pt x="1253" y="1283"/>
                  </a:lnTo>
                  <a:lnTo>
                    <a:pt x="1259" y="1308"/>
                  </a:lnTo>
                  <a:lnTo>
                    <a:pt x="1264" y="1345"/>
                  </a:lnTo>
                  <a:lnTo>
                    <a:pt x="1262" y="1395"/>
                  </a:lnTo>
                  <a:lnTo>
                    <a:pt x="1251" y="1427"/>
                  </a:lnTo>
                  <a:lnTo>
                    <a:pt x="1223" y="1479"/>
                  </a:lnTo>
                  <a:lnTo>
                    <a:pt x="1149" y="1565"/>
                  </a:lnTo>
                  <a:lnTo>
                    <a:pt x="1093" y="1621"/>
                  </a:lnTo>
                  <a:lnTo>
                    <a:pt x="1008" y="1704"/>
                  </a:lnTo>
                  <a:lnTo>
                    <a:pt x="922" y="1770"/>
                  </a:lnTo>
                  <a:lnTo>
                    <a:pt x="868" y="1796"/>
                  </a:lnTo>
                  <a:lnTo>
                    <a:pt x="840" y="1807"/>
                  </a:lnTo>
                  <a:lnTo>
                    <a:pt x="756" y="1833"/>
                  </a:lnTo>
                  <a:lnTo>
                    <a:pt x="714" y="1848"/>
                  </a:lnTo>
                  <a:lnTo>
                    <a:pt x="680" y="1855"/>
                  </a:lnTo>
                  <a:lnTo>
                    <a:pt x="631" y="1855"/>
                  </a:lnTo>
                  <a:lnTo>
                    <a:pt x="606" y="1855"/>
                  </a:lnTo>
                  <a:lnTo>
                    <a:pt x="569" y="1862"/>
                  </a:lnTo>
                  <a:lnTo>
                    <a:pt x="560" y="1869"/>
                  </a:lnTo>
                  <a:lnTo>
                    <a:pt x="553" y="1878"/>
                  </a:lnTo>
                  <a:lnTo>
                    <a:pt x="513" y="1888"/>
                  </a:lnTo>
                  <a:lnTo>
                    <a:pt x="464" y="1889"/>
                  </a:lnTo>
                  <a:lnTo>
                    <a:pt x="429" y="1882"/>
                  </a:lnTo>
                  <a:lnTo>
                    <a:pt x="426" y="1875"/>
                  </a:lnTo>
                  <a:close/>
                  <a:moveTo>
                    <a:pt x="546" y="986"/>
                  </a:moveTo>
                  <a:lnTo>
                    <a:pt x="570" y="974"/>
                  </a:lnTo>
                  <a:lnTo>
                    <a:pt x="645" y="914"/>
                  </a:lnTo>
                  <a:lnTo>
                    <a:pt x="724" y="842"/>
                  </a:lnTo>
                  <a:lnTo>
                    <a:pt x="779" y="783"/>
                  </a:lnTo>
                  <a:lnTo>
                    <a:pt x="786" y="770"/>
                  </a:lnTo>
                  <a:lnTo>
                    <a:pt x="796" y="742"/>
                  </a:lnTo>
                  <a:lnTo>
                    <a:pt x="834" y="681"/>
                  </a:lnTo>
                  <a:lnTo>
                    <a:pt x="848" y="660"/>
                  </a:lnTo>
                  <a:lnTo>
                    <a:pt x="867" y="616"/>
                  </a:lnTo>
                  <a:lnTo>
                    <a:pt x="884" y="540"/>
                  </a:lnTo>
                  <a:lnTo>
                    <a:pt x="890" y="457"/>
                  </a:lnTo>
                  <a:lnTo>
                    <a:pt x="893" y="395"/>
                  </a:lnTo>
                  <a:lnTo>
                    <a:pt x="887" y="301"/>
                  </a:lnTo>
                  <a:lnTo>
                    <a:pt x="881" y="285"/>
                  </a:lnTo>
                  <a:lnTo>
                    <a:pt x="876" y="281"/>
                  </a:lnTo>
                  <a:lnTo>
                    <a:pt x="858" y="284"/>
                  </a:lnTo>
                  <a:lnTo>
                    <a:pt x="821" y="305"/>
                  </a:lnTo>
                  <a:lnTo>
                    <a:pt x="763" y="363"/>
                  </a:lnTo>
                  <a:lnTo>
                    <a:pt x="709" y="436"/>
                  </a:lnTo>
                  <a:lnTo>
                    <a:pt x="688" y="477"/>
                  </a:lnTo>
                  <a:lnTo>
                    <a:pt x="648" y="553"/>
                  </a:lnTo>
                  <a:lnTo>
                    <a:pt x="625" y="585"/>
                  </a:lnTo>
                  <a:lnTo>
                    <a:pt x="618" y="592"/>
                  </a:lnTo>
                  <a:lnTo>
                    <a:pt x="602" y="629"/>
                  </a:lnTo>
                  <a:lnTo>
                    <a:pt x="596" y="652"/>
                  </a:lnTo>
                  <a:lnTo>
                    <a:pt x="590" y="677"/>
                  </a:lnTo>
                  <a:lnTo>
                    <a:pt x="570" y="730"/>
                  </a:lnTo>
                  <a:lnTo>
                    <a:pt x="559" y="750"/>
                  </a:lnTo>
                  <a:lnTo>
                    <a:pt x="537" y="801"/>
                  </a:lnTo>
                  <a:lnTo>
                    <a:pt x="498" y="938"/>
                  </a:lnTo>
                  <a:lnTo>
                    <a:pt x="487" y="1001"/>
                  </a:lnTo>
                  <a:lnTo>
                    <a:pt x="488" y="1008"/>
                  </a:lnTo>
                  <a:lnTo>
                    <a:pt x="505" y="1002"/>
                  </a:lnTo>
                  <a:lnTo>
                    <a:pt x="546" y="986"/>
                  </a:lnTo>
                  <a:close/>
                </a:path>
              </a:pathLst>
            </a:custGeom>
            <a:solidFill>
              <a:srgbClr val="C00000"/>
            </a:solidFill>
            <a:ln>
              <a:noFill/>
            </a:ln>
          </p:spPr>
          <p:txBody>
            <a:bodyPr vert="horz" wrap="square" lIns="91440" tIns="45720" rIns="91440" bIns="45720" numCol="1" anchor="t" anchorCtr="0" compatLnSpc="1">
              <a:prstTxWarp prst="textNoShape">
                <a:avLst/>
              </a:prstTxWarp>
            </a:bodyPr>
            <a:lstStyle/>
            <a:p>
              <a:endParaRPr lang="es-PE"/>
            </a:p>
          </p:txBody>
        </p:sp>
        <p:sp>
          <p:nvSpPr>
            <p:cNvPr id="12" name="Freeform 10"/>
            <p:cNvSpPr>
              <a:spLocks noEditPoints="1"/>
            </p:cNvSpPr>
            <p:nvPr/>
          </p:nvSpPr>
          <p:spPr bwMode="auto">
            <a:xfrm>
              <a:off x="4380821" y="4887458"/>
              <a:ext cx="1160463" cy="1044575"/>
            </a:xfrm>
            <a:custGeom>
              <a:avLst/>
              <a:gdLst>
                <a:gd name="T0" fmla="*/ 82 w 2195"/>
                <a:gd name="T1" fmla="*/ 1808 h 1973"/>
                <a:gd name="T2" fmla="*/ 4 w 2195"/>
                <a:gd name="T3" fmla="*/ 1585 h 1973"/>
                <a:gd name="T4" fmla="*/ 40 w 2195"/>
                <a:gd name="T5" fmla="*/ 1111 h 1973"/>
                <a:gd name="T6" fmla="*/ 135 w 2195"/>
                <a:gd name="T7" fmla="*/ 802 h 1973"/>
                <a:gd name="T8" fmla="*/ 202 w 2195"/>
                <a:gd name="T9" fmla="*/ 644 h 1973"/>
                <a:gd name="T10" fmla="*/ 376 w 2195"/>
                <a:gd name="T11" fmla="*/ 356 h 1973"/>
                <a:gd name="T12" fmla="*/ 592 w 2195"/>
                <a:gd name="T13" fmla="*/ 354 h 1973"/>
                <a:gd name="T14" fmla="*/ 657 w 2195"/>
                <a:gd name="T15" fmla="*/ 625 h 1973"/>
                <a:gd name="T16" fmla="*/ 660 w 2195"/>
                <a:gd name="T17" fmla="*/ 710 h 1973"/>
                <a:gd name="T18" fmla="*/ 854 w 2195"/>
                <a:gd name="T19" fmla="*/ 394 h 1973"/>
                <a:gd name="T20" fmla="*/ 1030 w 2195"/>
                <a:gd name="T21" fmla="*/ 226 h 1973"/>
                <a:gd name="T22" fmla="*/ 1293 w 2195"/>
                <a:gd name="T23" fmla="*/ 187 h 1973"/>
                <a:gd name="T24" fmla="*/ 1357 w 2195"/>
                <a:gd name="T25" fmla="*/ 235 h 1973"/>
                <a:gd name="T26" fmla="*/ 1414 w 2195"/>
                <a:gd name="T27" fmla="*/ 474 h 1973"/>
                <a:gd name="T28" fmla="*/ 1457 w 2195"/>
                <a:gd name="T29" fmla="*/ 492 h 1973"/>
                <a:gd name="T30" fmla="*/ 1587 w 2195"/>
                <a:gd name="T31" fmla="*/ 266 h 1973"/>
                <a:gd name="T32" fmla="*/ 1727 w 2195"/>
                <a:gd name="T33" fmla="*/ 122 h 1973"/>
                <a:gd name="T34" fmla="*/ 1833 w 2195"/>
                <a:gd name="T35" fmla="*/ 43 h 1973"/>
                <a:gd name="T36" fmla="*/ 1944 w 2195"/>
                <a:gd name="T37" fmla="*/ 0 h 1973"/>
                <a:gd name="T38" fmla="*/ 2095 w 2195"/>
                <a:gd name="T39" fmla="*/ 53 h 1973"/>
                <a:gd name="T40" fmla="*/ 2172 w 2195"/>
                <a:gd name="T41" fmla="*/ 158 h 1973"/>
                <a:gd name="T42" fmla="*/ 2195 w 2195"/>
                <a:gd name="T43" fmla="*/ 288 h 1973"/>
                <a:gd name="T44" fmla="*/ 2026 w 2195"/>
                <a:gd name="T45" fmla="*/ 698 h 1973"/>
                <a:gd name="T46" fmla="*/ 1913 w 2195"/>
                <a:gd name="T47" fmla="*/ 989 h 1973"/>
                <a:gd name="T48" fmla="*/ 1865 w 2195"/>
                <a:gd name="T49" fmla="*/ 1097 h 1973"/>
                <a:gd name="T50" fmla="*/ 1845 w 2195"/>
                <a:gd name="T51" fmla="*/ 1433 h 1973"/>
                <a:gd name="T52" fmla="*/ 1910 w 2195"/>
                <a:gd name="T53" fmla="*/ 1608 h 1973"/>
                <a:gd name="T54" fmla="*/ 1714 w 2195"/>
                <a:gd name="T55" fmla="*/ 1636 h 1973"/>
                <a:gd name="T56" fmla="*/ 1505 w 2195"/>
                <a:gd name="T57" fmla="*/ 1428 h 1973"/>
                <a:gd name="T58" fmla="*/ 1508 w 2195"/>
                <a:gd name="T59" fmla="*/ 973 h 1973"/>
                <a:gd name="T60" fmla="*/ 1656 w 2195"/>
                <a:gd name="T61" fmla="*/ 573 h 1973"/>
                <a:gd name="T62" fmla="*/ 1774 w 2195"/>
                <a:gd name="T63" fmla="*/ 285 h 1973"/>
                <a:gd name="T64" fmla="*/ 1682 w 2195"/>
                <a:gd name="T65" fmla="*/ 392 h 1973"/>
                <a:gd name="T66" fmla="*/ 1423 w 2195"/>
                <a:gd name="T67" fmla="*/ 893 h 1973"/>
                <a:gd name="T68" fmla="*/ 1365 w 2195"/>
                <a:gd name="T69" fmla="*/ 1065 h 1973"/>
                <a:gd name="T70" fmla="*/ 1303 w 2195"/>
                <a:gd name="T71" fmla="*/ 1241 h 1973"/>
                <a:gd name="T72" fmla="*/ 1257 w 2195"/>
                <a:gd name="T73" fmla="*/ 1437 h 1973"/>
                <a:gd name="T74" fmla="*/ 1194 w 2195"/>
                <a:gd name="T75" fmla="*/ 1613 h 1973"/>
                <a:gd name="T76" fmla="*/ 1060 w 2195"/>
                <a:gd name="T77" fmla="*/ 1725 h 1973"/>
                <a:gd name="T78" fmla="*/ 880 w 2195"/>
                <a:gd name="T79" fmla="*/ 1663 h 1973"/>
                <a:gd name="T80" fmla="*/ 809 w 2195"/>
                <a:gd name="T81" fmla="*/ 1510 h 1973"/>
                <a:gd name="T82" fmla="*/ 775 w 2195"/>
                <a:gd name="T83" fmla="*/ 1395 h 1973"/>
                <a:gd name="T84" fmla="*/ 809 w 2195"/>
                <a:gd name="T85" fmla="*/ 1199 h 1973"/>
                <a:gd name="T86" fmla="*/ 883 w 2195"/>
                <a:gd name="T87" fmla="*/ 835 h 1973"/>
                <a:gd name="T88" fmla="*/ 982 w 2195"/>
                <a:gd name="T89" fmla="*/ 566 h 1973"/>
                <a:gd name="T90" fmla="*/ 936 w 2195"/>
                <a:gd name="T91" fmla="*/ 521 h 1973"/>
                <a:gd name="T92" fmla="*/ 883 w 2195"/>
                <a:gd name="T93" fmla="*/ 610 h 1973"/>
                <a:gd name="T94" fmla="*/ 637 w 2195"/>
                <a:gd name="T95" fmla="*/ 1106 h 1973"/>
                <a:gd name="T96" fmla="*/ 529 w 2195"/>
                <a:gd name="T97" fmla="*/ 1447 h 1973"/>
                <a:gd name="T98" fmla="*/ 484 w 2195"/>
                <a:gd name="T99" fmla="*/ 1569 h 1973"/>
                <a:gd name="T100" fmla="*/ 461 w 2195"/>
                <a:gd name="T101" fmla="*/ 1954 h 1973"/>
                <a:gd name="T102" fmla="*/ 269 w 2195"/>
                <a:gd name="T103" fmla="*/ 1965 h 1973"/>
                <a:gd name="T104" fmla="*/ 1324 w 2195"/>
                <a:gd name="T105" fmla="*/ 720 h 1973"/>
                <a:gd name="T106" fmla="*/ 1331 w 2195"/>
                <a:gd name="T107" fmla="*/ 763 h 1973"/>
                <a:gd name="T108" fmla="*/ 1413 w 2195"/>
                <a:gd name="T109" fmla="*/ 572 h 1973"/>
                <a:gd name="T110" fmla="*/ 1385 w 2195"/>
                <a:gd name="T111" fmla="*/ 595 h 19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195" h="1973">
                  <a:moveTo>
                    <a:pt x="269" y="1965"/>
                  </a:moveTo>
                  <a:lnTo>
                    <a:pt x="246" y="1955"/>
                  </a:lnTo>
                  <a:lnTo>
                    <a:pt x="192" y="1918"/>
                  </a:lnTo>
                  <a:lnTo>
                    <a:pt x="134" y="1865"/>
                  </a:lnTo>
                  <a:lnTo>
                    <a:pt x="82" y="1808"/>
                  </a:lnTo>
                  <a:lnTo>
                    <a:pt x="62" y="1781"/>
                  </a:lnTo>
                  <a:lnTo>
                    <a:pt x="46" y="1757"/>
                  </a:lnTo>
                  <a:lnTo>
                    <a:pt x="25" y="1715"/>
                  </a:lnTo>
                  <a:lnTo>
                    <a:pt x="12" y="1663"/>
                  </a:lnTo>
                  <a:lnTo>
                    <a:pt x="4" y="1585"/>
                  </a:lnTo>
                  <a:lnTo>
                    <a:pt x="3" y="1530"/>
                  </a:lnTo>
                  <a:lnTo>
                    <a:pt x="0" y="1466"/>
                  </a:lnTo>
                  <a:lnTo>
                    <a:pt x="6" y="1330"/>
                  </a:lnTo>
                  <a:lnTo>
                    <a:pt x="19" y="1207"/>
                  </a:lnTo>
                  <a:lnTo>
                    <a:pt x="40" y="1111"/>
                  </a:lnTo>
                  <a:lnTo>
                    <a:pt x="53" y="1083"/>
                  </a:lnTo>
                  <a:lnTo>
                    <a:pt x="71" y="1029"/>
                  </a:lnTo>
                  <a:lnTo>
                    <a:pt x="99" y="926"/>
                  </a:lnTo>
                  <a:lnTo>
                    <a:pt x="112" y="875"/>
                  </a:lnTo>
                  <a:lnTo>
                    <a:pt x="135" y="802"/>
                  </a:lnTo>
                  <a:lnTo>
                    <a:pt x="143" y="790"/>
                  </a:lnTo>
                  <a:lnTo>
                    <a:pt x="150" y="782"/>
                  </a:lnTo>
                  <a:lnTo>
                    <a:pt x="173" y="726"/>
                  </a:lnTo>
                  <a:lnTo>
                    <a:pt x="186" y="688"/>
                  </a:lnTo>
                  <a:lnTo>
                    <a:pt x="202" y="644"/>
                  </a:lnTo>
                  <a:lnTo>
                    <a:pt x="243" y="547"/>
                  </a:lnTo>
                  <a:lnTo>
                    <a:pt x="292" y="456"/>
                  </a:lnTo>
                  <a:lnTo>
                    <a:pt x="338" y="389"/>
                  </a:lnTo>
                  <a:lnTo>
                    <a:pt x="357" y="370"/>
                  </a:lnTo>
                  <a:lnTo>
                    <a:pt x="376" y="356"/>
                  </a:lnTo>
                  <a:lnTo>
                    <a:pt x="438" y="332"/>
                  </a:lnTo>
                  <a:lnTo>
                    <a:pt x="472" y="328"/>
                  </a:lnTo>
                  <a:lnTo>
                    <a:pt x="500" y="325"/>
                  </a:lnTo>
                  <a:lnTo>
                    <a:pt x="550" y="332"/>
                  </a:lnTo>
                  <a:lnTo>
                    <a:pt x="592" y="354"/>
                  </a:lnTo>
                  <a:lnTo>
                    <a:pt x="624" y="387"/>
                  </a:lnTo>
                  <a:lnTo>
                    <a:pt x="648" y="432"/>
                  </a:lnTo>
                  <a:lnTo>
                    <a:pt x="661" y="487"/>
                  </a:lnTo>
                  <a:lnTo>
                    <a:pt x="664" y="551"/>
                  </a:lnTo>
                  <a:lnTo>
                    <a:pt x="657" y="625"/>
                  </a:lnTo>
                  <a:lnTo>
                    <a:pt x="648" y="665"/>
                  </a:lnTo>
                  <a:lnTo>
                    <a:pt x="638" y="711"/>
                  </a:lnTo>
                  <a:lnTo>
                    <a:pt x="639" y="730"/>
                  </a:lnTo>
                  <a:lnTo>
                    <a:pt x="650" y="720"/>
                  </a:lnTo>
                  <a:lnTo>
                    <a:pt x="660" y="710"/>
                  </a:lnTo>
                  <a:lnTo>
                    <a:pt x="690" y="661"/>
                  </a:lnTo>
                  <a:lnTo>
                    <a:pt x="730" y="583"/>
                  </a:lnTo>
                  <a:lnTo>
                    <a:pt x="752" y="541"/>
                  </a:lnTo>
                  <a:lnTo>
                    <a:pt x="818" y="439"/>
                  </a:lnTo>
                  <a:lnTo>
                    <a:pt x="854" y="394"/>
                  </a:lnTo>
                  <a:lnTo>
                    <a:pt x="917" y="315"/>
                  </a:lnTo>
                  <a:lnTo>
                    <a:pt x="935" y="285"/>
                  </a:lnTo>
                  <a:lnTo>
                    <a:pt x="940" y="276"/>
                  </a:lnTo>
                  <a:lnTo>
                    <a:pt x="992" y="245"/>
                  </a:lnTo>
                  <a:lnTo>
                    <a:pt x="1030" y="226"/>
                  </a:lnTo>
                  <a:lnTo>
                    <a:pt x="1067" y="209"/>
                  </a:lnTo>
                  <a:lnTo>
                    <a:pt x="1155" y="186"/>
                  </a:lnTo>
                  <a:lnTo>
                    <a:pt x="1237" y="176"/>
                  </a:lnTo>
                  <a:lnTo>
                    <a:pt x="1279" y="178"/>
                  </a:lnTo>
                  <a:lnTo>
                    <a:pt x="1293" y="187"/>
                  </a:lnTo>
                  <a:lnTo>
                    <a:pt x="1295" y="193"/>
                  </a:lnTo>
                  <a:lnTo>
                    <a:pt x="1298" y="199"/>
                  </a:lnTo>
                  <a:lnTo>
                    <a:pt x="1319" y="216"/>
                  </a:lnTo>
                  <a:lnTo>
                    <a:pt x="1335" y="223"/>
                  </a:lnTo>
                  <a:lnTo>
                    <a:pt x="1357" y="235"/>
                  </a:lnTo>
                  <a:lnTo>
                    <a:pt x="1390" y="271"/>
                  </a:lnTo>
                  <a:lnTo>
                    <a:pt x="1410" y="324"/>
                  </a:lnTo>
                  <a:lnTo>
                    <a:pt x="1417" y="393"/>
                  </a:lnTo>
                  <a:lnTo>
                    <a:pt x="1416" y="436"/>
                  </a:lnTo>
                  <a:lnTo>
                    <a:pt x="1414" y="474"/>
                  </a:lnTo>
                  <a:lnTo>
                    <a:pt x="1419" y="523"/>
                  </a:lnTo>
                  <a:lnTo>
                    <a:pt x="1426" y="537"/>
                  </a:lnTo>
                  <a:lnTo>
                    <a:pt x="1433" y="536"/>
                  </a:lnTo>
                  <a:lnTo>
                    <a:pt x="1446" y="517"/>
                  </a:lnTo>
                  <a:lnTo>
                    <a:pt x="1457" y="492"/>
                  </a:lnTo>
                  <a:lnTo>
                    <a:pt x="1483" y="439"/>
                  </a:lnTo>
                  <a:lnTo>
                    <a:pt x="1529" y="367"/>
                  </a:lnTo>
                  <a:lnTo>
                    <a:pt x="1571" y="305"/>
                  </a:lnTo>
                  <a:lnTo>
                    <a:pt x="1583" y="278"/>
                  </a:lnTo>
                  <a:lnTo>
                    <a:pt x="1587" y="266"/>
                  </a:lnTo>
                  <a:lnTo>
                    <a:pt x="1620" y="220"/>
                  </a:lnTo>
                  <a:lnTo>
                    <a:pt x="1668" y="167"/>
                  </a:lnTo>
                  <a:lnTo>
                    <a:pt x="1708" y="128"/>
                  </a:lnTo>
                  <a:lnTo>
                    <a:pt x="1718" y="125"/>
                  </a:lnTo>
                  <a:lnTo>
                    <a:pt x="1727" y="122"/>
                  </a:lnTo>
                  <a:lnTo>
                    <a:pt x="1748" y="104"/>
                  </a:lnTo>
                  <a:lnTo>
                    <a:pt x="1757" y="91"/>
                  </a:lnTo>
                  <a:lnTo>
                    <a:pt x="1770" y="75"/>
                  </a:lnTo>
                  <a:lnTo>
                    <a:pt x="1810" y="50"/>
                  </a:lnTo>
                  <a:lnTo>
                    <a:pt x="1833" y="43"/>
                  </a:lnTo>
                  <a:lnTo>
                    <a:pt x="1856" y="37"/>
                  </a:lnTo>
                  <a:lnTo>
                    <a:pt x="1891" y="21"/>
                  </a:lnTo>
                  <a:lnTo>
                    <a:pt x="1898" y="14"/>
                  </a:lnTo>
                  <a:lnTo>
                    <a:pt x="1905" y="7"/>
                  </a:lnTo>
                  <a:lnTo>
                    <a:pt x="1944" y="0"/>
                  </a:lnTo>
                  <a:lnTo>
                    <a:pt x="1992" y="0"/>
                  </a:lnTo>
                  <a:lnTo>
                    <a:pt x="2029" y="6"/>
                  </a:lnTo>
                  <a:lnTo>
                    <a:pt x="2036" y="13"/>
                  </a:lnTo>
                  <a:lnTo>
                    <a:pt x="2054" y="29"/>
                  </a:lnTo>
                  <a:lnTo>
                    <a:pt x="2095" y="53"/>
                  </a:lnTo>
                  <a:lnTo>
                    <a:pt x="2119" y="66"/>
                  </a:lnTo>
                  <a:lnTo>
                    <a:pt x="2150" y="102"/>
                  </a:lnTo>
                  <a:lnTo>
                    <a:pt x="2156" y="121"/>
                  </a:lnTo>
                  <a:lnTo>
                    <a:pt x="2159" y="137"/>
                  </a:lnTo>
                  <a:lnTo>
                    <a:pt x="2172" y="158"/>
                  </a:lnTo>
                  <a:lnTo>
                    <a:pt x="2179" y="161"/>
                  </a:lnTo>
                  <a:lnTo>
                    <a:pt x="2182" y="161"/>
                  </a:lnTo>
                  <a:lnTo>
                    <a:pt x="2189" y="176"/>
                  </a:lnTo>
                  <a:lnTo>
                    <a:pt x="2195" y="216"/>
                  </a:lnTo>
                  <a:lnTo>
                    <a:pt x="2195" y="288"/>
                  </a:lnTo>
                  <a:lnTo>
                    <a:pt x="2186" y="353"/>
                  </a:lnTo>
                  <a:lnTo>
                    <a:pt x="2179" y="373"/>
                  </a:lnTo>
                  <a:lnTo>
                    <a:pt x="2149" y="433"/>
                  </a:lnTo>
                  <a:lnTo>
                    <a:pt x="2087" y="566"/>
                  </a:lnTo>
                  <a:lnTo>
                    <a:pt x="2026" y="698"/>
                  </a:lnTo>
                  <a:lnTo>
                    <a:pt x="1995" y="760"/>
                  </a:lnTo>
                  <a:lnTo>
                    <a:pt x="1976" y="803"/>
                  </a:lnTo>
                  <a:lnTo>
                    <a:pt x="1950" y="877"/>
                  </a:lnTo>
                  <a:lnTo>
                    <a:pt x="1927" y="949"/>
                  </a:lnTo>
                  <a:lnTo>
                    <a:pt x="1913" y="989"/>
                  </a:lnTo>
                  <a:lnTo>
                    <a:pt x="1902" y="1011"/>
                  </a:lnTo>
                  <a:lnTo>
                    <a:pt x="1900" y="1025"/>
                  </a:lnTo>
                  <a:lnTo>
                    <a:pt x="1892" y="1039"/>
                  </a:lnTo>
                  <a:lnTo>
                    <a:pt x="1877" y="1071"/>
                  </a:lnTo>
                  <a:lnTo>
                    <a:pt x="1865" y="1097"/>
                  </a:lnTo>
                  <a:lnTo>
                    <a:pt x="1846" y="1185"/>
                  </a:lnTo>
                  <a:lnTo>
                    <a:pt x="1833" y="1290"/>
                  </a:lnTo>
                  <a:lnTo>
                    <a:pt x="1832" y="1382"/>
                  </a:lnTo>
                  <a:lnTo>
                    <a:pt x="1836" y="1410"/>
                  </a:lnTo>
                  <a:lnTo>
                    <a:pt x="1845" y="1433"/>
                  </a:lnTo>
                  <a:lnTo>
                    <a:pt x="1874" y="1483"/>
                  </a:lnTo>
                  <a:lnTo>
                    <a:pt x="1890" y="1502"/>
                  </a:lnTo>
                  <a:lnTo>
                    <a:pt x="1907" y="1523"/>
                  </a:lnTo>
                  <a:lnTo>
                    <a:pt x="1920" y="1568"/>
                  </a:lnTo>
                  <a:lnTo>
                    <a:pt x="1910" y="1608"/>
                  </a:lnTo>
                  <a:lnTo>
                    <a:pt x="1878" y="1638"/>
                  </a:lnTo>
                  <a:lnTo>
                    <a:pt x="1854" y="1646"/>
                  </a:lnTo>
                  <a:lnTo>
                    <a:pt x="1825" y="1650"/>
                  </a:lnTo>
                  <a:lnTo>
                    <a:pt x="1769" y="1649"/>
                  </a:lnTo>
                  <a:lnTo>
                    <a:pt x="1714" y="1636"/>
                  </a:lnTo>
                  <a:lnTo>
                    <a:pt x="1661" y="1611"/>
                  </a:lnTo>
                  <a:lnTo>
                    <a:pt x="1610" y="1577"/>
                  </a:lnTo>
                  <a:lnTo>
                    <a:pt x="1567" y="1533"/>
                  </a:lnTo>
                  <a:lnTo>
                    <a:pt x="1531" y="1484"/>
                  </a:lnTo>
                  <a:lnTo>
                    <a:pt x="1505" y="1428"/>
                  </a:lnTo>
                  <a:lnTo>
                    <a:pt x="1496" y="1399"/>
                  </a:lnTo>
                  <a:lnTo>
                    <a:pt x="1485" y="1345"/>
                  </a:lnTo>
                  <a:lnTo>
                    <a:pt x="1476" y="1219"/>
                  </a:lnTo>
                  <a:lnTo>
                    <a:pt x="1485" y="1090"/>
                  </a:lnTo>
                  <a:lnTo>
                    <a:pt x="1508" y="973"/>
                  </a:lnTo>
                  <a:lnTo>
                    <a:pt x="1527" y="926"/>
                  </a:lnTo>
                  <a:lnTo>
                    <a:pt x="1544" y="880"/>
                  </a:lnTo>
                  <a:lnTo>
                    <a:pt x="1566" y="809"/>
                  </a:lnTo>
                  <a:lnTo>
                    <a:pt x="1584" y="743"/>
                  </a:lnTo>
                  <a:lnTo>
                    <a:pt x="1656" y="573"/>
                  </a:lnTo>
                  <a:lnTo>
                    <a:pt x="1720" y="438"/>
                  </a:lnTo>
                  <a:lnTo>
                    <a:pt x="1744" y="384"/>
                  </a:lnTo>
                  <a:lnTo>
                    <a:pt x="1773" y="315"/>
                  </a:lnTo>
                  <a:lnTo>
                    <a:pt x="1779" y="291"/>
                  </a:lnTo>
                  <a:lnTo>
                    <a:pt x="1774" y="285"/>
                  </a:lnTo>
                  <a:lnTo>
                    <a:pt x="1757" y="295"/>
                  </a:lnTo>
                  <a:lnTo>
                    <a:pt x="1735" y="315"/>
                  </a:lnTo>
                  <a:lnTo>
                    <a:pt x="1701" y="353"/>
                  </a:lnTo>
                  <a:lnTo>
                    <a:pt x="1691" y="371"/>
                  </a:lnTo>
                  <a:lnTo>
                    <a:pt x="1682" y="392"/>
                  </a:lnTo>
                  <a:lnTo>
                    <a:pt x="1649" y="438"/>
                  </a:lnTo>
                  <a:lnTo>
                    <a:pt x="1612" y="498"/>
                  </a:lnTo>
                  <a:lnTo>
                    <a:pt x="1495" y="730"/>
                  </a:lnTo>
                  <a:lnTo>
                    <a:pt x="1447" y="835"/>
                  </a:lnTo>
                  <a:lnTo>
                    <a:pt x="1423" y="893"/>
                  </a:lnTo>
                  <a:lnTo>
                    <a:pt x="1396" y="957"/>
                  </a:lnTo>
                  <a:lnTo>
                    <a:pt x="1384" y="986"/>
                  </a:lnTo>
                  <a:lnTo>
                    <a:pt x="1368" y="1038"/>
                  </a:lnTo>
                  <a:lnTo>
                    <a:pt x="1367" y="1054"/>
                  </a:lnTo>
                  <a:lnTo>
                    <a:pt x="1365" y="1065"/>
                  </a:lnTo>
                  <a:lnTo>
                    <a:pt x="1352" y="1103"/>
                  </a:lnTo>
                  <a:lnTo>
                    <a:pt x="1342" y="1120"/>
                  </a:lnTo>
                  <a:lnTo>
                    <a:pt x="1331" y="1140"/>
                  </a:lnTo>
                  <a:lnTo>
                    <a:pt x="1311" y="1205"/>
                  </a:lnTo>
                  <a:lnTo>
                    <a:pt x="1303" y="1241"/>
                  </a:lnTo>
                  <a:lnTo>
                    <a:pt x="1289" y="1313"/>
                  </a:lnTo>
                  <a:lnTo>
                    <a:pt x="1272" y="1366"/>
                  </a:lnTo>
                  <a:lnTo>
                    <a:pt x="1257" y="1405"/>
                  </a:lnTo>
                  <a:lnTo>
                    <a:pt x="1257" y="1428"/>
                  </a:lnTo>
                  <a:lnTo>
                    <a:pt x="1257" y="1437"/>
                  </a:lnTo>
                  <a:lnTo>
                    <a:pt x="1250" y="1466"/>
                  </a:lnTo>
                  <a:lnTo>
                    <a:pt x="1243" y="1482"/>
                  </a:lnTo>
                  <a:lnTo>
                    <a:pt x="1224" y="1526"/>
                  </a:lnTo>
                  <a:lnTo>
                    <a:pt x="1205" y="1584"/>
                  </a:lnTo>
                  <a:lnTo>
                    <a:pt x="1194" y="1613"/>
                  </a:lnTo>
                  <a:lnTo>
                    <a:pt x="1159" y="1670"/>
                  </a:lnTo>
                  <a:lnTo>
                    <a:pt x="1142" y="1690"/>
                  </a:lnTo>
                  <a:lnTo>
                    <a:pt x="1128" y="1703"/>
                  </a:lnTo>
                  <a:lnTo>
                    <a:pt x="1103" y="1719"/>
                  </a:lnTo>
                  <a:lnTo>
                    <a:pt x="1060" y="1725"/>
                  </a:lnTo>
                  <a:lnTo>
                    <a:pt x="1012" y="1719"/>
                  </a:lnTo>
                  <a:lnTo>
                    <a:pt x="991" y="1716"/>
                  </a:lnTo>
                  <a:lnTo>
                    <a:pt x="949" y="1703"/>
                  </a:lnTo>
                  <a:lnTo>
                    <a:pt x="913" y="1686"/>
                  </a:lnTo>
                  <a:lnTo>
                    <a:pt x="880" y="1663"/>
                  </a:lnTo>
                  <a:lnTo>
                    <a:pt x="854" y="1634"/>
                  </a:lnTo>
                  <a:lnTo>
                    <a:pt x="832" y="1602"/>
                  </a:lnTo>
                  <a:lnTo>
                    <a:pt x="817" y="1568"/>
                  </a:lnTo>
                  <a:lnTo>
                    <a:pt x="809" y="1530"/>
                  </a:lnTo>
                  <a:lnTo>
                    <a:pt x="809" y="1510"/>
                  </a:lnTo>
                  <a:lnTo>
                    <a:pt x="808" y="1482"/>
                  </a:lnTo>
                  <a:lnTo>
                    <a:pt x="798" y="1443"/>
                  </a:lnTo>
                  <a:lnTo>
                    <a:pt x="791" y="1438"/>
                  </a:lnTo>
                  <a:lnTo>
                    <a:pt x="784" y="1434"/>
                  </a:lnTo>
                  <a:lnTo>
                    <a:pt x="775" y="1395"/>
                  </a:lnTo>
                  <a:lnTo>
                    <a:pt x="773" y="1340"/>
                  </a:lnTo>
                  <a:lnTo>
                    <a:pt x="782" y="1296"/>
                  </a:lnTo>
                  <a:lnTo>
                    <a:pt x="789" y="1287"/>
                  </a:lnTo>
                  <a:lnTo>
                    <a:pt x="795" y="1276"/>
                  </a:lnTo>
                  <a:lnTo>
                    <a:pt x="809" y="1199"/>
                  </a:lnTo>
                  <a:lnTo>
                    <a:pt x="817" y="1147"/>
                  </a:lnTo>
                  <a:lnTo>
                    <a:pt x="827" y="1051"/>
                  </a:lnTo>
                  <a:lnTo>
                    <a:pt x="854" y="917"/>
                  </a:lnTo>
                  <a:lnTo>
                    <a:pt x="873" y="854"/>
                  </a:lnTo>
                  <a:lnTo>
                    <a:pt x="883" y="835"/>
                  </a:lnTo>
                  <a:lnTo>
                    <a:pt x="899" y="798"/>
                  </a:lnTo>
                  <a:lnTo>
                    <a:pt x="926" y="710"/>
                  </a:lnTo>
                  <a:lnTo>
                    <a:pt x="940" y="664"/>
                  </a:lnTo>
                  <a:lnTo>
                    <a:pt x="971" y="586"/>
                  </a:lnTo>
                  <a:lnTo>
                    <a:pt x="982" y="566"/>
                  </a:lnTo>
                  <a:lnTo>
                    <a:pt x="1000" y="525"/>
                  </a:lnTo>
                  <a:lnTo>
                    <a:pt x="1014" y="475"/>
                  </a:lnTo>
                  <a:lnTo>
                    <a:pt x="1025" y="422"/>
                  </a:lnTo>
                  <a:lnTo>
                    <a:pt x="962" y="492"/>
                  </a:lnTo>
                  <a:lnTo>
                    <a:pt x="936" y="521"/>
                  </a:lnTo>
                  <a:lnTo>
                    <a:pt x="903" y="573"/>
                  </a:lnTo>
                  <a:lnTo>
                    <a:pt x="899" y="587"/>
                  </a:lnTo>
                  <a:lnTo>
                    <a:pt x="897" y="596"/>
                  </a:lnTo>
                  <a:lnTo>
                    <a:pt x="889" y="609"/>
                  </a:lnTo>
                  <a:lnTo>
                    <a:pt x="883" y="610"/>
                  </a:lnTo>
                  <a:lnTo>
                    <a:pt x="870" y="623"/>
                  </a:lnTo>
                  <a:lnTo>
                    <a:pt x="802" y="746"/>
                  </a:lnTo>
                  <a:lnTo>
                    <a:pt x="716" y="917"/>
                  </a:lnTo>
                  <a:lnTo>
                    <a:pt x="648" y="1067"/>
                  </a:lnTo>
                  <a:lnTo>
                    <a:pt x="637" y="1106"/>
                  </a:lnTo>
                  <a:lnTo>
                    <a:pt x="622" y="1158"/>
                  </a:lnTo>
                  <a:lnTo>
                    <a:pt x="602" y="1205"/>
                  </a:lnTo>
                  <a:lnTo>
                    <a:pt x="580" y="1253"/>
                  </a:lnTo>
                  <a:lnTo>
                    <a:pt x="542" y="1379"/>
                  </a:lnTo>
                  <a:lnTo>
                    <a:pt x="529" y="1447"/>
                  </a:lnTo>
                  <a:lnTo>
                    <a:pt x="521" y="1477"/>
                  </a:lnTo>
                  <a:lnTo>
                    <a:pt x="504" y="1523"/>
                  </a:lnTo>
                  <a:lnTo>
                    <a:pt x="495" y="1532"/>
                  </a:lnTo>
                  <a:lnTo>
                    <a:pt x="491" y="1538"/>
                  </a:lnTo>
                  <a:lnTo>
                    <a:pt x="484" y="1569"/>
                  </a:lnTo>
                  <a:lnTo>
                    <a:pt x="475" y="1656"/>
                  </a:lnTo>
                  <a:lnTo>
                    <a:pt x="474" y="1742"/>
                  </a:lnTo>
                  <a:lnTo>
                    <a:pt x="474" y="1823"/>
                  </a:lnTo>
                  <a:lnTo>
                    <a:pt x="467" y="1937"/>
                  </a:lnTo>
                  <a:lnTo>
                    <a:pt x="461" y="1954"/>
                  </a:lnTo>
                  <a:lnTo>
                    <a:pt x="451" y="1960"/>
                  </a:lnTo>
                  <a:lnTo>
                    <a:pt x="402" y="1968"/>
                  </a:lnTo>
                  <a:lnTo>
                    <a:pt x="340" y="1973"/>
                  </a:lnTo>
                  <a:lnTo>
                    <a:pt x="284" y="1970"/>
                  </a:lnTo>
                  <a:lnTo>
                    <a:pt x="269" y="1965"/>
                  </a:lnTo>
                  <a:close/>
                  <a:moveTo>
                    <a:pt x="1349" y="734"/>
                  </a:moveTo>
                  <a:lnTo>
                    <a:pt x="1348" y="728"/>
                  </a:lnTo>
                  <a:lnTo>
                    <a:pt x="1338" y="720"/>
                  </a:lnTo>
                  <a:lnTo>
                    <a:pt x="1331" y="718"/>
                  </a:lnTo>
                  <a:lnTo>
                    <a:pt x="1324" y="720"/>
                  </a:lnTo>
                  <a:lnTo>
                    <a:pt x="1313" y="736"/>
                  </a:lnTo>
                  <a:lnTo>
                    <a:pt x="1313" y="747"/>
                  </a:lnTo>
                  <a:lnTo>
                    <a:pt x="1313" y="757"/>
                  </a:lnTo>
                  <a:lnTo>
                    <a:pt x="1324" y="766"/>
                  </a:lnTo>
                  <a:lnTo>
                    <a:pt x="1331" y="763"/>
                  </a:lnTo>
                  <a:lnTo>
                    <a:pt x="1338" y="759"/>
                  </a:lnTo>
                  <a:lnTo>
                    <a:pt x="1348" y="743"/>
                  </a:lnTo>
                  <a:lnTo>
                    <a:pt x="1349" y="734"/>
                  </a:lnTo>
                  <a:close/>
                  <a:moveTo>
                    <a:pt x="1410" y="582"/>
                  </a:moveTo>
                  <a:lnTo>
                    <a:pt x="1413" y="572"/>
                  </a:lnTo>
                  <a:lnTo>
                    <a:pt x="1410" y="563"/>
                  </a:lnTo>
                  <a:lnTo>
                    <a:pt x="1403" y="566"/>
                  </a:lnTo>
                  <a:lnTo>
                    <a:pt x="1396" y="570"/>
                  </a:lnTo>
                  <a:lnTo>
                    <a:pt x="1385" y="586"/>
                  </a:lnTo>
                  <a:lnTo>
                    <a:pt x="1385" y="595"/>
                  </a:lnTo>
                  <a:lnTo>
                    <a:pt x="1385" y="603"/>
                  </a:lnTo>
                  <a:lnTo>
                    <a:pt x="1390" y="610"/>
                  </a:lnTo>
                  <a:lnTo>
                    <a:pt x="1400" y="603"/>
                  </a:lnTo>
                  <a:lnTo>
                    <a:pt x="1410" y="582"/>
                  </a:lnTo>
                  <a:close/>
                </a:path>
              </a:pathLst>
            </a:custGeom>
            <a:solidFill>
              <a:srgbClr val="C00000"/>
            </a:solidFill>
            <a:ln>
              <a:noFill/>
            </a:ln>
          </p:spPr>
          <p:txBody>
            <a:bodyPr vert="horz" wrap="square" lIns="91440" tIns="45720" rIns="91440" bIns="45720" numCol="1" anchor="t" anchorCtr="0" compatLnSpc="1">
              <a:prstTxWarp prst="textNoShape">
                <a:avLst/>
              </a:prstTxWarp>
            </a:bodyPr>
            <a:lstStyle/>
            <a:p>
              <a:endParaRPr lang="es-PE"/>
            </a:p>
          </p:txBody>
        </p:sp>
        <p:sp>
          <p:nvSpPr>
            <p:cNvPr id="13" name="Freeform 11"/>
            <p:cNvSpPr>
              <a:spLocks noEditPoints="1"/>
            </p:cNvSpPr>
            <p:nvPr/>
          </p:nvSpPr>
          <p:spPr bwMode="auto">
            <a:xfrm>
              <a:off x="7057346" y="4954133"/>
              <a:ext cx="730250" cy="946150"/>
            </a:xfrm>
            <a:custGeom>
              <a:avLst/>
              <a:gdLst>
                <a:gd name="T0" fmla="*/ 262 w 1381"/>
                <a:gd name="T1" fmla="*/ 1754 h 1787"/>
                <a:gd name="T2" fmla="*/ 107 w 1381"/>
                <a:gd name="T3" fmla="*/ 1614 h 1787"/>
                <a:gd name="T4" fmla="*/ 26 w 1381"/>
                <a:gd name="T5" fmla="*/ 1495 h 1787"/>
                <a:gd name="T6" fmla="*/ 8 w 1381"/>
                <a:gd name="T7" fmla="*/ 1083 h 1787"/>
                <a:gd name="T8" fmla="*/ 64 w 1381"/>
                <a:gd name="T9" fmla="*/ 845 h 1787"/>
                <a:gd name="T10" fmla="*/ 199 w 1381"/>
                <a:gd name="T11" fmla="*/ 567 h 1787"/>
                <a:gd name="T12" fmla="*/ 362 w 1381"/>
                <a:gd name="T13" fmla="*/ 339 h 1787"/>
                <a:gd name="T14" fmla="*/ 516 w 1381"/>
                <a:gd name="T15" fmla="*/ 192 h 1787"/>
                <a:gd name="T16" fmla="*/ 746 w 1381"/>
                <a:gd name="T17" fmla="*/ 53 h 1787"/>
                <a:gd name="T18" fmla="*/ 990 w 1381"/>
                <a:gd name="T19" fmla="*/ 0 h 1787"/>
                <a:gd name="T20" fmla="*/ 1126 w 1381"/>
                <a:gd name="T21" fmla="*/ 7 h 1787"/>
                <a:gd name="T22" fmla="*/ 1265 w 1381"/>
                <a:gd name="T23" fmla="*/ 72 h 1787"/>
                <a:gd name="T24" fmla="*/ 1338 w 1381"/>
                <a:gd name="T25" fmla="*/ 197 h 1787"/>
                <a:gd name="T26" fmla="*/ 1366 w 1381"/>
                <a:gd name="T27" fmla="*/ 300 h 1787"/>
                <a:gd name="T28" fmla="*/ 1381 w 1381"/>
                <a:gd name="T29" fmla="*/ 343 h 1787"/>
                <a:gd name="T30" fmla="*/ 1332 w 1381"/>
                <a:gd name="T31" fmla="*/ 500 h 1787"/>
                <a:gd name="T32" fmla="*/ 1276 w 1381"/>
                <a:gd name="T33" fmla="*/ 642 h 1787"/>
                <a:gd name="T34" fmla="*/ 1240 w 1381"/>
                <a:gd name="T35" fmla="*/ 713 h 1787"/>
                <a:gd name="T36" fmla="*/ 1119 w 1381"/>
                <a:gd name="T37" fmla="*/ 858 h 1787"/>
                <a:gd name="T38" fmla="*/ 942 w 1381"/>
                <a:gd name="T39" fmla="*/ 1008 h 1787"/>
                <a:gd name="T40" fmla="*/ 716 w 1381"/>
                <a:gd name="T41" fmla="*/ 1120 h 1787"/>
                <a:gd name="T42" fmla="*/ 535 w 1381"/>
                <a:gd name="T43" fmla="*/ 1152 h 1787"/>
                <a:gd name="T44" fmla="*/ 440 w 1381"/>
                <a:gd name="T45" fmla="*/ 1177 h 1787"/>
                <a:gd name="T46" fmla="*/ 412 w 1381"/>
                <a:gd name="T47" fmla="*/ 1354 h 1787"/>
                <a:gd name="T48" fmla="*/ 445 w 1381"/>
                <a:gd name="T49" fmla="*/ 1537 h 1787"/>
                <a:gd name="T50" fmla="*/ 527 w 1381"/>
                <a:gd name="T51" fmla="*/ 1610 h 1787"/>
                <a:gd name="T52" fmla="*/ 609 w 1381"/>
                <a:gd name="T53" fmla="*/ 1619 h 1787"/>
                <a:gd name="T54" fmla="*/ 742 w 1381"/>
                <a:gd name="T55" fmla="*/ 1567 h 1787"/>
                <a:gd name="T56" fmla="*/ 1010 w 1381"/>
                <a:gd name="T57" fmla="*/ 1318 h 1787"/>
                <a:gd name="T58" fmla="*/ 1132 w 1381"/>
                <a:gd name="T59" fmla="*/ 1225 h 1787"/>
                <a:gd name="T60" fmla="*/ 1203 w 1381"/>
                <a:gd name="T61" fmla="*/ 1270 h 1787"/>
                <a:gd name="T62" fmla="*/ 1236 w 1381"/>
                <a:gd name="T63" fmla="*/ 1344 h 1787"/>
                <a:gd name="T64" fmla="*/ 1183 w 1381"/>
                <a:gd name="T65" fmla="*/ 1490 h 1787"/>
                <a:gd name="T66" fmla="*/ 1050 w 1381"/>
                <a:gd name="T67" fmla="*/ 1611 h 1787"/>
                <a:gd name="T68" fmla="*/ 886 w 1381"/>
                <a:gd name="T69" fmla="*/ 1709 h 1787"/>
                <a:gd name="T70" fmla="*/ 863 w 1381"/>
                <a:gd name="T71" fmla="*/ 1724 h 1787"/>
                <a:gd name="T72" fmla="*/ 761 w 1381"/>
                <a:gd name="T73" fmla="*/ 1767 h 1787"/>
                <a:gd name="T74" fmla="*/ 404 w 1381"/>
                <a:gd name="T75" fmla="*/ 1781 h 1787"/>
                <a:gd name="T76" fmla="*/ 745 w 1381"/>
                <a:gd name="T77" fmla="*/ 828 h 1787"/>
                <a:gd name="T78" fmla="*/ 935 w 1381"/>
                <a:gd name="T79" fmla="*/ 638 h 1787"/>
                <a:gd name="T80" fmla="*/ 985 w 1381"/>
                <a:gd name="T81" fmla="*/ 553 h 1787"/>
                <a:gd name="T82" fmla="*/ 993 w 1381"/>
                <a:gd name="T83" fmla="*/ 520 h 1787"/>
                <a:gd name="T84" fmla="*/ 1013 w 1381"/>
                <a:gd name="T85" fmla="*/ 484 h 1787"/>
                <a:gd name="T86" fmla="*/ 1033 w 1381"/>
                <a:gd name="T87" fmla="*/ 303 h 1787"/>
                <a:gd name="T88" fmla="*/ 1007 w 1381"/>
                <a:gd name="T89" fmla="*/ 274 h 1787"/>
                <a:gd name="T90" fmla="*/ 873 w 1381"/>
                <a:gd name="T91" fmla="*/ 354 h 1787"/>
                <a:gd name="T92" fmla="*/ 674 w 1381"/>
                <a:gd name="T93" fmla="*/ 609 h 1787"/>
                <a:gd name="T94" fmla="*/ 552 w 1381"/>
                <a:gd name="T95" fmla="*/ 824 h 1787"/>
                <a:gd name="T96" fmla="*/ 517 w 1381"/>
                <a:gd name="T97" fmla="*/ 894 h 1787"/>
                <a:gd name="T98" fmla="*/ 526 w 1381"/>
                <a:gd name="T99" fmla="*/ 929 h 1787"/>
                <a:gd name="T100" fmla="*/ 638 w 1381"/>
                <a:gd name="T101" fmla="*/ 887 h 17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381" h="1787">
                  <a:moveTo>
                    <a:pt x="404" y="1781"/>
                  </a:moveTo>
                  <a:lnTo>
                    <a:pt x="313" y="1768"/>
                  </a:lnTo>
                  <a:lnTo>
                    <a:pt x="262" y="1754"/>
                  </a:lnTo>
                  <a:lnTo>
                    <a:pt x="241" y="1742"/>
                  </a:lnTo>
                  <a:lnTo>
                    <a:pt x="176" y="1688"/>
                  </a:lnTo>
                  <a:lnTo>
                    <a:pt x="107" y="1614"/>
                  </a:lnTo>
                  <a:lnTo>
                    <a:pt x="51" y="1545"/>
                  </a:lnTo>
                  <a:lnTo>
                    <a:pt x="36" y="1521"/>
                  </a:lnTo>
                  <a:lnTo>
                    <a:pt x="26" y="1495"/>
                  </a:lnTo>
                  <a:lnTo>
                    <a:pt x="10" y="1423"/>
                  </a:lnTo>
                  <a:lnTo>
                    <a:pt x="0" y="1287"/>
                  </a:lnTo>
                  <a:lnTo>
                    <a:pt x="8" y="1083"/>
                  </a:lnTo>
                  <a:lnTo>
                    <a:pt x="31" y="946"/>
                  </a:lnTo>
                  <a:lnTo>
                    <a:pt x="51" y="873"/>
                  </a:lnTo>
                  <a:lnTo>
                    <a:pt x="64" y="845"/>
                  </a:lnTo>
                  <a:lnTo>
                    <a:pt x="100" y="770"/>
                  </a:lnTo>
                  <a:lnTo>
                    <a:pt x="173" y="621"/>
                  </a:lnTo>
                  <a:lnTo>
                    <a:pt x="199" y="567"/>
                  </a:lnTo>
                  <a:lnTo>
                    <a:pt x="245" y="484"/>
                  </a:lnTo>
                  <a:lnTo>
                    <a:pt x="297" y="412"/>
                  </a:lnTo>
                  <a:lnTo>
                    <a:pt x="362" y="339"/>
                  </a:lnTo>
                  <a:lnTo>
                    <a:pt x="404" y="295"/>
                  </a:lnTo>
                  <a:lnTo>
                    <a:pt x="441" y="258"/>
                  </a:lnTo>
                  <a:lnTo>
                    <a:pt x="516" y="192"/>
                  </a:lnTo>
                  <a:lnTo>
                    <a:pt x="592" y="135"/>
                  </a:lnTo>
                  <a:lnTo>
                    <a:pt x="669" y="89"/>
                  </a:lnTo>
                  <a:lnTo>
                    <a:pt x="746" y="53"/>
                  </a:lnTo>
                  <a:lnTo>
                    <a:pt x="824" y="26"/>
                  </a:lnTo>
                  <a:lnTo>
                    <a:pt x="906" y="9"/>
                  </a:lnTo>
                  <a:lnTo>
                    <a:pt x="990" y="0"/>
                  </a:lnTo>
                  <a:lnTo>
                    <a:pt x="1033" y="0"/>
                  </a:lnTo>
                  <a:lnTo>
                    <a:pt x="1066" y="0"/>
                  </a:lnTo>
                  <a:lnTo>
                    <a:pt x="1126" y="7"/>
                  </a:lnTo>
                  <a:lnTo>
                    <a:pt x="1180" y="22"/>
                  </a:lnTo>
                  <a:lnTo>
                    <a:pt x="1226" y="43"/>
                  </a:lnTo>
                  <a:lnTo>
                    <a:pt x="1265" y="72"/>
                  </a:lnTo>
                  <a:lnTo>
                    <a:pt x="1296" y="107"/>
                  </a:lnTo>
                  <a:lnTo>
                    <a:pt x="1321" y="150"/>
                  </a:lnTo>
                  <a:lnTo>
                    <a:pt x="1338" y="197"/>
                  </a:lnTo>
                  <a:lnTo>
                    <a:pt x="1343" y="225"/>
                  </a:lnTo>
                  <a:lnTo>
                    <a:pt x="1348" y="254"/>
                  </a:lnTo>
                  <a:lnTo>
                    <a:pt x="1366" y="300"/>
                  </a:lnTo>
                  <a:lnTo>
                    <a:pt x="1374" y="310"/>
                  </a:lnTo>
                  <a:lnTo>
                    <a:pt x="1381" y="317"/>
                  </a:lnTo>
                  <a:lnTo>
                    <a:pt x="1381" y="343"/>
                  </a:lnTo>
                  <a:lnTo>
                    <a:pt x="1371" y="363"/>
                  </a:lnTo>
                  <a:lnTo>
                    <a:pt x="1353" y="418"/>
                  </a:lnTo>
                  <a:lnTo>
                    <a:pt x="1332" y="500"/>
                  </a:lnTo>
                  <a:lnTo>
                    <a:pt x="1322" y="542"/>
                  </a:lnTo>
                  <a:lnTo>
                    <a:pt x="1292" y="618"/>
                  </a:lnTo>
                  <a:lnTo>
                    <a:pt x="1276" y="642"/>
                  </a:lnTo>
                  <a:lnTo>
                    <a:pt x="1262" y="662"/>
                  </a:lnTo>
                  <a:lnTo>
                    <a:pt x="1242" y="700"/>
                  </a:lnTo>
                  <a:lnTo>
                    <a:pt x="1240" y="713"/>
                  </a:lnTo>
                  <a:lnTo>
                    <a:pt x="1233" y="729"/>
                  </a:lnTo>
                  <a:lnTo>
                    <a:pt x="1168" y="808"/>
                  </a:lnTo>
                  <a:lnTo>
                    <a:pt x="1119" y="858"/>
                  </a:lnTo>
                  <a:lnTo>
                    <a:pt x="1086" y="891"/>
                  </a:lnTo>
                  <a:lnTo>
                    <a:pt x="1014" y="953"/>
                  </a:lnTo>
                  <a:lnTo>
                    <a:pt x="942" y="1008"/>
                  </a:lnTo>
                  <a:lnTo>
                    <a:pt x="867" y="1054"/>
                  </a:lnTo>
                  <a:lnTo>
                    <a:pt x="791" y="1092"/>
                  </a:lnTo>
                  <a:lnTo>
                    <a:pt x="716" y="1120"/>
                  </a:lnTo>
                  <a:lnTo>
                    <a:pt x="643" y="1141"/>
                  </a:lnTo>
                  <a:lnTo>
                    <a:pt x="569" y="1151"/>
                  </a:lnTo>
                  <a:lnTo>
                    <a:pt x="535" y="1152"/>
                  </a:lnTo>
                  <a:lnTo>
                    <a:pt x="497" y="1152"/>
                  </a:lnTo>
                  <a:lnTo>
                    <a:pt x="458" y="1162"/>
                  </a:lnTo>
                  <a:lnTo>
                    <a:pt x="440" y="1177"/>
                  </a:lnTo>
                  <a:lnTo>
                    <a:pt x="422" y="1210"/>
                  </a:lnTo>
                  <a:lnTo>
                    <a:pt x="412" y="1292"/>
                  </a:lnTo>
                  <a:lnTo>
                    <a:pt x="412" y="1354"/>
                  </a:lnTo>
                  <a:lnTo>
                    <a:pt x="414" y="1418"/>
                  </a:lnTo>
                  <a:lnTo>
                    <a:pt x="428" y="1496"/>
                  </a:lnTo>
                  <a:lnTo>
                    <a:pt x="445" y="1537"/>
                  </a:lnTo>
                  <a:lnTo>
                    <a:pt x="467" y="1570"/>
                  </a:lnTo>
                  <a:lnTo>
                    <a:pt x="494" y="1594"/>
                  </a:lnTo>
                  <a:lnTo>
                    <a:pt x="527" y="1610"/>
                  </a:lnTo>
                  <a:lnTo>
                    <a:pt x="566" y="1619"/>
                  </a:lnTo>
                  <a:lnTo>
                    <a:pt x="589" y="1620"/>
                  </a:lnTo>
                  <a:lnTo>
                    <a:pt x="609" y="1619"/>
                  </a:lnTo>
                  <a:lnTo>
                    <a:pt x="651" y="1610"/>
                  </a:lnTo>
                  <a:lnTo>
                    <a:pt x="694" y="1594"/>
                  </a:lnTo>
                  <a:lnTo>
                    <a:pt x="742" y="1567"/>
                  </a:lnTo>
                  <a:lnTo>
                    <a:pt x="818" y="1511"/>
                  </a:lnTo>
                  <a:lnTo>
                    <a:pt x="939" y="1394"/>
                  </a:lnTo>
                  <a:lnTo>
                    <a:pt x="1010" y="1318"/>
                  </a:lnTo>
                  <a:lnTo>
                    <a:pt x="1043" y="1280"/>
                  </a:lnTo>
                  <a:lnTo>
                    <a:pt x="1098" y="1236"/>
                  </a:lnTo>
                  <a:lnTo>
                    <a:pt x="1132" y="1225"/>
                  </a:lnTo>
                  <a:lnTo>
                    <a:pt x="1152" y="1228"/>
                  </a:lnTo>
                  <a:lnTo>
                    <a:pt x="1183" y="1246"/>
                  </a:lnTo>
                  <a:lnTo>
                    <a:pt x="1203" y="1270"/>
                  </a:lnTo>
                  <a:lnTo>
                    <a:pt x="1213" y="1285"/>
                  </a:lnTo>
                  <a:lnTo>
                    <a:pt x="1229" y="1313"/>
                  </a:lnTo>
                  <a:lnTo>
                    <a:pt x="1236" y="1344"/>
                  </a:lnTo>
                  <a:lnTo>
                    <a:pt x="1236" y="1374"/>
                  </a:lnTo>
                  <a:lnTo>
                    <a:pt x="1224" y="1423"/>
                  </a:lnTo>
                  <a:lnTo>
                    <a:pt x="1183" y="1490"/>
                  </a:lnTo>
                  <a:lnTo>
                    <a:pt x="1151" y="1528"/>
                  </a:lnTo>
                  <a:lnTo>
                    <a:pt x="1125" y="1552"/>
                  </a:lnTo>
                  <a:lnTo>
                    <a:pt x="1050" y="1611"/>
                  </a:lnTo>
                  <a:lnTo>
                    <a:pt x="968" y="1669"/>
                  </a:lnTo>
                  <a:lnTo>
                    <a:pt x="902" y="1705"/>
                  </a:lnTo>
                  <a:lnTo>
                    <a:pt x="886" y="1709"/>
                  </a:lnTo>
                  <a:lnTo>
                    <a:pt x="876" y="1711"/>
                  </a:lnTo>
                  <a:lnTo>
                    <a:pt x="863" y="1718"/>
                  </a:lnTo>
                  <a:lnTo>
                    <a:pt x="863" y="1724"/>
                  </a:lnTo>
                  <a:lnTo>
                    <a:pt x="860" y="1731"/>
                  </a:lnTo>
                  <a:lnTo>
                    <a:pt x="834" y="1747"/>
                  </a:lnTo>
                  <a:lnTo>
                    <a:pt x="761" y="1767"/>
                  </a:lnTo>
                  <a:lnTo>
                    <a:pt x="620" y="1784"/>
                  </a:lnTo>
                  <a:lnTo>
                    <a:pt x="467" y="1787"/>
                  </a:lnTo>
                  <a:lnTo>
                    <a:pt x="404" y="1781"/>
                  </a:lnTo>
                  <a:close/>
                  <a:moveTo>
                    <a:pt x="669" y="868"/>
                  </a:moveTo>
                  <a:lnTo>
                    <a:pt x="723" y="837"/>
                  </a:lnTo>
                  <a:lnTo>
                    <a:pt x="745" y="828"/>
                  </a:lnTo>
                  <a:lnTo>
                    <a:pt x="777" y="805"/>
                  </a:lnTo>
                  <a:lnTo>
                    <a:pt x="912" y="670"/>
                  </a:lnTo>
                  <a:lnTo>
                    <a:pt x="935" y="638"/>
                  </a:lnTo>
                  <a:lnTo>
                    <a:pt x="942" y="616"/>
                  </a:lnTo>
                  <a:lnTo>
                    <a:pt x="972" y="573"/>
                  </a:lnTo>
                  <a:lnTo>
                    <a:pt x="985" y="553"/>
                  </a:lnTo>
                  <a:lnTo>
                    <a:pt x="998" y="524"/>
                  </a:lnTo>
                  <a:lnTo>
                    <a:pt x="995" y="521"/>
                  </a:lnTo>
                  <a:lnTo>
                    <a:pt x="993" y="520"/>
                  </a:lnTo>
                  <a:lnTo>
                    <a:pt x="995" y="508"/>
                  </a:lnTo>
                  <a:lnTo>
                    <a:pt x="1003" y="500"/>
                  </a:lnTo>
                  <a:lnTo>
                    <a:pt x="1013" y="484"/>
                  </a:lnTo>
                  <a:lnTo>
                    <a:pt x="1027" y="426"/>
                  </a:lnTo>
                  <a:lnTo>
                    <a:pt x="1034" y="359"/>
                  </a:lnTo>
                  <a:lnTo>
                    <a:pt x="1033" y="303"/>
                  </a:lnTo>
                  <a:lnTo>
                    <a:pt x="1026" y="288"/>
                  </a:lnTo>
                  <a:lnTo>
                    <a:pt x="1021" y="281"/>
                  </a:lnTo>
                  <a:lnTo>
                    <a:pt x="1007" y="274"/>
                  </a:lnTo>
                  <a:lnTo>
                    <a:pt x="980" y="277"/>
                  </a:lnTo>
                  <a:lnTo>
                    <a:pt x="931" y="304"/>
                  </a:lnTo>
                  <a:lnTo>
                    <a:pt x="873" y="354"/>
                  </a:lnTo>
                  <a:lnTo>
                    <a:pt x="808" y="425"/>
                  </a:lnTo>
                  <a:lnTo>
                    <a:pt x="741" y="511"/>
                  </a:lnTo>
                  <a:lnTo>
                    <a:pt x="674" y="609"/>
                  </a:lnTo>
                  <a:lnTo>
                    <a:pt x="609" y="717"/>
                  </a:lnTo>
                  <a:lnTo>
                    <a:pt x="579" y="773"/>
                  </a:lnTo>
                  <a:lnTo>
                    <a:pt x="552" y="824"/>
                  </a:lnTo>
                  <a:lnTo>
                    <a:pt x="536" y="845"/>
                  </a:lnTo>
                  <a:lnTo>
                    <a:pt x="526" y="861"/>
                  </a:lnTo>
                  <a:lnTo>
                    <a:pt x="517" y="894"/>
                  </a:lnTo>
                  <a:lnTo>
                    <a:pt x="513" y="907"/>
                  </a:lnTo>
                  <a:lnTo>
                    <a:pt x="512" y="923"/>
                  </a:lnTo>
                  <a:lnTo>
                    <a:pt x="526" y="929"/>
                  </a:lnTo>
                  <a:lnTo>
                    <a:pt x="553" y="923"/>
                  </a:lnTo>
                  <a:lnTo>
                    <a:pt x="576" y="916"/>
                  </a:lnTo>
                  <a:lnTo>
                    <a:pt x="638" y="887"/>
                  </a:lnTo>
                  <a:lnTo>
                    <a:pt x="669" y="868"/>
                  </a:lnTo>
                  <a:close/>
                </a:path>
              </a:pathLst>
            </a:custGeom>
            <a:solidFill>
              <a:srgbClr val="C00000"/>
            </a:solidFill>
            <a:ln>
              <a:noFill/>
            </a:ln>
          </p:spPr>
          <p:txBody>
            <a:bodyPr vert="horz" wrap="square" lIns="91440" tIns="45720" rIns="91440" bIns="45720" numCol="1" anchor="t" anchorCtr="0" compatLnSpc="1">
              <a:prstTxWarp prst="textNoShape">
                <a:avLst/>
              </a:prstTxWarp>
            </a:bodyPr>
            <a:lstStyle/>
            <a:p>
              <a:endParaRPr lang="es-PE"/>
            </a:p>
          </p:txBody>
        </p:sp>
        <p:sp>
          <p:nvSpPr>
            <p:cNvPr id="14" name="Freeform 12"/>
            <p:cNvSpPr>
              <a:spLocks/>
            </p:cNvSpPr>
            <p:nvPr/>
          </p:nvSpPr>
          <p:spPr bwMode="auto">
            <a:xfrm>
              <a:off x="3452134" y="5023983"/>
              <a:ext cx="174625" cy="252413"/>
            </a:xfrm>
            <a:custGeom>
              <a:avLst/>
              <a:gdLst>
                <a:gd name="T0" fmla="*/ 66 w 331"/>
                <a:gd name="T1" fmla="*/ 437 h 476"/>
                <a:gd name="T2" fmla="*/ 48 w 331"/>
                <a:gd name="T3" fmla="*/ 419 h 476"/>
                <a:gd name="T4" fmla="*/ 24 w 331"/>
                <a:gd name="T5" fmla="*/ 377 h 476"/>
                <a:gd name="T6" fmla="*/ 8 w 331"/>
                <a:gd name="T7" fmla="*/ 332 h 476"/>
                <a:gd name="T8" fmla="*/ 0 w 331"/>
                <a:gd name="T9" fmla="*/ 283 h 476"/>
                <a:gd name="T10" fmla="*/ 1 w 331"/>
                <a:gd name="T11" fmla="*/ 234 h 476"/>
                <a:gd name="T12" fmla="*/ 11 w 331"/>
                <a:gd name="T13" fmla="*/ 187 h 476"/>
                <a:gd name="T14" fmla="*/ 30 w 331"/>
                <a:gd name="T15" fmla="*/ 141 h 476"/>
                <a:gd name="T16" fmla="*/ 57 w 331"/>
                <a:gd name="T17" fmla="*/ 98 h 476"/>
                <a:gd name="T18" fmla="*/ 74 w 331"/>
                <a:gd name="T19" fmla="*/ 79 h 476"/>
                <a:gd name="T20" fmla="*/ 97 w 331"/>
                <a:gd name="T21" fmla="*/ 54 h 476"/>
                <a:gd name="T22" fmla="*/ 136 w 331"/>
                <a:gd name="T23" fmla="*/ 21 h 476"/>
                <a:gd name="T24" fmla="*/ 169 w 331"/>
                <a:gd name="T25" fmla="*/ 4 h 476"/>
                <a:gd name="T26" fmla="*/ 200 w 331"/>
                <a:gd name="T27" fmla="*/ 0 h 476"/>
                <a:gd name="T28" fmla="*/ 217 w 331"/>
                <a:gd name="T29" fmla="*/ 4 h 476"/>
                <a:gd name="T30" fmla="*/ 230 w 331"/>
                <a:gd name="T31" fmla="*/ 8 h 476"/>
                <a:gd name="T32" fmla="*/ 257 w 331"/>
                <a:gd name="T33" fmla="*/ 28 h 476"/>
                <a:gd name="T34" fmla="*/ 293 w 331"/>
                <a:gd name="T35" fmla="*/ 76 h 476"/>
                <a:gd name="T36" fmla="*/ 325 w 331"/>
                <a:gd name="T37" fmla="*/ 157 h 476"/>
                <a:gd name="T38" fmla="*/ 331 w 331"/>
                <a:gd name="T39" fmla="*/ 214 h 476"/>
                <a:gd name="T40" fmla="*/ 325 w 331"/>
                <a:gd name="T41" fmla="*/ 244 h 476"/>
                <a:gd name="T42" fmla="*/ 318 w 331"/>
                <a:gd name="T43" fmla="*/ 256 h 476"/>
                <a:gd name="T44" fmla="*/ 301 w 331"/>
                <a:gd name="T45" fmla="*/ 285 h 476"/>
                <a:gd name="T46" fmla="*/ 279 w 331"/>
                <a:gd name="T47" fmla="*/ 344 h 476"/>
                <a:gd name="T48" fmla="*/ 270 w 331"/>
                <a:gd name="T49" fmla="*/ 367 h 476"/>
                <a:gd name="T50" fmla="*/ 249 w 331"/>
                <a:gd name="T51" fmla="*/ 407 h 476"/>
                <a:gd name="T52" fmla="*/ 224 w 331"/>
                <a:gd name="T53" fmla="*/ 439 h 476"/>
                <a:gd name="T54" fmla="*/ 197 w 331"/>
                <a:gd name="T55" fmla="*/ 460 h 476"/>
                <a:gd name="T56" fmla="*/ 168 w 331"/>
                <a:gd name="T57" fmla="*/ 473 h 476"/>
                <a:gd name="T58" fmla="*/ 138 w 331"/>
                <a:gd name="T59" fmla="*/ 476 h 476"/>
                <a:gd name="T60" fmla="*/ 108 w 331"/>
                <a:gd name="T61" fmla="*/ 469 h 476"/>
                <a:gd name="T62" fmla="*/ 79 w 331"/>
                <a:gd name="T63" fmla="*/ 450 h 476"/>
                <a:gd name="T64" fmla="*/ 66 w 331"/>
                <a:gd name="T65" fmla="*/ 437 h 4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31" h="476">
                  <a:moveTo>
                    <a:pt x="66" y="437"/>
                  </a:moveTo>
                  <a:lnTo>
                    <a:pt x="48" y="419"/>
                  </a:lnTo>
                  <a:lnTo>
                    <a:pt x="24" y="377"/>
                  </a:lnTo>
                  <a:lnTo>
                    <a:pt x="8" y="332"/>
                  </a:lnTo>
                  <a:lnTo>
                    <a:pt x="0" y="283"/>
                  </a:lnTo>
                  <a:lnTo>
                    <a:pt x="1" y="234"/>
                  </a:lnTo>
                  <a:lnTo>
                    <a:pt x="11" y="187"/>
                  </a:lnTo>
                  <a:lnTo>
                    <a:pt x="30" y="141"/>
                  </a:lnTo>
                  <a:lnTo>
                    <a:pt x="57" y="98"/>
                  </a:lnTo>
                  <a:lnTo>
                    <a:pt x="74" y="79"/>
                  </a:lnTo>
                  <a:lnTo>
                    <a:pt x="97" y="54"/>
                  </a:lnTo>
                  <a:lnTo>
                    <a:pt x="136" y="21"/>
                  </a:lnTo>
                  <a:lnTo>
                    <a:pt x="169" y="4"/>
                  </a:lnTo>
                  <a:lnTo>
                    <a:pt x="200" y="0"/>
                  </a:lnTo>
                  <a:lnTo>
                    <a:pt x="217" y="4"/>
                  </a:lnTo>
                  <a:lnTo>
                    <a:pt x="230" y="8"/>
                  </a:lnTo>
                  <a:lnTo>
                    <a:pt x="257" y="28"/>
                  </a:lnTo>
                  <a:lnTo>
                    <a:pt x="293" y="76"/>
                  </a:lnTo>
                  <a:lnTo>
                    <a:pt x="325" y="157"/>
                  </a:lnTo>
                  <a:lnTo>
                    <a:pt x="331" y="214"/>
                  </a:lnTo>
                  <a:lnTo>
                    <a:pt x="325" y="244"/>
                  </a:lnTo>
                  <a:lnTo>
                    <a:pt x="318" y="256"/>
                  </a:lnTo>
                  <a:lnTo>
                    <a:pt x="301" y="285"/>
                  </a:lnTo>
                  <a:lnTo>
                    <a:pt x="279" y="344"/>
                  </a:lnTo>
                  <a:lnTo>
                    <a:pt x="270" y="367"/>
                  </a:lnTo>
                  <a:lnTo>
                    <a:pt x="249" y="407"/>
                  </a:lnTo>
                  <a:lnTo>
                    <a:pt x="224" y="439"/>
                  </a:lnTo>
                  <a:lnTo>
                    <a:pt x="197" y="460"/>
                  </a:lnTo>
                  <a:lnTo>
                    <a:pt x="168" y="473"/>
                  </a:lnTo>
                  <a:lnTo>
                    <a:pt x="138" y="476"/>
                  </a:lnTo>
                  <a:lnTo>
                    <a:pt x="108" y="469"/>
                  </a:lnTo>
                  <a:lnTo>
                    <a:pt x="79" y="450"/>
                  </a:lnTo>
                  <a:lnTo>
                    <a:pt x="66" y="437"/>
                  </a:lnTo>
                  <a:close/>
                </a:path>
              </a:pathLst>
            </a:custGeom>
            <a:solidFill>
              <a:srgbClr val="C00000"/>
            </a:solidFill>
            <a:ln>
              <a:noFill/>
            </a:ln>
          </p:spPr>
          <p:txBody>
            <a:bodyPr vert="horz" wrap="square" lIns="91440" tIns="45720" rIns="91440" bIns="45720" numCol="1" anchor="t" anchorCtr="0" compatLnSpc="1">
              <a:prstTxWarp prst="textNoShape">
                <a:avLst/>
              </a:prstTxWarp>
            </a:bodyPr>
            <a:lstStyle/>
            <a:p>
              <a:endParaRPr lang="es-PE"/>
            </a:p>
          </p:txBody>
        </p:sp>
        <p:sp>
          <p:nvSpPr>
            <p:cNvPr id="15" name="Freeform 13"/>
            <p:cNvSpPr>
              <a:spLocks/>
            </p:cNvSpPr>
            <p:nvPr/>
          </p:nvSpPr>
          <p:spPr bwMode="auto">
            <a:xfrm>
              <a:off x="1383621" y="3396795"/>
              <a:ext cx="1128713" cy="1700213"/>
            </a:xfrm>
            <a:custGeom>
              <a:avLst/>
              <a:gdLst>
                <a:gd name="T0" fmla="*/ 193 w 2133"/>
                <a:gd name="T1" fmla="*/ 3153 h 3212"/>
                <a:gd name="T2" fmla="*/ 9 w 2133"/>
                <a:gd name="T3" fmla="*/ 2857 h 3212"/>
                <a:gd name="T4" fmla="*/ 42 w 2133"/>
                <a:gd name="T5" fmla="*/ 2118 h 3212"/>
                <a:gd name="T6" fmla="*/ 81 w 2133"/>
                <a:gd name="T7" fmla="*/ 2017 h 3212"/>
                <a:gd name="T8" fmla="*/ 172 w 2133"/>
                <a:gd name="T9" fmla="*/ 1611 h 3212"/>
                <a:gd name="T10" fmla="*/ 252 w 2133"/>
                <a:gd name="T11" fmla="*/ 1355 h 3212"/>
                <a:gd name="T12" fmla="*/ 275 w 2133"/>
                <a:gd name="T13" fmla="*/ 1246 h 3212"/>
                <a:gd name="T14" fmla="*/ 330 w 2133"/>
                <a:gd name="T15" fmla="*/ 1057 h 3212"/>
                <a:gd name="T16" fmla="*/ 339 w 2133"/>
                <a:gd name="T17" fmla="*/ 1028 h 3212"/>
                <a:gd name="T18" fmla="*/ 378 w 2133"/>
                <a:gd name="T19" fmla="*/ 950 h 3212"/>
                <a:gd name="T20" fmla="*/ 484 w 2133"/>
                <a:gd name="T21" fmla="*/ 649 h 3212"/>
                <a:gd name="T22" fmla="*/ 565 w 2133"/>
                <a:gd name="T23" fmla="*/ 475 h 3212"/>
                <a:gd name="T24" fmla="*/ 728 w 2133"/>
                <a:gd name="T25" fmla="*/ 204 h 3212"/>
                <a:gd name="T26" fmla="*/ 961 w 2133"/>
                <a:gd name="T27" fmla="*/ 20 h 3212"/>
                <a:gd name="T28" fmla="*/ 1131 w 2133"/>
                <a:gd name="T29" fmla="*/ 49 h 3212"/>
                <a:gd name="T30" fmla="*/ 1183 w 2133"/>
                <a:gd name="T31" fmla="*/ 117 h 3212"/>
                <a:gd name="T32" fmla="*/ 1184 w 2133"/>
                <a:gd name="T33" fmla="*/ 294 h 3212"/>
                <a:gd name="T34" fmla="*/ 1184 w 2133"/>
                <a:gd name="T35" fmla="*/ 308 h 3212"/>
                <a:gd name="T36" fmla="*/ 1554 w 2133"/>
                <a:gd name="T37" fmla="*/ 26 h 3212"/>
                <a:gd name="T38" fmla="*/ 1919 w 2133"/>
                <a:gd name="T39" fmla="*/ 13 h 3212"/>
                <a:gd name="T40" fmla="*/ 2090 w 2133"/>
                <a:gd name="T41" fmla="*/ 168 h 3212"/>
                <a:gd name="T42" fmla="*/ 2126 w 2133"/>
                <a:gd name="T43" fmla="*/ 504 h 3212"/>
                <a:gd name="T44" fmla="*/ 2054 w 2133"/>
                <a:gd name="T45" fmla="*/ 812 h 3212"/>
                <a:gd name="T46" fmla="*/ 1955 w 2133"/>
                <a:gd name="T47" fmla="*/ 1090 h 3212"/>
                <a:gd name="T48" fmla="*/ 1906 w 2133"/>
                <a:gd name="T49" fmla="*/ 1195 h 3212"/>
                <a:gd name="T50" fmla="*/ 1651 w 2133"/>
                <a:gd name="T51" fmla="*/ 1614 h 3212"/>
                <a:gd name="T52" fmla="*/ 1253 w 2133"/>
                <a:gd name="T53" fmla="*/ 1963 h 3212"/>
                <a:gd name="T54" fmla="*/ 1125 w 2133"/>
                <a:gd name="T55" fmla="*/ 2007 h 3212"/>
                <a:gd name="T56" fmla="*/ 960 w 2133"/>
                <a:gd name="T57" fmla="*/ 2023 h 3212"/>
                <a:gd name="T58" fmla="*/ 788 w 2133"/>
                <a:gd name="T59" fmla="*/ 1922 h 3212"/>
                <a:gd name="T60" fmla="*/ 816 w 2133"/>
                <a:gd name="T61" fmla="*/ 1760 h 3212"/>
                <a:gd name="T62" fmla="*/ 928 w 2133"/>
                <a:gd name="T63" fmla="*/ 1735 h 3212"/>
                <a:gd name="T64" fmla="*/ 1141 w 2133"/>
                <a:gd name="T65" fmla="*/ 1535 h 3212"/>
                <a:gd name="T66" fmla="*/ 1177 w 2133"/>
                <a:gd name="T67" fmla="*/ 1480 h 3212"/>
                <a:gd name="T68" fmla="*/ 1273 w 2133"/>
                <a:gd name="T69" fmla="*/ 1323 h 3212"/>
                <a:gd name="T70" fmla="*/ 1351 w 2133"/>
                <a:gd name="T71" fmla="*/ 1130 h 3212"/>
                <a:gd name="T72" fmla="*/ 1415 w 2133"/>
                <a:gd name="T73" fmla="*/ 960 h 3212"/>
                <a:gd name="T74" fmla="*/ 1523 w 2133"/>
                <a:gd name="T75" fmla="*/ 615 h 3212"/>
                <a:gd name="T76" fmla="*/ 1585 w 2133"/>
                <a:gd name="T77" fmla="*/ 271 h 3212"/>
                <a:gd name="T78" fmla="*/ 1335 w 2133"/>
                <a:gd name="T79" fmla="*/ 439 h 3212"/>
                <a:gd name="T80" fmla="*/ 1072 w 2133"/>
                <a:gd name="T81" fmla="*/ 778 h 3212"/>
                <a:gd name="T82" fmla="*/ 945 w 2133"/>
                <a:gd name="T83" fmla="*/ 1002 h 3212"/>
                <a:gd name="T84" fmla="*/ 840 w 2133"/>
                <a:gd name="T85" fmla="*/ 1227 h 3212"/>
                <a:gd name="T86" fmla="*/ 792 w 2133"/>
                <a:gd name="T87" fmla="*/ 1332 h 3212"/>
                <a:gd name="T88" fmla="*/ 713 w 2133"/>
                <a:gd name="T89" fmla="*/ 1683 h 3212"/>
                <a:gd name="T90" fmla="*/ 640 w 2133"/>
                <a:gd name="T91" fmla="*/ 2310 h 3212"/>
                <a:gd name="T92" fmla="*/ 617 w 2133"/>
                <a:gd name="T93" fmla="*/ 2423 h 3212"/>
                <a:gd name="T94" fmla="*/ 611 w 2133"/>
                <a:gd name="T95" fmla="*/ 2753 h 3212"/>
                <a:gd name="T96" fmla="*/ 641 w 2133"/>
                <a:gd name="T97" fmla="*/ 2848 h 3212"/>
                <a:gd name="T98" fmla="*/ 536 w 2133"/>
                <a:gd name="T99" fmla="*/ 3161 h 3212"/>
                <a:gd name="T100" fmla="*/ 284 w 2133"/>
                <a:gd name="T101" fmla="*/ 3204 h 3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133" h="3212">
                  <a:moveTo>
                    <a:pt x="280" y="3198"/>
                  </a:moveTo>
                  <a:lnTo>
                    <a:pt x="275" y="3191"/>
                  </a:lnTo>
                  <a:lnTo>
                    <a:pt x="238" y="3171"/>
                  </a:lnTo>
                  <a:lnTo>
                    <a:pt x="211" y="3161"/>
                  </a:lnTo>
                  <a:lnTo>
                    <a:pt x="193" y="3153"/>
                  </a:lnTo>
                  <a:lnTo>
                    <a:pt x="159" y="3133"/>
                  </a:lnTo>
                  <a:lnTo>
                    <a:pt x="113" y="3090"/>
                  </a:lnTo>
                  <a:lnTo>
                    <a:pt x="59" y="3011"/>
                  </a:lnTo>
                  <a:lnTo>
                    <a:pt x="21" y="2911"/>
                  </a:lnTo>
                  <a:lnTo>
                    <a:pt x="9" y="2857"/>
                  </a:lnTo>
                  <a:lnTo>
                    <a:pt x="5" y="2822"/>
                  </a:lnTo>
                  <a:lnTo>
                    <a:pt x="0" y="2723"/>
                  </a:lnTo>
                  <a:lnTo>
                    <a:pt x="3" y="2533"/>
                  </a:lnTo>
                  <a:lnTo>
                    <a:pt x="22" y="2265"/>
                  </a:lnTo>
                  <a:lnTo>
                    <a:pt x="42" y="2118"/>
                  </a:lnTo>
                  <a:lnTo>
                    <a:pt x="58" y="2065"/>
                  </a:lnTo>
                  <a:lnTo>
                    <a:pt x="65" y="2060"/>
                  </a:lnTo>
                  <a:lnTo>
                    <a:pt x="71" y="2058"/>
                  </a:lnTo>
                  <a:lnTo>
                    <a:pt x="80" y="2035"/>
                  </a:lnTo>
                  <a:lnTo>
                    <a:pt x="81" y="2017"/>
                  </a:lnTo>
                  <a:lnTo>
                    <a:pt x="88" y="1947"/>
                  </a:lnTo>
                  <a:lnTo>
                    <a:pt x="121" y="1773"/>
                  </a:lnTo>
                  <a:lnTo>
                    <a:pt x="144" y="1682"/>
                  </a:lnTo>
                  <a:lnTo>
                    <a:pt x="153" y="1662"/>
                  </a:lnTo>
                  <a:lnTo>
                    <a:pt x="172" y="1611"/>
                  </a:lnTo>
                  <a:lnTo>
                    <a:pt x="198" y="1510"/>
                  </a:lnTo>
                  <a:lnTo>
                    <a:pt x="209" y="1460"/>
                  </a:lnTo>
                  <a:lnTo>
                    <a:pt x="235" y="1382"/>
                  </a:lnTo>
                  <a:lnTo>
                    <a:pt x="245" y="1366"/>
                  </a:lnTo>
                  <a:lnTo>
                    <a:pt x="252" y="1355"/>
                  </a:lnTo>
                  <a:lnTo>
                    <a:pt x="260" y="1330"/>
                  </a:lnTo>
                  <a:lnTo>
                    <a:pt x="260" y="1319"/>
                  </a:lnTo>
                  <a:lnTo>
                    <a:pt x="260" y="1307"/>
                  </a:lnTo>
                  <a:lnTo>
                    <a:pt x="268" y="1266"/>
                  </a:lnTo>
                  <a:lnTo>
                    <a:pt x="275" y="1246"/>
                  </a:lnTo>
                  <a:lnTo>
                    <a:pt x="286" y="1221"/>
                  </a:lnTo>
                  <a:lnTo>
                    <a:pt x="303" y="1155"/>
                  </a:lnTo>
                  <a:lnTo>
                    <a:pt x="309" y="1123"/>
                  </a:lnTo>
                  <a:lnTo>
                    <a:pt x="314" y="1096"/>
                  </a:lnTo>
                  <a:lnTo>
                    <a:pt x="330" y="1057"/>
                  </a:lnTo>
                  <a:lnTo>
                    <a:pt x="337" y="1053"/>
                  </a:lnTo>
                  <a:lnTo>
                    <a:pt x="343" y="1051"/>
                  </a:lnTo>
                  <a:lnTo>
                    <a:pt x="345" y="1042"/>
                  </a:lnTo>
                  <a:lnTo>
                    <a:pt x="342" y="1035"/>
                  </a:lnTo>
                  <a:lnTo>
                    <a:pt x="339" y="1028"/>
                  </a:lnTo>
                  <a:lnTo>
                    <a:pt x="342" y="1018"/>
                  </a:lnTo>
                  <a:lnTo>
                    <a:pt x="347" y="1017"/>
                  </a:lnTo>
                  <a:lnTo>
                    <a:pt x="356" y="1012"/>
                  </a:lnTo>
                  <a:lnTo>
                    <a:pt x="372" y="976"/>
                  </a:lnTo>
                  <a:lnTo>
                    <a:pt x="378" y="950"/>
                  </a:lnTo>
                  <a:lnTo>
                    <a:pt x="383" y="919"/>
                  </a:lnTo>
                  <a:lnTo>
                    <a:pt x="409" y="842"/>
                  </a:lnTo>
                  <a:lnTo>
                    <a:pt x="424" y="809"/>
                  </a:lnTo>
                  <a:lnTo>
                    <a:pt x="455" y="734"/>
                  </a:lnTo>
                  <a:lnTo>
                    <a:pt x="484" y="649"/>
                  </a:lnTo>
                  <a:lnTo>
                    <a:pt x="497" y="612"/>
                  </a:lnTo>
                  <a:lnTo>
                    <a:pt x="527" y="544"/>
                  </a:lnTo>
                  <a:lnTo>
                    <a:pt x="540" y="526"/>
                  </a:lnTo>
                  <a:lnTo>
                    <a:pt x="551" y="508"/>
                  </a:lnTo>
                  <a:lnTo>
                    <a:pt x="565" y="475"/>
                  </a:lnTo>
                  <a:lnTo>
                    <a:pt x="568" y="464"/>
                  </a:lnTo>
                  <a:lnTo>
                    <a:pt x="569" y="454"/>
                  </a:lnTo>
                  <a:lnTo>
                    <a:pt x="591" y="409"/>
                  </a:lnTo>
                  <a:lnTo>
                    <a:pt x="657" y="304"/>
                  </a:lnTo>
                  <a:lnTo>
                    <a:pt x="728" y="204"/>
                  </a:lnTo>
                  <a:lnTo>
                    <a:pt x="756" y="168"/>
                  </a:lnTo>
                  <a:lnTo>
                    <a:pt x="841" y="91"/>
                  </a:lnTo>
                  <a:lnTo>
                    <a:pt x="885" y="63"/>
                  </a:lnTo>
                  <a:lnTo>
                    <a:pt x="915" y="45"/>
                  </a:lnTo>
                  <a:lnTo>
                    <a:pt x="961" y="20"/>
                  </a:lnTo>
                  <a:lnTo>
                    <a:pt x="997" y="12"/>
                  </a:lnTo>
                  <a:lnTo>
                    <a:pt x="1034" y="14"/>
                  </a:lnTo>
                  <a:lnTo>
                    <a:pt x="1059" y="20"/>
                  </a:lnTo>
                  <a:lnTo>
                    <a:pt x="1095" y="29"/>
                  </a:lnTo>
                  <a:lnTo>
                    <a:pt x="1131" y="49"/>
                  </a:lnTo>
                  <a:lnTo>
                    <a:pt x="1147" y="66"/>
                  </a:lnTo>
                  <a:lnTo>
                    <a:pt x="1153" y="78"/>
                  </a:lnTo>
                  <a:lnTo>
                    <a:pt x="1160" y="92"/>
                  </a:lnTo>
                  <a:lnTo>
                    <a:pt x="1177" y="114"/>
                  </a:lnTo>
                  <a:lnTo>
                    <a:pt x="1183" y="117"/>
                  </a:lnTo>
                  <a:lnTo>
                    <a:pt x="1187" y="118"/>
                  </a:lnTo>
                  <a:lnTo>
                    <a:pt x="1194" y="132"/>
                  </a:lnTo>
                  <a:lnTo>
                    <a:pt x="1199" y="173"/>
                  </a:lnTo>
                  <a:lnTo>
                    <a:pt x="1196" y="240"/>
                  </a:lnTo>
                  <a:lnTo>
                    <a:pt x="1184" y="294"/>
                  </a:lnTo>
                  <a:lnTo>
                    <a:pt x="1176" y="302"/>
                  </a:lnTo>
                  <a:lnTo>
                    <a:pt x="1167" y="307"/>
                  </a:lnTo>
                  <a:lnTo>
                    <a:pt x="1165" y="312"/>
                  </a:lnTo>
                  <a:lnTo>
                    <a:pt x="1170" y="312"/>
                  </a:lnTo>
                  <a:lnTo>
                    <a:pt x="1184" y="308"/>
                  </a:lnTo>
                  <a:lnTo>
                    <a:pt x="1262" y="245"/>
                  </a:lnTo>
                  <a:lnTo>
                    <a:pt x="1314" y="197"/>
                  </a:lnTo>
                  <a:lnTo>
                    <a:pt x="1377" y="140"/>
                  </a:lnTo>
                  <a:lnTo>
                    <a:pt x="1481" y="60"/>
                  </a:lnTo>
                  <a:lnTo>
                    <a:pt x="1554" y="26"/>
                  </a:lnTo>
                  <a:lnTo>
                    <a:pt x="1605" y="12"/>
                  </a:lnTo>
                  <a:lnTo>
                    <a:pt x="1688" y="0"/>
                  </a:lnTo>
                  <a:lnTo>
                    <a:pt x="1757" y="0"/>
                  </a:lnTo>
                  <a:lnTo>
                    <a:pt x="1845" y="0"/>
                  </a:lnTo>
                  <a:lnTo>
                    <a:pt x="1919" y="13"/>
                  </a:lnTo>
                  <a:lnTo>
                    <a:pt x="1958" y="30"/>
                  </a:lnTo>
                  <a:lnTo>
                    <a:pt x="1979" y="45"/>
                  </a:lnTo>
                  <a:lnTo>
                    <a:pt x="2008" y="68"/>
                  </a:lnTo>
                  <a:lnTo>
                    <a:pt x="2068" y="135"/>
                  </a:lnTo>
                  <a:lnTo>
                    <a:pt x="2090" y="168"/>
                  </a:lnTo>
                  <a:lnTo>
                    <a:pt x="2106" y="194"/>
                  </a:lnTo>
                  <a:lnTo>
                    <a:pt x="2125" y="238"/>
                  </a:lnTo>
                  <a:lnTo>
                    <a:pt x="2133" y="321"/>
                  </a:lnTo>
                  <a:lnTo>
                    <a:pt x="2130" y="431"/>
                  </a:lnTo>
                  <a:lnTo>
                    <a:pt x="2126" y="504"/>
                  </a:lnTo>
                  <a:lnTo>
                    <a:pt x="2112" y="623"/>
                  </a:lnTo>
                  <a:lnTo>
                    <a:pt x="2103" y="648"/>
                  </a:lnTo>
                  <a:lnTo>
                    <a:pt x="2093" y="670"/>
                  </a:lnTo>
                  <a:lnTo>
                    <a:pt x="2067" y="759"/>
                  </a:lnTo>
                  <a:lnTo>
                    <a:pt x="2054" y="812"/>
                  </a:lnTo>
                  <a:lnTo>
                    <a:pt x="2040" y="867"/>
                  </a:lnTo>
                  <a:lnTo>
                    <a:pt x="2004" y="975"/>
                  </a:lnTo>
                  <a:lnTo>
                    <a:pt x="1988" y="1009"/>
                  </a:lnTo>
                  <a:lnTo>
                    <a:pt x="1975" y="1038"/>
                  </a:lnTo>
                  <a:lnTo>
                    <a:pt x="1955" y="1090"/>
                  </a:lnTo>
                  <a:lnTo>
                    <a:pt x="1953" y="1104"/>
                  </a:lnTo>
                  <a:lnTo>
                    <a:pt x="1952" y="1117"/>
                  </a:lnTo>
                  <a:lnTo>
                    <a:pt x="1939" y="1146"/>
                  </a:lnTo>
                  <a:lnTo>
                    <a:pt x="1929" y="1159"/>
                  </a:lnTo>
                  <a:lnTo>
                    <a:pt x="1906" y="1195"/>
                  </a:lnTo>
                  <a:lnTo>
                    <a:pt x="1886" y="1247"/>
                  </a:lnTo>
                  <a:lnTo>
                    <a:pt x="1874" y="1273"/>
                  </a:lnTo>
                  <a:lnTo>
                    <a:pt x="1842" y="1338"/>
                  </a:lnTo>
                  <a:lnTo>
                    <a:pt x="1773" y="1450"/>
                  </a:lnTo>
                  <a:lnTo>
                    <a:pt x="1651" y="1614"/>
                  </a:lnTo>
                  <a:lnTo>
                    <a:pt x="1517" y="1767"/>
                  </a:lnTo>
                  <a:lnTo>
                    <a:pt x="1454" y="1829"/>
                  </a:lnTo>
                  <a:lnTo>
                    <a:pt x="1413" y="1862"/>
                  </a:lnTo>
                  <a:lnTo>
                    <a:pt x="1333" y="1919"/>
                  </a:lnTo>
                  <a:lnTo>
                    <a:pt x="1253" y="1963"/>
                  </a:lnTo>
                  <a:lnTo>
                    <a:pt x="1186" y="1987"/>
                  </a:lnTo>
                  <a:lnTo>
                    <a:pt x="1160" y="1989"/>
                  </a:lnTo>
                  <a:lnTo>
                    <a:pt x="1147" y="1990"/>
                  </a:lnTo>
                  <a:lnTo>
                    <a:pt x="1127" y="2000"/>
                  </a:lnTo>
                  <a:lnTo>
                    <a:pt x="1125" y="2007"/>
                  </a:lnTo>
                  <a:lnTo>
                    <a:pt x="1124" y="2010"/>
                  </a:lnTo>
                  <a:lnTo>
                    <a:pt x="1108" y="2017"/>
                  </a:lnTo>
                  <a:lnTo>
                    <a:pt x="1060" y="2023"/>
                  </a:lnTo>
                  <a:lnTo>
                    <a:pt x="1017" y="2025"/>
                  </a:lnTo>
                  <a:lnTo>
                    <a:pt x="960" y="2023"/>
                  </a:lnTo>
                  <a:lnTo>
                    <a:pt x="880" y="2004"/>
                  </a:lnTo>
                  <a:lnTo>
                    <a:pt x="846" y="1986"/>
                  </a:lnTo>
                  <a:lnTo>
                    <a:pt x="826" y="1971"/>
                  </a:lnTo>
                  <a:lnTo>
                    <a:pt x="800" y="1948"/>
                  </a:lnTo>
                  <a:lnTo>
                    <a:pt x="788" y="1922"/>
                  </a:lnTo>
                  <a:lnTo>
                    <a:pt x="784" y="1885"/>
                  </a:lnTo>
                  <a:lnTo>
                    <a:pt x="784" y="1857"/>
                  </a:lnTo>
                  <a:lnTo>
                    <a:pt x="784" y="1809"/>
                  </a:lnTo>
                  <a:lnTo>
                    <a:pt x="797" y="1773"/>
                  </a:lnTo>
                  <a:lnTo>
                    <a:pt x="816" y="1760"/>
                  </a:lnTo>
                  <a:lnTo>
                    <a:pt x="830" y="1755"/>
                  </a:lnTo>
                  <a:lnTo>
                    <a:pt x="850" y="1747"/>
                  </a:lnTo>
                  <a:lnTo>
                    <a:pt x="895" y="1738"/>
                  </a:lnTo>
                  <a:lnTo>
                    <a:pt x="911" y="1737"/>
                  </a:lnTo>
                  <a:lnTo>
                    <a:pt x="928" y="1735"/>
                  </a:lnTo>
                  <a:lnTo>
                    <a:pt x="964" y="1721"/>
                  </a:lnTo>
                  <a:lnTo>
                    <a:pt x="978" y="1709"/>
                  </a:lnTo>
                  <a:lnTo>
                    <a:pt x="1045" y="1647"/>
                  </a:lnTo>
                  <a:lnTo>
                    <a:pt x="1117" y="1569"/>
                  </a:lnTo>
                  <a:lnTo>
                    <a:pt x="1141" y="1535"/>
                  </a:lnTo>
                  <a:lnTo>
                    <a:pt x="1144" y="1526"/>
                  </a:lnTo>
                  <a:lnTo>
                    <a:pt x="1144" y="1516"/>
                  </a:lnTo>
                  <a:lnTo>
                    <a:pt x="1157" y="1496"/>
                  </a:lnTo>
                  <a:lnTo>
                    <a:pt x="1167" y="1490"/>
                  </a:lnTo>
                  <a:lnTo>
                    <a:pt x="1177" y="1480"/>
                  </a:lnTo>
                  <a:lnTo>
                    <a:pt x="1209" y="1431"/>
                  </a:lnTo>
                  <a:lnTo>
                    <a:pt x="1225" y="1400"/>
                  </a:lnTo>
                  <a:lnTo>
                    <a:pt x="1239" y="1369"/>
                  </a:lnTo>
                  <a:lnTo>
                    <a:pt x="1266" y="1326"/>
                  </a:lnTo>
                  <a:lnTo>
                    <a:pt x="1273" y="1323"/>
                  </a:lnTo>
                  <a:lnTo>
                    <a:pt x="1279" y="1318"/>
                  </a:lnTo>
                  <a:lnTo>
                    <a:pt x="1302" y="1263"/>
                  </a:lnTo>
                  <a:lnTo>
                    <a:pt x="1314" y="1224"/>
                  </a:lnTo>
                  <a:lnTo>
                    <a:pt x="1328" y="1184"/>
                  </a:lnTo>
                  <a:lnTo>
                    <a:pt x="1351" y="1130"/>
                  </a:lnTo>
                  <a:lnTo>
                    <a:pt x="1357" y="1125"/>
                  </a:lnTo>
                  <a:lnTo>
                    <a:pt x="1364" y="1120"/>
                  </a:lnTo>
                  <a:lnTo>
                    <a:pt x="1383" y="1073"/>
                  </a:lnTo>
                  <a:lnTo>
                    <a:pt x="1393" y="1038"/>
                  </a:lnTo>
                  <a:lnTo>
                    <a:pt x="1415" y="960"/>
                  </a:lnTo>
                  <a:lnTo>
                    <a:pt x="1439" y="906"/>
                  </a:lnTo>
                  <a:lnTo>
                    <a:pt x="1451" y="878"/>
                  </a:lnTo>
                  <a:lnTo>
                    <a:pt x="1481" y="780"/>
                  </a:lnTo>
                  <a:lnTo>
                    <a:pt x="1494" y="726"/>
                  </a:lnTo>
                  <a:lnTo>
                    <a:pt x="1523" y="615"/>
                  </a:lnTo>
                  <a:lnTo>
                    <a:pt x="1541" y="557"/>
                  </a:lnTo>
                  <a:lnTo>
                    <a:pt x="1550" y="534"/>
                  </a:lnTo>
                  <a:lnTo>
                    <a:pt x="1567" y="446"/>
                  </a:lnTo>
                  <a:lnTo>
                    <a:pt x="1580" y="347"/>
                  </a:lnTo>
                  <a:lnTo>
                    <a:pt x="1585" y="271"/>
                  </a:lnTo>
                  <a:lnTo>
                    <a:pt x="1583" y="258"/>
                  </a:lnTo>
                  <a:lnTo>
                    <a:pt x="1574" y="253"/>
                  </a:lnTo>
                  <a:lnTo>
                    <a:pt x="1533" y="276"/>
                  </a:lnTo>
                  <a:lnTo>
                    <a:pt x="1426" y="357"/>
                  </a:lnTo>
                  <a:lnTo>
                    <a:pt x="1335" y="439"/>
                  </a:lnTo>
                  <a:lnTo>
                    <a:pt x="1304" y="469"/>
                  </a:lnTo>
                  <a:lnTo>
                    <a:pt x="1220" y="569"/>
                  </a:lnTo>
                  <a:lnTo>
                    <a:pt x="1134" y="678"/>
                  </a:lnTo>
                  <a:lnTo>
                    <a:pt x="1078" y="760"/>
                  </a:lnTo>
                  <a:lnTo>
                    <a:pt x="1072" y="778"/>
                  </a:lnTo>
                  <a:lnTo>
                    <a:pt x="1057" y="809"/>
                  </a:lnTo>
                  <a:lnTo>
                    <a:pt x="1009" y="886"/>
                  </a:lnTo>
                  <a:lnTo>
                    <a:pt x="983" y="924"/>
                  </a:lnTo>
                  <a:lnTo>
                    <a:pt x="949" y="988"/>
                  </a:lnTo>
                  <a:lnTo>
                    <a:pt x="945" y="1002"/>
                  </a:lnTo>
                  <a:lnTo>
                    <a:pt x="944" y="1015"/>
                  </a:lnTo>
                  <a:lnTo>
                    <a:pt x="926" y="1053"/>
                  </a:lnTo>
                  <a:lnTo>
                    <a:pt x="915" y="1071"/>
                  </a:lnTo>
                  <a:lnTo>
                    <a:pt x="888" y="1112"/>
                  </a:lnTo>
                  <a:lnTo>
                    <a:pt x="840" y="1227"/>
                  </a:lnTo>
                  <a:lnTo>
                    <a:pt x="824" y="1283"/>
                  </a:lnTo>
                  <a:lnTo>
                    <a:pt x="820" y="1299"/>
                  </a:lnTo>
                  <a:lnTo>
                    <a:pt x="807" y="1320"/>
                  </a:lnTo>
                  <a:lnTo>
                    <a:pt x="801" y="1323"/>
                  </a:lnTo>
                  <a:lnTo>
                    <a:pt x="792" y="1332"/>
                  </a:lnTo>
                  <a:lnTo>
                    <a:pt x="768" y="1428"/>
                  </a:lnTo>
                  <a:lnTo>
                    <a:pt x="755" y="1499"/>
                  </a:lnTo>
                  <a:lnTo>
                    <a:pt x="742" y="1569"/>
                  </a:lnTo>
                  <a:lnTo>
                    <a:pt x="719" y="1669"/>
                  </a:lnTo>
                  <a:lnTo>
                    <a:pt x="713" y="1683"/>
                  </a:lnTo>
                  <a:lnTo>
                    <a:pt x="705" y="1702"/>
                  </a:lnTo>
                  <a:lnTo>
                    <a:pt x="682" y="1849"/>
                  </a:lnTo>
                  <a:lnTo>
                    <a:pt x="657" y="2058"/>
                  </a:lnTo>
                  <a:lnTo>
                    <a:pt x="641" y="2249"/>
                  </a:lnTo>
                  <a:lnTo>
                    <a:pt x="640" y="2310"/>
                  </a:lnTo>
                  <a:lnTo>
                    <a:pt x="638" y="2354"/>
                  </a:lnTo>
                  <a:lnTo>
                    <a:pt x="631" y="2402"/>
                  </a:lnTo>
                  <a:lnTo>
                    <a:pt x="625" y="2419"/>
                  </a:lnTo>
                  <a:lnTo>
                    <a:pt x="621" y="2420"/>
                  </a:lnTo>
                  <a:lnTo>
                    <a:pt x="617" y="2423"/>
                  </a:lnTo>
                  <a:lnTo>
                    <a:pt x="611" y="2448"/>
                  </a:lnTo>
                  <a:lnTo>
                    <a:pt x="604" y="2524"/>
                  </a:lnTo>
                  <a:lnTo>
                    <a:pt x="604" y="2600"/>
                  </a:lnTo>
                  <a:lnTo>
                    <a:pt x="604" y="2677"/>
                  </a:lnTo>
                  <a:lnTo>
                    <a:pt x="611" y="2753"/>
                  </a:lnTo>
                  <a:lnTo>
                    <a:pt x="617" y="2778"/>
                  </a:lnTo>
                  <a:lnTo>
                    <a:pt x="621" y="2780"/>
                  </a:lnTo>
                  <a:lnTo>
                    <a:pt x="627" y="2782"/>
                  </a:lnTo>
                  <a:lnTo>
                    <a:pt x="636" y="2799"/>
                  </a:lnTo>
                  <a:lnTo>
                    <a:pt x="641" y="2848"/>
                  </a:lnTo>
                  <a:lnTo>
                    <a:pt x="636" y="2937"/>
                  </a:lnTo>
                  <a:lnTo>
                    <a:pt x="617" y="3027"/>
                  </a:lnTo>
                  <a:lnTo>
                    <a:pt x="604" y="3060"/>
                  </a:lnTo>
                  <a:lnTo>
                    <a:pt x="581" y="3102"/>
                  </a:lnTo>
                  <a:lnTo>
                    <a:pt x="536" y="3161"/>
                  </a:lnTo>
                  <a:lnTo>
                    <a:pt x="484" y="3197"/>
                  </a:lnTo>
                  <a:lnTo>
                    <a:pt x="419" y="3211"/>
                  </a:lnTo>
                  <a:lnTo>
                    <a:pt x="378" y="3212"/>
                  </a:lnTo>
                  <a:lnTo>
                    <a:pt x="339" y="3211"/>
                  </a:lnTo>
                  <a:lnTo>
                    <a:pt x="284" y="3204"/>
                  </a:lnTo>
                  <a:lnTo>
                    <a:pt x="280" y="3198"/>
                  </a:lnTo>
                  <a:close/>
                </a:path>
              </a:pathLst>
            </a:custGeom>
            <a:solidFill>
              <a:srgbClr val="C00000"/>
            </a:solidFill>
            <a:ln>
              <a:noFill/>
            </a:ln>
          </p:spPr>
          <p:txBody>
            <a:bodyPr vert="horz" wrap="square" lIns="91440" tIns="45720" rIns="91440" bIns="45720" numCol="1" anchor="t" anchorCtr="0" compatLnSpc="1">
              <a:prstTxWarp prst="textNoShape">
                <a:avLst/>
              </a:prstTxWarp>
            </a:bodyPr>
            <a:lstStyle/>
            <a:p>
              <a:endParaRPr lang="es-PE"/>
            </a:p>
          </p:txBody>
        </p:sp>
        <p:sp>
          <p:nvSpPr>
            <p:cNvPr id="16" name="Freeform 14"/>
            <p:cNvSpPr>
              <a:spLocks/>
            </p:cNvSpPr>
            <p:nvPr/>
          </p:nvSpPr>
          <p:spPr bwMode="auto">
            <a:xfrm>
              <a:off x="3317196" y="3458708"/>
              <a:ext cx="858838" cy="1265238"/>
            </a:xfrm>
            <a:custGeom>
              <a:avLst/>
              <a:gdLst>
                <a:gd name="T0" fmla="*/ 824 w 1623"/>
                <a:gd name="T1" fmla="*/ 2354 h 2390"/>
                <a:gd name="T2" fmla="*/ 799 w 1623"/>
                <a:gd name="T3" fmla="*/ 2335 h 2390"/>
                <a:gd name="T4" fmla="*/ 716 w 1623"/>
                <a:gd name="T5" fmla="*/ 2292 h 2390"/>
                <a:gd name="T6" fmla="*/ 537 w 1623"/>
                <a:gd name="T7" fmla="*/ 2049 h 2390"/>
                <a:gd name="T8" fmla="*/ 524 w 1623"/>
                <a:gd name="T9" fmla="*/ 1634 h 2390"/>
                <a:gd name="T10" fmla="*/ 598 w 1623"/>
                <a:gd name="T11" fmla="*/ 1357 h 2390"/>
                <a:gd name="T12" fmla="*/ 773 w 1623"/>
                <a:gd name="T13" fmla="*/ 914 h 2390"/>
                <a:gd name="T14" fmla="*/ 854 w 1623"/>
                <a:gd name="T15" fmla="*/ 737 h 2390"/>
                <a:gd name="T16" fmla="*/ 887 w 1623"/>
                <a:gd name="T17" fmla="*/ 682 h 2390"/>
                <a:gd name="T18" fmla="*/ 804 w 1623"/>
                <a:gd name="T19" fmla="*/ 676 h 2390"/>
                <a:gd name="T20" fmla="*/ 756 w 1623"/>
                <a:gd name="T21" fmla="*/ 702 h 2390"/>
                <a:gd name="T22" fmla="*/ 701 w 1623"/>
                <a:gd name="T23" fmla="*/ 764 h 2390"/>
                <a:gd name="T24" fmla="*/ 668 w 1623"/>
                <a:gd name="T25" fmla="*/ 843 h 2390"/>
                <a:gd name="T26" fmla="*/ 642 w 1623"/>
                <a:gd name="T27" fmla="*/ 940 h 2390"/>
                <a:gd name="T28" fmla="*/ 477 w 1623"/>
                <a:gd name="T29" fmla="*/ 1226 h 2390"/>
                <a:gd name="T30" fmla="*/ 249 w 1623"/>
                <a:gd name="T31" fmla="*/ 1393 h 2390"/>
                <a:gd name="T32" fmla="*/ 20 w 1623"/>
                <a:gd name="T33" fmla="*/ 1381 h 2390"/>
                <a:gd name="T34" fmla="*/ 22 w 1623"/>
                <a:gd name="T35" fmla="*/ 1366 h 2390"/>
                <a:gd name="T36" fmla="*/ 0 w 1623"/>
                <a:gd name="T37" fmla="*/ 1311 h 2390"/>
                <a:gd name="T38" fmla="*/ 258 w 1623"/>
                <a:gd name="T39" fmla="*/ 1065 h 2390"/>
                <a:gd name="T40" fmla="*/ 298 w 1623"/>
                <a:gd name="T41" fmla="*/ 1008 h 2390"/>
                <a:gd name="T42" fmla="*/ 336 w 1623"/>
                <a:gd name="T43" fmla="*/ 954 h 2390"/>
                <a:gd name="T44" fmla="*/ 432 w 1623"/>
                <a:gd name="T45" fmla="*/ 774 h 2390"/>
                <a:gd name="T46" fmla="*/ 481 w 1623"/>
                <a:gd name="T47" fmla="*/ 648 h 2390"/>
                <a:gd name="T48" fmla="*/ 432 w 1623"/>
                <a:gd name="T49" fmla="*/ 486 h 2390"/>
                <a:gd name="T50" fmla="*/ 370 w 1623"/>
                <a:gd name="T51" fmla="*/ 293 h 2390"/>
                <a:gd name="T52" fmla="*/ 387 w 1623"/>
                <a:gd name="T53" fmla="*/ 134 h 2390"/>
                <a:gd name="T54" fmla="*/ 495 w 1623"/>
                <a:gd name="T55" fmla="*/ 18 h 2390"/>
                <a:gd name="T56" fmla="*/ 635 w 1623"/>
                <a:gd name="T57" fmla="*/ 0 h 2390"/>
                <a:gd name="T58" fmla="*/ 763 w 1623"/>
                <a:gd name="T59" fmla="*/ 56 h 2390"/>
                <a:gd name="T60" fmla="*/ 818 w 1623"/>
                <a:gd name="T61" fmla="*/ 181 h 2390"/>
                <a:gd name="T62" fmla="*/ 760 w 1623"/>
                <a:gd name="T63" fmla="*/ 390 h 2390"/>
                <a:gd name="T64" fmla="*/ 711 w 1623"/>
                <a:gd name="T65" fmla="*/ 514 h 2390"/>
                <a:gd name="T66" fmla="*/ 769 w 1623"/>
                <a:gd name="T67" fmla="*/ 524 h 2390"/>
                <a:gd name="T68" fmla="*/ 819 w 1623"/>
                <a:gd name="T69" fmla="*/ 486 h 2390"/>
                <a:gd name="T70" fmla="*/ 942 w 1623"/>
                <a:gd name="T71" fmla="*/ 439 h 2390"/>
                <a:gd name="T72" fmla="*/ 1030 w 1623"/>
                <a:gd name="T73" fmla="*/ 361 h 2390"/>
                <a:gd name="T74" fmla="*/ 1155 w 1623"/>
                <a:gd name="T75" fmla="*/ 272 h 2390"/>
                <a:gd name="T76" fmla="*/ 1322 w 1623"/>
                <a:gd name="T77" fmla="*/ 171 h 2390"/>
                <a:gd name="T78" fmla="*/ 1491 w 1623"/>
                <a:gd name="T79" fmla="*/ 198 h 2390"/>
                <a:gd name="T80" fmla="*/ 1540 w 1623"/>
                <a:gd name="T81" fmla="*/ 223 h 2390"/>
                <a:gd name="T82" fmla="*/ 1612 w 1623"/>
                <a:gd name="T83" fmla="*/ 342 h 2390"/>
                <a:gd name="T84" fmla="*/ 1603 w 1623"/>
                <a:gd name="T85" fmla="*/ 574 h 2390"/>
                <a:gd name="T86" fmla="*/ 1567 w 1623"/>
                <a:gd name="T87" fmla="*/ 642 h 2390"/>
                <a:gd name="T88" fmla="*/ 1468 w 1623"/>
                <a:gd name="T89" fmla="*/ 825 h 2390"/>
                <a:gd name="T90" fmla="*/ 1424 w 1623"/>
                <a:gd name="T91" fmla="*/ 917 h 2390"/>
                <a:gd name="T92" fmla="*/ 1371 w 1623"/>
                <a:gd name="T93" fmla="*/ 1005 h 2390"/>
                <a:gd name="T94" fmla="*/ 1305 w 1623"/>
                <a:gd name="T95" fmla="*/ 1118 h 2390"/>
                <a:gd name="T96" fmla="*/ 1220 w 1623"/>
                <a:gd name="T97" fmla="*/ 1291 h 2390"/>
                <a:gd name="T98" fmla="*/ 1198 w 1623"/>
                <a:gd name="T99" fmla="*/ 1329 h 2390"/>
                <a:gd name="T100" fmla="*/ 1126 w 1623"/>
                <a:gd name="T101" fmla="*/ 1501 h 2390"/>
                <a:gd name="T102" fmla="*/ 1037 w 1623"/>
                <a:gd name="T103" fmla="*/ 1739 h 2390"/>
                <a:gd name="T104" fmla="*/ 1008 w 1623"/>
                <a:gd name="T105" fmla="*/ 1933 h 2390"/>
                <a:gd name="T106" fmla="*/ 1048 w 1623"/>
                <a:gd name="T107" fmla="*/ 2139 h 2390"/>
                <a:gd name="T108" fmla="*/ 1102 w 1623"/>
                <a:gd name="T109" fmla="*/ 2231 h 2390"/>
                <a:gd name="T110" fmla="*/ 1007 w 1623"/>
                <a:gd name="T111" fmla="*/ 2375 h 2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623" h="2390">
                  <a:moveTo>
                    <a:pt x="892" y="2370"/>
                  </a:moveTo>
                  <a:lnTo>
                    <a:pt x="871" y="2360"/>
                  </a:lnTo>
                  <a:lnTo>
                    <a:pt x="835" y="2351"/>
                  </a:lnTo>
                  <a:lnTo>
                    <a:pt x="824" y="2354"/>
                  </a:lnTo>
                  <a:lnTo>
                    <a:pt x="815" y="2355"/>
                  </a:lnTo>
                  <a:lnTo>
                    <a:pt x="802" y="2350"/>
                  </a:lnTo>
                  <a:lnTo>
                    <a:pt x="802" y="2344"/>
                  </a:lnTo>
                  <a:lnTo>
                    <a:pt x="799" y="2335"/>
                  </a:lnTo>
                  <a:lnTo>
                    <a:pt x="775" y="2319"/>
                  </a:lnTo>
                  <a:lnTo>
                    <a:pt x="756" y="2315"/>
                  </a:lnTo>
                  <a:lnTo>
                    <a:pt x="745" y="2311"/>
                  </a:lnTo>
                  <a:lnTo>
                    <a:pt x="716" y="2292"/>
                  </a:lnTo>
                  <a:lnTo>
                    <a:pt x="668" y="2249"/>
                  </a:lnTo>
                  <a:lnTo>
                    <a:pt x="602" y="2170"/>
                  </a:lnTo>
                  <a:lnTo>
                    <a:pt x="550" y="2085"/>
                  </a:lnTo>
                  <a:lnTo>
                    <a:pt x="537" y="2049"/>
                  </a:lnTo>
                  <a:lnTo>
                    <a:pt x="529" y="2018"/>
                  </a:lnTo>
                  <a:lnTo>
                    <a:pt x="519" y="1948"/>
                  </a:lnTo>
                  <a:lnTo>
                    <a:pt x="513" y="1820"/>
                  </a:lnTo>
                  <a:lnTo>
                    <a:pt x="524" y="1634"/>
                  </a:lnTo>
                  <a:lnTo>
                    <a:pt x="546" y="1509"/>
                  </a:lnTo>
                  <a:lnTo>
                    <a:pt x="563" y="1440"/>
                  </a:lnTo>
                  <a:lnTo>
                    <a:pt x="575" y="1412"/>
                  </a:lnTo>
                  <a:lnTo>
                    <a:pt x="598" y="1357"/>
                  </a:lnTo>
                  <a:lnTo>
                    <a:pt x="612" y="1296"/>
                  </a:lnTo>
                  <a:lnTo>
                    <a:pt x="622" y="1251"/>
                  </a:lnTo>
                  <a:lnTo>
                    <a:pt x="690" y="1091"/>
                  </a:lnTo>
                  <a:lnTo>
                    <a:pt x="773" y="914"/>
                  </a:lnTo>
                  <a:lnTo>
                    <a:pt x="824" y="803"/>
                  </a:lnTo>
                  <a:lnTo>
                    <a:pt x="838" y="760"/>
                  </a:lnTo>
                  <a:lnTo>
                    <a:pt x="840" y="751"/>
                  </a:lnTo>
                  <a:lnTo>
                    <a:pt x="854" y="737"/>
                  </a:lnTo>
                  <a:lnTo>
                    <a:pt x="864" y="731"/>
                  </a:lnTo>
                  <a:lnTo>
                    <a:pt x="880" y="724"/>
                  </a:lnTo>
                  <a:lnTo>
                    <a:pt x="893" y="702"/>
                  </a:lnTo>
                  <a:lnTo>
                    <a:pt x="887" y="682"/>
                  </a:lnTo>
                  <a:lnTo>
                    <a:pt x="864" y="668"/>
                  </a:lnTo>
                  <a:lnTo>
                    <a:pt x="847" y="666"/>
                  </a:lnTo>
                  <a:lnTo>
                    <a:pt x="828" y="666"/>
                  </a:lnTo>
                  <a:lnTo>
                    <a:pt x="804" y="676"/>
                  </a:lnTo>
                  <a:lnTo>
                    <a:pt x="802" y="684"/>
                  </a:lnTo>
                  <a:lnTo>
                    <a:pt x="799" y="691"/>
                  </a:lnTo>
                  <a:lnTo>
                    <a:pt x="775" y="701"/>
                  </a:lnTo>
                  <a:lnTo>
                    <a:pt x="756" y="702"/>
                  </a:lnTo>
                  <a:lnTo>
                    <a:pt x="743" y="702"/>
                  </a:lnTo>
                  <a:lnTo>
                    <a:pt x="726" y="708"/>
                  </a:lnTo>
                  <a:lnTo>
                    <a:pt x="709" y="731"/>
                  </a:lnTo>
                  <a:lnTo>
                    <a:pt x="701" y="764"/>
                  </a:lnTo>
                  <a:lnTo>
                    <a:pt x="696" y="790"/>
                  </a:lnTo>
                  <a:lnTo>
                    <a:pt x="681" y="830"/>
                  </a:lnTo>
                  <a:lnTo>
                    <a:pt x="674" y="839"/>
                  </a:lnTo>
                  <a:lnTo>
                    <a:pt x="668" y="843"/>
                  </a:lnTo>
                  <a:lnTo>
                    <a:pt x="664" y="856"/>
                  </a:lnTo>
                  <a:lnTo>
                    <a:pt x="667" y="862"/>
                  </a:lnTo>
                  <a:lnTo>
                    <a:pt x="667" y="874"/>
                  </a:lnTo>
                  <a:lnTo>
                    <a:pt x="642" y="940"/>
                  </a:lnTo>
                  <a:lnTo>
                    <a:pt x="622" y="983"/>
                  </a:lnTo>
                  <a:lnTo>
                    <a:pt x="591" y="1042"/>
                  </a:lnTo>
                  <a:lnTo>
                    <a:pt x="533" y="1144"/>
                  </a:lnTo>
                  <a:lnTo>
                    <a:pt x="477" y="1226"/>
                  </a:lnTo>
                  <a:lnTo>
                    <a:pt x="423" y="1291"/>
                  </a:lnTo>
                  <a:lnTo>
                    <a:pt x="369" y="1339"/>
                  </a:lnTo>
                  <a:lnTo>
                    <a:pt x="311" y="1373"/>
                  </a:lnTo>
                  <a:lnTo>
                    <a:pt x="249" y="1393"/>
                  </a:lnTo>
                  <a:lnTo>
                    <a:pt x="182" y="1402"/>
                  </a:lnTo>
                  <a:lnTo>
                    <a:pt x="144" y="1402"/>
                  </a:lnTo>
                  <a:lnTo>
                    <a:pt x="92" y="1398"/>
                  </a:lnTo>
                  <a:lnTo>
                    <a:pt x="20" y="1381"/>
                  </a:lnTo>
                  <a:lnTo>
                    <a:pt x="6" y="1373"/>
                  </a:lnTo>
                  <a:lnTo>
                    <a:pt x="9" y="1370"/>
                  </a:lnTo>
                  <a:lnTo>
                    <a:pt x="17" y="1369"/>
                  </a:lnTo>
                  <a:lnTo>
                    <a:pt x="22" y="1366"/>
                  </a:lnTo>
                  <a:lnTo>
                    <a:pt x="17" y="1352"/>
                  </a:lnTo>
                  <a:lnTo>
                    <a:pt x="10" y="1340"/>
                  </a:lnTo>
                  <a:lnTo>
                    <a:pt x="1" y="1330"/>
                  </a:lnTo>
                  <a:lnTo>
                    <a:pt x="0" y="1311"/>
                  </a:lnTo>
                  <a:lnTo>
                    <a:pt x="59" y="1248"/>
                  </a:lnTo>
                  <a:lnTo>
                    <a:pt x="186" y="1141"/>
                  </a:lnTo>
                  <a:lnTo>
                    <a:pt x="216" y="1113"/>
                  </a:lnTo>
                  <a:lnTo>
                    <a:pt x="258" y="1065"/>
                  </a:lnTo>
                  <a:lnTo>
                    <a:pt x="262" y="1051"/>
                  </a:lnTo>
                  <a:lnTo>
                    <a:pt x="264" y="1041"/>
                  </a:lnTo>
                  <a:lnTo>
                    <a:pt x="284" y="1016"/>
                  </a:lnTo>
                  <a:lnTo>
                    <a:pt x="298" y="1008"/>
                  </a:lnTo>
                  <a:lnTo>
                    <a:pt x="313" y="999"/>
                  </a:lnTo>
                  <a:lnTo>
                    <a:pt x="331" y="976"/>
                  </a:lnTo>
                  <a:lnTo>
                    <a:pt x="334" y="966"/>
                  </a:lnTo>
                  <a:lnTo>
                    <a:pt x="336" y="954"/>
                  </a:lnTo>
                  <a:lnTo>
                    <a:pt x="360" y="908"/>
                  </a:lnTo>
                  <a:lnTo>
                    <a:pt x="377" y="884"/>
                  </a:lnTo>
                  <a:lnTo>
                    <a:pt x="396" y="855"/>
                  </a:lnTo>
                  <a:lnTo>
                    <a:pt x="432" y="774"/>
                  </a:lnTo>
                  <a:lnTo>
                    <a:pt x="444" y="735"/>
                  </a:lnTo>
                  <a:lnTo>
                    <a:pt x="454" y="701"/>
                  </a:lnTo>
                  <a:lnTo>
                    <a:pt x="474" y="652"/>
                  </a:lnTo>
                  <a:lnTo>
                    <a:pt x="481" y="648"/>
                  </a:lnTo>
                  <a:lnTo>
                    <a:pt x="491" y="646"/>
                  </a:lnTo>
                  <a:lnTo>
                    <a:pt x="495" y="626"/>
                  </a:lnTo>
                  <a:lnTo>
                    <a:pt x="472" y="561"/>
                  </a:lnTo>
                  <a:lnTo>
                    <a:pt x="432" y="486"/>
                  </a:lnTo>
                  <a:lnTo>
                    <a:pt x="413" y="452"/>
                  </a:lnTo>
                  <a:lnTo>
                    <a:pt x="389" y="398"/>
                  </a:lnTo>
                  <a:lnTo>
                    <a:pt x="374" y="350"/>
                  </a:lnTo>
                  <a:lnTo>
                    <a:pt x="370" y="293"/>
                  </a:lnTo>
                  <a:lnTo>
                    <a:pt x="370" y="259"/>
                  </a:lnTo>
                  <a:lnTo>
                    <a:pt x="370" y="221"/>
                  </a:lnTo>
                  <a:lnTo>
                    <a:pt x="373" y="170"/>
                  </a:lnTo>
                  <a:lnTo>
                    <a:pt x="387" y="134"/>
                  </a:lnTo>
                  <a:lnTo>
                    <a:pt x="415" y="96"/>
                  </a:lnTo>
                  <a:lnTo>
                    <a:pt x="438" y="72"/>
                  </a:lnTo>
                  <a:lnTo>
                    <a:pt x="461" y="49"/>
                  </a:lnTo>
                  <a:lnTo>
                    <a:pt x="495" y="18"/>
                  </a:lnTo>
                  <a:lnTo>
                    <a:pt x="530" y="4"/>
                  </a:lnTo>
                  <a:lnTo>
                    <a:pt x="573" y="0"/>
                  </a:lnTo>
                  <a:lnTo>
                    <a:pt x="605" y="0"/>
                  </a:lnTo>
                  <a:lnTo>
                    <a:pt x="635" y="0"/>
                  </a:lnTo>
                  <a:lnTo>
                    <a:pt x="680" y="4"/>
                  </a:lnTo>
                  <a:lnTo>
                    <a:pt x="713" y="15"/>
                  </a:lnTo>
                  <a:lnTo>
                    <a:pt x="745" y="39"/>
                  </a:lnTo>
                  <a:lnTo>
                    <a:pt x="763" y="56"/>
                  </a:lnTo>
                  <a:lnTo>
                    <a:pt x="783" y="73"/>
                  </a:lnTo>
                  <a:lnTo>
                    <a:pt x="808" y="102"/>
                  </a:lnTo>
                  <a:lnTo>
                    <a:pt x="818" y="134"/>
                  </a:lnTo>
                  <a:lnTo>
                    <a:pt x="818" y="181"/>
                  </a:lnTo>
                  <a:lnTo>
                    <a:pt x="817" y="216"/>
                  </a:lnTo>
                  <a:lnTo>
                    <a:pt x="811" y="269"/>
                  </a:lnTo>
                  <a:lnTo>
                    <a:pt x="783" y="352"/>
                  </a:lnTo>
                  <a:lnTo>
                    <a:pt x="760" y="390"/>
                  </a:lnTo>
                  <a:lnTo>
                    <a:pt x="740" y="422"/>
                  </a:lnTo>
                  <a:lnTo>
                    <a:pt x="714" y="481"/>
                  </a:lnTo>
                  <a:lnTo>
                    <a:pt x="711" y="502"/>
                  </a:lnTo>
                  <a:lnTo>
                    <a:pt x="711" y="514"/>
                  </a:lnTo>
                  <a:lnTo>
                    <a:pt x="716" y="528"/>
                  </a:lnTo>
                  <a:lnTo>
                    <a:pt x="730" y="535"/>
                  </a:lnTo>
                  <a:lnTo>
                    <a:pt x="753" y="530"/>
                  </a:lnTo>
                  <a:lnTo>
                    <a:pt x="769" y="524"/>
                  </a:lnTo>
                  <a:lnTo>
                    <a:pt x="794" y="508"/>
                  </a:lnTo>
                  <a:lnTo>
                    <a:pt x="798" y="502"/>
                  </a:lnTo>
                  <a:lnTo>
                    <a:pt x="802" y="495"/>
                  </a:lnTo>
                  <a:lnTo>
                    <a:pt x="819" y="486"/>
                  </a:lnTo>
                  <a:lnTo>
                    <a:pt x="832" y="486"/>
                  </a:lnTo>
                  <a:lnTo>
                    <a:pt x="848" y="483"/>
                  </a:lnTo>
                  <a:lnTo>
                    <a:pt x="893" y="466"/>
                  </a:lnTo>
                  <a:lnTo>
                    <a:pt x="942" y="439"/>
                  </a:lnTo>
                  <a:lnTo>
                    <a:pt x="984" y="407"/>
                  </a:lnTo>
                  <a:lnTo>
                    <a:pt x="997" y="393"/>
                  </a:lnTo>
                  <a:lnTo>
                    <a:pt x="1007" y="378"/>
                  </a:lnTo>
                  <a:lnTo>
                    <a:pt x="1030" y="361"/>
                  </a:lnTo>
                  <a:lnTo>
                    <a:pt x="1040" y="360"/>
                  </a:lnTo>
                  <a:lnTo>
                    <a:pt x="1051" y="355"/>
                  </a:lnTo>
                  <a:lnTo>
                    <a:pt x="1115" y="306"/>
                  </a:lnTo>
                  <a:lnTo>
                    <a:pt x="1155" y="272"/>
                  </a:lnTo>
                  <a:lnTo>
                    <a:pt x="1178" y="250"/>
                  </a:lnTo>
                  <a:lnTo>
                    <a:pt x="1227" y="214"/>
                  </a:lnTo>
                  <a:lnTo>
                    <a:pt x="1275" y="188"/>
                  </a:lnTo>
                  <a:lnTo>
                    <a:pt x="1322" y="171"/>
                  </a:lnTo>
                  <a:lnTo>
                    <a:pt x="1367" y="164"/>
                  </a:lnTo>
                  <a:lnTo>
                    <a:pt x="1410" y="165"/>
                  </a:lnTo>
                  <a:lnTo>
                    <a:pt x="1452" y="177"/>
                  </a:lnTo>
                  <a:lnTo>
                    <a:pt x="1491" y="198"/>
                  </a:lnTo>
                  <a:lnTo>
                    <a:pt x="1509" y="213"/>
                  </a:lnTo>
                  <a:lnTo>
                    <a:pt x="1521" y="221"/>
                  </a:lnTo>
                  <a:lnTo>
                    <a:pt x="1538" y="227"/>
                  </a:lnTo>
                  <a:lnTo>
                    <a:pt x="1540" y="223"/>
                  </a:lnTo>
                  <a:lnTo>
                    <a:pt x="1541" y="219"/>
                  </a:lnTo>
                  <a:lnTo>
                    <a:pt x="1554" y="233"/>
                  </a:lnTo>
                  <a:lnTo>
                    <a:pt x="1587" y="289"/>
                  </a:lnTo>
                  <a:lnTo>
                    <a:pt x="1612" y="342"/>
                  </a:lnTo>
                  <a:lnTo>
                    <a:pt x="1619" y="364"/>
                  </a:lnTo>
                  <a:lnTo>
                    <a:pt x="1623" y="436"/>
                  </a:lnTo>
                  <a:lnTo>
                    <a:pt x="1617" y="514"/>
                  </a:lnTo>
                  <a:lnTo>
                    <a:pt x="1603" y="574"/>
                  </a:lnTo>
                  <a:lnTo>
                    <a:pt x="1594" y="584"/>
                  </a:lnTo>
                  <a:lnTo>
                    <a:pt x="1587" y="591"/>
                  </a:lnTo>
                  <a:lnTo>
                    <a:pt x="1573" y="622"/>
                  </a:lnTo>
                  <a:lnTo>
                    <a:pt x="1567" y="642"/>
                  </a:lnTo>
                  <a:lnTo>
                    <a:pt x="1558" y="668"/>
                  </a:lnTo>
                  <a:lnTo>
                    <a:pt x="1518" y="746"/>
                  </a:lnTo>
                  <a:lnTo>
                    <a:pt x="1493" y="786"/>
                  </a:lnTo>
                  <a:lnTo>
                    <a:pt x="1468" y="825"/>
                  </a:lnTo>
                  <a:lnTo>
                    <a:pt x="1434" y="885"/>
                  </a:lnTo>
                  <a:lnTo>
                    <a:pt x="1432" y="898"/>
                  </a:lnTo>
                  <a:lnTo>
                    <a:pt x="1432" y="905"/>
                  </a:lnTo>
                  <a:lnTo>
                    <a:pt x="1424" y="917"/>
                  </a:lnTo>
                  <a:lnTo>
                    <a:pt x="1419" y="918"/>
                  </a:lnTo>
                  <a:lnTo>
                    <a:pt x="1411" y="923"/>
                  </a:lnTo>
                  <a:lnTo>
                    <a:pt x="1385" y="969"/>
                  </a:lnTo>
                  <a:lnTo>
                    <a:pt x="1371" y="1005"/>
                  </a:lnTo>
                  <a:lnTo>
                    <a:pt x="1357" y="1039"/>
                  </a:lnTo>
                  <a:lnTo>
                    <a:pt x="1325" y="1095"/>
                  </a:lnTo>
                  <a:lnTo>
                    <a:pt x="1315" y="1107"/>
                  </a:lnTo>
                  <a:lnTo>
                    <a:pt x="1305" y="1118"/>
                  </a:lnTo>
                  <a:lnTo>
                    <a:pt x="1275" y="1175"/>
                  </a:lnTo>
                  <a:lnTo>
                    <a:pt x="1259" y="1209"/>
                  </a:lnTo>
                  <a:lnTo>
                    <a:pt x="1244" y="1244"/>
                  </a:lnTo>
                  <a:lnTo>
                    <a:pt x="1220" y="1291"/>
                  </a:lnTo>
                  <a:lnTo>
                    <a:pt x="1213" y="1296"/>
                  </a:lnTo>
                  <a:lnTo>
                    <a:pt x="1205" y="1297"/>
                  </a:lnTo>
                  <a:lnTo>
                    <a:pt x="1198" y="1314"/>
                  </a:lnTo>
                  <a:lnTo>
                    <a:pt x="1198" y="1329"/>
                  </a:lnTo>
                  <a:lnTo>
                    <a:pt x="1194" y="1346"/>
                  </a:lnTo>
                  <a:lnTo>
                    <a:pt x="1167" y="1416"/>
                  </a:lnTo>
                  <a:lnTo>
                    <a:pt x="1148" y="1458"/>
                  </a:lnTo>
                  <a:lnTo>
                    <a:pt x="1126" y="1501"/>
                  </a:lnTo>
                  <a:lnTo>
                    <a:pt x="1084" y="1605"/>
                  </a:lnTo>
                  <a:lnTo>
                    <a:pt x="1072" y="1647"/>
                  </a:lnTo>
                  <a:lnTo>
                    <a:pt x="1061" y="1684"/>
                  </a:lnTo>
                  <a:lnTo>
                    <a:pt x="1037" y="1739"/>
                  </a:lnTo>
                  <a:lnTo>
                    <a:pt x="1028" y="1749"/>
                  </a:lnTo>
                  <a:lnTo>
                    <a:pt x="1021" y="1764"/>
                  </a:lnTo>
                  <a:lnTo>
                    <a:pt x="1010" y="1860"/>
                  </a:lnTo>
                  <a:lnTo>
                    <a:pt x="1008" y="1933"/>
                  </a:lnTo>
                  <a:lnTo>
                    <a:pt x="1010" y="2030"/>
                  </a:lnTo>
                  <a:lnTo>
                    <a:pt x="1020" y="2100"/>
                  </a:lnTo>
                  <a:lnTo>
                    <a:pt x="1036" y="2128"/>
                  </a:lnTo>
                  <a:lnTo>
                    <a:pt x="1048" y="2139"/>
                  </a:lnTo>
                  <a:lnTo>
                    <a:pt x="1064" y="2157"/>
                  </a:lnTo>
                  <a:lnTo>
                    <a:pt x="1092" y="2195"/>
                  </a:lnTo>
                  <a:lnTo>
                    <a:pt x="1099" y="2211"/>
                  </a:lnTo>
                  <a:lnTo>
                    <a:pt x="1102" y="2231"/>
                  </a:lnTo>
                  <a:lnTo>
                    <a:pt x="1090" y="2280"/>
                  </a:lnTo>
                  <a:lnTo>
                    <a:pt x="1064" y="2329"/>
                  </a:lnTo>
                  <a:lnTo>
                    <a:pt x="1027" y="2365"/>
                  </a:lnTo>
                  <a:lnTo>
                    <a:pt x="1007" y="2375"/>
                  </a:lnTo>
                  <a:lnTo>
                    <a:pt x="971" y="2390"/>
                  </a:lnTo>
                  <a:lnTo>
                    <a:pt x="926" y="2388"/>
                  </a:lnTo>
                  <a:lnTo>
                    <a:pt x="892" y="2370"/>
                  </a:lnTo>
                  <a:close/>
                </a:path>
              </a:pathLst>
            </a:custGeom>
            <a:solidFill>
              <a:srgbClr val="C00000"/>
            </a:solidFill>
            <a:ln>
              <a:noFill/>
            </a:ln>
          </p:spPr>
          <p:txBody>
            <a:bodyPr vert="horz" wrap="square" lIns="91440" tIns="45720" rIns="91440" bIns="45720" numCol="1" anchor="t" anchorCtr="0" compatLnSpc="1">
              <a:prstTxWarp prst="textNoShape">
                <a:avLst/>
              </a:prstTxWarp>
            </a:bodyPr>
            <a:lstStyle/>
            <a:p>
              <a:endParaRPr lang="es-PE"/>
            </a:p>
          </p:txBody>
        </p:sp>
        <p:sp>
          <p:nvSpPr>
            <p:cNvPr id="17" name="Freeform 15"/>
            <p:cNvSpPr>
              <a:spLocks noEditPoints="1"/>
            </p:cNvSpPr>
            <p:nvPr/>
          </p:nvSpPr>
          <p:spPr bwMode="auto">
            <a:xfrm>
              <a:off x="5198384" y="3358695"/>
              <a:ext cx="922338" cy="1228725"/>
            </a:xfrm>
            <a:custGeom>
              <a:avLst/>
              <a:gdLst>
                <a:gd name="T0" fmla="*/ 147 w 1741"/>
                <a:gd name="T1" fmla="*/ 2217 h 2322"/>
                <a:gd name="T2" fmla="*/ 93 w 1741"/>
                <a:gd name="T3" fmla="*/ 2128 h 2322"/>
                <a:gd name="T4" fmla="*/ 40 w 1741"/>
                <a:gd name="T5" fmla="*/ 2030 h 2322"/>
                <a:gd name="T6" fmla="*/ 1 w 1741"/>
                <a:gd name="T7" fmla="*/ 1680 h 2322"/>
                <a:gd name="T8" fmla="*/ 72 w 1741"/>
                <a:gd name="T9" fmla="*/ 1225 h 2322"/>
                <a:gd name="T10" fmla="*/ 158 w 1741"/>
                <a:gd name="T11" fmla="*/ 972 h 2322"/>
                <a:gd name="T12" fmla="*/ 322 w 1741"/>
                <a:gd name="T13" fmla="*/ 649 h 2322"/>
                <a:gd name="T14" fmla="*/ 533 w 1741"/>
                <a:gd name="T15" fmla="*/ 413 h 2322"/>
                <a:gd name="T16" fmla="*/ 792 w 1741"/>
                <a:gd name="T17" fmla="*/ 234 h 2322"/>
                <a:gd name="T18" fmla="*/ 983 w 1741"/>
                <a:gd name="T19" fmla="*/ 180 h 2322"/>
                <a:gd name="T20" fmla="*/ 1283 w 1741"/>
                <a:gd name="T21" fmla="*/ 194 h 2322"/>
                <a:gd name="T22" fmla="*/ 1351 w 1741"/>
                <a:gd name="T23" fmla="*/ 168 h 2322"/>
                <a:gd name="T24" fmla="*/ 1541 w 1741"/>
                <a:gd name="T25" fmla="*/ 8 h 2322"/>
                <a:gd name="T26" fmla="*/ 1686 w 1741"/>
                <a:gd name="T27" fmla="*/ 17 h 2322"/>
                <a:gd name="T28" fmla="*/ 1721 w 1741"/>
                <a:gd name="T29" fmla="*/ 80 h 2322"/>
                <a:gd name="T30" fmla="*/ 1741 w 1741"/>
                <a:gd name="T31" fmla="*/ 223 h 2322"/>
                <a:gd name="T32" fmla="*/ 1683 w 1741"/>
                <a:gd name="T33" fmla="*/ 478 h 2322"/>
                <a:gd name="T34" fmla="*/ 1631 w 1741"/>
                <a:gd name="T35" fmla="*/ 671 h 2322"/>
                <a:gd name="T36" fmla="*/ 1555 w 1741"/>
                <a:gd name="T37" fmla="*/ 976 h 2322"/>
                <a:gd name="T38" fmla="*/ 1477 w 1741"/>
                <a:gd name="T39" fmla="*/ 1255 h 2322"/>
                <a:gd name="T40" fmla="*/ 1401 w 1741"/>
                <a:gd name="T41" fmla="*/ 1573 h 2322"/>
                <a:gd name="T42" fmla="*/ 1398 w 1741"/>
                <a:gd name="T43" fmla="*/ 1840 h 2322"/>
                <a:gd name="T44" fmla="*/ 1456 w 1741"/>
                <a:gd name="T45" fmla="*/ 1894 h 2322"/>
                <a:gd name="T46" fmla="*/ 1485 w 1741"/>
                <a:gd name="T47" fmla="*/ 1900 h 2322"/>
                <a:gd name="T48" fmla="*/ 1512 w 1741"/>
                <a:gd name="T49" fmla="*/ 1987 h 2322"/>
                <a:gd name="T50" fmla="*/ 1414 w 1741"/>
                <a:gd name="T51" fmla="*/ 2090 h 2322"/>
                <a:gd name="T52" fmla="*/ 1171 w 1741"/>
                <a:gd name="T53" fmla="*/ 2063 h 2322"/>
                <a:gd name="T54" fmla="*/ 1050 w 1741"/>
                <a:gd name="T55" fmla="*/ 1835 h 2322"/>
                <a:gd name="T56" fmla="*/ 998 w 1741"/>
                <a:gd name="T57" fmla="*/ 1860 h 2322"/>
                <a:gd name="T58" fmla="*/ 972 w 1741"/>
                <a:gd name="T59" fmla="*/ 1890 h 2322"/>
                <a:gd name="T60" fmla="*/ 916 w 1741"/>
                <a:gd name="T61" fmla="*/ 2004 h 2322"/>
                <a:gd name="T62" fmla="*/ 883 w 1741"/>
                <a:gd name="T63" fmla="*/ 2049 h 2322"/>
                <a:gd name="T64" fmla="*/ 721 w 1741"/>
                <a:gd name="T65" fmla="*/ 2218 h 2322"/>
                <a:gd name="T66" fmla="*/ 671 w 1741"/>
                <a:gd name="T67" fmla="*/ 2249 h 2322"/>
                <a:gd name="T68" fmla="*/ 448 w 1741"/>
                <a:gd name="T69" fmla="*/ 2321 h 2322"/>
                <a:gd name="T70" fmla="*/ 685 w 1741"/>
                <a:gd name="T71" fmla="*/ 1969 h 2322"/>
                <a:gd name="T72" fmla="*/ 789 w 1741"/>
                <a:gd name="T73" fmla="*/ 1815 h 2322"/>
                <a:gd name="T74" fmla="*/ 887 w 1741"/>
                <a:gd name="T75" fmla="*/ 1573 h 2322"/>
                <a:gd name="T76" fmla="*/ 955 w 1741"/>
                <a:gd name="T77" fmla="*/ 1324 h 2322"/>
                <a:gd name="T78" fmla="*/ 999 w 1741"/>
                <a:gd name="T79" fmla="*/ 1153 h 2322"/>
                <a:gd name="T80" fmla="*/ 1073 w 1741"/>
                <a:gd name="T81" fmla="*/ 879 h 2322"/>
                <a:gd name="T82" fmla="*/ 1093 w 1741"/>
                <a:gd name="T83" fmla="*/ 810 h 2322"/>
                <a:gd name="T84" fmla="*/ 1106 w 1741"/>
                <a:gd name="T85" fmla="*/ 766 h 2322"/>
                <a:gd name="T86" fmla="*/ 1168 w 1741"/>
                <a:gd name="T87" fmla="*/ 573 h 2322"/>
                <a:gd name="T88" fmla="*/ 1182 w 1741"/>
                <a:gd name="T89" fmla="*/ 555 h 2322"/>
                <a:gd name="T90" fmla="*/ 1201 w 1741"/>
                <a:gd name="T91" fmla="*/ 505 h 2322"/>
                <a:gd name="T92" fmla="*/ 1133 w 1741"/>
                <a:gd name="T93" fmla="*/ 446 h 2322"/>
                <a:gd name="T94" fmla="*/ 1017 w 1741"/>
                <a:gd name="T95" fmla="*/ 486 h 2322"/>
                <a:gd name="T96" fmla="*/ 764 w 1741"/>
                <a:gd name="T97" fmla="*/ 780 h 2322"/>
                <a:gd name="T98" fmla="*/ 603 w 1741"/>
                <a:gd name="T99" fmla="*/ 1166 h 2322"/>
                <a:gd name="T100" fmla="*/ 528 w 1741"/>
                <a:gd name="T101" fmla="*/ 1422 h 2322"/>
                <a:gd name="T102" fmla="*/ 479 w 1741"/>
                <a:gd name="T103" fmla="*/ 1794 h 2322"/>
                <a:gd name="T104" fmla="*/ 511 w 1741"/>
                <a:gd name="T105" fmla="*/ 1988 h 2322"/>
                <a:gd name="T106" fmla="*/ 662 w 1741"/>
                <a:gd name="T107" fmla="*/ 1992 h 23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741" h="2322">
                  <a:moveTo>
                    <a:pt x="288" y="2312"/>
                  </a:moveTo>
                  <a:lnTo>
                    <a:pt x="262" y="2302"/>
                  </a:lnTo>
                  <a:lnTo>
                    <a:pt x="201" y="2265"/>
                  </a:lnTo>
                  <a:lnTo>
                    <a:pt x="147" y="2217"/>
                  </a:lnTo>
                  <a:lnTo>
                    <a:pt x="111" y="2174"/>
                  </a:lnTo>
                  <a:lnTo>
                    <a:pt x="108" y="2159"/>
                  </a:lnTo>
                  <a:lnTo>
                    <a:pt x="106" y="2148"/>
                  </a:lnTo>
                  <a:lnTo>
                    <a:pt x="93" y="2128"/>
                  </a:lnTo>
                  <a:lnTo>
                    <a:pt x="85" y="2121"/>
                  </a:lnTo>
                  <a:lnTo>
                    <a:pt x="78" y="2115"/>
                  </a:lnTo>
                  <a:lnTo>
                    <a:pt x="63" y="2090"/>
                  </a:lnTo>
                  <a:lnTo>
                    <a:pt x="40" y="2030"/>
                  </a:lnTo>
                  <a:lnTo>
                    <a:pt x="16" y="1916"/>
                  </a:lnTo>
                  <a:lnTo>
                    <a:pt x="1" y="1792"/>
                  </a:lnTo>
                  <a:lnTo>
                    <a:pt x="0" y="1736"/>
                  </a:lnTo>
                  <a:lnTo>
                    <a:pt x="1" y="1680"/>
                  </a:lnTo>
                  <a:lnTo>
                    <a:pt x="16" y="1532"/>
                  </a:lnTo>
                  <a:lnTo>
                    <a:pt x="37" y="1378"/>
                  </a:lnTo>
                  <a:lnTo>
                    <a:pt x="62" y="1257"/>
                  </a:lnTo>
                  <a:lnTo>
                    <a:pt x="72" y="1225"/>
                  </a:lnTo>
                  <a:lnTo>
                    <a:pt x="91" y="1176"/>
                  </a:lnTo>
                  <a:lnTo>
                    <a:pt x="115" y="1097"/>
                  </a:lnTo>
                  <a:lnTo>
                    <a:pt x="139" y="1018"/>
                  </a:lnTo>
                  <a:lnTo>
                    <a:pt x="158" y="972"/>
                  </a:lnTo>
                  <a:lnTo>
                    <a:pt x="190" y="908"/>
                  </a:lnTo>
                  <a:lnTo>
                    <a:pt x="253" y="774"/>
                  </a:lnTo>
                  <a:lnTo>
                    <a:pt x="278" y="728"/>
                  </a:lnTo>
                  <a:lnTo>
                    <a:pt x="322" y="649"/>
                  </a:lnTo>
                  <a:lnTo>
                    <a:pt x="374" y="580"/>
                  </a:lnTo>
                  <a:lnTo>
                    <a:pt x="442" y="504"/>
                  </a:lnTo>
                  <a:lnTo>
                    <a:pt x="487" y="460"/>
                  </a:lnTo>
                  <a:lnTo>
                    <a:pt x="533" y="413"/>
                  </a:lnTo>
                  <a:lnTo>
                    <a:pt x="622" y="335"/>
                  </a:lnTo>
                  <a:lnTo>
                    <a:pt x="703" y="276"/>
                  </a:lnTo>
                  <a:lnTo>
                    <a:pt x="769" y="240"/>
                  </a:lnTo>
                  <a:lnTo>
                    <a:pt x="792" y="234"/>
                  </a:lnTo>
                  <a:lnTo>
                    <a:pt x="809" y="229"/>
                  </a:lnTo>
                  <a:lnTo>
                    <a:pt x="847" y="208"/>
                  </a:lnTo>
                  <a:lnTo>
                    <a:pt x="875" y="195"/>
                  </a:lnTo>
                  <a:lnTo>
                    <a:pt x="983" y="180"/>
                  </a:lnTo>
                  <a:lnTo>
                    <a:pt x="1113" y="174"/>
                  </a:lnTo>
                  <a:lnTo>
                    <a:pt x="1228" y="180"/>
                  </a:lnTo>
                  <a:lnTo>
                    <a:pt x="1264" y="188"/>
                  </a:lnTo>
                  <a:lnTo>
                    <a:pt x="1283" y="194"/>
                  </a:lnTo>
                  <a:lnTo>
                    <a:pt x="1309" y="201"/>
                  </a:lnTo>
                  <a:lnTo>
                    <a:pt x="1326" y="197"/>
                  </a:lnTo>
                  <a:lnTo>
                    <a:pt x="1341" y="181"/>
                  </a:lnTo>
                  <a:lnTo>
                    <a:pt x="1351" y="168"/>
                  </a:lnTo>
                  <a:lnTo>
                    <a:pt x="1371" y="136"/>
                  </a:lnTo>
                  <a:lnTo>
                    <a:pt x="1423" y="80"/>
                  </a:lnTo>
                  <a:lnTo>
                    <a:pt x="1482" y="37"/>
                  </a:lnTo>
                  <a:lnTo>
                    <a:pt x="1541" y="8"/>
                  </a:lnTo>
                  <a:lnTo>
                    <a:pt x="1568" y="2"/>
                  </a:lnTo>
                  <a:lnTo>
                    <a:pt x="1597" y="0"/>
                  </a:lnTo>
                  <a:lnTo>
                    <a:pt x="1647" y="2"/>
                  </a:lnTo>
                  <a:lnTo>
                    <a:pt x="1686" y="17"/>
                  </a:lnTo>
                  <a:lnTo>
                    <a:pt x="1708" y="40"/>
                  </a:lnTo>
                  <a:lnTo>
                    <a:pt x="1711" y="54"/>
                  </a:lnTo>
                  <a:lnTo>
                    <a:pt x="1711" y="66"/>
                  </a:lnTo>
                  <a:lnTo>
                    <a:pt x="1721" y="80"/>
                  </a:lnTo>
                  <a:lnTo>
                    <a:pt x="1728" y="82"/>
                  </a:lnTo>
                  <a:lnTo>
                    <a:pt x="1734" y="87"/>
                  </a:lnTo>
                  <a:lnTo>
                    <a:pt x="1741" y="145"/>
                  </a:lnTo>
                  <a:lnTo>
                    <a:pt x="1741" y="223"/>
                  </a:lnTo>
                  <a:lnTo>
                    <a:pt x="1732" y="286"/>
                  </a:lnTo>
                  <a:lnTo>
                    <a:pt x="1727" y="298"/>
                  </a:lnTo>
                  <a:lnTo>
                    <a:pt x="1711" y="344"/>
                  </a:lnTo>
                  <a:lnTo>
                    <a:pt x="1683" y="478"/>
                  </a:lnTo>
                  <a:lnTo>
                    <a:pt x="1670" y="547"/>
                  </a:lnTo>
                  <a:lnTo>
                    <a:pt x="1646" y="645"/>
                  </a:lnTo>
                  <a:lnTo>
                    <a:pt x="1639" y="658"/>
                  </a:lnTo>
                  <a:lnTo>
                    <a:pt x="1631" y="671"/>
                  </a:lnTo>
                  <a:lnTo>
                    <a:pt x="1607" y="758"/>
                  </a:lnTo>
                  <a:lnTo>
                    <a:pt x="1595" y="820"/>
                  </a:lnTo>
                  <a:lnTo>
                    <a:pt x="1581" y="882"/>
                  </a:lnTo>
                  <a:lnTo>
                    <a:pt x="1555" y="976"/>
                  </a:lnTo>
                  <a:lnTo>
                    <a:pt x="1548" y="990"/>
                  </a:lnTo>
                  <a:lnTo>
                    <a:pt x="1531" y="1036"/>
                  </a:lnTo>
                  <a:lnTo>
                    <a:pt x="1505" y="1144"/>
                  </a:lnTo>
                  <a:lnTo>
                    <a:pt x="1477" y="1255"/>
                  </a:lnTo>
                  <a:lnTo>
                    <a:pt x="1459" y="1310"/>
                  </a:lnTo>
                  <a:lnTo>
                    <a:pt x="1447" y="1334"/>
                  </a:lnTo>
                  <a:lnTo>
                    <a:pt x="1424" y="1438"/>
                  </a:lnTo>
                  <a:lnTo>
                    <a:pt x="1401" y="1573"/>
                  </a:lnTo>
                  <a:lnTo>
                    <a:pt x="1388" y="1700"/>
                  </a:lnTo>
                  <a:lnTo>
                    <a:pt x="1387" y="1746"/>
                  </a:lnTo>
                  <a:lnTo>
                    <a:pt x="1387" y="1794"/>
                  </a:lnTo>
                  <a:lnTo>
                    <a:pt x="1398" y="1840"/>
                  </a:lnTo>
                  <a:lnTo>
                    <a:pt x="1413" y="1863"/>
                  </a:lnTo>
                  <a:lnTo>
                    <a:pt x="1423" y="1873"/>
                  </a:lnTo>
                  <a:lnTo>
                    <a:pt x="1437" y="1884"/>
                  </a:lnTo>
                  <a:lnTo>
                    <a:pt x="1456" y="1894"/>
                  </a:lnTo>
                  <a:lnTo>
                    <a:pt x="1459" y="1890"/>
                  </a:lnTo>
                  <a:lnTo>
                    <a:pt x="1460" y="1886"/>
                  </a:lnTo>
                  <a:lnTo>
                    <a:pt x="1474" y="1892"/>
                  </a:lnTo>
                  <a:lnTo>
                    <a:pt x="1485" y="1900"/>
                  </a:lnTo>
                  <a:lnTo>
                    <a:pt x="1496" y="1912"/>
                  </a:lnTo>
                  <a:lnTo>
                    <a:pt x="1510" y="1951"/>
                  </a:lnTo>
                  <a:lnTo>
                    <a:pt x="1512" y="1974"/>
                  </a:lnTo>
                  <a:lnTo>
                    <a:pt x="1512" y="1987"/>
                  </a:lnTo>
                  <a:lnTo>
                    <a:pt x="1505" y="2011"/>
                  </a:lnTo>
                  <a:lnTo>
                    <a:pt x="1479" y="2046"/>
                  </a:lnTo>
                  <a:lnTo>
                    <a:pt x="1446" y="2070"/>
                  </a:lnTo>
                  <a:lnTo>
                    <a:pt x="1414" y="2090"/>
                  </a:lnTo>
                  <a:lnTo>
                    <a:pt x="1351" y="2110"/>
                  </a:lnTo>
                  <a:lnTo>
                    <a:pt x="1286" y="2112"/>
                  </a:lnTo>
                  <a:lnTo>
                    <a:pt x="1225" y="2096"/>
                  </a:lnTo>
                  <a:lnTo>
                    <a:pt x="1171" y="2063"/>
                  </a:lnTo>
                  <a:lnTo>
                    <a:pt x="1122" y="2014"/>
                  </a:lnTo>
                  <a:lnTo>
                    <a:pt x="1083" y="1952"/>
                  </a:lnTo>
                  <a:lnTo>
                    <a:pt x="1057" y="1877"/>
                  </a:lnTo>
                  <a:lnTo>
                    <a:pt x="1050" y="1835"/>
                  </a:lnTo>
                  <a:lnTo>
                    <a:pt x="1037" y="1746"/>
                  </a:lnTo>
                  <a:lnTo>
                    <a:pt x="1022" y="1807"/>
                  </a:lnTo>
                  <a:lnTo>
                    <a:pt x="1015" y="1828"/>
                  </a:lnTo>
                  <a:lnTo>
                    <a:pt x="998" y="1860"/>
                  </a:lnTo>
                  <a:lnTo>
                    <a:pt x="991" y="1864"/>
                  </a:lnTo>
                  <a:lnTo>
                    <a:pt x="982" y="1866"/>
                  </a:lnTo>
                  <a:lnTo>
                    <a:pt x="973" y="1880"/>
                  </a:lnTo>
                  <a:lnTo>
                    <a:pt x="972" y="1890"/>
                  </a:lnTo>
                  <a:lnTo>
                    <a:pt x="970" y="1905"/>
                  </a:lnTo>
                  <a:lnTo>
                    <a:pt x="959" y="1939"/>
                  </a:lnTo>
                  <a:lnTo>
                    <a:pt x="939" y="1975"/>
                  </a:lnTo>
                  <a:lnTo>
                    <a:pt x="916" y="2004"/>
                  </a:lnTo>
                  <a:lnTo>
                    <a:pt x="906" y="2013"/>
                  </a:lnTo>
                  <a:lnTo>
                    <a:pt x="896" y="2020"/>
                  </a:lnTo>
                  <a:lnTo>
                    <a:pt x="883" y="2038"/>
                  </a:lnTo>
                  <a:lnTo>
                    <a:pt x="883" y="2049"/>
                  </a:lnTo>
                  <a:lnTo>
                    <a:pt x="877" y="2063"/>
                  </a:lnTo>
                  <a:lnTo>
                    <a:pt x="835" y="2116"/>
                  </a:lnTo>
                  <a:lnTo>
                    <a:pt x="775" y="2177"/>
                  </a:lnTo>
                  <a:lnTo>
                    <a:pt x="721" y="2218"/>
                  </a:lnTo>
                  <a:lnTo>
                    <a:pt x="707" y="2224"/>
                  </a:lnTo>
                  <a:lnTo>
                    <a:pt x="698" y="2224"/>
                  </a:lnTo>
                  <a:lnTo>
                    <a:pt x="678" y="2239"/>
                  </a:lnTo>
                  <a:lnTo>
                    <a:pt x="671" y="2249"/>
                  </a:lnTo>
                  <a:lnTo>
                    <a:pt x="664" y="2259"/>
                  </a:lnTo>
                  <a:lnTo>
                    <a:pt x="633" y="2277"/>
                  </a:lnTo>
                  <a:lnTo>
                    <a:pt x="566" y="2301"/>
                  </a:lnTo>
                  <a:lnTo>
                    <a:pt x="448" y="2321"/>
                  </a:lnTo>
                  <a:lnTo>
                    <a:pt x="360" y="2322"/>
                  </a:lnTo>
                  <a:lnTo>
                    <a:pt x="309" y="2316"/>
                  </a:lnTo>
                  <a:lnTo>
                    <a:pt x="288" y="2312"/>
                  </a:lnTo>
                  <a:close/>
                  <a:moveTo>
                    <a:pt x="685" y="1969"/>
                  </a:moveTo>
                  <a:lnTo>
                    <a:pt x="726" y="1925"/>
                  </a:lnTo>
                  <a:lnTo>
                    <a:pt x="739" y="1907"/>
                  </a:lnTo>
                  <a:lnTo>
                    <a:pt x="750" y="1883"/>
                  </a:lnTo>
                  <a:lnTo>
                    <a:pt x="789" y="1815"/>
                  </a:lnTo>
                  <a:lnTo>
                    <a:pt x="811" y="1775"/>
                  </a:lnTo>
                  <a:lnTo>
                    <a:pt x="852" y="1684"/>
                  </a:lnTo>
                  <a:lnTo>
                    <a:pt x="864" y="1648"/>
                  </a:lnTo>
                  <a:lnTo>
                    <a:pt x="887" y="1573"/>
                  </a:lnTo>
                  <a:lnTo>
                    <a:pt x="909" y="1513"/>
                  </a:lnTo>
                  <a:lnTo>
                    <a:pt x="919" y="1484"/>
                  </a:lnTo>
                  <a:lnTo>
                    <a:pt x="943" y="1380"/>
                  </a:lnTo>
                  <a:lnTo>
                    <a:pt x="955" y="1324"/>
                  </a:lnTo>
                  <a:lnTo>
                    <a:pt x="963" y="1268"/>
                  </a:lnTo>
                  <a:lnTo>
                    <a:pt x="983" y="1185"/>
                  </a:lnTo>
                  <a:lnTo>
                    <a:pt x="992" y="1169"/>
                  </a:lnTo>
                  <a:lnTo>
                    <a:pt x="999" y="1153"/>
                  </a:lnTo>
                  <a:lnTo>
                    <a:pt x="1022" y="1071"/>
                  </a:lnTo>
                  <a:lnTo>
                    <a:pt x="1035" y="1018"/>
                  </a:lnTo>
                  <a:lnTo>
                    <a:pt x="1048" y="964"/>
                  </a:lnTo>
                  <a:lnTo>
                    <a:pt x="1073" y="879"/>
                  </a:lnTo>
                  <a:lnTo>
                    <a:pt x="1081" y="861"/>
                  </a:lnTo>
                  <a:lnTo>
                    <a:pt x="1089" y="851"/>
                  </a:lnTo>
                  <a:lnTo>
                    <a:pt x="1096" y="823"/>
                  </a:lnTo>
                  <a:lnTo>
                    <a:pt x="1093" y="810"/>
                  </a:lnTo>
                  <a:lnTo>
                    <a:pt x="1089" y="800"/>
                  </a:lnTo>
                  <a:lnTo>
                    <a:pt x="1091" y="780"/>
                  </a:lnTo>
                  <a:lnTo>
                    <a:pt x="1099" y="774"/>
                  </a:lnTo>
                  <a:lnTo>
                    <a:pt x="1106" y="766"/>
                  </a:lnTo>
                  <a:lnTo>
                    <a:pt x="1126" y="707"/>
                  </a:lnTo>
                  <a:lnTo>
                    <a:pt x="1136" y="666"/>
                  </a:lnTo>
                  <a:lnTo>
                    <a:pt x="1146" y="627"/>
                  </a:lnTo>
                  <a:lnTo>
                    <a:pt x="1168" y="573"/>
                  </a:lnTo>
                  <a:lnTo>
                    <a:pt x="1175" y="568"/>
                  </a:lnTo>
                  <a:lnTo>
                    <a:pt x="1182" y="567"/>
                  </a:lnTo>
                  <a:lnTo>
                    <a:pt x="1185" y="560"/>
                  </a:lnTo>
                  <a:lnTo>
                    <a:pt x="1182" y="555"/>
                  </a:lnTo>
                  <a:lnTo>
                    <a:pt x="1178" y="550"/>
                  </a:lnTo>
                  <a:lnTo>
                    <a:pt x="1184" y="529"/>
                  </a:lnTo>
                  <a:lnTo>
                    <a:pt x="1192" y="519"/>
                  </a:lnTo>
                  <a:lnTo>
                    <a:pt x="1201" y="505"/>
                  </a:lnTo>
                  <a:lnTo>
                    <a:pt x="1194" y="482"/>
                  </a:lnTo>
                  <a:lnTo>
                    <a:pt x="1178" y="469"/>
                  </a:lnTo>
                  <a:lnTo>
                    <a:pt x="1162" y="457"/>
                  </a:lnTo>
                  <a:lnTo>
                    <a:pt x="1133" y="446"/>
                  </a:lnTo>
                  <a:lnTo>
                    <a:pt x="1104" y="446"/>
                  </a:lnTo>
                  <a:lnTo>
                    <a:pt x="1068" y="457"/>
                  </a:lnTo>
                  <a:lnTo>
                    <a:pt x="1045" y="469"/>
                  </a:lnTo>
                  <a:lnTo>
                    <a:pt x="1017" y="486"/>
                  </a:lnTo>
                  <a:lnTo>
                    <a:pt x="936" y="560"/>
                  </a:lnTo>
                  <a:lnTo>
                    <a:pt x="851" y="655"/>
                  </a:lnTo>
                  <a:lnTo>
                    <a:pt x="783" y="745"/>
                  </a:lnTo>
                  <a:lnTo>
                    <a:pt x="764" y="780"/>
                  </a:lnTo>
                  <a:lnTo>
                    <a:pt x="736" y="845"/>
                  </a:lnTo>
                  <a:lnTo>
                    <a:pt x="711" y="901"/>
                  </a:lnTo>
                  <a:lnTo>
                    <a:pt x="656" y="1019"/>
                  </a:lnTo>
                  <a:lnTo>
                    <a:pt x="603" y="1166"/>
                  </a:lnTo>
                  <a:lnTo>
                    <a:pt x="584" y="1242"/>
                  </a:lnTo>
                  <a:lnTo>
                    <a:pt x="559" y="1347"/>
                  </a:lnTo>
                  <a:lnTo>
                    <a:pt x="540" y="1398"/>
                  </a:lnTo>
                  <a:lnTo>
                    <a:pt x="528" y="1422"/>
                  </a:lnTo>
                  <a:lnTo>
                    <a:pt x="508" y="1507"/>
                  </a:lnTo>
                  <a:lnTo>
                    <a:pt x="491" y="1617"/>
                  </a:lnTo>
                  <a:lnTo>
                    <a:pt x="481" y="1736"/>
                  </a:lnTo>
                  <a:lnTo>
                    <a:pt x="479" y="1794"/>
                  </a:lnTo>
                  <a:lnTo>
                    <a:pt x="478" y="1879"/>
                  </a:lnTo>
                  <a:lnTo>
                    <a:pt x="488" y="1946"/>
                  </a:lnTo>
                  <a:lnTo>
                    <a:pt x="501" y="1975"/>
                  </a:lnTo>
                  <a:lnTo>
                    <a:pt x="511" y="1988"/>
                  </a:lnTo>
                  <a:lnTo>
                    <a:pt x="530" y="2005"/>
                  </a:lnTo>
                  <a:lnTo>
                    <a:pt x="572" y="2024"/>
                  </a:lnTo>
                  <a:lnTo>
                    <a:pt x="616" y="2020"/>
                  </a:lnTo>
                  <a:lnTo>
                    <a:pt x="662" y="1992"/>
                  </a:lnTo>
                  <a:lnTo>
                    <a:pt x="685" y="1969"/>
                  </a:lnTo>
                  <a:close/>
                </a:path>
              </a:pathLst>
            </a:custGeom>
            <a:solidFill>
              <a:srgbClr val="C00000"/>
            </a:solidFill>
            <a:ln>
              <a:noFill/>
            </a:ln>
          </p:spPr>
          <p:txBody>
            <a:bodyPr vert="horz" wrap="square" lIns="91440" tIns="45720" rIns="91440" bIns="45720" numCol="1" anchor="t" anchorCtr="0" compatLnSpc="1">
              <a:prstTxWarp prst="textNoShape">
                <a:avLst/>
              </a:prstTxWarp>
            </a:bodyPr>
            <a:lstStyle/>
            <a:p>
              <a:endParaRPr lang="es-PE"/>
            </a:p>
          </p:txBody>
        </p:sp>
        <p:sp>
          <p:nvSpPr>
            <p:cNvPr id="18" name="Freeform 16"/>
            <p:cNvSpPr>
              <a:spLocks/>
            </p:cNvSpPr>
            <p:nvPr/>
          </p:nvSpPr>
          <p:spPr bwMode="auto">
            <a:xfrm>
              <a:off x="4236359" y="3363458"/>
              <a:ext cx="981075" cy="1219200"/>
            </a:xfrm>
            <a:custGeom>
              <a:avLst/>
              <a:gdLst>
                <a:gd name="T0" fmla="*/ 145 w 1853"/>
                <a:gd name="T1" fmla="*/ 2165 h 2303"/>
                <a:gd name="T2" fmla="*/ 24 w 1853"/>
                <a:gd name="T3" fmla="*/ 1945 h 2303"/>
                <a:gd name="T4" fmla="*/ 4 w 1853"/>
                <a:gd name="T5" fmla="*/ 1634 h 2303"/>
                <a:gd name="T6" fmla="*/ 37 w 1853"/>
                <a:gd name="T7" fmla="*/ 1356 h 2303"/>
                <a:gd name="T8" fmla="*/ 124 w 1853"/>
                <a:gd name="T9" fmla="*/ 1018 h 2303"/>
                <a:gd name="T10" fmla="*/ 140 w 1853"/>
                <a:gd name="T11" fmla="*/ 980 h 2303"/>
                <a:gd name="T12" fmla="*/ 150 w 1853"/>
                <a:gd name="T13" fmla="*/ 937 h 2303"/>
                <a:gd name="T14" fmla="*/ 213 w 1853"/>
                <a:gd name="T15" fmla="*/ 743 h 2303"/>
                <a:gd name="T16" fmla="*/ 232 w 1853"/>
                <a:gd name="T17" fmla="*/ 725 h 2303"/>
                <a:gd name="T18" fmla="*/ 356 w 1853"/>
                <a:gd name="T19" fmla="*/ 443 h 2303"/>
                <a:gd name="T20" fmla="*/ 469 w 1853"/>
                <a:gd name="T21" fmla="*/ 318 h 2303"/>
                <a:gd name="T22" fmla="*/ 515 w 1853"/>
                <a:gd name="T23" fmla="*/ 289 h 2303"/>
                <a:gd name="T24" fmla="*/ 729 w 1853"/>
                <a:gd name="T25" fmla="*/ 314 h 2303"/>
                <a:gd name="T26" fmla="*/ 801 w 1853"/>
                <a:gd name="T27" fmla="*/ 456 h 2303"/>
                <a:gd name="T28" fmla="*/ 778 w 1853"/>
                <a:gd name="T29" fmla="*/ 767 h 2303"/>
                <a:gd name="T30" fmla="*/ 739 w 1853"/>
                <a:gd name="T31" fmla="*/ 868 h 2303"/>
                <a:gd name="T32" fmla="*/ 654 w 1853"/>
                <a:gd name="T33" fmla="*/ 1103 h 2303"/>
                <a:gd name="T34" fmla="*/ 587 w 1853"/>
                <a:gd name="T35" fmla="*/ 1324 h 2303"/>
                <a:gd name="T36" fmla="*/ 528 w 1853"/>
                <a:gd name="T37" fmla="*/ 1559 h 2303"/>
                <a:gd name="T38" fmla="*/ 488 w 1853"/>
                <a:gd name="T39" fmla="*/ 1725 h 2303"/>
                <a:gd name="T40" fmla="*/ 502 w 1853"/>
                <a:gd name="T41" fmla="*/ 1926 h 2303"/>
                <a:gd name="T42" fmla="*/ 530 w 1853"/>
                <a:gd name="T43" fmla="*/ 1971 h 2303"/>
                <a:gd name="T44" fmla="*/ 602 w 1853"/>
                <a:gd name="T45" fmla="*/ 1997 h 2303"/>
                <a:gd name="T46" fmla="*/ 645 w 1853"/>
                <a:gd name="T47" fmla="*/ 1962 h 2303"/>
                <a:gd name="T48" fmla="*/ 746 w 1853"/>
                <a:gd name="T49" fmla="*/ 1847 h 2303"/>
                <a:gd name="T50" fmla="*/ 953 w 1853"/>
                <a:gd name="T51" fmla="*/ 1408 h 2303"/>
                <a:gd name="T52" fmla="*/ 1004 w 1853"/>
                <a:gd name="T53" fmla="*/ 1260 h 2303"/>
                <a:gd name="T54" fmla="*/ 1064 w 1853"/>
                <a:gd name="T55" fmla="*/ 1098 h 2303"/>
                <a:gd name="T56" fmla="*/ 1123 w 1853"/>
                <a:gd name="T57" fmla="*/ 902 h 2303"/>
                <a:gd name="T58" fmla="*/ 1187 w 1853"/>
                <a:gd name="T59" fmla="*/ 711 h 2303"/>
                <a:gd name="T60" fmla="*/ 1243 w 1853"/>
                <a:gd name="T61" fmla="*/ 566 h 2303"/>
                <a:gd name="T62" fmla="*/ 1342 w 1853"/>
                <a:gd name="T63" fmla="*/ 301 h 2303"/>
                <a:gd name="T64" fmla="*/ 1515 w 1853"/>
                <a:gd name="T65" fmla="*/ 54 h 2303"/>
                <a:gd name="T66" fmla="*/ 1650 w 1853"/>
                <a:gd name="T67" fmla="*/ 0 h 2303"/>
                <a:gd name="T68" fmla="*/ 1770 w 1853"/>
                <a:gd name="T69" fmla="*/ 37 h 2303"/>
                <a:gd name="T70" fmla="*/ 1843 w 1853"/>
                <a:gd name="T71" fmla="*/ 138 h 2303"/>
                <a:gd name="T72" fmla="*/ 1849 w 1853"/>
                <a:gd name="T73" fmla="*/ 387 h 2303"/>
                <a:gd name="T74" fmla="*/ 1768 w 1853"/>
                <a:gd name="T75" fmla="*/ 663 h 2303"/>
                <a:gd name="T76" fmla="*/ 1695 w 1853"/>
                <a:gd name="T77" fmla="*/ 864 h 2303"/>
                <a:gd name="T78" fmla="*/ 1621 w 1853"/>
                <a:gd name="T79" fmla="*/ 1139 h 2303"/>
                <a:gd name="T80" fmla="*/ 1593 w 1853"/>
                <a:gd name="T81" fmla="*/ 1199 h 2303"/>
                <a:gd name="T82" fmla="*/ 1552 w 1853"/>
                <a:gd name="T83" fmla="*/ 1632 h 2303"/>
                <a:gd name="T84" fmla="*/ 1594 w 1853"/>
                <a:gd name="T85" fmla="*/ 1798 h 2303"/>
                <a:gd name="T86" fmla="*/ 1669 w 1853"/>
                <a:gd name="T87" fmla="*/ 1941 h 2303"/>
                <a:gd name="T88" fmla="*/ 1620 w 1853"/>
                <a:gd name="T89" fmla="*/ 2028 h 2303"/>
                <a:gd name="T90" fmla="*/ 1362 w 1853"/>
                <a:gd name="T91" fmla="*/ 2027 h 2303"/>
                <a:gd name="T92" fmla="*/ 1129 w 1853"/>
                <a:gd name="T93" fmla="*/ 1817 h 2303"/>
                <a:gd name="T94" fmla="*/ 1086 w 1853"/>
                <a:gd name="T95" fmla="*/ 1717 h 2303"/>
                <a:gd name="T96" fmla="*/ 1034 w 1853"/>
                <a:gd name="T97" fmla="*/ 1797 h 2303"/>
                <a:gd name="T98" fmla="*/ 883 w 1853"/>
                <a:gd name="T99" fmla="*/ 2079 h 2303"/>
                <a:gd name="T100" fmla="*/ 786 w 1853"/>
                <a:gd name="T101" fmla="*/ 2207 h 2303"/>
                <a:gd name="T102" fmla="*/ 638 w 1853"/>
                <a:gd name="T103" fmla="*/ 2282 h 2303"/>
                <a:gd name="T104" fmla="*/ 312 w 1853"/>
                <a:gd name="T105" fmla="*/ 2289 h 2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853" h="2303">
                  <a:moveTo>
                    <a:pt x="312" y="2289"/>
                  </a:moveTo>
                  <a:lnTo>
                    <a:pt x="284" y="2278"/>
                  </a:lnTo>
                  <a:lnTo>
                    <a:pt x="216" y="2230"/>
                  </a:lnTo>
                  <a:lnTo>
                    <a:pt x="145" y="2165"/>
                  </a:lnTo>
                  <a:lnTo>
                    <a:pt x="92" y="2099"/>
                  </a:lnTo>
                  <a:lnTo>
                    <a:pt x="78" y="2072"/>
                  </a:lnTo>
                  <a:lnTo>
                    <a:pt x="52" y="2007"/>
                  </a:lnTo>
                  <a:lnTo>
                    <a:pt x="24" y="1945"/>
                  </a:lnTo>
                  <a:lnTo>
                    <a:pt x="16" y="1926"/>
                  </a:lnTo>
                  <a:lnTo>
                    <a:pt x="6" y="1879"/>
                  </a:lnTo>
                  <a:lnTo>
                    <a:pt x="0" y="1768"/>
                  </a:lnTo>
                  <a:lnTo>
                    <a:pt x="4" y="1634"/>
                  </a:lnTo>
                  <a:lnTo>
                    <a:pt x="9" y="1533"/>
                  </a:lnTo>
                  <a:lnTo>
                    <a:pt x="23" y="1389"/>
                  </a:lnTo>
                  <a:lnTo>
                    <a:pt x="30" y="1372"/>
                  </a:lnTo>
                  <a:lnTo>
                    <a:pt x="37" y="1356"/>
                  </a:lnTo>
                  <a:lnTo>
                    <a:pt x="66" y="1254"/>
                  </a:lnTo>
                  <a:lnTo>
                    <a:pt x="82" y="1185"/>
                  </a:lnTo>
                  <a:lnTo>
                    <a:pt x="96" y="1113"/>
                  </a:lnTo>
                  <a:lnTo>
                    <a:pt x="124" y="1018"/>
                  </a:lnTo>
                  <a:lnTo>
                    <a:pt x="132" y="1008"/>
                  </a:lnTo>
                  <a:lnTo>
                    <a:pt x="138" y="1006"/>
                  </a:lnTo>
                  <a:lnTo>
                    <a:pt x="142" y="992"/>
                  </a:lnTo>
                  <a:lnTo>
                    <a:pt x="140" y="980"/>
                  </a:lnTo>
                  <a:lnTo>
                    <a:pt x="135" y="970"/>
                  </a:lnTo>
                  <a:lnTo>
                    <a:pt x="137" y="950"/>
                  </a:lnTo>
                  <a:lnTo>
                    <a:pt x="142" y="947"/>
                  </a:lnTo>
                  <a:lnTo>
                    <a:pt x="150" y="937"/>
                  </a:lnTo>
                  <a:lnTo>
                    <a:pt x="170" y="878"/>
                  </a:lnTo>
                  <a:lnTo>
                    <a:pt x="181" y="836"/>
                  </a:lnTo>
                  <a:lnTo>
                    <a:pt x="191" y="797"/>
                  </a:lnTo>
                  <a:lnTo>
                    <a:pt x="213" y="743"/>
                  </a:lnTo>
                  <a:lnTo>
                    <a:pt x="220" y="738"/>
                  </a:lnTo>
                  <a:lnTo>
                    <a:pt x="226" y="737"/>
                  </a:lnTo>
                  <a:lnTo>
                    <a:pt x="232" y="730"/>
                  </a:lnTo>
                  <a:lnTo>
                    <a:pt x="232" y="725"/>
                  </a:lnTo>
                  <a:lnTo>
                    <a:pt x="232" y="711"/>
                  </a:lnTo>
                  <a:lnTo>
                    <a:pt x="255" y="648"/>
                  </a:lnTo>
                  <a:lnTo>
                    <a:pt x="314" y="517"/>
                  </a:lnTo>
                  <a:lnTo>
                    <a:pt x="356" y="443"/>
                  </a:lnTo>
                  <a:lnTo>
                    <a:pt x="387" y="397"/>
                  </a:lnTo>
                  <a:lnTo>
                    <a:pt x="443" y="334"/>
                  </a:lnTo>
                  <a:lnTo>
                    <a:pt x="466" y="315"/>
                  </a:lnTo>
                  <a:lnTo>
                    <a:pt x="469" y="318"/>
                  </a:lnTo>
                  <a:lnTo>
                    <a:pt x="471" y="321"/>
                  </a:lnTo>
                  <a:lnTo>
                    <a:pt x="491" y="309"/>
                  </a:lnTo>
                  <a:lnTo>
                    <a:pt x="505" y="296"/>
                  </a:lnTo>
                  <a:lnTo>
                    <a:pt x="515" y="289"/>
                  </a:lnTo>
                  <a:lnTo>
                    <a:pt x="541" y="278"/>
                  </a:lnTo>
                  <a:lnTo>
                    <a:pt x="590" y="270"/>
                  </a:lnTo>
                  <a:lnTo>
                    <a:pt x="662" y="282"/>
                  </a:lnTo>
                  <a:lnTo>
                    <a:pt x="729" y="314"/>
                  </a:lnTo>
                  <a:lnTo>
                    <a:pt x="755" y="337"/>
                  </a:lnTo>
                  <a:lnTo>
                    <a:pt x="770" y="352"/>
                  </a:lnTo>
                  <a:lnTo>
                    <a:pt x="789" y="384"/>
                  </a:lnTo>
                  <a:lnTo>
                    <a:pt x="801" y="456"/>
                  </a:lnTo>
                  <a:lnTo>
                    <a:pt x="801" y="558"/>
                  </a:lnTo>
                  <a:lnTo>
                    <a:pt x="799" y="643"/>
                  </a:lnTo>
                  <a:lnTo>
                    <a:pt x="789" y="727"/>
                  </a:lnTo>
                  <a:lnTo>
                    <a:pt x="778" y="767"/>
                  </a:lnTo>
                  <a:lnTo>
                    <a:pt x="769" y="783"/>
                  </a:lnTo>
                  <a:lnTo>
                    <a:pt x="757" y="806"/>
                  </a:lnTo>
                  <a:lnTo>
                    <a:pt x="740" y="852"/>
                  </a:lnTo>
                  <a:lnTo>
                    <a:pt x="739" y="868"/>
                  </a:lnTo>
                  <a:lnTo>
                    <a:pt x="737" y="891"/>
                  </a:lnTo>
                  <a:lnTo>
                    <a:pt x="707" y="979"/>
                  </a:lnTo>
                  <a:lnTo>
                    <a:pt x="667" y="1071"/>
                  </a:lnTo>
                  <a:lnTo>
                    <a:pt x="654" y="1103"/>
                  </a:lnTo>
                  <a:lnTo>
                    <a:pt x="631" y="1177"/>
                  </a:lnTo>
                  <a:lnTo>
                    <a:pt x="623" y="1208"/>
                  </a:lnTo>
                  <a:lnTo>
                    <a:pt x="608" y="1271"/>
                  </a:lnTo>
                  <a:lnTo>
                    <a:pt x="587" y="1324"/>
                  </a:lnTo>
                  <a:lnTo>
                    <a:pt x="576" y="1353"/>
                  </a:lnTo>
                  <a:lnTo>
                    <a:pt x="550" y="1453"/>
                  </a:lnTo>
                  <a:lnTo>
                    <a:pt x="538" y="1509"/>
                  </a:lnTo>
                  <a:lnTo>
                    <a:pt x="528" y="1559"/>
                  </a:lnTo>
                  <a:lnTo>
                    <a:pt x="508" y="1630"/>
                  </a:lnTo>
                  <a:lnTo>
                    <a:pt x="501" y="1638"/>
                  </a:lnTo>
                  <a:lnTo>
                    <a:pt x="495" y="1645"/>
                  </a:lnTo>
                  <a:lnTo>
                    <a:pt x="488" y="1725"/>
                  </a:lnTo>
                  <a:lnTo>
                    <a:pt x="487" y="1782"/>
                  </a:lnTo>
                  <a:lnTo>
                    <a:pt x="488" y="1840"/>
                  </a:lnTo>
                  <a:lnTo>
                    <a:pt x="497" y="1918"/>
                  </a:lnTo>
                  <a:lnTo>
                    <a:pt x="502" y="1926"/>
                  </a:lnTo>
                  <a:lnTo>
                    <a:pt x="510" y="1928"/>
                  </a:lnTo>
                  <a:lnTo>
                    <a:pt x="523" y="1948"/>
                  </a:lnTo>
                  <a:lnTo>
                    <a:pt x="528" y="1962"/>
                  </a:lnTo>
                  <a:lnTo>
                    <a:pt x="530" y="1971"/>
                  </a:lnTo>
                  <a:lnTo>
                    <a:pt x="540" y="1984"/>
                  </a:lnTo>
                  <a:lnTo>
                    <a:pt x="563" y="1997"/>
                  </a:lnTo>
                  <a:lnTo>
                    <a:pt x="585" y="1998"/>
                  </a:lnTo>
                  <a:lnTo>
                    <a:pt x="602" y="1997"/>
                  </a:lnTo>
                  <a:lnTo>
                    <a:pt x="628" y="1987"/>
                  </a:lnTo>
                  <a:lnTo>
                    <a:pt x="631" y="1980"/>
                  </a:lnTo>
                  <a:lnTo>
                    <a:pt x="632" y="1972"/>
                  </a:lnTo>
                  <a:lnTo>
                    <a:pt x="645" y="1962"/>
                  </a:lnTo>
                  <a:lnTo>
                    <a:pt x="657" y="1962"/>
                  </a:lnTo>
                  <a:lnTo>
                    <a:pt x="665" y="1959"/>
                  </a:lnTo>
                  <a:lnTo>
                    <a:pt x="688" y="1935"/>
                  </a:lnTo>
                  <a:lnTo>
                    <a:pt x="746" y="1847"/>
                  </a:lnTo>
                  <a:lnTo>
                    <a:pt x="805" y="1736"/>
                  </a:lnTo>
                  <a:lnTo>
                    <a:pt x="841" y="1661"/>
                  </a:lnTo>
                  <a:lnTo>
                    <a:pt x="930" y="1467"/>
                  </a:lnTo>
                  <a:lnTo>
                    <a:pt x="953" y="1408"/>
                  </a:lnTo>
                  <a:lnTo>
                    <a:pt x="963" y="1376"/>
                  </a:lnTo>
                  <a:lnTo>
                    <a:pt x="971" y="1353"/>
                  </a:lnTo>
                  <a:lnTo>
                    <a:pt x="985" y="1314"/>
                  </a:lnTo>
                  <a:lnTo>
                    <a:pt x="1004" y="1260"/>
                  </a:lnTo>
                  <a:lnTo>
                    <a:pt x="1028" y="1185"/>
                  </a:lnTo>
                  <a:lnTo>
                    <a:pt x="1038" y="1149"/>
                  </a:lnTo>
                  <a:lnTo>
                    <a:pt x="1058" y="1103"/>
                  </a:lnTo>
                  <a:lnTo>
                    <a:pt x="1064" y="1098"/>
                  </a:lnTo>
                  <a:lnTo>
                    <a:pt x="1070" y="1090"/>
                  </a:lnTo>
                  <a:lnTo>
                    <a:pt x="1094" y="1015"/>
                  </a:lnTo>
                  <a:lnTo>
                    <a:pt x="1110" y="959"/>
                  </a:lnTo>
                  <a:lnTo>
                    <a:pt x="1123" y="902"/>
                  </a:lnTo>
                  <a:lnTo>
                    <a:pt x="1148" y="822"/>
                  </a:lnTo>
                  <a:lnTo>
                    <a:pt x="1155" y="810"/>
                  </a:lnTo>
                  <a:lnTo>
                    <a:pt x="1168" y="783"/>
                  </a:lnTo>
                  <a:lnTo>
                    <a:pt x="1187" y="711"/>
                  </a:lnTo>
                  <a:lnTo>
                    <a:pt x="1197" y="674"/>
                  </a:lnTo>
                  <a:lnTo>
                    <a:pt x="1221" y="604"/>
                  </a:lnTo>
                  <a:lnTo>
                    <a:pt x="1233" y="584"/>
                  </a:lnTo>
                  <a:lnTo>
                    <a:pt x="1243" y="566"/>
                  </a:lnTo>
                  <a:lnTo>
                    <a:pt x="1267" y="502"/>
                  </a:lnTo>
                  <a:lnTo>
                    <a:pt x="1277" y="468"/>
                  </a:lnTo>
                  <a:lnTo>
                    <a:pt x="1295" y="413"/>
                  </a:lnTo>
                  <a:lnTo>
                    <a:pt x="1342" y="301"/>
                  </a:lnTo>
                  <a:lnTo>
                    <a:pt x="1400" y="195"/>
                  </a:lnTo>
                  <a:lnTo>
                    <a:pt x="1462" y="109"/>
                  </a:lnTo>
                  <a:lnTo>
                    <a:pt x="1492" y="77"/>
                  </a:lnTo>
                  <a:lnTo>
                    <a:pt x="1515" y="54"/>
                  </a:lnTo>
                  <a:lnTo>
                    <a:pt x="1554" y="23"/>
                  </a:lnTo>
                  <a:lnTo>
                    <a:pt x="1587" y="7"/>
                  </a:lnTo>
                  <a:lnTo>
                    <a:pt x="1626" y="0"/>
                  </a:lnTo>
                  <a:lnTo>
                    <a:pt x="1650" y="0"/>
                  </a:lnTo>
                  <a:lnTo>
                    <a:pt x="1672" y="0"/>
                  </a:lnTo>
                  <a:lnTo>
                    <a:pt x="1708" y="5"/>
                  </a:lnTo>
                  <a:lnTo>
                    <a:pt x="1740" y="17"/>
                  </a:lnTo>
                  <a:lnTo>
                    <a:pt x="1770" y="37"/>
                  </a:lnTo>
                  <a:lnTo>
                    <a:pt x="1787" y="51"/>
                  </a:lnTo>
                  <a:lnTo>
                    <a:pt x="1806" y="69"/>
                  </a:lnTo>
                  <a:lnTo>
                    <a:pt x="1830" y="99"/>
                  </a:lnTo>
                  <a:lnTo>
                    <a:pt x="1843" y="138"/>
                  </a:lnTo>
                  <a:lnTo>
                    <a:pt x="1849" y="198"/>
                  </a:lnTo>
                  <a:lnTo>
                    <a:pt x="1852" y="243"/>
                  </a:lnTo>
                  <a:lnTo>
                    <a:pt x="1853" y="293"/>
                  </a:lnTo>
                  <a:lnTo>
                    <a:pt x="1849" y="387"/>
                  </a:lnTo>
                  <a:lnTo>
                    <a:pt x="1833" y="478"/>
                  </a:lnTo>
                  <a:lnTo>
                    <a:pt x="1809" y="561"/>
                  </a:lnTo>
                  <a:lnTo>
                    <a:pt x="1791" y="603"/>
                  </a:lnTo>
                  <a:lnTo>
                    <a:pt x="1768" y="663"/>
                  </a:lnTo>
                  <a:lnTo>
                    <a:pt x="1745" y="738"/>
                  </a:lnTo>
                  <a:lnTo>
                    <a:pt x="1724" y="803"/>
                  </a:lnTo>
                  <a:lnTo>
                    <a:pt x="1711" y="828"/>
                  </a:lnTo>
                  <a:lnTo>
                    <a:pt x="1695" y="864"/>
                  </a:lnTo>
                  <a:lnTo>
                    <a:pt x="1668" y="963"/>
                  </a:lnTo>
                  <a:lnTo>
                    <a:pt x="1640" y="1067"/>
                  </a:lnTo>
                  <a:lnTo>
                    <a:pt x="1626" y="1116"/>
                  </a:lnTo>
                  <a:lnTo>
                    <a:pt x="1621" y="1139"/>
                  </a:lnTo>
                  <a:lnTo>
                    <a:pt x="1619" y="1152"/>
                  </a:lnTo>
                  <a:lnTo>
                    <a:pt x="1614" y="1163"/>
                  </a:lnTo>
                  <a:lnTo>
                    <a:pt x="1603" y="1179"/>
                  </a:lnTo>
                  <a:lnTo>
                    <a:pt x="1593" y="1199"/>
                  </a:lnTo>
                  <a:lnTo>
                    <a:pt x="1573" y="1300"/>
                  </a:lnTo>
                  <a:lnTo>
                    <a:pt x="1557" y="1440"/>
                  </a:lnTo>
                  <a:lnTo>
                    <a:pt x="1551" y="1578"/>
                  </a:lnTo>
                  <a:lnTo>
                    <a:pt x="1552" y="1632"/>
                  </a:lnTo>
                  <a:lnTo>
                    <a:pt x="1554" y="1671"/>
                  </a:lnTo>
                  <a:lnTo>
                    <a:pt x="1561" y="1728"/>
                  </a:lnTo>
                  <a:lnTo>
                    <a:pt x="1574" y="1766"/>
                  </a:lnTo>
                  <a:lnTo>
                    <a:pt x="1594" y="1798"/>
                  </a:lnTo>
                  <a:lnTo>
                    <a:pt x="1609" y="1814"/>
                  </a:lnTo>
                  <a:lnTo>
                    <a:pt x="1629" y="1837"/>
                  </a:lnTo>
                  <a:lnTo>
                    <a:pt x="1657" y="1889"/>
                  </a:lnTo>
                  <a:lnTo>
                    <a:pt x="1669" y="1941"/>
                  </a:lnTo>
                  <a:lnTo>
                    <a:pt x="1663" y="1987"/>
                  </a:lnTo>
                  <a:lnTo>
                    <a:pt x="1652" y="2005"/>
                  </a:lnTo>
                  <a:lnTo>
                    <a:pt x="1643" y="2014"/>
                  </a:lnTo>
                  <a:lnTo>
                    <a:pt x="1620" y="2028"/>
                  </a:lnTo>
                  <a:lnTo>
                    <a:pt x="1571" y="2043"/>
                  </a:lnTo>
                  <a:lnTo>
                    <a:pt x="1488" y="2050"/>
                  </a:lnTo>
                  <a:lnTo>
                    <a:pt x="1401" y="2039"/>
                  </a:lnTo>
                  <a:lnTo>
                    <a:pt x="1362" y="2027"/>
                  </a:lnTo>
                  <a:lnTo>
                    <a:pt x="1323" y="2008"/>
                  </a:lnTo>
                  <a:lnTo>
                    <a:pt x="1243" y="1949"/>
                  </a:lnTo>
                  <a:lnTo>
                    <a:pt x="1169" y="1873"/>
                  </a:lnTo>
                  <a:lnTo>
                    <a:pt x="1129" y="1817"/>
                  </a:lnTo>
                  <a:lnTo>
                    <a:pt x="1112" y="1781"/>
                  </a:lnTo>
                  <a:lnTo>
                    <a:pt x="1107" y="1765"/>
                  </a:lnTo>
                  <a:lnTo>
                    <a:pt x="1102" y="1742"/>
                  </a:lnTo>
                  <a:lnTo>
                    <a:pt x="1086" y="1717"/>
                  </a:lnTo>
                  <a:lnTo>
                    <a:pt x="1067" y="1719"/>
                  </a:lnTo>
                  <a:lnTo>
                    <a:pt x="1050" y="1745"/>
                  </a:lnTo>
                  <a:lnTo>
                    <a:pt x="1043" y="1768"/>
                  </a:lnTo>
                  <a:lnTo>
                    <a:pt x="1034" y="1797"/>
                  </a:lnTo>
                  <a:lnTo>
                    <a:pt x="995" y="1883"/>
                  </a:lnTo>
                  <a:lnTo>
                    <a:pt x="946" y="1980"/>
                  </a:lnTo>
                  <a:lnTo>
                    <a:pt x="900" y="2057"/>
                  </a:lnTo>
                  <a:lnTo>
                    <a:pt x="883" y="2079"/>
                  </a:lnTo>
                  <a:lnTo>
                    <a:pt x="854" y="2115"/>
                  </a:lnTo>
                  <a:lnTo>
                    <a:pt x="831" y="2157"/>
                  </a:lnTo>
                  <a:lnTo>
                    <a:pt x="819" y="2174"/>
                  </a:lnTo>
                  <a:lnTo>
                    <a:pt x="786" y="2207"/>
                  </a:lnTo>
                  <a:lnTo>
                    <a:pt x="769" y="2216"/>
                  </a:lnTo>
                  <a:lnTo>
                    <a:pt x="724" y="2237"/>
                  </a:lnTo>
                  <a:lnTo>
                    <a:pt x="667" y="2269"/>
                  </a:lnTo>
                  <a:lnTo>
                    <a:pt x="638" y="2282"/>
                  </a:lnTo>
                  <a:lnTo>
                    <a:pt x="551" y="2298"/>
                  </a:lnTo>
                  <a:lnTo>
                    <a:pt x="448" y="2303"/>
                  </a:lnTo>
                  <a:lnTo>
                    <a:pt x="350" y="2298"/>
                  </a:lnTo>
                  <a:lnTo>
                    <a:pt x="312" y="2289"/>
                  </a:lnTo>
                  <a:close/>
                </a:path>
              </a:pathLst>
            </a:custGeom>
            <a:solidFill>
              <a:srgbClr val="C00000"/>
            </a:solidFill>
            <a:ln>
              <a:noFill/>
            </a:ln>
          </p:spPr>
          <p:txBody>
            <a:bodyPr vert="horz" wrap="square" lIns="91440" tIns="45720" rIns="91440" bIns="45720" numCol="1" anchor="t" anchorCtr="0" compatLnSpc="1">
              <a:prstTxWarp prst="textNoShape">
                <a:avLst/>
              </a:prstTxWarp>
            </a:bodyPr>
            <a:lstStyle/>
            <a:p>
              <a:endParaRPr lang="es-PE"/>
            </a:p>
          </p:txBody>
        </p:sp>
        <p:sp>
          <p:nvSpPr>
            <p:cNvPr id="19" name="Freeform 17"/>
            <p:cNvSpPr>
              <a:spLocks/>
            </p:cNvSpPr>
            <p:nvPr/>
          </p:nvSpPr>
          <p:spPr bwMode="auto">
            <a:xfrm>
              <a:off x="6133421" y="3263445"/>
              <a:ext cx="989013" cy="1298575"/>
            </a:xfrm>
            <a:custGeom>
              <a:avLst/>
              <a:gdLst>
                <a:gd name="T0" fmla="*/ 290 w 1871"/>
                <a:gd name="T1" fmla="*/ 2382 h 2454"/>
                <a:gd name="T2" fmla="*/ 107 w 1871"/>
                <a:gd name="T3" fmla="*/ 2216 h 2454"/>
                <a:gd name="T4" fmla="*/ 19 w 1871"/>
                <a:gd name="T5" fmla="*/ 1999 h 2454"/>
                <a:gd name="T6" fmla="*/ 25 w 1871"/>
                <a:gd name="T7" fmla="*/ 1298 h 2454"/>
                <a:gd name="T8" fmla="*/ 62 w 1871"/>
                <a:gd name="T9" fmla="*/ 1151 h 2454"/>
                <a:gd name="T10" fmla="*/ 118 w 1871"/>
                <a:gd name="T11" fmla="*/ 935 h 2454"/>
                <a:gd name="T12" fmla="*/ 178 w 1871"/>
                <a:gd name="T13" fmla="*/ 738 h 2454"/>
                <a:gd name="T14" fmla="*/ 270 w 1871"/>
                <a:gd name="T15" fmla="*/ 491 h 2454"/>
                <a:gd name="T16" fmla="*/ 453 w 1871"/>
                <a:gd name="T17" fmla="*/ 311 h 2454"/>
                <a:gd name="T18" fmla="*/ 578 w 1871"/>
                <a:gd name="T19" fmla="*/ 306 h 2454"/>
                <a:gd name="T20" fmla="*/ 741 w 1871"/>
                <a:gd name="T21" fmla="*/ 489 h 2454"/>
                <a:gd name="T22" fmla="*/ 739 w 1871"/>
                <a:gd name="T23" fmla="*/ 745 h 2454"/>
                <a:gd name="T24" fmla="*/ 712 w 1871"/>
                <a:gd name="T25" fmla="*/ 820 h 2454"/>
                <a:gd name="T26" fmla="*/ 676 w 1871"/>
                <a:gd name="T27" fmla="*/ 998 h 2454"/>
                <a:gd name="T28" fmla="*/ 660 w 1871"/>
                <a:gd name="T29" fmla="*/ 1151 h 2454"/>
                <a:gd name="T30" fmla="*/ 705 w 1871"/>
                <a:gd name="T31" fmla="*/ 1013 h 2454"/>
                <a:gd name="T32" fmla="*/ 723 w 1871"/>
                <a:gd name="T33" fmla="*/ 994 h 2454"/>
                <a:gd name="T34" fmla="*/ 826 w 1871"/>
                <a:gd name="T35" fmla="*/ 745 h 2454"/>
                <a:gd name="T36" fmla="*/ 1046 w 1871"/>
                <a:gd name="T37" fmla="*/ 342 h 2454"/>
                <a:gd name="T38" fmla="*/ 1340 w 1871"/>
                <a:gd name="T39" fmla="*/ 52 h 2454"/>
                <a:gd name="T40" fmla="*/ 1518 w 1871"/>
                <a:gd name="T41" fmla="*/ 0 h 2454"/>
                <a:gd name="T42" fmla="*/ 1694 w 1871"/>
                <a:gd name="T43" fmla="*/ 15 h 2454"/>
                <a:gd name="T44" fmla="*/ 1827 w 1871"/>
                <a:gd name="T45" fmla="*/ 129 h 2454"/>
                <a:gd name="T46" fmla="*/ 1867 w 1871"/>
                <a:gd name="T47" fmla="*/ 366 h 2454"/>
                <a:gd name="T48" fmla="*/ 1812 w 1871"/>
                <a:gd name="T49" fmla="*/ 576 h 2454"/>
                <a:gd name="T50" fmla="*/ 1734 w 1871"/>
                <a:gd name="T51" fmla="*/ 826 h 2454"/>
                <a:gd name="T52" fmla="*/ 1682 w 1871"/>
                <a:gd name="T53" fmla="*/ 998 h 2454"/>
                <a:gd name="T54" fmla="*/ 1629 w 1871"/>
                <a:gd name="T55" fmla="*/ 1186 h 2454"/>
                <a:gd name="T56" fmla="*/ 1583 w 1871"/>
                <a:gd name="T57" fmla="*/ 1586 h 2454"/>
                <a:gd name="T58" fmla="*/ 1655 w 1871"/>
                <a:gd name="T59" fmla="*/ 1854 h 2454"/>
                <a:gd name="T60" fmla="*/ 1740 w 1871"/>
                <a:gd name="T61" fmla="*/ 1950 h 2454"/>
                <a:gd name="T62" fmla="*/ 1720 w 1871"/>
                <a:gd name="T63" fmla="*/ 2060 h 2454"/>
                <a:gd name="T64" fmla="*/ 1671 w 1871"/>
                <a:gd name="T65" fmla="*/ 2077 h 2454"/>
                <a:gd name="T66" fmla="*/ 1600 w 1871"/>
                <a:gd name="T67" fmla="*/ 2113 h 2454"/>
                <a:gd name="T68" fmla="*/ 1396 w 1871"/>
                <a:gd name="T69" fmla="*/ 2074 h 2454"/>
                <a:gd name="T70" fmla="*/ 1304 w 1871"/>
                <a:gd name="T71" fmla="*/ 2015 h 2454"/>
                <a:gd name="T72" fmla="*/ 1157 w 1871"/>
                <a:gd name="T73" fmla="*/ 1844 h 2454"/>
                <a:gd name="T74" fmla="*/ 1109 w 1871"/>
                <a:gd name="T75" fmla="*/ 1653 h 2454"/>
                <a:gd name="T76" fmla="*/ 1138 w 1871"/>
                <a:gd name="T77" fmla="*/ 922 h 2454"/>
                <a:gd name="T78" fmla="*/ 1214 w 1871"/>
                <a:gd name="T79" fmla="*/ 647 h 2454"/>
                <a:gd name="T80" fmla="*/ 1269 w 1871"/>
                <a:gd name="T81" fmla="*/ 489 h 2454"/>
                <a:gd name="T82" fmla="*/ 1268 w 1871"/>
                <a:gd name="T83" fmla="*/ 441 h 2454"/>
                <a:gd name="T84" fmla="*/ 1299 w 1871"/>
                <a:gd name="T85" fmla="*/ 396 h 2454"/>
                <a:gd name="T86" fmla="*/ 1261 w 1871"/>
                <a:gd name="T87" fmla="*/ 368 h 2454"/>
                <a:gd name="T88" fmla="*/ 1214 w 1871"/>
                <a:gd name="T89" fmla="*/ 441 h 2454"/>
                <a:gd name="T90" fmla="*/ 1020 w 1871"/>
                <a:gd name="T91" fmla="*/ 781 h 2454"/>
                <a:gd name="T92" fmla="*/ 947 w 1871"/>
                <a:gd name="T93" fmla="*/ 935 h 2454"/>
                <a:gd name="T94" fmla="*/ 879 w 1871"/>
                <a:gd name="T95" fmla="*/ 1075 h 2454"/>
                <a:gd name="T96" fmla="*/ 837 w 1871"/>
                <a:gd name="T97" fmla="*/ 1196 h 2454"/>
                <a:gd name="T98" fmla="*/ 764 w 1871"/>
                <a:gd name="T99" fmla="*/ 1377 h 2454"/>
                <a:gd name="T100" fmla="*/ 716 w 1871"/>
                <a:gd name="T101" fmla="*/ 1497 h 2454"/>
                <a:gd name="T102" fmla="*/ 709 w 1871"/>
                <a:gd name="T103" fmla="*/ 1558 h 2454"/>
                <a:gd name="T104" fmla="*/ 656 w 1871"/>
                <a:gd name="T105" fmla="*/ 1736 h 2454"/>
                <a:gd name="T106" fmla="*/ 602 w 1871"/>
                <a:gd name="T107" fmla="*/ 1920 h 2454"/>
                <a:gd name="T108" fmla="*/ 604 w 1871"/>
                <a:gd name="T109" fmla="*/ 2160 h 2454"/>
                <a:gd name="T110" fmla="*/ 666 w 1871"/>
                <a:gd name="T111" fmla="*/ 2254 h 2454"/>
                <a:gd name="T112" fmla="*/ 654 w 1871"/>
                <a:gd name="T113" fmla="*/ 2378 h 2454"/>
                <a:gd name="T114" fmla="*/ 576 w 1871"/>
                <a:gd name="T115" fmla="*/ 2432 h 2454"/>
                <a:gd name="T116" fmla="*/ 480 w 1871"/>
                <a:gd name="T117" fmla="*/ 2454 h 24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871" h="2454">
                  <a:moveTo>
                    <a:pt x="422" y="2441"/>
                  </a:moveTo>
                  <a:lnTo>
                    <a:pt x="388" y="2421"/>
                  </a:lnTo>
                  <a:lnTo>
                    <a:pt x="316" y="2392"/>
                  </a:lnTo>
                  <a:lnTo>
                    <a:pt x="290" y="2382"/>
                  </a:lnTo>
                  <a:lnTo>
                    <a:pt x="239" y="2353"/>
                  </a:lnTo>
                  <a:lnTo>
                    <a:pt x="191" y="2314"/>
                  </a:lnTo>
                  <a:lnTo>
                    <a:pt x="147" y="2268"/>
                  </a:lnTo>
                  <a:lnTo>
                    <a:pt x="107" y="2216"/>
                  </a:lnTo>
                  <a:lnTo>
                    <a:pt x="74" y="2157"/>
                  </a:lnTo>
                  <a:lnTo>
                    <a:pt x="46" y="2096"/>
                  </a:lnTo>
                  <a:lnTo>
                    <a:pt x="25" y="2031"/>
                  </a:lnTo>
                  <a:lnTo>
                    <a:pt x="19" y="1999"/>
                  </a:lnTo>
                  <a:lnTo>
                    <a:pt x="8" y="1918"/>
                  </a:lnTo>
                  <a:lnTo>
                    <a:pt x="0" y="1695"/>
                  </a:lnTo>
                  <a:lnTo>
                    <a:pt x="9" y="1452"/>
                  </a:lnTo>
                  <a:lnTo>
                    <a:pt x="25" y="1298"/>
                  </a:lnTo>
                  <a:lnTo>
                    <a:pt x="39" y="1222"/>
                  </a:lnTo>
                  <a:lnTo>
                    <a:pt x="48" y="1196"/>
                  </a:lnTo>
                  <a:lnTo>
                    <a:pt x="58" y="1171"/>
                  </a:lnTo>
                  <a:lnTo>
                    <a:pt x="62" y="1151"/>
                  </a:lnTo>
                  <a:lnTo>
                    <a:pt x="65" y="1131"/>
                  </a:lnTo>
                  <a:lnTo>
                    <a:pt x="75" y="1106"/>
                  </a:lnTo>
                  <a:lnTo>
                    <a:pt x="91" y="1053"/>
                  </a:lnTo>
                  <a:lnTo>
                    <a:pt x="118" y="935"/>
                  </a:lnTo>
                  <a:lnTo>
                    <a:pt x="130" y="876"/>
                  </a:lnTo>
                  <a:lnTo>
                    <a:pt x="156" y="788"/>
                  </a:lnTo>
                  <a:lnTo>
                    <a:pt x="163" y="772"/>
                  </a:lnTo>
                  <a:lnTo>
                    <a:pt x="178" y="738"/>
                  </a:lnTo>
                  <a:lnTo>
                    <a:pt x="199" y="664"/>
                  </a:lnTo>
                  <a:lnTo>
                    <a:pt x="209" y="628"/>
                  </a:lnTo>
                  <a:lnTo>
                    <a:pt x="235" y="556"/>
                  </a:lnTo>
                  <a:lnTo>
                    <a:pt x="270" y="491"/>
                  </a:lnTo>
                  <a:lnTo>
                    <a:pt x="310" y="432"/>
                  </a:lnTo>
                  <a:lnTo>
                    <a:pt x="355" y="382"/>
                  </a:lnTo>
                  <a:lnTo>
                    <a:pt x="404" y="340"/>
                  </a:lnTo>
                  <a:lnTo>
                    <a:pt x="453" y="311"/>
                  </a:lnTo>
                  <a:lnTo>
                    <a:pt x="500" y="297"/>
                  </a:lnTo>
                  <a:lnTo>
                    <a:pt x="525" y="296"/>
                  </a:lnTo>
                  <a:lnTo>
                    <a:pt x="542" y="297"/>
                  </a:lnTo>
                  <a:lnTo>
                    <a:pt x="578" y="306"/>
                  </a:lnTo>
                  <a:lnTo>
                    <a:pt x="631" y="333"/>
                  </a:lnTo>
                  <a:lnTo>
                    <a:pt x="692" y="394"/>
                  </a:lnTo>
                  <a:lnTo>
                    <a:pt x="726" y="450"/>
                  </a:lnTo>
                  <a:lnTo>
                    <a:pt x="741" y="489"/>
                  </a:lnTo>
                  <a:lnTo>
                    <a:pt x="745" y="510"/>
                  </a:lnTo>
                  <a:lnTo>
                    <a:pt x="748" y="548"/>
                  </a:lnTo>
                  <a:lnTo>
                    <a:pt x="748" y="646"/>
                  </a:lnTo>
                  <a:lnTo>
                    <a:pt x="739" y="745"/>
                  </a:lnTo>
                  <a:lnTo>
                    <a:pt x="729" y="797"/>
                  </a:lnTo>
                  <a:lnTo>
                    <a:pt x="722" y="815"/>
                  </a:lnTo>
                  <a:lnTo>
                    <a:pt x="718" y="818"/>
                  </a:lnTo>
                  <a:lnTo>
                    <a:pt x="712" y="820"/>
                  </a:lnTo>
                  <a:lnTo>
                    <a:pt x="703" y="837"/>
                  </a:lnTo>
                  <a:lnTo>
                    <a:pt x="703" y="850"/>
                  </a:lnTo>
                  <a:lnTo>
                    <a:pt x="696" y="899"/>
                  </a:lnTo>
                  <a:lnTo>
                    <a:pt x="676" y="998"/>
                  </a:lnTo>
                  <a:lnTo>
                    <a:pt x="656" y="1096"/>
                  </a:lnTo>
                  <a:lnTo>
                    <a:pt x="651" y="1151"/>
                  </a:lnTo>
                  <a:lnTo>
                    <a:pt x="651" y="1187"/>
                  </a:lnTo>
                  <a:lnTo>
                    <a:pt x="660" y="1151"/>
                  </a:lnTo>
                  <a:lnTo>
                    <a:pt x="672" y="1114"/>
                  </a:lnTo>
                  <a:lnTo>
                    <a:pt x="689" y="1070"/>
                  </a:lnTo>
                  <a:lnTo>
                    <a:pt x="703" y="1031"/>
                  </a:lnTo>
                  <a:lnTo>
                    <a:pt x="705" y="1013"/>
                  </a:lnTo>
                  <a:lnTo>
                    <a:pt x="705" y="1006"/>
                  </a:lnTo>
                  <a:lnTo>
                    <a:pt x="710" y="998"/>
                  </a:lnTo>
                  <a:lnTo>
                    <a:pt x="716" y="998"/>
                  </a:lnTo>
                  <a:lnTo>
                    <a:pt x="723" y="994"/>
                  </a:lnTo>
                  <a:lnTo>
                    <a:pt x="744" y="952"/>
                  </a:lnTo>
                  <a:lnTo>
                    <a:pt x="754" y="922"/>
                  </a:lnTo>
                  <a:lnTo>
                    <a:pt x="767" y="882"/>
                  </a:lnTo>
                  <a:lnTo>
                    <a:pt x="826" y="745"/>
                  </a:lnTo>
                  <a:lnTo>
                    <a:pt x="902" y="585"/>
                  </a:lnTo>
                  <a:lnTo>
                    <a:pt x="973" y="451"/>
                  </a:lnTo>
                  <a:lnTo>
                    <a:pt x="997" y="412"/>
                  </a:lnTo>
                  <a:lnTo>
                    <a:pt x="1046" y="342"/>
                  </a:lnTo>
                  <a:lnTo>
                    <a:pt x="1134" y="229"/>
                  </a:lnTo>
                  <a:lnTo>
                    <a:pt x="1213" y="146"/>
                  </a:lnTo>
                  <a:lnTo>
                    <a:pt x="1295" y="80"/>
                  </a:lnTo>
                  <a:lnTo>
                    <a:pt x="1340" y="52"/>
                  </a:lnTo>
                  <a:lnTo>
                    <a:pt x="1367" y="36"/>
                  </a:lnTo>
                  <a:lnTo>
                    <a:pt x="1413" y="16"/>
                  </a:lnTo>
                  <a:lnTo>
                    <a:pt x="1461" y="5"/>
                  </a:lnTo>
                  <a:lnTo>
                    <a:pt x="1518" y="0"/>
                  </a:lnTo>
                  <a:lnTo>
                    <a:pt x="1556" y="0"/>
                  </a:lnTo>
                  <a:lnTo>
                    <a:pt x="1596" y="0"/>
                  </a:lnTo>
                  <a:lnTo>
                    <a:pt x="1652" y="5"/>
                  </a:lnTo>
                  <a:lnTo>
                    <a:pt x="1694" y="15"/>
                  </a:lnTo>
                  <a:lnTo>
                    <a:pt x="1730" y="36"/>
                  </a:lnTo>
                  <a:lnTo>
                    <a:pt x="1753" y="52"/>
                  </a:lnTo>
                  <a:lnTo>
                    <a:pt x="1782" y="77"/>
                  </a:lnTo>
                  <a:lnTo>
                    <a:pt x="1827" y="129"/>
                  </a:lnTo>
                  <a:lnTo>
                    <a:pt x="1855" y="188"/>
                  </a:lnTo>
                  <a:lnTo>
                    <a:pt x="1870" y="257"/>
                  </a:lnTo>
                  <a:lnTo>
                    <a:pt x="1871" y="294"/>
                  </a:lnTo>
                  <a:lnTo>
                    <a:pt x="1867" y="366"/>
                  </a:lnTo>
                  <a:lnTo>
                    <a:pt x="1844" y="496"/>
                  </a:lnTo>
                  <a:lnTo>
                    <a:pt x="1827" y="555"/>
                  </a:lnTo>
                  <a:lnTo>
                    <a:pt x="1819" y="566"/>
                  </a:lnTo>
                  <a:lnTo>
                    <a:pt x="1812" y="576"/>
                  </a:lnTo>
                  <a:lnTo>
                    <a:pt x="1786" y="650"/>
                  </a:lnTo>
                  <a:lnTo>
                    <a:pt x="1772" y="700"/>
                  </a:lnTo>
                  <a:lnTo>
                    <a:pt x="1759" y="752"/>
                  </a:lnTo>
                  <a:lnTo>
                    <a:pt x="1734" y="826"/>
                  </a:lnTo>
                  <a:lnTo>
                    <a:pt x="1727" y="836"/>
                  </a:lnTo>
                  <a:lnTo>
                    <a:pt x="1720" y="849"/>
                  </a:lnTo>
                  <a:lnTo>
                    <a:pt x="1695" y="936"/>
                  </a:lnTo>
                  <a:lnTo>
                    <a:pt x="1682" y="998"/>
                  </a:lnTo>
                  <a:lnTo>
                    <a:pt x="1670" y="1060"/>
                  </a:lnTo>
                  <a:lnTo>
                    <a:pt x="1645" y="1154"/>
                  </a:lnTo>
                  <a:lnTo>
                    <a:pt x="1638" y="1168"/>
                  </a:lnTo>
                  <a:lnTo>
                    <a:pt x="1629" y="1186"/>
                  </a:lnTo>
                  <a:lnTo>
                    <a:pt x="1612" y="1276"/>
                  </a:lnTo>
                  <a:lnTo>
                    <a:pt x="1595" y="1403"/>
                  </a:lnTo>
                  <a:lnTo>
                    <a:pt x="1585" y="1533"/>
                  </a:lnTo>
                  <a:lnTo>
                    <a:pt x="1583" y="1586"/>
                  </a:lnTo>
                  <a:lnTo>
                    <a:pt x="1585" y="1643"/>
                  </a:lnTo>
                  <a:lnTo>
                    <a:pt x="1595" y="1736"/>
                  </a:lnTo>
                  <a:lnTo>
                    <a:pt x="1618" y="1805"/>
                  </a:lnTo>
                  <a:lnTo>
                    <a:pt x="1655" y="1854"/>
                  </a:lnTo>
                  <a:lnTo>
                    <a:pt x="1681" y="1871"/>
                  </a:lnTo>
                  <a:lnTo>
                    <a:pt x="1708" y="1891"/>
                  </a:lnTo>
                  <a:lnTo>
                    <a:pt x="1731" y="1924"/>
                  </a:lnTo>
                  <a:lnTo>
                    <a:pt x="1740" y="1950"/>
                  </a:lnTo>
                  <a:lnTo>
                    <a:pt x="1742" y="1966"/>
                  </a:lnTo>
                  <a:lnTo>
                    <a:pt x="1743" y="1988"/>
                  </a:lnTo>
                  <a:lnTo>
                    <a:pt x="1736" y="2029"/>
                  </a:lnTo>
                  <a:lnTo>
                    <a:pt x="1720" y="2060"/>
                  </a:lnTo>
                  <a:lnTo>
                    <a:pt x="1701" y="2072"/>
                  </a:lnTo>
                  <a:lnTo>
                    <a:pt x="1691" y="2068"/>
                  </a:lnTo>
                  <a:lnTo>
                    <a:pt x="1685" y="2067"/>
                  </a:lnTo>
                  <a:lnTo>
                    <a:pt x="1671" y="2077"/>
                  </a:lnTo>
                  <a:lnTo>
                    <a:pt x="1667" y="2088"/>
                  </a:lnTo>
                  <a:lnTo>
                    <a:pt x="1662" y="2097"/>
                  </a:lnTo>
                  <a:lnTo>
                    <a:pt x="1648" y="2108"/>
                  </a:lnTo>
                  <a:lnTo>
                    <a:pt x="1600" y="2113"/>
                  </a:lnTo>
                  <a:lnTo>
                    <a:pt x="1534" y="2108"/>
                  </a:lnTo>
                  <a:lnTo>
                    <a:pt x="1484" y="2103"/>
                  </a:lnTo>
                  <a:lnTo>
                    <a:pt x="1410" y="2085"/>
                  </a:lnTo>
                  <a:lnTo>
                    <a:pt x="1396" y="2074"/>
                  </a:lnTo>
                  <a:lnTo>
                    <a:pt x="1386" y="2064"/>
                  </a:lnTo>
                  <a:lnTo>
                    <a:pt x="1348" y="2038"/>
                  </a:lnTo>
                  <a:lnTo>
                    <a:pt x="1328" y="2029"/>
                  </a:lnTo>
                  <a:lnTo>
                    <a:pt x="1304" y="2015"/>
                  </a:lnTo>
                  <a:lnTo>
                    <a:pt x="1239" y="1954"/>
                  </a:lnTo>
                  <a:lnTo>
                    <a:pt x="1209" y="1917"/>
                  </a:lnTo>
                  <a:lnTo>
                    <a:pt x="1187" y="1891"/>
                  </a:lnTo>
                  <a:lnTo>
                    <a:pt x="1157" y="1844"/>
                  </a:lnTo>
                  <a:lnTo>
                    <a:pt x="1137" y="1793"/>
                  </a:lnTo>
                  <a:lnTo>
                    <a:pt x="1122" y="1734"/>
                  </a:lnTo>
                  <a:lnTo>
                    <a:pt x="1115" y="1697"/>
                  </a:lnTo>
                  <a:lnTo>
                    <a:pt x="1109" y="1653"/>
                  </a:lnTo>
                  <a:lnTo>
                    <a:pt x="1102" y="1548"/>
                  </a:lnTo>
                  <a:lnTo>
                    <a:pt x="1101" y="1360"/>
                  </a:lnTo>
                  <a:lnTo>
                    <a:pt x="1117" y="1092"/>
                  </a:lnTo>
                  <a:lnTo>
                    <a:pt x="1138" y="922"/>
                  </a:lnTo>
                  <a:lnTo>
                    <a:pt x="1157" y="837"/>
                  </a:lnTo>
                  <a:lnTo>
                    <a:pt x="1167" y="808"/>
                  </a:lnTo>
                  <a:lnTo>
                    <a:pt x="1186" y="754"/>
                  </a:lnTo>
                  <a:lnTo>
                    <a:pt x="1214" y="647"/>
                  </a:lnTo>
                  <a:lnTo>
                    <a:pt x="1227" y="595"/>
                  </a:lnTo>
                  <a:lnTo>
                    <a:pt x="1253" y="516"/>
                  </a:lnTo>
                  <a:lnTo>
                    <a:pt x="1263" y="499"/>
                  </a:lnTo>
                  <a:lnTo>
                    <a:pt x="1269" y="489"/>
                  </a:lnTo>
                  <a:lnTo>
                    <a:pt x="1272" y="467"/>
                  </a:lnTo>
                  <a:lnTo>
                    <a:pt x="1268" y="458"/>
                  </a:lnTo>
                  <a:lnTo>
                    <a:pt x="1265" y="451"/>
                  </a:lnTo>
                  <a:lnTo>
                    <a:pt x="1268" y="441"/>
                  </a:lnTo>
                  <a:lnTo>
                    <a:pt x="1273" y="440"/>
                  </a:lnTo>
                  <a:lnTo>
                    <a:pt x="1281" y="437"/>
                  </a:lnTo>
                  <a:lnTo>
                    <a:pt x="1295" y="414"/>
                  </a:lnTo>
                  <a:lnTo>
                    <a:pt x="1299" y="396"/>
                  </a:lnTo>
                  <a:lnTo>
                    <a:pt x="1302" y="375"/>
                  </a:lnTo>
                  <a:lnTo>
                    <a:pt x="1291" y="360"/>
                  </a:lnTo>
                  <a:lnTo>
                    <a:pt x="1273" y="365"/>
                  </a:lnTo>
                  <a:lnTo>
                    <a:pt x="1261" y="368"/>
                  </a:lnTo>
                  <a:lnTo>
                    <a:pt x="1243" y="382"/>
                  </a:lnTo>
                  <a:lnTo>
                    <a:pt x="1242" y="391"/>
                  </a:lnTo>
                  <a:lnTo>
                    <a:pt x="1239" y="401"/>
                  </a:lnTo>
                  <a:lnTo>
                    <a:pt x="1214" y="441"/>
                  </a:lnTo>
                  <a:lnTo>
                    <a:pt x="1199" y="466"/>
                  </a:lnTo>
                  <a:lnTo>
                    <a:pt x="1150" y="540"/>
                  </a:lnTo>
                  <a:lnTo>
                    <a:pt x="1081" y="664"/>
                  </a:lnTo>
                  <a:lnTo>
                    <a:pt x="1020" y="781"/>
                  </a:lnTo>
                  <a:lnTo>
                    <a:pt x="991" y="828"/>
                  </a:lnTo>
                  <a:lnTo>
                    <a:pt x="983" y="841"/>
                  </a:lnTo>
                  <a:lnTo>
                    <a:pt x="958" y="899"/>
                  </a:lnTo>
                  <a:lnTo>
                    <a:pt x="947" y="935"/>
                  </a:lnTo>
                  <a:lnTo>
                    <a:pt x="932" y="971"/>
                  </a:lnTo>
                  <a:lnTo>
                    <a:pt x="902" y="1037"/>
                  </a:lnTo>
                  <a:lnTo>
                    <a:pt x="890" y="1057"/>
                  </a:lnTo>
                  <a:lnTo>
                    <a:pt x="879" y="1075"/>
                  </a:lnTo>
                  <a:lnTo>
                    <a:pt x="864" y="1109"/>
                  </a:lnTo>
                  <a:lnTo>
                    <a:pt x="863" y="1121"/>
                  </a:lnTo>
                  <a:lnTo>
                    <a:pt x="860" y="1135"/>
                  </a:lnTo>
                  <a:lnTo>
                    <a:pt x="837" y="1196"/>
                  </a:lnTo>
                  <a:lnTo>
                    <a:pt x="820" y="1232"/>
                  </a:lnTo>
                  <a:lnTo>
                    <a:pt x="803" y="1269"/>
                  </a:lnTo>
                  <a:lnTo>
                    <a:pt x="772" y="1348"/>
                  </a:lnTo>
                  <a:lnTo>
                    <a:pt x="764" y="1377"/>
                  </a:lnTo>
                  <a:lnTo>
                    <a:pt x="758" y="1404"/>
                  </a:lnTo>
                  <a:lnTo>
                    <a:pt x="738" y="1459"/>
                  </a:lnTo>
                  <a:lnTo>
                    <a:pt x="726" y="1481"/>
                  </a:lnTo>
                  <a:lnTo>
                    <a:pt x="716" y="1497"/>
                  </a:lnTo>
                  <a:lnTo>
                    <a:pt x="708" y="1528"/>
                  </a:lnTo>
                  <a:lnTo>
                    <a:pt x="710" y="1538"/>
                  </a:lnTo>
                  <a:lnTo>
                    <a:pt x="713" y="1544"/>
                  </a:lnTo>
                  <a:lnTo>
                    <a:pt x="709" y="1558"/>
                  </a:lnTo>
                  <a:lnTo>
                    <a:pt x="703" y="1563"/>
                  </a:lnTo>
                  <a:lnTo>
                    <a:pt x="696" y="1576"/>
                  </a:lnTo>
                  <a:lnTo>
                    <a:pt x="670" y="1669"/>
                  </a:lnTo>
                  <a:lnTo>
                    <a:pt x="656" y="1736"/>
                  </a:lnTo>
                  <a:lnTo>
                    <a:pt x="643" y="1802"/>
                  </a:lnTo>
                  <a:lnTo>
                    <a:pt x="617" y="1895"/>
                  </a:lnTo>
                  <a:lnTo>
                    <a:pt x="610" y="1908"/>
                  </a:lnTo>
                  <a:lnTo>
                    <a:pt x="602" y="1920"/>
                  </a:lnTo>
                  <a:lnTo>
                    <a:pt x="594" y="1990"/>
                  </a:lnTo>
                  <a:lnTo>
                    <a:pt x="594" y="2039"/>
                  </a:lnTo>
                  <a:lnTo>
                    <a:pt x="594" y="2103"/>
                  </a:lnTo>
                  <a:lnTo>
                    <a:pt x="604" y="2160"/>
                  </a:lnTo>
                  <a:lnTo>
                    <a:pt x="618" y="2186"/>
                  </a:lnTo>
                  <a:lnTo>
                    <a:pt x="627" y="2196"/>
                  </a:lnTo>
                  <a:lnTo>
                    <a:pt x="641" y="2214"/>
                  </a:lnTo>
                  <a:lnTo>
                    <a:pt x="666" y="2254"/>
                  </a:lnTo>
                  <a:lnTo>
                    <a:pt x="673" y="2270"/>
                  </a:lnTo>
                  <a:lnTo>
                    <a:pt x="677" y="2290"/>
                  </a:lnTo>
                  <a:lnTo>
                    <a:pt x="672" y="2335"/>
                  </a:lnTo>
                  <a:lnTo>
                    <a:pt x="654" y="2378"/>
                  </a:lnTo>
                  <a:lnTo>
                    <a:pt x="627" y="2408"/>
                  </a:lnTo>
                  <a:lnTo>
                    <a:pt x="611" y="2414"/>
                  </a:lnTo>
                  <a:lnTo>
                    <a:pt x="597" y="2419"/>
                  </a:lnTo>
                  <a:lnTo>
                    <a:pt x="576" y="2432"/>
                  </a:lnTo>
                  <a:lnTo>
                    <a:pt x="575" y="2440"/>
                  </a:lnTo>
                  <a:lnTo>
                    <a:pt x="571" y="2447"/>
                  </a:lnTo>
                  <a:lnTo>
                    <a:pt x="533" y="2454"/>
                  </a:lnTo>
                  <a:lnTo>
                    <a:pt x="480" y="2454"/>
                  </a:lnTo>
                  <a:lnTo>
                    <a:pt x="434" y="2448"/>
                  </a:lnTo>
                  <a:lnTo>
                    <a:pt x="422" y="2441"/>
                  </a:lnTo>
                  <a:close/>
                </a:path>
              </a:pathLst>
            </a:custGeom>
            <a:solidFill>
              <a:srgbClr val="C00000"/>
            </a:solidFill>
            <a:ln>
              <a:noFill/>
            </a:ln>
          </p:spPr>
          <p:txBody>
            <a:bodyPr vert="horz" wrap="square" lIns="91440" tIns="45720" rIns="91440" bIns="45720" numCol="1" anchor="t" anchorCtr="0" compatLnSpc="1">
              <a:prstTxWarp prst="textNoShape">
                <a:avLst/>
              </a:prstTxWarp>
            </a:bodyPr>
            <a:lstStyle/>
            <a:p>
              <a:endParaRPr lang="es-PE"/>
            </a:p>
          </p:txBody>
        </p:sp>
        <p:sp>
          <p:nvSpPr>
            <p:cNvPr id="20" name="Freeform 18"/>
            <p:cNvSpPr>
              <a:spLocks noEditPoints="1"/>
            </p:cNvSpPr>
            <p:nvPr/>
          </p:nvSpPr>
          <p:spPr bwMode="auto">
            <a:xfrm>
              <a:off x="2512334" y="3496808"/>
              <a:ext cx="800100" cy="1044575"/>
            </a:xfrm>
            <a:custGeom>
              <a:avLst/>
              <a:gdLst>
                <a:gd name="T0" fmla="*/ 234 w 1512"/>
                <a:gd name="T1" fmla="*/ 1884 h 1975"/>
                <a:gd name="T2" fmla="*/ 84 w 1512"/>
                <a:gd name="T3" fmla="*/ 1729 h 1975"/>
                <a:gd name="T4" fmla="*/ 61 w 1512"/>
                <a:gd name="T5" fmla="*/ 1676 h 1975"/>
                <a:gd name="T6" fmla="*/ 29 w 1512"/>
                <a:gd name="T7" fmla="*/ 1608 h 1975"/>
                <a:gd name="T8" fmla="*/ 0 w 1512"/>
                <a:gd name="T9" fmla="*/ 1372 h 1975"/>
                <a:gd name="T10" fmla="*/ 28 w 1512"/>
                <a:gd name="T11" fmla="*/ 1116 h 1975"/>
                <a:gd name="T12" fmla="*/ 59 w 1512"/>
                <a:gd name="T13" fmla="*/ 1038 h 1975"/>
                <a:gd name="T14" fmla="*/ 101 w 1512"/>
                <a:gd name="T15" fmla="*/ 911 h 1975"/>
                <a:gd name="T16" fmla="*/ 241 w 1512"/>
                <a:gd name="T17" fmla="*/ 617 h 1975"/>
                <a:gd name="T18" fmla="*/ 304 w 1512"/>
                <a:gd name="T19" fmla="*/ 518 h 1975"/>
                <a:gd name="T20" fmla="*/ 323 w 1512"/>
                <a:gd name="T21" fmla="*/ 481 h 1975"/>
                <a:gd name="T22" fmla="*/ 359 w 1512"/>
                <a:gd name="T23" fmla="*/ 450 h 1975"/>
                <a:gd name="T24" fmla="*/ 451 w 1512"/>
                <a:gd name="T25" fmla="*/ 337 h 1975"/>
                <a:gd name="T26" fmla="*/ 676 w 1512"/>
                <a:gd name="T27" fmla="*/ 144 h 1975"/>
                <a:gd name="T28" fmla="*/ 788 w 1512"/>
                <a:gd name="T29" fmla="*/ 80 h 1975"/>
                <a:gd name="T30" fmla="*/ 854 w 1512"/>
                <a:gd name="T31" fmla="*/ 67 h 1975"/>
                <a:gd name="T32" fmla="*/ 870 w 1512"/>
                <a:gd name="T33" fmla="*/ 49 h 1975"/>
                <a:gd name="T34" fmla="*/ 1129 w 1512"/>
                <a:gd name="T35" fmla="*/ 1 h 1975"/>
                <a:gd name="T36" fmla="*/ 1289 w 1512"/>
                <a:gd name="T37" fmla="*/ 13 h 1975"/>
                <a:gd name="T38" fmla="*/ 1448 w 1512"/>
                <a:gd name="T39" fmla="*/ 122 h 1975"/>
                <a:gd name="T40" fmla="*/ 1511 w 1512"/>
                <a:gd name="T41" fmla="*/ 338 h 1975"/>
                <a:gd name="T42" fmla="*/ 1498 w 1512"/>
                <a:gd name="T43" fmla="*/ 538 h 1975"/>
                <a:gd name="T44" fmla="*/ 1419 w 1512"/>
                <a:gd name="T45" fmla="*/ 735 h 1975"/>
                <a:gd name="T46" fmla="*/ 1384 w 1512"/>
                <a:gd name="T47" fmla="*/ 805 h 1975"/>
                <a:gd name="T48" fmla="*/ 1324 w 1512"/>
                <a:gd name="T49" fmla="*/ 865 h 1975"/>
                <a:gd name="T50" fmla="*/ 1294 w 1512"/>
                <a:gd name="T51" fmla="*/ 920 h 1975"/>
                <a:gd name="T52" fmla="*/ 1187 w 1512"/>
                <a:gd name="T53" fmla="*/ 1016 h 1975"/>
                <a:gd name="T54" fmla="*/ 1085 w 1512"/>
                <a:gd name="T55" fmla="*/ 1098 h 1975"/>
                <a:gd name="T56" fmla="*/ 971 w 1512"/>
                <a:gd name="T57" fmla="*/ 1173 h 1975"/>
                <a:gd name="T58" fmla="*/ 810 w 1512"/>
                <a:gd name="T59" fmla="*/ 1235 h 1975"/>
                <a:gd name="T60" fmla="*/ 749 w 1512"/>
                <a:gd name="T61" fmla="*/ 1268 h 1975"/>
                <a:gd name="T62" fmla="*/ 490 w 1512"/>
                <a:gd name="T63" fmla="*/ 1278 h 1975"/>
                <a:gd name="T64" fmla="*/ 473 w 1512"/>
                <a:gd name="T65" fmla="*/ 1576 h 1975"/>
                <a:gd name="T66" fmla="*/ 540 w 1512"/>
                <a:gd name="T67" fmla="*/ 1742 h 1975"/>
                <a:gd name="T68" fmla="*/ 635 w 1512"/>
                <a:gd name="T69" fmla="*/ 1800 h 1975"/>
                <a:gd name="T70" fmla="*/ 710 w 1512"/>
                <a:gd name="T71" fmla="*/ 1791 h 1975"/>
                <a:gd name="T72" fmla="*/ 968 w 1512"/>
                <a:gd name="T73" fmla="*/ 1628 h 1975"/>
                <a:gd name="T74" fmla="*/ 1174 w 1512"/>
                <a:gd name="T75" fmla="*/ 1409 h 1975"/>
                <a:gd name="T76" fmla="*/ 1259 w 1512"/>
                <a:gd name="T77" fmla="*/ 1370 h 1975"/>
                <a:gd name="T78" fmla="*/ 1354 w 1512"/>
                <a:gd name="T79" fmla="*/ 1416 h 1975"/>
                <a:gd name="T80" fmla="*/ 1387 w 1512"/>
                <a:gd name="T81" fmla="*/ 1512 h 1975"/>
                <a:gd name="T82" fmla="*/ 1311 w 1512"/>
                <a:gd name="T83" fmla="*/ 1666 h 1975"/>
                <a:gd name="T84" fmla="*/ 1076 w 1512"/>
                <a:gd name="T85" fmla="*/ 1854 h 1975"/>
                <a:gd name="T86" fmla="*/ 837 w 1512"/>
                <a:gd name="T87" fmla="*/ 1955 h 1975"/>
                <a:gd name="T88" fmla="*/ 514 w 1512"/>
                <a:gd name="T89" fmla="*/ 1975 h 1975"/>
                <a:gd name="T90" fmla="*/ 749 w 1512"/>
                <a:gd name="T91" fmla="*/ 970 h 1975"/>
                <a:gd name="T92" fmla="*/ 975 w 1512"/>
                <a:gd name="T93" fmla="*/ 796 h 1975"/>
                <a:gd name="T94" fmla="*/ 1044 w 1512"/>
                <a:gd name="T95" fmla="*/ 711 h 1975"/>
                <a:gd name="T96" fmla="*/ 1067 w 1512"/>
                <a:gd name="T97" fmla="*/ 662 h 1975"/>
                <a:gd name="T98" fmla="*/ 1128 w 1512"/>
                <a:gd name="T99" fmla="*/ 537 h 1975"/>
                <a:gd name="T100" fmla="*/ 1149 w 1512"/>
                <a:gd name="T101" fmla="*/ 377 h 1975"/>
                <a:gd name="T102" fmla="*/ 1132 w 1512"/>
                <a:gd name="T103" fmla="*/ 299 h 1975"/>
                <a:gd name="T104" fmla="*/ 942 w 1512"/>
                <a:gd name="T105" fmla="*/ 423 h 1975"/>
                <a:gd name="T106" fmla="*/ 864 w 1512"/>
                <a:gd name="T107" fmla="*/ 512 h 1975"/>
                <a:gd name="T108" fmla="*/ 787 w 1512"/>
                <a:gd name="T109" fmla="*/ 630 h 1975"/>
                <a:gd name="T110" fmla="*/ 625 w 1512"/>
                <a:gd name="T111" fmla="*/ 914 h 1975"/>
                <a:gd name="T112" fmla="*/ 588 w 1512"/>
                <a:gd name="T113" fmla="*/ 993 h 1975"/>
                <a:gd name="T114" fmla="*/ 625 w 1512"/>
                <a:gd name="T115" fmla="*/ 1023 h 19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512" h="1975">
                  <a:moveTo>
                    <a:pt x="355" y="1955"/>
                  </a:moveTo>
                  <a:lnTo>
                    <a:pt x="320" y="1941"/>
                  </a:lnTo>
                  <a:lnTo>
                    <a:pt x="234" y="1884"/>
                  </a:lnTo>
                  <a:lnTo>
                    <a:pt x="149" y="1811"/>
                  </a:lnTo>
                  <a:lnTo>
                    <a:pt x="103" y="1759"/>
                  </a:lnTo>
                  <a:lnTo>
                    <a:pt x="84" y="1729"/>
                  </a:lnTo>
                  <a:lnTo>
                    <a:pt x="79" y="1717"/>
                  </a:lnTo>
                  <a:lnTo>
                    <a:pt x="75" y="1700"/>
                  </a:lnTo>
                  <a:lnTo>
                    <a:pt x="61" y="1676"/>
                  </a:lnTo>
                  <a:lnTo>
                    <a:pt x="55" y="1674"/>
                  </a:lnTo>
                  <a:lnTo>
                    <a:pt x="46" y="1667"/>
                  </a:lnTo>
                  <a:lnTo>
                    <a:pt x="29" y="1608"/>
                  </a:lnTo>
                  <a:lnTo>
                    <a:pt x="12" y="1516"/>
                  </a:lnTo>
                  <a:lnTo>
                    <a:pt x="2" y="1415"/>
                  </a:lnTo>
                  <a:lnTo>
                    <a:pt x="0" y="1372"/>
                  </a:lnTo>
                  <a:lnTo>
                    <a:pt x="2" y="1324"/>
                  </a:lnTo>
                  <a:lnTo>
                    <a:pt x="12" y="1216"/>
                  </a:lnTo>
                  <a:lnTo>
                    <a:pt x="28" y="1116"/>
                  </a:lnTo>
                  <a:lnTo>
                    <a:pt x="45" y="1051"/>
                  </a:lnTo>
                  <a:lnTo>
                    <a:pt x="52" y="1044"/>
                  </a:lnTo>
                  <a:lnTo>
                    <a:pt x="59" y="1038"/>
                  </a:lnTo>
                  <a:lnTo>
                    <a:pt x="78" y="989"/>
                  </a:lnTo>
                  <a:lnTo>
                    <a:pt x="88" y="951"/>
                  </a:lnTo>
                  <a:lnTo>
                    <a:pt x="101" y="911"/>
                  </a:lnTo>
                  <a:lnTo>
                    <a:pt x="139" y="812"/>
                  </a:lnTo>
                  <a:lnTo>
                    <a:pt x="189" y="708"/>
                  </a:lnTo>
                  <a:lnTo>
                    <a:pt x="241" y="617"/>
                  </a:lnTo>
                  <a:lnTo>
                    <a:pt x="265" y="583"/>
                  </a:lnTo>
                  <a:lnTo>
                    <a:pt x="281" y="560"/>
                  </a:lnTo>
                  <a:lnTo>
                    <a:pt x="304" y="518"/>
                  </a:lnTo>
                  <a:lnTo>
                    <a:pt x="307" y="505"/>
                  </a:lnTo>
                  <a:lnTo>
                    <a:pt x="308" y="496"/>
                  </a:lnTo>
                  <a:lnTo>
                    <a:pt x="323" y="481"/>
                  </a:lnTo>
                  <a:lnTo>
                    <a:pt x="333" y="475"/>
                  </a:lnTo>
                  <a:lnTo>
                    <a:pt x="344" y="469"/>
                  </a:lnTo>
                  <a:lnTo>
                    <a:pt x="359" y="450"/>
                  </a:lnTo>
                  <a:lnTo>
                    <a:pt x="360" y="443"/>
                  </a:lnTo>
                  <a:lnTo>
                    <a:pt x="369" y="424"/>
                  </a:lnTo>
                  <a:lnTo>
                    <a:pt x="451" y="337"/>
                  </a:lnTo>
                  <a:lnTo>
                    <a:pt x="563" y="230"/>
                  </a:lnTo>
                  <a:lnTo>
                    <a:pt x="656" y="152"/>
                  </a:lnTo>
                  <a:lnTo>
                    <a:pt x="676" y="144"/>
                  </a:lnTo>
                  <a:lnTo>
                    <a:pt x="699" y="134"/>
                  </a:lnTo>
                  <a:lnTo>
                    <a:pt x="758" y="99"/>
                  </a:lnTo>
                  <a:lnTo>
                    <a:pt x="788" y="80"/>
                  </a:lnTo>
                  <a:lnTo>
                    <a:pt x="836" y="62"/>
                  </a:lnTo>
                  <a:lnTo>
                    <a:pt x="847" y="63"/>
                  </a:lnTo>
                  <a:lnTo>
                    <a:pt x="854" y="67"/>
                  </a:lnTo>
                  <a:lnTo>
                    <a:pt x="863" y="63"/>
                  </a:lnTo>
                  <a:lnTo>
                    <a:pt x="864" y="57"/>
                  </a:lnTo>
                  <a:lnTo>
                    <a:pt x="870" y="49"/>
                  </a:lnTo>
                  <a:lnTo>
                    <a:pt x="931" y="30"/>
                  </a:lnTo>
                  <a:lnTo>
                    <a:pt x="1026" y="13"/>
                  </a:lnTo>
                  <a:lnTo>
                    <a:pt x="1129" y="1"/>
                  </a:lnTo>
                  <a:lnTo>
                    <a:pt x="1174" y="0"/>
                  </a:lnTo>
                  <a:lnTo>
                    <a:pt x="1214" y="1"/>
                  </a:lnTo>
                  <a:lnTo>
                    <a:pt x="1289" y="13"/>
                  </a:lnTo>
                  <a:lnTo>
                    <a:pt x="1351" y="37"/>
                  </a:lnTo>
                  <a:lnTo>
                    <a:pt x="1404" y="73"/>
                  </a:lnTo>
                  <a:lnTo>
                    <a:pt x="1448" y="122"/>
                  </a:lnTo>
                  <a:lnTo>
                    <a:pt x="1479" y="181"/>
                  </a:lnTo>
                  <a:lnTo>
                    <a:pt x="1501" y="255"/>
                  </a:lnTo>
                  <a:lnTo>
                    <a:pt x="1511" y="338"/>
                  </a:lnTo>
                  <a:lnTo>
                    <a:pt x="1512" y="386"/>
                  </a:lnTo>
                  <a:lnTo>
                    <a:pt x="1511" y="437"/>
                  </a:lnTo>
                  <a:lnTo>
                    <a:pt x="1498" y="538"/>
                  </a:lnTo>
                  <a:lnTo>
                    <a:pt x="1474" y="630"/>
                  </a:lnTo>
                  <a:lnTo>
                    <a:pt x="1439" y="707"/>
                  </a:lnTo>
                  <a:lnTo>
                    <a:pt x="1419" y="735"/>
                  </a:lnTo>
                  <a:lnTo>
                    <a:pt x="1394" y="773"/>
                  </a:lnTo>
                  <a:lnTo>
                    <a:pt x="1387" y="796"/>
                  </a:lnTo>
                  <a:lnTo>
                    <a:pt x="1384" y="805"/>
                  </a:lnTo>
                  <a:lnTo>
                    <a:pt x="1360" y="833"/>
                  </a:lnTo>
                  <a:lnTo>
                    <a:pt x="1341" y="849"/>
                  </a:lnTo>
                  <a:lnTo>
                    <a:pt x="1324" y="865"/>
                  </a:lnTo>
                  <a:lnTo>
                    <a:pt x="1299" y="897"/>
                  </a:lnTo>
                  <a:lnTo>
                    <a:pt x="1296" y="908"/>
                  </a:lnTo>
                  <a:lnTo>
                    <a:pt x="1294" y="920"/>
                  </a:lnTo>
                  <a:lnTo>
                    <a:pt x="1263" y="957"/>
                  </a:lnTo>
                  <a:lnTo>
                    <a:pt x="1240" y="976"/>
                  </a:lnTo>
                  <a:lnTo>
                    <a:pt x="1187" y="1016"/>
                  </a:lnTo>
                  <a:lnTo>
                    <a:pt x="1142" y="1058"/>
                  </a:lnTo>
                  <a:lnTo>
                    <a:pt x="1103" y="1088"/>
                  </a:lnTo>
                  <a:lnTo>
                    <a:pt x="1085" y="1098"/>
                  </a:lnTo>
                  <a:lnTo>
                    <a:pt x="1059" y="1110"/>
                  </a:lnTo>
                  <a:lnTo>
                    <a:pt x="1003" y="1152"/>
                  </a:lnTo>
                  <a:lnTo>
                    <a:pt x="971" y="1173"/>
                  </a:lnTo>
                  <a:lnTo>
                    <a:pt x="885" y="1213"/>
                  </a:lnTo>
                  <a:lnTo>
                    <a:pt x="844" y="1225"/>
                  </a:lnTo>
                  <a:lnTo>
                    <a:pt x="810" y="1235"/>
                  </a:lnTo>
                  <a:lnTo>
                    <a:pt x="761" y="1255"/>
                  </a:lnTo>
                  <a:lnTo>
                    <a:pt x="756" y="1264"/>
                  </a:lnTo>
                  <a:lnTo>
                    <a:pt x="749" y="1268"/>
                  </a:lnTo>
                  <a:lnTo>
                    <a:pt x="677" y="1277"/>
                  </a:lnTo>
                  <a:lnTo>
                    <a:pt x="624" y="1278"/>
                  </a:lnTo>
                  <a:lnTo>
                    <a:pt x="490" y="1278"/>
                  </a:lnTo>
                  <a:lnTo>
                    <a:pt x="477" y="1411"/>
                  </a:lnTo>
                  <a:lnTo>
                    <a:pt x="473" y="1474"/>
                  </a:lnTo>
                  <a:lnTo>
                    <a:pt x="473" y="1576"/>
                  </a:lnTo>
                  <a:lnTo>
                    <a:pt x="488" y="1654"/>
                  </a:lnTo>
                  <a:lnTo>
                    <a:pt x="519" y="1716"/>
                  </a:lnTo>
                  <a:lnTo>
                    <a:pt x="540" y="1742"/>
                  </a:lnTo>
                  <a:lnTo>
                    <a:pt x="568" y="1769"/>
                  </a:lnTo>
                  <a:lnTo>
                    <a:pt x="607" y="1792"/>
                  </a:lnTo>
                  <a:lnTo>
                    <a:pt x="635" y="1800"/>
                  </a:lnTo>
                  <a:lnTo>
                    <a:pt x="650" y="1800"/>
                  </a:lnTo>
                  <a:lnTo>
                    <a:pt x="670" y="1800"/>
                  </a:lnTo>
                  <a:lnTo>
                    <a:pt x="710" y="1791"/>
                  </a:lnTo>
                  <a:lnTo>
                    <a:pt x="776" y="1768"/>
                  </a:lnTo>
                  <a:lnTo>
                    <a:pt x="870" y="1710"/>
                  </a:lnTo>
                  <a:lnTo>
                    <a:pt x="968" y="1628"/>
                  </a:lnTo>
                  <a:lnTo>
                    <a:pt x="1016" y="1578"/>
                  </a:lnTo>
                  <a:lnTo>
                    <a:pt x="1118" y="1468"/>
                  </a:lnTo>
                  <a:lnTo>
                    <a:pt x="1174" y="1409"/>
                  </a:lnTo>
                  <a:lnTo>
                    <a:pt x="1190" y="1395"/>
                  </a:lnTo>
                  <a:lnTo>
                    <a:pt x="1223" y="1376"/>
                  </a:lnTo>
                  <a:lnTo>
                    <a:pt x="1259" y="1370"/>
                  </a:lnTo>
                  <a:lnTo>
                    <a:pt x="1294" y="1376"/>
                  </a:lnTo>
                  <a:lnTo>
                    <a:pt x="1325" y="1391"/>
                  </a:lnTo>
                  <a:lnTo>
                    <a:pt x="1354" y="1416"/>
                  </a:lnTo>
                  <a:lnTo>
                    <a:pt x="1374" y="1450"/>
                  </a:lnTo>
                  <a:lnTo>
                    <a:pt x="1386" y="1488"/>
                  </a:lnTo>
                  <a:lnTo>
                    <a:pt x="1387" y="1512"/>
                  </a:lnTo>
                  <a:lnTo>
                    <a:pt x="1384" y="1539"/>
                  </a:lnTo>
                  <a:lnTo>
                    <a:pt x="1358" y="1599"/>
                  </a:lnTo>
                  <a:lnTo>
                    <a:pt x="1311" y="1666"/>
                  </a:lnTo>
                  <a:lnTo>
                    <a:pt x="1245" y="1732"/>
                  </a:lnTo>
                  <a:lnTo>
                    <a:pt x="1165" y="1795"/>
                  </a:lnTo>
                  <a:lnTo>
                    <a:pt x="1076" y="1854"/>
                  </a:lnTo>
                  <a:lnTo>
                    <a:pt x="981" y="1905"/>
                  </a:lnTo>
                  <a:lnTo>
                    <a:pt x="885" y="1942"/>
                  </a:lnTo>
                  <a:lnTo>
                    <a:pt x="837" y="1955"/>
                  </a:lnTo>
                  <a:lnTo>
                    <a:pt x="785" y="1964"/>
                  </a:lnTo>
                  <a:lnTo>
                    <a:pt x="653" y="1975"/>
                  </a:lnTo>
                  <a:lnTo>
                    <a:pt x="514" y="1975"/>
                  </a:lnTo>
                  <a:lnTo>
                    <a:pt x="396" y="1965"/>
                  </a:lnTo>
                  <a:lnTo>
                    <a:pt x="355" y="1955"/>
                  </a:lnTo>
                  <a:close/>
                  <a:moveTo>
                    <a:pt x="749" y="970"/>
                  </a:moveTo>
                  <a:lnTo>
                    <a:pt x="785" y="950"/>
                  </a:lnTo>
                  <a:lnTo>
                    <a:pt x="880" y="879"/>
                  </a:lnTo>
                  <a:lnTo>
                    <a:pt x="975" y="796"/>
                  </a:lnTo>
                  <a:lnTo>
                    <a:pt x="1026" y="743"/>
                  </a:lnTo>
                  <a:lnTo>
                    <a:pt x="1043" y="718"/>
                  </a:lnTo>
                  <a:lnTo>
                    <a:pt x="1044" y="711"/>
                  </a:lnTo>
                  <a:lnTo>
                    <a:pt x="1046" y="699"/>
                  </a:lnTo>
                  <a:lnTo>
                    <a:pt x="1059" y="672"/>
                  </a:lnTo>
                  <a:lnTo>
                    <a:pt x="1067" y="662"/>
                  </a:lnTo>
                  <a:lnTo>
                    <a:pt x="1083" y="645"/>
                  </a:lnTo>
                  <a:lnTo>
                    <a:pt x="1108" y="597"/>
                  </a:lnTo>
                  <a:lnTo>
                    <a:pt x="1128" y="537"/>
                  </a:lnTo>
                  <a:lnTo>
                    <a:pt x="1142" y="465"/>
                  </a:lnTo>
                  <a:lnTo>
                    <a:pt x="1147" y="423"/>
                  </a:lnTo>
                  <a:lnTo>
                    <a:pt x="1149" y="377"/>
                  </a:lnTo>
                  <a:lnTo>
                    <a:pt x="1145" y="311"/>
                  </a:lnTo>
                  <a:lnTo>
                    <a:pt x="1139" y="301"/>
                  </a:lnTo>
                  <a:lnTo>
                    <a:pt x="1132" y="299"/>
                  </a:lnTo>
                  <a:lnTo>
                    <a:pt x="1105" y="309"/>
                  </a:lnTo>
                  <a:lnTo>
                    <a:pt x="1040" y="348"/>
                  </a:lnTo>
                  <a:lnTo>
                    <a:pt x="942" y="423"/>
                  </a:lnTo>
                  <a:lnTo>
                    <a:pt x="887" y="476"/>
                  </a:lnTo>
                  <a:lnTo>
                    <a:pt x="866" y="504"/>
                  </a:lnTo>
                  <a:lnTo>
                    <a:pt x="864" y="512"/>
                  </a:lnTo>
                  <a:lnTo>
                    <a:pt x="854" y="534"/>
                  </a:lnTo>
                  <a:lnTo>
                    <a:pt x="821" y="581"/>
                  </a:lnTo>
                  <a:lnTo>
                    <a:pt x="787" y="630"/>
                  </a:lnTo>
                  <a:lnTo>
                    <a:pt x="700" y="776"/>
                  </a:lnTo>
                  <a:lnTo>
                    <a:pt x="654" y="864"/>
                  </a:lnTo>
                  <a:lnTo>
                    <a:pt x="625" y="914"/>
                  </a:lnTo>
                  <a:lnTo>
                    <a:pt x="611" y="936"/>
                  </a:lnTo>
                  <a:lnTo>
                    <a:pt x="599" y="954"/>
                  </a:lnTo>
                  <a:lnTo>
                    <a:pt x="588" y="993"/>
                  </a:lnTo>
                  <a:lnTo>
                    <a:pt x="581" y="1023"/>
                  </a:lnTo>
                  <a:lnTo>
                    <a:pt x="595" y="1035"/>
                  </a:lnTo>
                  <a:lnTo>
                    <a:pt x="625" y="1023"/>
                  </a:lnTo>
                  <a:lnTo>
                    <a:pt x="681" y="1002"/>
                  </a:lnTo>
                  <a:lnTo>
                    <a:pt x="749" y="970"/>
                  </a:lnTo>
                  <a:close/>
                </a:path>
              </a:pathLst>
            </a:custGeom>
            <a:solidFill>
              <a:srgbClr val="C00000"/>
            </a:solidFill>
            <a:ln>
              <a:noFill/>
            </a:ln>
          </p:spPr>
          <p:txBody>
            <a:bodyPr vert="horz" wrap="square" lIns="91440" tIns="45720" rIns="91440" bIns="45720" numCol="1" anchor="t" anchorCtr="0" compatLnSpc="1">
              <a:prstTxWarp prst="textNoShape">
                <a:avLst/>
              </a:prstTxWarp>
            </a:bodyPr>
            <a:lstStyle/>
            <a:p>
              <a:endParaRPr lang="es-PE"/>
            </a:p>
          </p:txBody>
        </p:sp>
        <p:sp>
          <p:nvSpPr>
            <p:cNvPr id="21" name="Freeform 19"/>
            <p:cNvSpPr>
              <a:spLocks noEditPoints="1"/>
            </p:cNvSpPr>
            <p:nvPr/>
          </p:nvSpPr>
          <p:spPr bwMode="auto">
            <a:xfrm>
              <a:off x="7038296" y="3314245"/>
              <a:ext cx="1389063" cy="1106488"/>
            </a:xfrm>
            <a:custGeom>
              <a:avLst/>
              <a:gdLst>
                <a:gd name="T0" fmla="*/ 1503 w 2627"/>
                <a:gd name="T1" fmla="*/ 2015 h 2089"/>
                <a:gd name="T2" fmla="*/ 1447 w 2627"/>
                <a:gd name="T3" fmla="*/ 1828 h 2089"/>
                <a:gd name="T4" fmla="*/ 1616 w 2627"/>
                <a:gd name="T5" fmla="*/ 1879 h 2089"/>
                <a:gd name="T6" fmla="*/ 1884 w 2627"/>
                <a:gd name="T7" fmla="*/ 1821 h 2089"/>
                <a:gd name="T8" fmla="*/ 2032 w 2627"/>
                <a:gd name="T9" fmla="*/ 1460 h 2089"/>
                <a:gd name="T10" fmla="*/ 2068 w 2627"/>
                <a:gd name="T11" fmla="*/ 1303 h 2089"/>
                <a:gd name="T12" fmla="*/ 2019 w 2627"/>
                <a:gd name="T13" fmla="*/ 976 h 2089"/>
                <a:gd name="T14" fmla="*/ 1780 w 2627"/>
                <a:gd name="T15" fmla="*/ 754 h 2089"/>
                <a:gd name="T16" fmla="*/ 1679 w 2627"/>
                <a:gd name="T17" fmla="*/ 912 h 2089"/>
                <a:gd name="T18" fmla="*/ 1600 w 2627"/>
                <a:gd name="T19" fmla="*/ 1092 h 2089"/>
                <a:gd name="T20" fmla="*/ 1428 w 2627"/>
                <a:gd name="T21" fmla="*/ 1308 h 2089"/>
                <a:gd name="T22" fmla="*/ 985 w 2627"/>
                <a:gd name="T23" fmla="*/ 1444 h 2089"/>
                <a:gd name="T24" fmla="*/ 655 w 2627"/>
                <a:gd name="T25" fmla="*/ 1547 h 2089"/>
                <a:gd name="T26" fmla="*/ 425 w 2627"/>
                <a:gd name="T27" fmla="*/ 1308 h 2089"/>
                <a:gd name="T28" fmla="*/ 492 w 2627"/>
                <a:gd name="T29" fmla="*/ 901 h 2089"/>
                <a:gd name="T30" fmla="*/ 580 w 2627"/>
                <a:gd name="T31" fmla="*/ 725 h 2089"/>
                <a:gd name="T32" fmla="*/ 779 w 2627"/>
                <a:gd name="T33" fmla="*/ 527 h 2089"/>
                <a:gd name="T34" fmla="*/ 1083 w 2627"/>
                <a:gd name="T35" fmla="*/ 462 h 2089"/>
                <a:gd name="T36" fmla="*/ 1246 w 2627"/>
                <a:gd name="T37" fmla="*/ 400 h 2089"/>
                <a:gd name="T38" fmla="*/ 1256 w 2627"/>
                <a:gd name="T39" fmla="*/ 727 h 2089"/>
                <a:gd name="T40" fmla="*/ 1162 w 2627"/>
                <a:gd name="T41" fmla="*/ 1069 h 2089"/>
                <a:gd name="T42" fmla="*/ 1139 w 2627"/>
                <a:gd name="T43" fmla="*/ 1258 h 2089"/>
                <a:gd name="T44" fmla="*/ 1282 w 2627"/>
                <a:gd name="T45" fmla="*/ 1136 h 2089"/>
                <a:gd name="T46" fmla="*/ 1374 w 2627"/>
                <a:gd name="T47" fmla="*/ 620 h 2089"/>
                <a:gd name="T48" fmla="*/ 1211 w 2627"/>
                <a:gd name="T49" fmla="*/ 295 h 2089"/>
                <a:gd name="T50" fmla="*/ 855 w 2627"/>
                <a:gd name="T51" fmla="*/ 262 h 2089"/>
                <a:gd name="T52" fmla="*/ 465 w 2627"/>
                <a:gd name="T53" fmla="*/ 643 h 2089"/>
                <a:gd name="T54" fmla="*/ 333 w 2627"/>
                <a:gd name="T55" fmla="*/ 1020 h 2089"/>
                <a:gd name="T56" fmla="*/ 307 w 2627"/>
                <a:gd name="T57" fmla="*/ 1415 h 2089"/>
                <a:gd name="T58" fmla="*/ 583 w 2627"/>
                <a:gd name="T59" fmla="*/ 1641 h 2089"/>
                <a:gd name="T60" fmla="*/ 1112 w 2627"/>
                <a:gd name="T61" fmla="*/ 1589 h 2089"/>
                <a:gd name="T62" fmla="*/ 1361 w 2627"/>
                <a:gd name="T63" fmla="*/ 1532 h 2089"/>
                <a:gd name="T64" fmla="*/ 1384 w 2627"/>
                <a:gd name="T65" fmla="*/ 1683 h 2089"/>
                <a:gd name="T66" fmla="*/ 1277 w 2627"/>
                <a:gd name="T67" fmla="*/ 1788 h 2089"/>
                <a:gd name="T68" fmla="*/ 1061 w 2627"/>
                <a:gd name="T69" fmla="*/ 1883 h 2089"/>
                <a:gd name="T70" fmla="*/ 587 w 2627"/>
                <a:gd name="T71" fmla="*/ 1940 h 2089"/>
                <a:gd name="T72" fmla="*/ 99 w 2627"/>
                <a:gd name="T73" fmla="*/ 1665 h 2089"/>
                <a:gd name="T74" fmla="*/ 10 w 2627"/>
                <a:gd name="T75" fmla="*/ 1389 h 2089"/>
                <a:gd name="T76" fmla="*/ 34 w 2627"/>
                <a:gd name="T77" fmla="*/ 1232 h 2089"/>
                <a:gd name="T78" fmla="*/ 112 w 2627"/>
                <a:gd name="T79" fmla="*/ 822 h 2089"/>
                <a:gd name="T80" fmla="*/ 275 w 2627"/>
                <a:gd name="T81" fmla="*/ 466 h 2089"/>
                <a:gd name="T82" fmla="*/ 331 w 2627"/>
                <a:gd name="T83" fmla="*/ 390 h 2089"/>
                <a:gd name="T84" fmla="*/ 783 w 2627"/>
                <a:gd name="T85" fmla="*/ 28 h 2089"/>
                <a:gd name="T86" fmla="*/ 1273 w 2627"/>
                <a:gd name="T87" fmla="*/ 53 h 2089"/>
                <a:gd name="T88" fmla="*/ 1555 w 2627"/>
                <a:gd name="T89" fmla="*/ 332 h 2089"/>
                <a:gd name="T90" fmla="*/ 1596 w 2627"/>
                <a:gd name="T91" fmla="*/ 135 h 2089"/>
                <a:gd name="T92" fmla="*/ 1753 w 2627"/>
                <a:gd name="T93" fmla="*/ 4 h 2089"/>
                <a:gd name="T94" fmla="*/ 2069 w 2627"/>
                <a:gd name="T95" fmla="*/ 112 h 2089"/>
                <a:gd name="T96" fmla="*/ 2033 w 2627"/>
                <a:gd name="T97" fmla="*/ 387 h 2089"/>
                <a:gd name="T98" fmla="*/ 2510 w 2627"/>
                <a:gd name="T99" fmla="*/ 956 h 2089"/>
                <a:gd name="T100" fmla="*/ 2627 w 2627"/>
                <a:gd name="T101" fmla="*/ 1311 h 2089"/>
                <a:gd name="T102" fmla="*/ 2562 w 2627"/>
                <a:gd name="T103" fmla="*/ 1581 h 2089"/>
                <a:gd name="T104" fmla="*/ 2427 w 2627"/>
                <a:gd name="T105" fmla="*/ 1778 h 2089"/>
                <a:gd name="T106" fmla="*/ 2209 w 2627"/>
                <a:gd name="T107" fmla="*/ 1971 h 2089"/>
                <a:gd name="T108" fmla="*/ 1861 w 2627"/>
                <a:gd name="T109" fmla="*/ 2073 h 2089"/>
                <a:gd name="T110" fmla="*/ 788 w 2627"/>
                <a:gd name="T111" fmla="*/ 1300 h 2089"/>
                <a:gd name="T112" fmla="*/ 890 w 2627"/>
                <a:gd name="T113" fmla="*/ 992 h 2089"/>
                <a:gd name="T114" fmla="*/ 962 w 2627"/>
                <a:gd name="T115" fmla="*/ 748 h 2089"/>
                <a:gd name="T116" fmla="*/ 854 w 2627"/>
                <a:gd name="T117" fmla="*/ 767 h 2089"/>
                <a:gd name="T118" fmla="*/ 713 w 2627"/>
                <a:gd name="T119" fmla="*/ 1113 h 2089"/>
                <a:gd name="T120" fmla="*/ 756 w 2627"/>
                <a:gd name="T121" fmla="*/ 1340 h 2089"/>
                <a:gd name="T122" fmla="*/ 1590 w 2627"/>
                <a:gd name="T123" fmla="*/ 429 h 2089"/>
                <a:gd name="T124" fmla="*/ 1637 w 2627"/>
                <a:gd name="T125" fmla="*/ 568 h 20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627" h="2089">
                  <a:moveTo>
                    <a:pt x="1682" y="2072"/>
                  </a:moveTo>
                  <a:lnTo>
                    <a:pt x="1676" y="2064"/>
                  </a:lnTo>
                  <a:lnTo>
                    <a:pt x="1646" y="2054"/>
                  </a:lnTo>
                  <a:lnTo>
                    <a:pt x="1629" y="2054"/>
                  </a:lnTo>
                  <a:lnTo>
                    <a:pt x="1604" y="2053"/>
                  </a:lnTo>
                  <a:lnTo>
                    <a:pt x="1554" y="2040"/>
                  </a:lnTo>
                  <a:lnTo>
                    <a:pt x="1503" y="2015"/>
                  </a:lnTo>
                  <a:lnTo>
                    <a:pt x="1456" y="1979"/>
                  </a:lnTo>
                  <a:lnTo>
                    <a:pt x="1434" y="1958"/>
                  </a:lnTo>
                  <a:lnTo>
                    <a:pt x="1414" y="1938"/>
                  </a:lnTo>
                  <a:lnTo>
                    <a:pt x="1394" y="1903"/>
                  </a:lnTo>
                  <a:lnTo>
                    <a:pt x="1397" y="1873"/>
                  </a:lnTo>
                  <a:lnTo>
                    <a:pt x="1424" y="1844"/>
                  </a:lnTo>
                  <a:lnTo>
                    <a:pt x="1447" y="1828"/>
                  </a:lnTo>
                  <a:lnTo>
                    <a:pt x="1462" y="1818"/>
                  </a:lnTo>
                  <a:lnTo>
                    <a:pt x="1483" y="1808"/>
                  </a:lnTo>
                  <a:lnTo>
                    <a:pt x="1515" y="1812"/>
                  </a:lnTo>
                  <a:lnTo>
                    <a:pt x="1551" y="1832"/>
                  </a:lnTo>
                  <a:lnTo>
                    <a:pt x="1575" y="1845"/>
                  </a:lnTo>
                  <a:lnTo>
                    <a:pt x="1611" y="1871"/>
                  </a:lnTo>
                  <a:lnTo>
                    <a:pt x="1616" y="1879"/>
                  </a:lnTo>
                  <a:lnTo>
                    <a:pt x="1624" y="1887"/>
                  </a:lnTo>
                  <a:lnTo>
                    <a:pt x="1668" y="1893"/>
                  </a:lnTo>
                  <a:lnTo>
                    <a:pt x="1731" y="1886"/>
                  </a:lnTo>
                  <a:lnTo>
                    <a:pt x="1799" y="1868"/>
                  </a:lnTo>
                  <a:lnTo>
                    <a:pt x="1829" y="1856"/>
                  </a:lnTo>
                  <a:lnTo>
                    <a:pt x="1849" y="1844"/>
                  </a:lnTo>
                  <a:lnTo>
                    <a:pt x="1884" y="1821"/>
                  </a:lnTo>
                  <a:lnTo>
                    <a:pt x="1912" y="1791"/>
                  </a:lnTo>
                  <a:lnTo>
                    <a:pt x="1937" y="1750"/>
                  </a:lnTo>
                  <a:lnTo>
                    <a:pt x="1951" y="1724"/>
                  </a:lnTo>
                  <a:lnTo>
                    <a:pt x="1970" y="1683"/>
                  </a:lnTo>
                  <a:lnTo>
                    <a:pt x="2000" y="1604"/>
                  </a:lnTo>
                  <a:lnTo>
                    <a:pt x="2022" y="1529"/>
                  </a:lnTo>
                  <a:lnTo>
                    <a:pt x="2032" y="1460"/>
                  </a:lnTo>
                  <a:lnTo>
                    <a:pt x="2033" y="1429"/>
                  </a:lnTo>
                  <a:lnTo>
                    <a:pt x="2035" y="1405"/>
                  </a:lnTo>
                  <a:lnTo>
                    <a:pt x="2045" y="1373"/>
                  </a:lnTo>
                  <a:lnTo>
                    <a:pt x="2052" y="1370"/>
                  </a:lnTo>
                  <a:lnTo>
                    <a:pt x="2055" y="1367"/>
                  </a:lnTo>
                  <a:lnTo>
                    <a:pt x="2062" y="1350"/>
                  </a:lnTo>
                  <a:lnTo>
                    <a:pt x="2068" y="1303"/>
                  </a:lnTo>
                  <a:lnTo>
                    <a:pt x="2069" y="1222"/>
                  </a:lnTo>
                  <a:lnTo>
                    <a:pt x="2061" y="1157"/>
                  </a:lnTo>
                  <a:lnTo>
                    <a:pt x="2054" y="1147"/>
                  </a:lnTo>
                  <a:lnTo>
                    <a:pt x="2048" y="1137"/>
                  </a:lnTo>
                  <a:lnTo>
                    <a:pt x="2032" y="1075"/>
                  </a:lnTo>
                  <a:lnTo>
                    <a:pt x="2026" y="1033"/>
                  </a:lnTo>
                  <a:lnTo>
                    <a:pt x="2019" y="976"/>
                  </a:lnTo>
                  <a:lnTo>
                    <a:pt x="2000" y="884"/>
                  </a:lnTo>
                  <a:lnTo>
                    <a:pt x="1973" y="809"/>
                  </a:lnTo>
                  <a:lnTo>
                    <a:pt x="1933" y="747"/>
                  </a:lnTo>
                  <a:lnTo>
                    <a:pt x="1908" y="717"/>
                  </a:lnTo>
                  <a:lnTo>
                    <a:pt x="1840" y="643"/>
                  </a:lnTo>
                  <a:lnTo>
                    <a:pt x="1812" y="695"/>
                  </a:lnTo>
                  <a:lnTo>
                    <a:pt x="1780" y="754"/>
                  </a:lnTo>
                  <a:lnTo>
                    <a:pt x="1745" y="826"/>
                  </a:lnTo>
                  <a:lnTo>
                    <a:pt x="1728" y="856"/>
                  </a:lnTo>
                  <a:lnTo>
                    <a:pt x="1698" y="898"/>
                  </a:lnTo>
                  <a:lnTo>
                    <a:pt x="1688" y="902"/>
                  </a:lnTo>
                  <a:lnTo>
                    <a:pt x="1681" y="902"/>
                  </a:lnTo>
                  <a:lnTo>
                    <a:pt x="1675" y="908"/>
                  </a:lnTo>
                  <a:lnTo>
                    <a:pt x="1679" y="912"/>
                  </a:lnTo>
                  <a:lnTo>
                    <a:pt x="1681" y="922"/>
                  </a:lnTo>
                  <a:lnTo>
                    <a:pt x="1657" y="970"/>
                  </a:lnTo>
                  <a:lnTo>
                    <a:pt x="1637" y="1000"/>
                  </a:lnTo>
                  <a:lnTo>
                    <a:pt x="1617" y="1032"/>
                  </a:lnTo>
                  <a:lnTo>
                    <a:pt x="1594" y="1079"/>
                  </a:lnTo>
                  <a:lnTo>
                    <a:pt x="1596" y="1090"/>
                  </a:lnTo>
                  <a:lnTo>
                    <a:pt x="1600" y="1092"/>
                  </a:lnTo>
                  <a:lnTo>
                    <a:pt x="1594" y="1100"/>
                  </a:lnTo>
                  <a:lnTo>
                    <a:pt x="1587" y="1100"/>
                  </a:lnTo>
                  <a:lnTo>
                    <a:pt x="1577" y="1104"/>
                  </a:lnTo>
                  <a:lnTo>
                    <a:pt x="1549" y="1140"/>
                  </a:lnTo>
                  <a:lnTo>
                    <a:pt x="1535" y="1166"/>
                  </a:lnTo>
                  <a:lnTo>
                    <a:pt x="1515" y="1200"/>
                  </a:lnTo>
                  <a:lnTo>
                    <a:pt x="1428" y="1308"/>
                  </a:lnTo>
                  <a:lnTo>
                    <a:pt x="1375" y="1366"/>
                  </a:lnTo>
                  <a:lnTo>
                    <a:pt x="1246" y="1501"/>
                  </a:lnTo>
                  <a:lnTo>
                    <a:pt x="1133" y="1493"/>
                  </a:lnTo>
                  <a:lnTo>
                    <a:pt x="1099" y="1490"/>
                  </a:lnTo>
                  <a:lnTo>
                    <a:pt x="1050" y="1481"/>
                  </a:lnTo>
                  <a:lnTo>
                    <a:pt x="1014" y="1468"/>
                  </a:lnTo>
                  <a:lnTo>
                    <a:pt x="985" y="1444"/>
                  </a:lnTo>
                  <a:lnTo>
                    <a:pt x="968" y="1425"/>
                  </a:lnTo>
                  <a:lnTo>
                    <a:pt x="916" y="1367"/>
                  </a:lnTo>
                  <a:lnTo>
                    <a:pt x="871" y="1422"/>
                  </a:lnTo>
                  <a:lnTo>
                    <a:pt x="842" y="1455"/>
                  </a:lnTo>
                  <a:lnTo>
                    <a:pt x="782" y="1504"/>
                  </a:lnTo>
                  <a:lnTo>
                    <a:pt x="720" y="1536"/>
                  </a:lnTo>
                  <a:lnTo>
                    <a:pt x="655" y="1547"/>
                  </a:lnTo>
                  <a:lnTo>
                    <a:pt x="622" y="1546"/>
                  </a:lnTo>
                  <a:lnTo>
                    <a:pt x="590" y="1542"/>
                  </a:lnTo>
                  <a:lnTo>
                    <a:pt x="537" y="1520"/>
                  </a:lnTo>
                  <a:lnTo>
                    <a:pt x="494" y="1487"/>
                  </a:lnTo>
                  <a:lnTo>
                    <a:pt x="461" y="1441"/>
                  </a:lnTo>
                  <a:lnTo>
                    <a:pt x="438" y="1380"/>
                  </a:lnTo>
                  <a:lnTo>
                    <a:pt x="425" y="1308"/>
                  </a:lnTo>
                  <a:lnTo>
                    <a:pt x="423" y="1223"/>
                  </a:lnTo>
                  <a:lnTo>
                    <a:pt x="432" y="1126"/>
                  </a:lnTo>
                  <a:lnTo>
                    <a:pt x="441" y="1071"/>
                  </a:lnTo>
                  <a:lnTo>
                    <a:pt x="454" y="1006"/>
                  </a:lnTo>
                  <a:lnTo>
                    <a:pt x="477" y="917"/>
                  </a:lnTo>
                  <a:lnTo>
                    <a:pt x="485" y="905"/>
                  </a:lnTo>
                  <a:lnTo>
                    <a:pt x="492" y="901"/>
                  </a:lnTo>
                  <a:lnTo>
                    <a:pt x="502" y="884"/>
                  </a:lnTo>
                  <a:lnTo>
                    <a:pt x="504" y="875"/>
                  </a:lnTo>
                  <a:lnTo>
                    <a:pt x="505" y="861"/>
                  </a:lnTo>
                  <a:lnTo>
                    <a:pt x="523" y="817"/>
                  </a:lnTo>
                  <a:lnTo>
                    <a:pt x="547" y="767"/>
                  </a:lnTo>
                  <a:lnTo>
                    <a:pt x="572" y="731"/>
                  </a:lnTo>
                  <a:lnTo>
                    <a:pt x="580" y="725"/>
                  </a:lnTo>
                  <a:lnTo>
                    <a:pt x="586" y="721"/>
                  </a:lnTo>
                  <a:lnTo>
                    <a:pt x="593" y="706"/>
                  </a:lnTo>
                  <a:lnTo>
                    <a:pt x="593" y="696"/>
                  </a:lnTo>
                  <a:lnTo>
                    <a:pt x="598" y="681"/>
                  </a:lnTo>
                  <a:lnTo>
                    <a:pt x="638" y="634"/>
                  </a:lnTo>
                  <a:lnTo>
                    <a:pt x="703" y="578"/>
                  </a:lnTo>
                  <a:lnTo>
                    <a:pt x="779" y="527"/>
                  </a:lnTo>
                  <a:lnTo>
                    <a:pt x="815" y="508"/>
                  </a:lnTo>
                  <a:lnTo>
                    <a:pt x="860" y="488"/>
                  </a:lnTo>
                  <a:lnTo>
                    <a:pt x="943" y="470"/>
                  </a:lnTo>
                  <a:lnTo>
                    <a:pt x="989" y="473"/>
                  </a:lnTo>
                  <a:lnTo>
                    <a:pt x="1030" y="475"/>
                  </a:lnTo>
                  <a:lnTo>
                    <a:pt x="1068" y="469"/>
                  </a:lnTo>
                  <a:lnTo>
                    <a:pt x="1083" y="462"/>
                  </a:lnTo>
                  <a:lnTo>
                    <a:pt x="1087" y="457"/>
                  </a:lnTo>
                  <a:lnTo>
                    <a:pt x="1094" y="442"/>
                  </a:lnTo>
                  <a:lnTo>
                    <a:pt x="1126" y="414"/>
                  </a:lnTo>
                  <a:lnTo>
                    <a:pt x="1166" y="393"/>
                  </a:lnTo>
                  <a:lnTo>
                    <a:pt x="1204" y="385"/>
                  </a:lnTo>
                  <a:lnTo>
                    <a:pt x="1218" y="388"/>
                  </a:lnTo>
                  <a:lnTo>
                    <a:pt x="1246" y="400"/>
                  </a:lnTo>
                  <a:lnTo>
                    <a:pt x="1263" y="401"/>
                  </a:lnTo>
                  <a:lnTo>
                    <a:pt x="1267" y="403"/>
                  </a:lnTo>
                  <a:lnTo>
                    <a:pt x="1280" y="430"/>
                  </a:lnTo>
                  <a:lnTo>
                    <a:pt x="1286" y="452"/>
                  </a:lnTo>
                  <a:lnTo>
                    <a:pt x="1289" y="480"/>
                  </a:lnTo>
                  <a:lnTo>
                    <a:pt x="1277" y="596"/>
                  </a:lnTo>
                  <a:lnTo>
                    <a:pt x="1256" y="727"/>
                  </a:lnTo>
                  <a:lnTo>
                    <a:pt x="1237" y="800"/>
                  </a:lnTo>
                  <a:lnTo>
                    <a:pt x="1225" y="827"/>
                  </a:lnTo>
                  <a:lnTo>
                    <a:pt x="1221" y="830"/>
                  </a:lnTo>
                  <a:lnTo>
                    <a:pt x="1214" y="839"/>
                  </a:lnTo>
                  <a:lnTo>
                    <a:pt x="1191" y="933"/>
                  </a:lnTo>
                  <a:lnTo>
                    <a:pt x="1176" y="1000"/>
                  </a:lnTo>
                  <a:lnTo>
                    <a:pt x="1162" y="1069"/>
                  </a:lnTo>
                  <a:lnTo>
                    <a:pt x="1138" y="1161"/>
                  </a:lnTo>
                  <a:lnTo>
                    <a:pt x="1130" y="1172"/>
                  </a:lnTo>
                  <a:lnTo>
                    <a:pt x="1122" y="1173"/>
                  </a:lnTo>
                  <a:lnTo>
                    <a:pt x="1115" y="1193"/>
                  </a:lnTo>
                  <a:lnTo>
                    <a:pt x="1119" y="1222"/>
                  </a:lnTo>
                  <a:lnTo>
                    <a:pt x="1130" y="1249"/>
                  </a:lnTo>
                  <a:lnTo>
                    <a:pt x="1139" y="1258"/>
                  </a:lnTo>
                  <a:lnTo>
                    <a:pt x="1145" y="1262"/>
                  </a:lnTo>
                  <a:lnTo>
                    <a:pt x="1161" y="1267"/>
                  </a:lnTo>
                  <a:lnTo>
                    <a:pt x="1187" y="1261"/>
                  </a:lnTo>
                  <a:lnTo>
                    <a:pt x="1224" y="1233"/>
                  </a:lnTo>
                  <a:lnTo>
                    <a:pt x="1257" y="1189"/>
                  </a:lnTo>
                  <a:lnTo>
                    <a:pt x="1270" y="1161"/>
                  </a:lnTo>
                  <a:lnTo>
                    <a:pt x="1282" y="1136"/>
                  </a:lnTo>
                  <a:lnTo>
                    <a:pt x="1303" y="1102"/>
                  </a:lnTo>
                  <a:lnTo>
                    <a:pt x="1312" y="1100"/>
                  </a:lnTo>
                  <a:lnTo>
                    <a:pt x="1320" y="1097"/>
                  </a:lnTo>
                  <a:lnTo>
                    <a:pt x="1338" y="1059"/>
                  </a:lnTo>
                  <a:lnTo>
                    <a:pt x="1358" y="957"/>
                  </a:lnTo>
                  <a:lnTo>
                    <a:pt x="1375" y="764"/>
                  </a:lnTo>
                  <a:lnTo>
                    <a:pt x="1374" y="620"/>
                  </a:lnTo>
                  <a:lnTo>
                    <a:pt x="1368" y="538"/>
                  </a:lnTo>
                  <a:lnTo>
                    <a:pt x="1362" y="506"/>
                  </a:lnTo>
                  <a:lnTo>
                    <a:pt x="1352" y="475"/>
                  </a:lnTo>
                  <a:lnTo>
                    <a:pt x="1303" y="394"/>
                  </a:lnTo>
                  <a:lnTo>
                    <a:pt x="1272" y="357"/>
                  </a:lnTo>
                  <a:lnTo>
                    <a:pt x="1248" y="331"/>
                  </a:lnTo>
                  <a:lnTo>
                    <a:pt x="1211" y="295"/>
                  </a:lnTo>
                  <a:lnTo>
                    <a:pt x="1172" y="272"/>
                  </a:lnTo>
                  <a:lnTo>
                    <a:pt x="1126" y="257"/>
                  </a:lnTo>
                  <a:lnTo>
                    <a:pt x="1096" y="250"/>
                  </a:lnTo>
                  <a:lnTo>
                    <a:pt x="1038" y="240"/>
                  </a:lnTo>
                  <a:lnTo>
                    <a:pt x="946" y="241"/>
                  </a:lnTo>
                  <a:lnTo>
                    <a:pt x="888" y="254"/>
                  </a:lnTo>
                  <a:lnTo>
                    <a:pt x="855" y="262"/>
                  </a:lnTo>
                  <a:lnTo>
                    <a:pt x="802" y="283"/>
                  </a:lnTo>
                  <a:lnTo>
                    <a:pt x="752" y="316"/>
                  </a:lnTo>
                  <a:lnTo>
                    <a:pt x="688" y="374"/>
                  </a:lnTo>
                  <a:lnTo>
                    <a:pt x="645" y="416"/>
                  </a:lnTo>
                  <a:lnTo>
                    <a:pt x="577" y="486"/>
                  </a:lnTo>
                  <a:lnTo>
                    <a:pt x="504" y="580"/>
                  </a:lnTo>
                  <a:lnTo>
                    <a:pt x="465" y="643"/>
                  </a:lnTo>
                  <a:lnTo>
                    <a:pt x="448" y="676"/>
                  </a:lnTo>
                  <a:lnTo>
                    <a:pt x="400" y="780"/>
                  </a:lnTo>
                  <a:lnTo>
                    <a:pt x="384" y="820"/>
                  </a:lnTo>
                  <a:lnTo>
                    <a:pt x="379" y="846"/>
                  </a:lnTo>
                  <a:lnTo>
                    <a:pt x="363" y="885"/>
                  </a:lnTo>
                  <a:lnTo>
                    <a:pt x="347" y="941"/>
                  </a:lnTo>
                  <a:lnTo>
                    <a:pt x="333" y="1020"/>
                  </a:lnTo>
                  <a:lnTo>
                    <a:pt x="321" y="1095"/>
                  </a:lnTo>
                  <a:lnTo>
                    <a:pt x="311" y="1136"/>
                  </a:lnTo>
                  <a:lnTo>
                    <a:pt x="304" y="1157"/>
                  </a:lnTo>
                  <a:lnTo>
                    <a:pt x="297" y="1233"/>
                  </a:lnTo>
                  <a:lnTo>
                    <a:pt x="295" y="1323"/>
                  </a:lnTo>
                  <a:lnTo>
                    <a:pt x="301" y="1395"/>
                  </a:lnTo>
                  <a:lnTo>
                    <a:pt x="307" y="1415"/>
                  </a:lnTo>
                  <a:lnTo>
                    <a:pt x="324" y="1454"/>
                  </a:lnTo>
                  <a:lnTo>
                    <a:pt x="340" y="1497"/>
                  </a:lnTo>
                  <a:lnTo>
                    <a:pt x="344" y="1509"/>
                  </a:lnTo>
                  <a:lnTo>
                    <a:pt x="363" y="1530"/>
                  </a:lnTo>
                  <a:lnTo>
                    <a:pt x="407" y="1566"/>
                  </a:lnTo>
                  <a:lnTo>
                    <a:pt x="490" y="1609"/>
                  </a:lnTo>
                  <a:lnTo>
                    <a:pt x="583" y="1641"/>
                  </a:lnTo>
                  <a:lnTo>
                    <a:pt x="629" y="1648"/>
                  </a:lnTo>
                  <a:lnTo>
                    <a:pt x="671" y="1651"/>
                  </a:lnTo>
                  <a:lnTo>
                    <a:pt x="806" y="1647"/>
                  </a:lnTo>
                  <a:lnTo>
                    <a:pt x="955" y="1632"/>
                  </a:lnTo>
                  <a:lnTo>
                    <a:pt x="1061" y="1615"/>
                  </a:lnTo>
                  <a:lnTo>
                    <a:pt x="1077" y="1608"/>
                  </a:lnTo>
                  <a:lnTo>
                    <a:pt x="1112" y="1589"/>
                  </a:lnTo>
                  <a:lnTo>
                    <a:pt x="1202" y="1559"/>
                  </a:lnTo>
                  <a:lnTo>
                    <a:pt x="1248" y="1545"/>
                  </a:lnTo>
                  <a:lnTo>
                    <a:pt x="1315" y="1517"/>
                  </a:lnTo>
                  <a:lnTo>
                    <a:pt x="1326" y="1510"/>
                  </a:lnTo>
                  <a:lnTo>
                    <a:pt x="1329" y="1507"/>
                  </a:lnTo>
                  <a:lnTo>
                    <a:pt x="1338" y="1511"/>
                  </a:lnTo>
                  <a:lnTo>
                    <a:pt x="1361" y="1532"/>
                  </a:lnTo>
                  <a:lnTo>
                    <a:pt x="1378" y="1557"/>
                  </a:lnTo>
                  <a:lnTo>
                    <a:pt x="1407" y="1601"/>
                  </a:lnTo>
                  <a:lnTo>
                    <a:pt x="1421" y="1642"/>
                  </a:lnTo>
                  <a:lnTo>
                    <a:pt x="1416" y="1657"/>
                  </a:lnTo>
                  <a:lnTo>
                    <a:pt x="1407" y="1658"/>
                  </a:lnTo>
                  <a:lnTo>
                    <a:pt x="1401" y="1660"/>
                  </a:lnTo>
                  <a:lnTo>
                    <a:pt x="1384" y="1683"/>
                  </a:lnTo>
                  <a:lnTo>
                    <a:pt x="1377" y="1699"/>
                  </a:lnTo>
                  <a:lnTo>
                    <a:pt x="1367" y="1716"/>
                  </a:lnTo>
                  <a:lnTo>
                    <a:pt x="1335" y="1746"/>
                  </a:lnTo>
                  <a:lnTo>
                    <a:pt x="1319" y="1756"/>
                  </a:lnTo>
                  <a:lnTo>
                    <a:pt x="1302" y="1763"/>
                  </a:lnTo>
                  <a:lnTo>
                    <a:pt x="1280" y="1781"/>
                  </a:lnTo>
                  <a:lnTo>
                    <a:pt x="1277" y="1788"/>
                  </a:lnTo>
                  <a:lnTo>
                    <a:pt x="1276" y="1794"/>
                  </a:lnTo>
                  <a:lnTo>
                    <a:pt x="1267" y="1801"/>
                  </a:lnTo>
                  <a:lnTo>
                    <a:pt x="1261" y="1802"/>
                  </a:lnTo>
                  <a:lnTo>
                    <a:pt x="1230" y="1811"/>
                  </a:lnTo>
                  <a:lnTo>
                    <a:pt x="1159" y="1841"/>
                  </a:lnTo>
                  <a:lnTo>
                    <a:pt x="1089" y="1871"/>
                  </a:lnTo>
                  <a:lnTo>
                    <a:pt x="1061" y="1883"/>
                  </a:lnTo>
                  <a:lnTo>
                    <a:pt x="1051" y="1886"/>
                  </a:lnTo>
                  <a:lnTo>
                    <a:pt x="1034" y="1896"/>
                  </a:lnTo>
                  <a:lnTo>
                    <a:pt x="1011" y="1906"/>
                  </a:lnTo>
                  <a:lnTo>
                    <a:pt x="910" y="1923"/>
                  </a:lnTo>
                  <a:lnTo>
                    <a:pt x="778" y="1938"/>
                  </a:lnTo>
                  <a:lnTo>
                    <a:pt x="644" y="1942"/>
                  </a:lnTo>
                  <a:lnTo>
                    <a:pt x="587" y="1940"/>
                  </a:lnTo>
                  <a:lnTo>
                    <a:pt x="513" y="1935"/>
                  </a:lnTo>
                  <a:lnTo>
                    <a:pt x="400" y="1917"/>
                  </a:lnTo>
                  <a:lnTo>
                    <a:pt x="317" y="1884"/>
                  </a:lnTo>
                  <a:lnTo>
                    <a:pt x="242" y="1828"/>
                  </a:lnTo>
                  <a:lnTo>
                    <a:pt x="199" y="1788"/>
                  </a:lnTo>
                  <a:lnTo>
                    <a:pt x="161" y="1748"/>
                  </a:lnTo>
                  <a:lnTo>
                    <a:pt x="99" y="1665"/>
                  </a:lnTo>
                  <a:lnTo>
                    <a:pt x="57" y="1582"/>
                  </a:lnTo>
                  <a:lnTo>
                    <a:pt x="37" y="1498"/>
                  </a:lnTo>
                  <a:lnTo>
                    <a:pt x="36" y="1458"/>
                  </a:lnTo>
                  <a:lnTo>
                    <a:pt x="34" y="1438"/>
                  </a:lnTo>
                  <a:lnTo>
                    <a:pt x="24" y="1403"/>
                  </a:lnTo>
                  <a:lnTo>
                    <a:pt x="17" y="1396"/>
                  </a:lnTo>
                  <a:lnTo>
                    <a:pt x="10" y="1389"/>
                  </a:lnTo>
                  <a:lnTo>
                    <a:pt x="0" y="1354"/>
                  </a:lnTo>
                  <a:lnTo>
                    <a:pt x="0" y="1331"/>
                  </a:lnTo>
                  <a:lnTo>
                    <a:pt x="0" y="1311"/>
                  </a:lnTo>
                  <a:lnTo>
                    <a:pt x="10" y="1282"/>
                  </a:lnTo>
                  <a:lnTo>
                    <a:pt x="17" y="1280"/>
                  </a:lnTo>
                  <a:lnTo>
                    <a:pt x="24" y="1275"/>
                  </a:lnTo>
                  <a:lnTo>
                    <a:pt x="34" y="1232"/>
                  </a:lnTo>
                  <a:lnTo>
                    <a:pt x="36" y="1200"/>
                  </a:lnTo>
                  <a:lnTo>
                    <a:pt x="37" y="1163"/>
                  </a:lnTo>
                  <a:lnTo>
                    <a:pt x="52" y="1049"/>
                  </a:lnTo>
                  <a:lnTo>
                    <a:pt x="75" y="930"/>
                  </a:lnTo>
                  <a:lnTo>
                    <a:pt x="96" y="843"/>
                  </a:lnTo>
                  <a:lnTo>
                    <a:pt x="105" y="830"/>
                  </a:lnTo>
                  <a:lnTo>
                    <a:pt x="112" y="822"/>
                  </a:lnTo>
                  <a:lnTo>
                    <a:pt x="131" y="773"/>
                  </a:lnTo>
                  <a:lnTo>
                    <a:pt x="141" y="740"/>
                  </a:lnTo>
                  <a:lnTo>
                    <a:pt x="154" y="702"/>
                  </a:lnTo>
                  <a:lnTo>
                    <a:pt x="193" y="614"/>
                  </a:lnTo>
                  <a:lnTo>
                    <a:pt x="213" y="578"/>
                  </a:lnTo>
                  <a:lnTo>
                    <a:pt x="253" y="508"/>
                  </a:lnTo>
                  <a:lnTo>
                    <a:pt x="275" y="466"/>
                  </a:lnTo>
                  <a:lnTo>
                    <a:pt x="279" y="453"/>
                  </a:lnTo>
                  <a:lnTo>
                    <a:pt x="297" y="436"/>
                  </a:lnTo>
                  <a:lnTo>
                    <a:pt x="305" y="434"/>
                  </a:lnTo>
                  <a:lnTo>
                    <a:pt x="312" y="433"/>
                  </a:lnTo>
                  <a:lnTo>
                    <a:pt x="322" y="419"/>
                  </a:lnTo>
                  <a:lnTo>
                    <a:pt x="324" y="408"/>
                  </a:lnTo>
                  <a:lnTo>
                    <a:pt x="331" y="390"/>
                  </a:lnTo>
                  <a:lnTo>
                    <a:pt x="403" y="305"/>
                  </a:lnTo>
                  <a:lnTo>
                    <a:pt x="507" y="200"/>
                  </a:lnTo>
                  <a:lnTo>
                    <a:pt x="602" y="116"/>
                  </a:lnTo>
                  <a:lnTo>
                    <a:pt x="629" y="99"/>
                  </a:lnTo>
                  <a:lnTo>
                    <a:pt x="684" y="74"/>
                  </a:lnTo>
                  <a:lnTo>
                    <a:pt x="759" y="40"/>
                  </a:lnTo>
                  <a:lnTo>
                    <a:pt x="783" y="28"/>
                  </a:lnTo>
                  <a:lnTo>
                    <a:pt x="832" y="14"/>
                  </a:lnTo>
                  <a:lnTo>
                    <a:pt x="916" y="1"/>
                  </a:lnTo>
                  <a:lnTo>
                    <a:pt x="998" y="0"/>
                  </a:lnTo>
                  <a:lnTo>
                    <a:pt x="1050" y="0"/>
                  </a:lnTo>
                  <a:lnTo>
                    <a:pt x="1127" y="5"/>
                  </a:lnTo>
                  <a:lnTo>
                    <a:pt x="1195" y="21"/>
                  </a:lnTo>
                  <a:lnTo>
                    <a:pt x="1273" y="53"/>
                  </a:lnTo>
                  <a:lnTo>
                    <a:pt x="1326" y="77"/>
                  </a:lnTo>
                  <a:lnTo>
                    <a:pt x="1351" y="92"/>
                  </a:lnTo>
                  <a:lnTo>
                    <a:pt x="1413" y="143"/>
                  </a:lnTo>
                  <a:lnTo>
                    <a:pt x="1476" y="210"/>
                  </a:lnTo>
                  <a:lnTo>
                    <a:pt x="1526" y="273"/>
                  </a:lnTo>
                  <a:lnTo>
                    <a:pt x="1541" y="299"/>
                  </a:lnTo>
                  <a:lnTo>
                    <a:pt x="1555" y="332"/>
                  </a:lnTo>
                  <a:lnTo>
                    <a:pt x="1564" y="318"/>
                  </a:lnTo>
                  <a:lnTo>
                    <a:pt x="1565" y="259"/>
                  </a:lnTo>
                  <a:lnTo>
                    <a:pt x="1567" y="221"/>
                  </a:lnTo>
                  <a:lnTo>
                    <a:pt x="1577" y="164"/>
                  </a:lnTo>
                  <a:lnTo>
                    <a:pt x="1584" y="155"/>
                  </a:lnTo>
                  <a:lnTo>
                    <a:pt x="1591" y="149"/>
                  </a:lnTo>
                  <a:lnTo>
                    <a:pt x="1596" y="135"/>
                  </a:lnTo>
                  <a:lnTo>
                    <a:pt x="1593" y="128"/>
                  </a:lnTo>
                  <a:lnTo>
                    <a:pt x="1593" y="119"/>
                  </a:lnTo>
                  <a:lnTo>
                    <a:pt x="1627" y="79"/>
                  </a:lnTo>
                  <a:lnTo>
                    <a:pt x="1656" y="56"/>
                  </a:lnTo>
                  <a:lnTo>
                    <a:pt x="1679" y="37"/>
                  </a:lnTo>
                  <a:lnTo>
                    <a:pt x="1717" y="14"/>
                  </a:lnTo>
                  <a:lnTo>
                    <a:pt x="1753" y="4"/>
                  </a:lnTo>
                  <a:lnTo>
                    <a:pt x="1800" y="2"/>
                  </a:lnTo>
                  <a:lnTo>
                    <a:pt x="1833" y="5"/>
                  </a:lnTo>
                  <a:lnTo>
                    <a:pt x="1889" y="11"/>
                  </a:lnTo>
                  <a:lnTo>
                    <a:pt x="1951" y="30"/>
                  </a:lnTo>
                  <a:lnTo>
                    <a:pt x="1987" y="50"/>
                  </a:lnTo>
                  <a:lnTo>
                    <a:pt x="2005" y="63"/>
                  </a:lnTo>
                  <a:lnTo>
                    <a:pt x="2069" y="112"/>
                  </a:lnTo>
                  <a:lnTo>
                    <a:pt x="2033" y="158"/>
                  </a:lnTo>
                  <a:lnTo>
                    <a:pt x="2020" y="178"/>
                  </a:lnTo>
                  <a:lnTo>
                    <a:pt x="2003" y="230"/>
                  </a:lnTo>
                  <a:lnTo>
                    <a:pt x="1997" y="286"/>
                  </a:lnTo>
                  <a:lnTo>
                    <a:pt x="2006" y="339"/>
                  </a:lnTo>
                  <a:lnTo>
                    <a:pt x="2016" y="362"/>
                  </a:lnTo>
                  <a:lnTo>
                    <a:pt x="2033" y="387"/>
                  </a:lnTo>
                  <a:lnTo>
                    <a:pt x="2156" y="516"/>
                  </a:lnTo>
                  <a:lnTo>
                    <a:pt x="2239" y="600"/>
                  </a:lnTo>
                  <a:lnTo>
                    <a:pt x="2321" y="683"/>
                  </a:lnTo>
                  <a:lnTo>
                    <a:pt x="2439" y="819"/>
                  </a:lnTo>
                  <a:lnTo>
                    <a:pt x="2457" y="848"/>
                  </a:lnTo>
                  <a:lnTo>
                    <a:pt x="2477" y="897"/>
                  </a:lnTo>
                  <a:lnTo>
                    <a:pt x="2510" y="956"/>
                  </a:lnTo>
                  <a:lnTo>
                    <a:pt x="2529" y="986"/>
                  </a:lnTo>
                  <a:lnTo>
                    <a:pt x="2562" y="1075"/>
                  </a:lnTo>
                  <a:lnTo>
                    <a:pt x="2573" y="1118"/>
                  </a:lnTo>
                  <a:lnTo>
                    <a:pt x="2594" y="1202"/>
                  </a:lnTo>
                  <a:lnTo>
                    <a:pt x="2611" y="1248"/>
                  </a:lnTo>
                  <a:lnTo>
                    <a:pt x="2618" y="1264"/>
                  </a:lnTo>
                  <a:lnTo>
                    <a:pt x="2627" y="1311"/>
                  </a:lnTo>
                  <a:lnTo>
                    <a:pt x="2627" y="1363"/>
                  </a:lnTo>
                  <a:lnTo>
                    <a:pt x="2619" y="1403"/>
                  </a:lnTo>
                  <a:lnTo>
                    <a:pt x="2614" y="1415"/>
                  </a:lnTo>
                  <a:lnTo>
                    <a:pt x="2605" y="1428"/>
                  </a:lnTo>
                  <a:lnTo>
                    <a:pt x="2583" y="1496"/>
                  </a:lnTo>
                  <a:lnTo>
                    <a:pt x="2573" y="1539"/>
                  </a:lnTo>
                  <a:lnTo>
                    <a:pt x="2562" y="1581"/>
                  </a:lnTo>
                  <a:lnTo>
                    <a:pt x="2536" y="1642"/>
                  </a:lnTo>
                  <a:lnTo>
                    <a:pt x="2524" y="1653"/>
                  </a:lnTo>
                  <a:lnTo>
                    <a:pt x="2516" y="1657"/>
                  </a:lnTo>
                  <a:lnTo>
                    <a:pt x="2503" y="1673"/>
                  </a:lnTo>
                  <a:lnTo>
                    <a:pt x="2501" y="1683"/>
                  </a:lnTo>
                  <a:lnTo>
                    <a:pt x="2494" y="1700"/>
                  </a:lnTo>
                  <a:lnTo>
                    <a:pt x="2427" y="1778"/>
                  </a:lnTo>
                  <a:lnTo>
                    <a:pt x="2331" y="1870"/>
                  </a:lnTo>
                  <a:lnTo>
                    <a:pt x="2252" y="1938"/>
                  </a:lnTo>
                  <a:lnTo>
                    <a:pt x="2235" y="1946"/>
                  </a:lnTo>
                  <a:lnTo>
                    <a:pt x="2226" y="1946"/>
                  </a:lnTo>
                  <a:lnTo>
                    <a:pt x="2215" y="1955"/>
                  </a:lnTo>
                  <a:lnTo>
                    <a:pt x="2213" y="1962"/>
                  </a:lnTo>
                  <a:lnTo>
                    <a:pt x="2209" y="1971"/>
                  </a:lnTo>
                  <a:lnTo>
                    <a:pt x="2162" y="1994"/>
                  </a:lnTo>
                  <a:lnTo>
                    <a:pt x="2087" y="2020"/>
                  </a:lnTo>
                  <a:lnTo>
                    <a:pt x="1999" y="2040"/>
                  </a:lnTo>
                  <a:lnTo>
                    <a:pt x="1956" y="2047"/>
                  </a:lnTo>
                  <a:lnTo>
                    <a:pt x="1921" y="2053"/>
                  </a:lnTo>
                  <a:lnTo>
                    <a:pt x="1869" y="2067"/>
                  </a:lnTo>
                  <a:lnTo>
                    <a:pt x="1861" y="2073"/>
                  </a:lnTo>
                  <a:lnTo>
                    <a:pt x="1852" y="2080"/>
                  </a:lnTo>
                  <a:lnTo>
                    <a:pt x="1803" y="2089"/>
                  </a:lnTo>
                  <a:lnTo>
                    <a:pt x="1741" y="2087"/>
                  </a:lnTo>
                  <a:lnTo>
                    <a:pt x="1692" y="2079"/>
                  </a:lnTo>
                  <a:lnTo>
                    <a:pt x="1682" y="2072"/>
                  </a:lnTo>
                  <a:close/>
                  <a:moveTo>
                    <a:pt x="772" y="1321"/>
                  </a:moveTo>
                  <a:lnTo>
                    <a:pt x="788" y="1300"/>
                  </a:lnTo>
                  <a:lnTo>
                    <a:pt x="815" y="1248"/>
                  </a:lnTo>
                  <a:lnTo>
                    <a:pt x="822" y="1228"/>
                  </a:lnTo>
                  <a:lnTo>
                    <a:pt x="832" y="1187"/>
                  </a:lnTo>
                  <a:lnTo>
                    <a:pt x="845" y="1163"/>
                  </a:lnTo>
                  <a:lnTo>
                    <a:pt x="852" y="1147"/>
                  </a:lnTo>
                  <a:lnTo>
                    <a:pt x="877" y="1054"/>
                  </a:lnTo>
                  <a:lnTo>
                    <a:pt x="890" y="992"/>
                  </a:lnTo>
                  <a:lnTo>
                    <a:pt x="903" y="928"/>
                  </a:lnTo>
                  <a:lnTo>
                    <a:pt x="932" y="832"/>
                  </a:lnTo>
                  <a:lnTo>
                    <a:pt x="943" y="813"/>
                  </a:lnTo>
                  <a:lnTo>
                    <a:pt x="958" y="791"/>
                  </a:lnTo>
                  <a:lnTo>
                    <a:pt x="960" y="777"/>
                  </a:lnTo>
                  <a:lnTo>
                    <a:pt x="959" y="766"/>
                  </a:lnTo>
                  <a:lnTo>
                    <a:pt x="962" y="748"/>
                  </a:lnTo>
                  <a:lnTo>
                    <a:pt x="973" y="705"/>
                  </a:lnTo>
                  <a:lnTo>
                    <a:pt x="979" y="663"/>
                  </a:lnTo>
                  <a:lnTo>
                    <a:pt x="975" y="650"/>
                  </a:lnTo>
                  <a:lnTo>
                    <a:pt x="972" y="650"/>
                  </a:lnTo>
                  <a:lnTo>
                    <a:pt x="959" y="655"/>
                  </a:lnTo>
                  <a:lnTo>
                    <a:pt x="910" y="701"/>
                  </a:lnTo>
                  <a:lnTo>
                    <a:pt x="854" y="767"/>
                  </a:lnTo>
                  <a:lnTo>
                    <a:pt x="814" y="823"/>
                  </a:lnTo>
                  <a:lnTo>
                    <a:pt x="809" y="839"/>
                  </a:lnTo>
                  <a:lnTo>
                    <a:pt x="801" y="876"/>
                  </a:lnTo>
                  <a:lnTo>
                    <a:pt x="775" y="943"/>
                  </a:lnTo>
                  <a:lnTo>
                    <a:pt x="744" y="1015"/>
                  </a:lnTo>
                  <a:lnTo>
                    <a:pt x="721" y="1079"/>
                  </a:lnTo>
                  <a:lnTo>
                    <a:pt x="713" y="1113"/>
                  </a:lnTo>
                  <a:lnTo>
                    <a:pt x="703" y="1203"/>
                  </a:lnTo>
                  <a:lnTo>
                    <a:pt x="701" y="1298"/>
                  </a:lnTo>
                  <a:lnTo>
                    <a:pt x="707" y="1350"/>
                  </a:lnTo>
                  <a:lnTo>
                    <a:pt x="713" y="1367"/>
                  </a:lnTo>
                  <a:lnTo>
                    <a:pt x="717" y="1370"/>
                  </a:lnTo>
                  <a:lnTo>
                    <a:pt x="726" y="1367"/>
                  </a:lnTo>
                  <a:lnTo>
                    <a:pt x="756" y="1340"/>
                  </a:lnTo>
                  <a:lnTo>
                    <a:pt x="772" y="1321"/>
                  </a:lnTo>
                  <a:close/>
                  <a:moveTo>
                    <a:pt x="1650" y="466"/>
                  </a:moveTo>
                  <a:lnTo>
                    <a:pt x="1634" y="446"/>
                  </a:lnTo>
                  <a:lnTo>
                    <a:pt x="1604" y="419"/>
                  </a:lnTo>
                  <a:lnTo>
                    <a:pt x="1594" y="416"/>
                  </a:lnTo>
                  <a:lnTo>
                    <a:pt x="1587" y="417"/>
                  </a:lnTo>
                  <a:lnTo>
                    <a:pt x="1590" y="429"/>
                  </a:lnTo>
                  <a:lnTo>
                    <a:pt x="1598" y="437"/>
                  </a:lnTo>
                  <a:lnTo>
                    <a:pt x="1607" y="449"/>
                  </a:lnTo>
                  <a:lnTo>
                    <a:pt x="1619" y="486"/>
                  </a:lnTo>
                  <a:lnTo>
                    <a:pt x="1620" y="506"/>
                  </a:lnTo>
                  <a:lnTo>
                    <a:pt x="1620" y="528"/>
                  </a:lnTo>
                  <a:lnTo>
                    <a:pt x="1626" y="557"/>
                  </a:lnTo>
                  <a:lnTo>
                    <a:pt x="1637" y="568"/>
                  </a:lnTo>
                  <a:lnTo>
                    <a:pt x="1655" y="560"/>
                  </a:lnTo>
                  <a:lnTo>
                    <a:pt x="1665" y="547"/>
                  </a:lnTo>
                  <a:lnTo>
                    <a:pt x="1670" y="538"/>
                  </a:lnTo>
                  <a:lnTo>
                    <a:pt x="1676" y="521"/>
                  </a:lnTo>
                  <a:lnTo>
                    <a:pt x="1669" y="493"/>
                  </a:lnTo>
                  <a:lnTo>
                    <a:pt x="1650" y="466"/>
                  </a:lnTo>
                  <a:close/>
                </a:path>
              </a:pathLst>
            </a:custGeom>
            <a:solidFill>
              <a:srgbClr val="C00000"/>
            </a:solidFill>
            <a:ln>
              <a:noFill/>
            </a:ln>
          </p:spPr>
          <p:txBody>
            <a:bodyPr vert="horz" wrap="square" lIns="91440" tIns="45720" rIns="91440" bIns="45720" numCol="1" anchor="t" anchorCtr="0" compatLnSpc="1">
              <a:prstTxWarp prst="textNoShape">
                <a:avLst/>
              </a:prstTxWarp>
            </a:bodyPr>
            <a:lstStyle/>
            <a:p>
              <a:endParaRPr lang="es-PE"/>
            </a:p>
          </p:txBody>
        </p:sp>
        <p:sp>
          <p:nvSpPr>
            <p:cNvPr id="22" name="Freeform 20"/>
            <p:cNvSpPr>
              <a:spLocks noEditPoints="1"/>
            </p:cNvSpPr>
            <p:nvPr/>
          </p:nvSpPr>
          <p:spPr bwMode="auto">
            <a:xfrm>
              <a:off x="4369709" y="1514020"/>
              <a:ext cx="1085850" cy="1787525"/>
            </a:xfrm>
            <a:custGeom>
              <a:avLst/>
              <a:gdLst>
                <a:gd name="T0" fmla="*/ 82 w 2050"/>
                <a:gd name="T1" fmla="*/ 3295 h 3378"/>
                <a:gd name="T2" fmla="*/ 16 w 2050"/>
                <a:gd name="T3" fmla="*/ 2930 h 3378"/>
                <a:gd name="T4" fmla="*/ 215 w 2050"/>
                <a:gd name="T5" fmla="*/ 2628 h 3378"/>
                <a:gd name="T6" fmla="*/ 624 w 2050"/>
                <a:gd name="T7" fmla="*/ 2279 h 3378"/>
                <a:gd name="T8" fmla="*/ 736 w 2050"/>
                <a:gd name="T9" fmla="*/ 2206 h 3378"/>
                <a:gd name="T10" fmla="*/ 856 w 2050"/>
                <a:gd name="T11" fmla="*/ 2160 h 3378"/>
                <a:gd name="T12" fmla="*/ 889 w 2050"/>
                <a:gd name="T13" fmla="*/ 2127 h 3378"/>
                <a:gd name="T14" fmla="*/ 988 w 2050"/>
                <a:gd name="T15" fmla="*/ 2071 h 3378"/>
                <a:gd name="T16" fmla="*/ 1056 w 2050"/>
                <a:gd name="T17" fmla="*/ 1577 h 3378"/>
                <a:gd name="T18" fmla="*/ 1078 w 2050"/>
                <a:gd name="T19" fmla="*/ 1328 h 3378"/>
                <a:gd name="T20" fmla="*/ 1121 w 2050"/>
                <a:gd name="T21" fmla="*/ 861 h 3378"/>
                <a:gd name="T22" fmla="*/ 1175 w 2050"/>
                <a:gd name="T23" fmla="*/ 469 h 3378"/>
                <a:gd name="T24" fmla="*/ 1222 w 2050"/>
                <a:gd name="T25" fmla="*/ 264 h 3378"/>
                <a:gd name="T26" fmla="*/ 1284 w 2050"/>
                <a:gd name="T27" fmla="*/ 147 h 3378"/>
                <a:gd name="T28" fmla="*/ 1327 w 2050"/>
                <a:gd name="T29" fmla="*/ 72 h 3378"/>
                <a:gd name="T30" fmla="*/ 1422 w 2050"/>
                <a:gd name="T31" fmla="*/ 6 h 3378"/>
                <a:gd name="T32" fmla="*/ 1564 w 2050"/>
                <a:gd name="T33" fmla="*/ 39 h 3378"/>
                <a:gd name="T34" fmla="*/ 1652 w 2050"/>
                <a:gd name="T35" fmla="*/ 163 h 3378"/>
                <a:gd name="T36" fmla="*/ 1646 w 2050"/>
                <a:gd name="T37" fmla="*/ 412 h 3378"/>
                <a:gd name="T38" fmla="*/ 1587 w 2050"/>
                <a:gd name="T39" fmla="*/ 691 h 3378"/>
                <a:gd name="T40" fmla="*/ 1546 w 2050"/>
                <a:gd name="T41" fmla="*/ 994 h 3378"/>
                <a:gd name="T42" fmla="*/ 1488 w 2050"/>
                <a:gd name="T43" fmla="*/ 1532 h 3378"/>
                <a:gd name="T44" fmla="*/ 1440 w 2050"/>
                <a:gd name="T45" fmla="*/ 1847 h 3378"/>
                <a:gd name="T46" fmla="*/ 1688 w 2050"/>
                <a:gd name="T47" fmla="*/ 1990 h 3378"/>
                <a:gd name="T48" fmla="*/ 2004 w 2050"/>
                <a:gd name="T49" fmla="*/ 2091 h 3378"/>
                <a:gd name="T50" fmla="*/ 2050 w 2050"/>
                <a:gd name="T51" fmla="*/ 2200 h 3378"/>
                <a:gd name="T52" fmla="*/ 2028 w 2050"/>
                <a:gd name="T53" fmla="*/ 2315 h 3378"/>
                <a:gd name="T54" fmla="*/ 1934 w 2050"/>
                <a:gd name="T55" fmla="*/ 2377 h 3378"/>
                <a:gd name="T56" fmla="*/ 1334 w 2050"/>
                <a:gd name="T57" fmla="*/ 2386 h 3378"/>
                <a:gd name="T58" fmla="*/ 1299 w 2050"/>
                <a:gd name="T59" fmla="*/ 2462 h 3378"/>
                <a:gd name="T60" fmla="*/ 1250 w 2050"/>
                <a:gd name="T61" fmla="*/ 2560 h 3378"/>
                <a:gd name="T62" fmla="*/ 1148 w 2050"/>
                <a:gd name="T63" fmla="*/ 2775 h 3378"/>
                <a:gd name="T64" fmla="*/ 955 w 2050"/>
                <a:gd name="T65" fmla="*/ 3037 h 3378"/>
                <a:gd name="T66" fmla="*/ 689 w 2050"/>
                <a:gd name="T67" fmla="*/ 3261 h 3378"/>
                <a:gd name="T68" fmla="*/ 493 w 2050"/>
                <a:gd name="T69" fmla="*/ 3348 h 3378"/>
                <a:gd name="T70" fmla="*/ 324 w 2050"/>
                <a:gd name="T71" fmla="*/ 3378 h 3378"/>
                <a:gd name="T72" fmla="*/ 432 w 2050"/>
                <a:gd name="T73" fmla="*/ 3110 h 3378"/>
                <a:gd name="T74" fmla="*/ 542 w 2050"/>
                <a:gd name="T75" fmla="*/ 3041 h 3378"/>
                <a:gd name="T76" fmla="*/ 732 w 2050"/>
                <a:gd name="T77" fmla="*/ 2831 h 3378"/>
                <a:gd name="T78" fmla="*/ 779 w 2050"/>
                <a:gd name="T79" fmla="*/ 2737 h 3378"/>
                <a:gd name="T80" fmla="*/ 883 w 2050"/>
                <a:gd name="T81" fmla="*/ 2488 h 3378"/>
                <a:gd name="T82" fmla="*/ 791 w 2050"/>
                <a:gd name="T83" fmla="*/ 2500 h 3378"/>
                <a:gd name="T84" fmla="*/ 729 w 2050"/>
                <a:gd name="T85" fmla="*/ 2543 h 3378"/>
                <a:gd name="T86" fmla="*/ 559 w 2050"/>
                <a:gd name="T87" fmla="*/ 2658 h 3378"/>
                <a:gd name="T88" fmla="*/ 424 w 2050"/>
                <a:gd name="T89" fmla="*/ 2757 h 3378"/>
                <a:gd name="T90" fmla="*/ 370 w 2050"/>
                <a:gd name="T91" fmla="*/ 2844 h 3378"/>
                <a:gd name="T92" fmla="*/ 219 w 2050"/>
                <a:gd name="T93" fmla="*/ 3066 h 3378"/>
                <a:gd name="T94" fmla="*/ 215 w 2050"/>
                <a:gd name="T95" fmla="*/ 3143 h 3378"/>
                <a:gd name="T96" fmla="*/ 399 w 2050"/>
                <a:gd name="T97" fmla="*/ 3125 h 33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050" h="3378">
                  <a:moveTo>
                    <a:pt x="212" y="3374"/>
                  </a:moveTo>
                  <a:lnTo>
                    <a:pt x="189" y="3368"/>
                  </a:lnTo>
                  <a:lnTo>
                    <a:pt x="118" y="3325"/>
                  </a:lnTo>
                  <a:lnTo>
                    <a:pt x="82" y="3295"/>
                  </a:lnTo>
                  <a:lnTo>
                    <a:pt x="0" y="3221"/>
                  </a:lnTo>
                  <a:lnTo>
                    <a:pt x="0" y="3090"/>
                  </a:lnTo>
                  <a:lnTo>
                    <a:pt x="0" y="3031"/>
                  </a:lnTo>
                  <a:lnTo>
                    <a:pt x="16" y="2930"/>
                  </a:lnTo>
                  <a:lnTo>
                    <a:pt x="55" y="2838"/>
                  </a:lnTo>
                  <a:lnTo>
                    <a:pt x="121" y="2739"/>
                  </a:lnTo>
                  <a:lnTo>
                    <a:pt x="169" y="2681"/>
                  </a:lnTo>
                  <a:lnTo>
                    <a:pt x="215" y="2628"/>
                  </a:lnTo>
                  <a:lnTo>
                    <a:pt x="339" y="2505"/>
                  </a:lnTo>
                  <a:lnTo>
                    <a:pt x="471" y="2387"/>
                  </a:lnTo>
                  <a:lnTo>
                    <a:pt x="586" y="2301"/>
                  </a:lnTo>
                  <a:lnTo>
                    <a:pt x="624" y="2279"/>
                  </a:lnTo>
                  <a:lnTo>
                    <a:pt x="670" y="2255"/>
                  </a:lnTo>
                  <a:lnTo>
                    <a:pt x="687" y="2239"/>
                  </a:lnTo>
                  <a:lnTo>
                    <a:pt x="694" y="2230"/>
                  </a:lnTo>
                  <a:lnTo>
                    <a:pt x="736" y="2206"/>
                  </a:lnTo>
                  <a:lnTo>
                    <a:pt x="792" y="2179"/>
                  </a:lnTo>
                  <a:lnTo>
                    <a:pt x="840" y="2160"/>
                  </a:lnTo>
                  <a:lnTo>
                    <a:pt x="851" y="2160"/>
                  </a:lnTo>
                  <a:lnTo>
                    <a:pt x="856" y="2160"/>
                  </a:lnTo>
                  <a:lnTo>
                    <a:pt x="863" y="2153"/>
                  </a:lnTo>
                  <a:lnTo>
                    <a:pt x="864" y="2147"/>
                  </a:lnTo>
                  <a:lnTo>
                    <a:pt x="866" y="2140"/>
                  </a:lnTo>
                  <a:lnTo>
                    <a:pt x="889" y="2127"/>
                  </a:lnTo>
                  <a:lnTo>
                    <a:pt x="905" y="2121"/>
                  </a:lnTo>
                  <a:lnTo>
                    <a:pt x="938" y="2112"/>
                  </a:lnTo>
                  <a:lnTo>
                    <a:pt x="972" y="2092"/>
                  </a:lnTo>
                  <a:lnTo>
                    <a:pt x="988" y="2071"/>
                  </a:lnTo>
                  <a:lnTo>
                    <a:pt x="1007" y="2020"/>
                  </a:lnTo>
                  <a:lnTo>
                    <a:pt x="1026" y="1898"/>
                  </a:lnTo>
                  <a:lnTo>
                    <a:pt x="1034" y="1803"/>
                  </a:lnTo>
                  <a:lnTo>
                    <a:pt x="1056" y="1577"/>
                  </a:lnTo>
                  <a:lnTo>
                    <a:pt x="1062" y="1440"/>
                  </a:lnTo>
                  <a:lnTo>
                    <a:pt x="1063" y="1398"/>
                  </a:lnTo>
                  <a:lnTo>
                    <a:pt x="1072" y="1338"/>
                  </a:lnTo>
                  <a:lnTo>
                    <a:pt x="1078" y="1328"/>
                  </a:lnTo>
                  <a:lnTo>
                    <a:pt x="1085" y="1312"/>
                  </a:lnTo>
                  <a:lnTo>
                    <a:pt x="1101" y="1191"/>
                  </a:lnTo>
                  <a:lnTo>
                    <a:pt x="1105" y="1106"/>
                  </a:lnTo>
                  <a:lnTo>
                    <a:pt x="1121" y="861"/>
                  </a:lnTo>
                  <a:lnTo>
                    <a:pt x="1147" y="596"/>
                  </a:lnTo>
                  <a:lnTo>
                    <a:pt x="1161" y="497"/>
                  </a:lnTo>
                  <a:lnTo>
                    <a:pt x="1168" y="482"/>
                  </a:lnTo>
                  <a:lnTo>
                    <a:pt x="1175" y="469"/>
                  </a:lnTo>
                  <a:lnTo>
                    <a:pt x="1188" y="415"/>
                  </a:lnTo>
                  <a:lnTo>
                    <a:pt x="1196" y="382"/>
                  </a:lnTo>
                  <a:lnTo>
                    <a:pt x="1201" y="341"/>
                  </a:lnTo>
                  <a:lnTo>
                    <a:pt x="1222" y="264"/>
                  </a:lnTo>
                  <a:lnTo>
                    <a:pt x="1243" y="199"/>
                  </a:lnTo>
                  <a:lnTo>
                    <a:pt x="1266" y="157"/>
                  </a:lnTo>
                  <a:lnTo>
                    <a:pt x="1276" y="151"/>
                  </a:lnTo>
                  <a:lnTo>
                    <a:pt x="1284" y="147"/>
                  </a:lnTo>
                  <a:lnTo>
                    <a:pt x="1295" y="131"/>
                  </a:lnTo>
                  <a:lnTo>
                    <a:pt x="1296" y="122"/>
                  </a:lnTo>
                  <a:lnTo>
                    <a:pt x="1299" y="109"/>
                  </a:lnTo>
                  <a:lnTo>
                    <a:pt x="1327" y="72"/>
                  </a:lnTo>
                  <a:lnTo>
                    <a:pt x="1347" y="52"/>
                  </a:lnTo>
                  <a:lnTo>
                    <a:pt x="1361" y="39"/>
                  </a:lnTo>
                  <a:lnTo>
                    <a:pt x="1392" y="19"/>
                  </a:lnTo>
                  <a:lnTo>
                    <a:pt x="1422" y="6"/>
                  </a:lnTo>
                  <a:lnTo>
                    <a:pt x="1455" y="0"/>
                  </a:lnTo>
                  <a:lnTo>
                    <a:pt x="1487" y="1"/>
                  </a:lnTo>
                  <a:lnTo>
                    <a:pt x="1518" y="12"/>
                  </a:lnTo>
                  <a:lnTo>
                    <a:pt x="1564" y="39"/>
                  </a:lnTo>
                  <a:lnTo>
                    <a:pt x="1595" y="68"/>
                  </a:lnTo>
                  <a:lnTo>
                    <a:pt x="1615" y="89"/>
                  </a:lnTo>
                  <a:lnTo>
                    <a:pt x="1641" y="124"/>
                  </a:lnTo>
                  <a:lnTo>
                    <a:pt x="1652" y="163"/>
                  </a:lnTo>
                  <a:lnTo>
                    <a:pt x="1655" y="225"/>
                  </a:lnTo>
                  <a:lnTo>
                    <a:pt x="1657" y="271"/>
                  </a:lnTo>
                  <a:lnTo>
                    <a:pt x="1655" y="327"/>
                  </a:lnTo>
                  <a:lnTo>
                    <a:pt x="1646" y="412"/>
                  </a:lnTo>
                  <a:lnTo>
                    <a:pt x="1639" y="428"/>
                  </a:lnTo>
                  <a:lnTo>
                    <a:pt x="1632" y="441"/>
                  </a:lnTo>
                  <a:lnTo>
                    <a:pt x="1615" y="513"/>
                  </a:lnTo>
                  <a:lnTo>
                    <a:pt x="1587" y="691"/>
                  </a:lnTo>
                  <a:lnTo>
                    <a:pt x="1573" y="840"/>
                  </a:lnTo>
                  <a:lnTo>
                    <a:pt x="1567" y="899"/>
                  </a:lnTo>
                  <a:lnTo>
                    <a:pt x="1551" y="981"/>
                  </a:lnTo>
                  <a:lnTo>
                    <a:pt x="1546" y="994"/>
                  </a:lnTo>
                  <a:lnTo>
                    <a:pt x="1538" y="1018"/>
                  </a:lnTo>
                  <a:lnTo>
                    <a:pt x="1514" y="1228"/>
                  </a:lnTo>
                  <a:lnTo>
                    <a:pt x="1501" y="1379"/>
                  </a:lnTo>
                  <a:lnTo>
                    <a:pt x="1488" y="1532"/>
                  </a:lnTo>
                  <a:lnTo>
                    <a:pt x="1465" y="1748"/>
                  </a:lnTo>
                  <a:lnTo>
                    <a:pt x="1458" y="1775"/>
                  </a:lnTo>
                  <a:lnTo>
                    <a:pt x="1451" y="1788"/>
                  </a:lnTo>
                  <a:lnTo>
                    <a:pt x="1440" y="1847"/>
                  </a:lnTo>
                  <a:lnTo>
                    <a:pt x="1438" y="1883"/>
                  </a:lnTo>
                  <a:lnTo>
                    <a:pt x="1433" y="1974"/>
                  </a:lnTo>
                  <a:lnTo>
                    <a:pt x="1609" y="1984"/>
                  </a:lnTo>
                  <a:lnTo>
                    <a:pt x="1688" y="1990"/>
                  </a:lnTo>
                  <a:lnTo>
                    <a:pt x="1815" y="2009"/>
                  </a:lnTo>
                  <a:lnTo>
                    <a:pt x="1909" y="2033"/>
                  </a:lnTo>
                  <a:lnTo>
                    <a:pt x="1978" y="2069"/>
                  </a:lnTo>
                  <a:lnTo>
                    <a:pt x="2004" y="2091"/>
                  </a:lnTo>
                  <a:lnTo>
                    <a:pt x="2018" y="2107"/>
                  </a:lnTo>
                  <a:lnTo>
                    <a:pt x="2038" y="2133"/>
                  </a:lnTo>
                  <a:lnTo>
                    <a:pt x="2048" y="2161"/>
                  </a:lnTo>
                  <a:lnTo>
                    <a:pt x="2050" y="2200"/>
                  </a:lnTo>
                  <a:lnTo>
                    <a:pt x="2048" y="2226"/>
                  </a:lnTo>
                  <a:lnTo>
                    <a:pt x="2047" y="2251"/>
                  </a:lnTo>
                  <a:lnTo>
                    <a:pt x="2040" y="2288"/>
                  </a:lnTo>
                  <a:lnTo>
                    <a:pt x="2028" y="2315"/>
                  </a:lnTo>
                  <a:lnTo>
                    <a:pt x="2006" y="2338"/>
                  </a:lnTo>
                  <a:lnTo>
                    <a:pt x="1992" y="2350"/>
                  </a:lnTo>
                  <a:lnTo>
                    <a:pt x="1975" y="2363"/>
                  </a:lnTo>
                  <a:lnTo>
                    <a:pt x="1934" y="2377"/>
                  </a:lnTo>
                  <a:lnTo>
                    <a:pt x="1815" y="2386"/>
                  </a:lnTo>
                  <a:lnTo>
                    <a:pt x="1628" y="2383"/>
                  </a:lnTo>
                  <a:lnTo>
                    <a:pt x="1440" y="2379"/>
                  </a:lnTo>
                  <a:lnTo>
                    <a:pt x="1334" y="2386"/>
                  </a:lnTo>
                  <a:lnTo>
                    <a:pt x="1314" y="2399"/>
                  </a:lnTo>
                  <a:lnTo>
                    <a:pt x="1314" y="2409"/>
                  </a:lnTo>
                  <a:lnTo>
                    <a:pt x="1312" y="2425"/>
                  </a:lnTo>
                  <a:lnTo>
                    <a:pt x="1299" y="2462"/>
                  </a:lnTo>
                  <a:lnTo>
                    <a:pt x="1289" y="2478"/>
                  </a:lnTo>
                  <a:lnTo>
                    <a:pt x="1269" y="2508"/>
                  </a:lnTo>
                  <a:lnTo>
                    <a:pt x="1262" y="2527"/>
                  </a:lnTo>
                  <a:lnTo>
                    <a:pt x="1250" y="2560"/>
                  </a:lnTo>
                  <a:lnTo>
                    <a:pt x="1204" y="2672"/>
                  </a:lnTo>
                  <a:lnTo>
                    <a:pt x="1188" y="2703"/>
                  </a:lnTo>
                  <a:lnTo>
                    <a:pt x="1168" y="2733"/>
                  </a:lnTo>
                  <a:lnTo>
                    <a:pt x="1148" y="2775"/>
                  </a:lnTo>
                  <a:lnTo>
                    <a:pt x="1131" y="2809"/>
                  </a:lnTo>
                  <a:lnTo>
                    <a:pt x="1085" y="2883"/>
                  </a:lnTo>
                  <a:lnTo>
                    <a:pt x="1026" y="2958"/>
                  </a:lnTo>
                  <a:lnTo>
                    <a:pt x="955" y="3037"/>
                  </a:lnTo>
                  <a:lnTo>
                    <a:pt x="915" y="3077"/>
                  </a:lnTo>
                  <a:lnTo>
                    <a:pt x="864" y="3125"/>
                  </a:lnTo>
                  <a:lnTo>
                    <a:pt x="772" y="3204"/>
                  </a:lnTo>
                  <a:lnTo>
                    <a:pt x="689" y="3261"/>
                  </a:lnTo>
                  <a:lnTo>
                    <a:pt x="610" y="3303"/>
                  </a:lnTo>
                  <a:lnTo>
                    <a:pt x="571" y="3316"/>
                  </a:lnTo>
                  <a:lnTo>
                    <a:pt x="539" y="3326"/>
                  </a:lnTo>
                  <a:lnTo>
                    <a:pt x="493" y="3348"/>
                  </a:lnTo>
                  <a:lnTo>
                    <a:pt x="484" y="3355"/>
                  </a:lnTo>
                  <a:lnTo>
                    <a:pt x="474" y="3361"/>
                  </a:lnTo>
                  <a:lnTo>
                    <a:pt x="412" y="3372"/>
                  </a:lnTo>
                  <a:lnTo>
                    <a:pt x="324" y="3378"/>
                  </a:lnTo>
                  <a:lnTo>
                    <a:pt x="241" y="3378"/>
                  </a:lnTo>
                  <a:lnTo>
                    <a:pt x="212" y="3374"/>
                  </a:lnTo>
                  <a:close/>
                  <a:moveTo>
                    <a:pt x="399" y="3125"/>
                  </a:moveTo>
                  <a:lnTo>
                    <a:pt x="432" y="3110"/>
                  </a:lnTo>
                  <a:lnTo>
                    <a:pt x="484" y="3083"/>
                  </a:lnTo>
                  <a:lnTo>
                    <a:pt x="494" y="3071"/>
                  </a:lnTo>
                  <a:lnTo>
                    <a:pt x="516" y="3054"/>
                  </a:lnTo>
                  <a:lnTo>
                    <a:pt x="542" y="3041"/>
                  </a:lnTo>
                  <a:lnTo>
                    <a:pt x="558" y="3031"/>
                  </a:lnTo>
                  <a:lnTo>
                    <a:pt x="618" y="2972"/>
                  </a:lnTo>
                  <a:lnTo>
                    <a:pt x="686" y="2894"/>
                  </a:lnTo>
                  <a:lnTo>
                    <a:pt x="732" y="2831"/>
                  </a:lnTo>
                  <a:lnTo>
                    <a:pt x="738" y="2816"/>
                  </a:lnTo>
                  <a:lnTo>
                    <a:pt x="741" y="2805"/>
                  </a:lnTo>
                  <a:lnTo>
                    <a:pt x="762" y="2762"/>
                  </a:lnTo>
                  <a:lnTo>
                    <a:pt x="779" y="2737"/>
                  </a:lnTo>
                  <a:lnTo>
                    <a:pt x="797" y="2708"/>
                  </a:lnTo>
                  <a:lnTo>
                    <a:pt x="836" y="2629"/>
                  </a:lnTo>
                  <a:lnTo>
                    <a:pt x="867" y="2547"/>
                  </a:lnTo>
                  <a:lnTo>
                    <a:pt x="883" y="2488"/>
                  </a:lnTo>
                  <a:lnTo>
                    <a:pt x="880" y="2478"/>
                  </a:lnTo>
                  <a:lnTo>
                    <a:pt x="872" y="2475"/>
                  </a:lnTo>
                  <a:lnTo>
                    <a:pt x="836" y="2484"/>
                  </a:lnTo>
                  <a:lnTo>
                    <a:pt x="791" y="2500"/>
                  </a:lnTo>
                  <a:lnTo>
                    <a:pt x="759" y="2517"/>
                  </a:lnTo>
                  <a:lnTo>
                    <a:pt x="756" y="2524"/>
                  </a:lnTo>
                  <a:lnTo>
                    <a:pt x="754" y="2530"/>
                  </a:lnTo>
                  <a:lnTo>
                    <a:pt x="729" y="2543"/>
                  </a:lnTo>
                  <a:lnTo>
                    <a:pt x="713" y="2549"/>
                  </a:lnTo>
                  <a:lnTo>
                    <a:pt x="690" y="2557"/>
                  </a:lnTo>
                  <a:lnTo>
                    <a:pt x="607" y="2616"/>
                  </a:lnTo>
                  <a:lnTo>
                    <a:pt x="559" y="2658"/>
                  </a:lnTo>
                  <a:lnTo>
                    <a:pt x="514" y="2697"/>
                  </a:lnTo>
                  <a:lnTo>
                    <a:pt x="444" y="2752"/>
                  </a:lnTo>
                  <a:lnTo>
                    <a:pt x="432" y="2757"/>
                  </a:lnTo>
                  <a:lnTo>
                    <a:pt x="424" y="2757"/>
                  </a:lnTo>
                  <a:lnTo>
                    <a:pt x="415" y="2769"/>
                  </a:lnTo>
                  <a:lnTo>
                    <a:pt x="414" y="2776"/>
                  </a:lnTo>
                  <a:lnTo>
                    <a:pt x="409" y="2789"/>
                  </a:lnTo>
                  <a:lnTo>
                    <a:pt x="370" y="2844"/>
                  </a:lnTo>
                  <a:lnTo>
                    <a:pt x="342" y="2877"/>
                  </a:lnTo>
                  <a:lnTo>
                    <a:pt x="311" y="2913"/>
                  </a:lnTo>
                  <a:lnTo>
                    <a:pt x="258" y="2991"/>
                  </a:lnTo>
                  <a:lnTo>
                    <a:pt x="219" y="3066"/>
                  </a:lnTo>
                  <a:lnTo>
                    <a:pt x="205" y="3109"/>
                  </a:lnTo>
                  <a:lnTo>
                    <a:pt x="203" y="3129"/>
                  </a:lnTo>
                  <a:lnTo>
                    <a:pt x="206" y="3135"/>
                  </a:lnTo>
                  <a:lnTo>
                    <a:pt x="215" y="3143"/>
                  </a:lnTo>
                  <a:lnTo>
                    <a:pt x="251" y="3152"/>
                  </a:lnTo>
                  <a:lnTo>
                    <a:pt x="304" y="3149"/>
                  </a:lnTo>
                  <a:lnTo>
                    <a:pt x="366" y="3135"/>
                  </a:lnTo>
                  <a:lnTo>
                    <a:pt x="399" y="3125"/>
                  </a:lnTo>
                  <a:close/>
                </a:path>
              </a:pathLst>
            </a:custGeom>
            <a:solidFill>
              <a:srgbClr val="C00000"/>
            </a:solidFill>
            <a:ln>
              <a:noFill/>
            </a:ln>
          </p:spPr>
          <p:txBody>
            <a:bodyPr vert="horz" wrap="square" lIns="91440" tIns="45720" rIns="91440" bIns="45720" numCol="1" anchor="t" anchorCtr="0" compatLnSpc="1">
              <a:prstTxWarp prst="textNoShape">
                <a:avLst/>
              </a:prstTxWarp>
            </a:bodyPr>
            <a:lstStyle/>
            <a:p>
              <a:endParaRPr lang="es-PE"/>
            </a:p>
          </p:txBody>
        </p:sp>
        <p:sp>
          <p:nvSpPr>
            <p:cNvPr id="23" name="Freeform 21"/>
            <p:cNvSpPr>
              <a:spLocks noEditPoints="1"/>
            </p:cNvSpPr>
            <p:nvPr/>
          </p:nvSpPr>
          <p:spPr bwMode="auto">
            <a:xfrm>
              <a:off x="1907496" y="1344158"/>
              <a:ext cx="2381250" cy="1931988"/>
            </a:xfrm>
            <a:custGeom>
              <a:avLst/>
              <a:gdLst>
                <a:gd name="T0" fmla="*/ 3 w 4498"/>
                <a:gd name="T1" fmla="*/ 3408 h 3653"/>
                <a:gd name="T2" fmla="*/ 154 w 4498"/>
                <a:gd name="T3" fmla="*/ 3356 h 3653"/>
                <a:gd name="T4" fmla="*/ 863 w 4498"/>
                <a:gd name="T5" fmla="*/ 3019 h 3653"/>
                <a:gd name="T6" fmla="*/ 1566 w 4498"/>
                <a:gd name="T7" fmla="*/ 2256 h 3653"/>
                <a:gd name="T8" fmla="*/ 1828 w 4498"/>
                <a:gd name="T9" fmla="*/ 1930 h 3653"/>
                <a:gd name="T10" fmla="*/ 1970 w 4498"/>
                <a:gd name="T11" fmla="*/ 1748 h 3653"/>
                <a:gd name="T12" fmla="*/ 2096 w 4498"/>
                <a:gd name="T13" fmla="*/ 1475 h 3653"/>
                <a:gd name="T14" fmla="*/ 1868 w 4498"/>
                <a:gd name="T15" fmla="*/ 1318 h 3653"/>
                <a:gd name="T16" fmla="*/ 1701 w 4498"/>
                <a:gd name="T17" fmla="*/ 1048 h 3653"/>
                <a:gd name="T18" fmla="*/ 2054 w 4498"/>
                <a:gd name="T19" fmla="*/ 534 h 3653"/>
                <a:gd name="T20" fmla="*/ 2585 w 4498"/>
                <a:gd name="T21" fmla="*/ 296 h 3653"/>
                <a:gd name="T22" fmla="*/ 2745 w 4498"/>
                <a:gd name="T23" fmla="*/ 250 h 3653"/>
                <a:gd name="T24" fmla="*/ 3004 w 4498"/>
                <a:gd name="T25" fmla="*/ 260 h 3653"/>
                <a:gd name="T26" fmla="*/ 3192 w 4498"/>
                <a:gd name="T27" fmla="*/ 467 h 3653"/>
                <a:gd name="T28" fmla="*/ 3050 w 4498"/>
                <a:gd name="T29" fmla="*/ 910 h 3653"/>
                <a:gd name="T30" fmla="*/ 2870 w 4498"/>
                <a:gd name="T31" fmla="*/ 1432 h 3653"/>
                <a:gd name="T32" fmla="*/ 2758 w 4498"/>
                <a:gd name="T33" fmla="*/ 1828 h 3653"/>
                <a:gd name="T34" fmla="*/ 2676 w 4498"/>
                <a:gd name="T35" fmla="*/ 2188 h 3653"/>
                <a:gd name="T36" fmla="*/ 2670 w 4498"/>
                <a:gd name="T37" fmla="*/ 2359 h 3653"/>
                <a:gd name="T38" fmla="*/ 3029 w 4498"/>
                <a:gd name="T39" fmla="*/ 1726 h 3653"/>
                <a:gd name="T40" fmla="*/ 3072 w 4498"/>
                <a:gd name="T41" fmla="*/ 1660 h 3653"/>
                <a:gd name="T42" fmla="*/ 3374 w 4498"/>
                <a:gd name="T43" fmla="*/ 1180 h 3653"/>
                <a:gd name="T44" fmla="*/ 3526 w 4498"/>
                <a:gd name="T45" fmla="*/ 954 h 3653"/>
                <a:gd name="T46" fmla="*/ 3681 w 4498"/>
                <a:gd name="T47" fmla="*/ 706 h 3653"/>
                <a:gd name="T48" fmla="*/ 3825 w 4498"/>
                <a:gd name="T49" fmla="*/ 506 h 3653"/>
                <a:gd name="T50" fmla="*/ 4223 w 4498"/>
                <a:gd name="T51" fmla="*/ 18 h 3653"/>
                <a:gd name="T52" fmla="*/ 4491 w 4498"/>
                <a:gd name="T53" fmla="*/ 113 h 3653"/>
                <a:gd name="T54" fmla="*/ 4256 w 4498"/>
                <a:gd name="T55" fmla="*/ 745 h 3653"/>
                <a:gd name="T56" fmla="*/ 4131 w 4498"/>
                <a:gd name="T57" fmla="*/ 1030 h 3653"/>
                <a:gd name="T58" fmla="*/ 4070 w 4498"/>
                <a:gd name="T59" fmla="*/ 1203 h 3653"/>
                <a:gd name="T60" fmla="*/ 3975 w 4498"/>
                <a:gd name="T61" fmla="*/ 1406 h 3653"/>
                <a:gd name="T62" fmla="*/ 3915 w 4498"/>
                <a:gd name="T63" fmla="*/ 1676 h 3653"/>
                <a:gd name="T64" fmla="*/ 3858 w 4498"/>
                <a:gd name="T65" fmla="*/ 2436 h 3653"/>
                <a:gd name="T66" fmla="*/ 3969 w 4498"/>
                <a:gd name="T67" fmla="*/ 2668 h 3653"/>
                <a:gd name="T68" fmla="*/ 4216 w 4498"/>
                <a:gd name="T69" fmla="*/ 2875 h 3653"/>
                <a:gd name="T70" fmla="*/ 3949 w 4498"/>
                <a:gd name="T71" fmla="*/ 3006 h 3653"/>
                <a:gd name="T72" fmla="*/ 3652 w 4498"/>
                <a:gd name="T73" fmla="*/ 2814 h 3653"/>
                <a:gd name="T74" fmla="*/ 3508 w 4498"/>
                <a:gd name="T75" fmla="*/ 2505 h 3653"/>
                <a:gd name="T76" fmla="*/ 3516 w 4498"/>
                <a:gd name="T77" fmla="*/ 1650 h 3653"/>
                <a:gd name="T78" fmla="*/ 3627 w 4498"/>
                <a:gd name="T79" fmla="*/ 1235 h 3653"/>
                <a:gd name="T80" fmla="*/ 3416 w 4498"/>
                <a:gd name="T81" fmla="*/ 1557 h 3653"/>
                <a:gd name="T82" fmla="*/ 2834 w 4498"/>
                <a:gd name="T83" fmla="*/ 2781 h 3653"/>
                <a:gd name="T84" fmla="*/ 2631 w 4498"/>
                <a:gd name="T85" fmla="*/ 2989 h 3653"/>
                <a:gd name="T86" fmla="*/ 2286 w 4498"/>
                <a:gd name="T87" fmla="*/ 2303 h 3653"/>
                <a:gd name="T88" fmla="*/ 2395 w 4498"/>
                <a:gd name="T89" fmla="*/ 1707 h 3653"/>
                <a:gd name="T90" fmla="*/ 2502 w 4498"/>
                <a:gd name="T91" fmla="*/ 1353 h 3653"/>
                <a:gd name="T92" fmla="*/ 2300 w 4498"/>
                <a:gd name="T93" fmla="*/ 1671 h 3653"/>
                <a:gd name="T94" fmla="*/ 2077 w 4498"/>
                <a:gd name="T95" fmla="*/ 2063 h 3653"/>
                <a:gd name="T96" fmla="*/ 1862 w 4498"/>
                <a:gd name="T97" fmla="*/ 2411 h 3653"/>
                <a:gd name="T98" fmla="*/ 1632 w 4498"/>
                <a:gd name="T99" fmla="*/ 2719 h 3653"/>
                <a:gd name="T100" fmla="*/ 1115 w 4498"/>
                <a:gd name="T101" fmla="*/ 3265 h 3653"/>
                <a:gd name="T102" fmla="*/ 713 w 4498"/>
                <a:gd name="T103" fmla="*/ 3537 h 3653"/>
                <a:gd name="T104" fmla="*/ 105 w 4498"/>
                <a:gd name="T105" fmla="*/ 3637 h 3653"/>
                <a:gd name="T106" fmla="*/ 2675 w 4498"/>
                <a:gd name="T107" fmla="*/ 686 h 3653"/>
                <a:gd name="T108" fmla="*/ 2716 w 4498"/>
                <a:gd name="T109" fmla="*/ 577 h 3653"/>
                <a:gd name="T110" fmla="*/ 2207 w 4498"/>
                <a:gd name="T111" fmla="*/ 884 h 3653"/>
                <a:gd name="T112" fmla="*/ 2038 w 4498"/>
                <a:gd name="T113" fmla="*/ 1110 h 3653"/>
                <a:gd name="T114" fmla="*/ 2215 w 4498"/>
                <a:gd name="T115" fmla="*/ 1268 h 3653"/>
                <a:gd name="T116" fmla="*/ 2522 w 4498"/>
                <a:gd name="T117" fmla="*/ 1244 h 3653"/>
                <a:gd name="T118" fmla="*/ 2529 w 4498"/>
                <a:gd name="T119" fmla="*/ 1269 h 3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498" h="3653">
                  <a:moveTo>
                    <a:pt x="105" y="3637"/>
                  </a:moveTo>
                  <a:lnTo>
                    <a:pt x="90" y="3629"/>
                  </a:lnTo>
                  <a:lnTo>
                    <a:pt x="59" y="3604"/>
                  </a:lnTo>
                  <a:lnTo>
                    <a:pt x="35" y="3570"/>
                  </a:lnTo>
                  <a:lnTo>
                    <a:pt x="16" y="3532"/>
                  </a:lnTo>
                  <a:lnTo>
                    <a:pt x="5" y="3490"/>
                  </a:lnTo>
                  <a:lnTo>
                    <a:pt x="0" y="3448"/>
                  </a:lnTo>
                  <a:lnTo>
                    <a:pt x="3" y="3408"/>
                  </a:lnTo>
                  <a:lnTo>
                    <a:pt x="16" y="3373"/>
                  </a:lnTo>
                  <a:lnTo>
                    <a:pt x="26" y="3360"/>
                  </a:lnTo>
                  <a:lnTo>
                    <a:pt x="38" y="3347"/>
                  </a:lnTo>
                  <a:lnTo>
                    <a:pt x="68" y="3333"/>
                  </a:lnTo>
                  <a:lnTo>
                    <a:pt x="102" y="3331"/>
                  </a:lnTo>
                  <a:lnTo>
                    <a:pt x="134" y="3340"/>
                  </a:lnTo>
                  <a:lnTo>
                    <a:pt x="147" y="3350"/>
                  </a:lnTo>
                  <a:lnTo>
                    <a:pt x="154" y="3356"/>
                  </a:lnTo>
                  <a:lnTo>
                    <a:pt x="182" y="3362"/>
                  </a:lnTo>
                  <a:lnTo>
                    <a:pt x="244" y="3359"/>
                  </a:lnTo>
                  <a:lnTo>
                    <a:pt x="352" y="3336"/>
                  </a:lnTo>
                  <a:lnTo>
                    <a:pt x="463" y="3297"/>
                  </a:lnTo>
                  <a:lnTo>
                    <a:pt x="509" y="3274"/>
                  </a:lnTo>
                  <a:lnTo>
                    <a:pt x="583" y="3229"/>
                  </a:lnTo>
                  <a:lnTo>
                    <a:pt x="756" y="3107"/>
                  </a:lnTo>
                  <a:lnTo>
                    <a:pt x="863" y="3019"/>
                  </a:lnTo>
                  <a:lnTo>
                    <a:pt x="931" y="2960"/>
                  </a:lnTo>
                  <a:lnTo>
                    <a:pt x="1142" y="2747"/>
                  </a:lnTo>
                  <a:lnTo>
                    <a:pt x="1367" y="2503"/>
                  </a:lnTo>
                  <a:lnTo>
                    <a:pt x="1491" y="2361"/>
                  </a:lnTo>
                  <a:lnTo>
                    <a:pt x="1534" y="2302"/>
                  </a:lnTo>
                  <a:lnTo>
                    <a:pt x="1538" y="2290"/>
                  </a:lnTo>
                  <a:lnTo>
                    <a:pt x="1541" y="2282"/>
                  </a:lnTo>
                  <a:lnTo>
                    <a:pt x="1566" y="2256"/>
                  </a:lnTo>
                  <a:lnTo>
                    <a:pt x="1583" y="2244"/>
                  </a:lnTo>
                  <a:lnTo>
                    <a:pt x="1602" y="2231"/>
                  </a:lnTo>
                  <a:lnTo>
                    <a:pt x="1626" y="2204"/>
                  </a:lnTo>
                  <a:lnTo>
                    <a:pt x="1629" y="2195"/>
                  </a:lnTo>
                  <a:lnTo>
                    <a:pt x="1636" y="2178"/>
                  </a:lnTo>
                  <a:lnTo>
                    <a:pt x="1713" y="2073"/>
                  </a:lnTo>
                  <a:lnTo>
                    <a:pt x="1770" y="2002"/>
                  </a:lnTo>
                  <a:lnTo>
                    <a:pt x="1828" y="1930"/>
                  </a:lnTo>
                  <a:lnTo>
                    <a:pt x="1910" y="1820"/>
                  </a:lnTo>
                  <a:lnTo>
                    <a:pt x="1921" y="1798"/>
                  </a:lnTo>
                  <a:lnTo>
                    <a:pt x="1927" y="1784"/>
                  </a:lnTo>
                  <a:lnTo>
                    <a:pt x="1944" y="1766"/>
                  </a:lnTo>
                  <a:lnTo>
                    <a:pt x="1953" y="1765"/>
                  </a:lnTo>
                  <a:lnTo>
                    <a:pt x="1959" y="1763"/>
                  </a:lnTo>
                  <a:lnTo>
                    <a:pt x="1969" y="1753"/>
                  </a:lnTo>
                  <a:lnTo>
                    <a:pt x="1970" y="1748"/>
                  </a:lnTo>
                  <a:lnTo>
                    <a:pt x="1975" y="1735"/>
                  </a:lnTo>
                  <a:lnTo>
                    <a:pt x="2014" y="1674"/>
                  </a:lnTo>
                  <a:lnTo>
                    <a:pt x="2042" y="1637"/>
                  </a:lnTo>
                  <a:lnTo>
                    <a:pt x="2071" y="1599"/>
                  </a:lnTo>
                  <a:lnTo>
                    <a:pt x="2110" y="1536"/>
                  </a:lnTo>
                  <a:lnTo>
                    <a:pt x="2114" y="1520"/>
                  </a:lnTo>
                  <a:lnTo>
                    <a:pt x="2113" y="1507"/>
                  </a:lnTo>
                  <a:lnTo>
                    <a:pt x="2096" y="1475"/>
                  </a:lnTo>
                  <a:lnTo>
                    <a:pt x="2071" y="1445"/>
                  </a:lnTo>
                  <a:lnTo>
                    <a:pt x="2044" y="1425"/>
                  </a:lnTo>
                  <a:lnTo>
                    <a:pt x="2034" y="1424"/>
                  </a:lnTo>
                  <a:lnTo>
                    <a:pt x="2022" y="1419"/>
                  </a:lnTo>
                  <a:lnTo>
                    <a:pt x="1975" y="1390"/>
                  </a:lnTo>
                  <a:lnTo>
                    <a:pt x="1946" y="1369"/>
                  </a:lnTo>
                  <a:lnTo>
                    <a:pt x="1916" y="1347"/>
                  </a:lnTo>
                  <a:lnTo>
                    <a:pt x="1868" y="1318"/>
                  </a:lnTo>
                  <a:lnTo>
                    <a:pt x="1857" y="1316"/>
                  </a:lnTo>
                  <a:lnTo>
                    <a:pt x="1844" y="1311"/>
                  </a:lnTo>
                  <a:lnTo>
                    <a:pt x="1806" y="1280"/>
                  </a:lnTo>
                  <a:lnTo>
                    <a:pt x="1764" y="1228"/>
                  </a:lnTo>
                  <a:lnTo>
                    <a:pt x="1730" y="1173"/>
                  </a:lnTo>
                  <a:lnTo>
                    <a:pt x="1720" y="1150"/>
                  </a:lnTo>
                  <a:lnTo>
                    <a:pt x="1711" y="1118"/>
                  </a:lnTo>
                  <a:lnTo>
                    <a:pt x="1701" y="1048"/>
                  </a:lnTo>
                  <a:lnTo>
                    <a:pt x="1702" y="973"/>
                  </a:lnTo>
                  <a:lnTo>
                    <a:pt x="1715" y="904"/>
                  </a:lnTo>
                  <a:lnTo>
                    <a:pt x="1726" y="874"/>
                  </a:lnTo>
                  <a:lnTo>
                    <a:pt x="1736" y="852"/>
                  </a:lnTo>
                  <a:lnTo>
                    <a:pt x="1769" y="803"/>
                  </a:lnTo>
                  <a:lnTo>
                    <a:pt x="1841" y="718"/>
                  </a:lnTo>
                  <a:lnTo>
                    <a:pt x="1962" y="604"/>
                  </a:lnTo>
                  <a:lnTo>
                    <a:pt x="2054" y="534"/>
                  </a:lnTo>
                  <a:lnTo>
                    <a:pt x="2111" y="499"/>
                  </a:lnTo>
                  <a:lnTo>
                    <a:pt x="2136" y="488"/>
                  </a:lnTo>
                  <a:lnTo>
                    <a:pt x="2175" y="469"/>
                  </a:lnTo>
                  <a:lnTo>
                    <a:pt x="2205" y="452"/>
                  </a:lnTo>
                  <a:lnTo>
                    <a:pt x="2267" y="416"/>
                  </a:lnTo>
                  <a:lnTo>
                    <a:pt x="2476" y="329"/>
                  </a:lnTo>
                  <a:lnTo>
                    <a:pt x="2552" y="305"/>
                  </a:lnTo>
                  <a:lnTo>
                    <a:pt x="2585" y="296"/>
                  </a:lnTo>
                  <a:lnTo>
                    <a:pt x="2631" y="275"/>
                  </a:lnTo>
                  <a:lnTo>
                    <a:pt x="2637" y="267"/>
                  </a:lnTo>
                  <a:lnTo>
                    <a:pt x="2640" y="260"/>
                  </a:lnTo>
                  <a:lnTo>
                    <a:pt x="2669" y="254"/>
                  </a:lnTo>
                  <a:lnTo>
                    <a:pt x="2690" y="257"/>
                  </a:lnTo>
                  <a:lnTo>
                    <a:pt x="2712" y="260"/>
                  </a:lnTo>
                  <a:lnTo>
                    <a:pt x="2741" y="256"/>
                  </a:lnTo>
                  <a:lnTo>
                    <a:pt x="2745" y="250"/>
                  </a:lnTo>
                  <a:lnTo>
                    <a:pt x="2751" y="243"/>
                  </a:lnTo>
                  <a:lnTo>
                    <a:pt x="2811" y="236"/>
                  </a:lnTo>
                  <a:lnTo>
                    <a:pt x="2893" y="237"/>
                  </a:lnTo>
                  <a:lnTo>
                    <a:pt x="2958" y="246"/>
                  </a:lnTo>
                  <a:lnTo>
                    <a:pt x="2970" y="253"/>
                  </a:lnTo>
                  <a:lnTo>
                    <a:pt x="2976" y="259"/>
                  </a:lnTo>
                  <a:lnTo>
                    <a:pt x="2994" y="263"/>
                  </a:lnTo>
                  <a:lnTo>
                    <a:pt x="3004" y="260"/>
                  </a:lnTo>
                  <a:lnTo>
                    <a:pt x="3010" y="259"/>
                  </a:lnTo>
                  <a:lnTo>
                    <a:pt x="3032" y="267"/>
                  </a:lnTo>
                  <a:lnTo>
                    <a:pt x="3078" y="299"/>
                  </a:lnTo>
                  <a:lnTo>
                    <a:pt x="3114" y="332"/>
                  </a:lnTo>
                  <a:lnTo>
                    <a:pt x="3143" y="359"/>
                  </a:lnTo>
                  <a:lnTo>
                    <a:pt x="3179" y="398"/>
                  </a:lnTo>
                  <a:lnTo>
                    <a:pt x="3193" y="429"/>
                  </a:lnTo>
                  <a:lnTo>
                    <a:pt x="3192" y="467"/>
                  </a:lnTo>
                  <a:lnTo>
                    <a:pt x="3187" y="496"/>
                  </a:lnTo>
                  <a:lnTo>
                    <a:pt x="3182" y="534"/>
                  </a:lnTo>
                  <a:lnTo>
                    <a:pt x="3163" y="610"/>
                  </a:lnTo>
                  <a:lnTo>
                    <a:pt x="3151" y="636"/>
                  </a:lnTo>
                  <a:lnTo>
                    <a:pt x="3124" y="704"/>
                  </a:lnTo>
                  <a:lnTo>
                    <a:pt x="3094" y="793"/>
                  </a:lnTo>
                  <a:lnTo>
                    <a:pt x="3068" y="874"/>
                  </a:lnTo>
                  <a:lnTo>
                    <a:pt x="3050" y="910"/>
                  </a:lnTo>
                  <a:lnTo>
                    <a:pt x="3033" y="948"/>
                  </a:lnTo>
                  <a:lnTo>
                    <a:pt x="3006" y="1036"/>
                  </a:lnTo>
                  <a:lnTo>
                    <a:pt x="2977" y="1124"/>
                  </a:lnTo>
                  <a:lnTo>
                    <a:pt x="2958" y="1162"/>
                  </a:lnTo>
                  <a:lnTo>
                    <a:pt x="2941" y="1202"/>
                  </a:lnTo>
                  <a:lnTo>
                    <a:pt x="2915" y="1297"/>
                  </a:lnTo>
                  <a:lnTo>
                    <a:pt x="2888" y="1392"/>
                  </a:lnTo>
                  <a:lnTo>
                    <a:pt x="2870" y="1432"/>
                  </a:lnTo>
                  <a:lnTo>
                    <a:pt x="2863" y="1448"/>
                  </a:lnTo>
                  <a:lnTo>
                    <a:pt x="2837" y="1540"/>
                  </a:lnTo>
                  <a:lnTo>
                    <a:pt x="2824" y="1604"/>
                  </a:lnTo>
                  <a:lnTo>
                    <a:pt x="2811" y="1664"/>
                  </a:lnTo>
                  <a:lnTo>
                    <a:pt x="2787" y="1752"/>
                  </a:lnTo>
                  <a:lnTo>
                    <a:pt x="2781" y="1765"/>
                  </a:lnTo>
                  <a:lnTo>
                    <a:pt x="2774" y="1773"/>
                  </a:lnTo>
                  <a:lnTo>
                    <a:pt x="2758" y="1828"/>
                  </a:lnTo>
                  <a:lnTo>
                    <a:pt x="2729" y="1958"/>
                  </a:lnTo>
                  <a:lnTo>
                    <a:pt x="2716" y="2050"/>
                  </a:lnTo>
                  <a:lnTo>
                    <a:pt x="2709" y="2086"/>
                  </a:lnTo>
                  <a:lnTo>
                    <a:pt x="2695" y="2138"/>
                  </a:lnTo>
                  <a:lnTo>
                    <a:pt x="2688" y="2144"/>
                  </a:lnTo>
                  <a:lnTo>
                    <a:pt x="2680" y="2145"/>
                  </a:lnTo>
                  <a:lnTo>
                    <a:pt x="2675" y="2169"/>
                  </a:lnTo>
                  <a:lnTo>
                    <a:pt x="2676" y="2188"/>
                  </a:lnTo>
                  <a:lnTo>
                    <a:pt x="2679" y="2207"/>
                  </a:lnTo>
                  <a:lnTo>
                    <a:pt x="2676" y="2237"/>
                  </a:lnTo>
                  <a:lnTo>
                    <a:pt x="2670" y="2244"/>
                  </a:lnTo>
                  <a:lnTo>
                    <a:pt x="2663" y="2252"/>
                  </a:lnTo>
                  <a:lnTo>
                    <a:pt x="2654" y="2285"/>
                  </a:lnTo>
                  <a:lnTo>
                    <a:pt x="2654" y="2326"/>
                  </a:lnTo>
                  <a:lnTo>
                    <a:pt x="2663" y="2355"/>
                  </a:lnTo>
                  <a:lnTo>
                    <a:pt x="2670" y="2359"/>
                  </a:lnTo>
                  <a:lnTo>
                    <a:pt x="2680" y="2349"/>
                  </a:lnTo>
                  <a:lnTo>
                    <a:pt x="2735" y="2259"/>
                  </a:lnTo>
                  <a:lnTo>
                    <a:pt x="2770" y="2194"/>
                  </a:lnTo>
                  <a:lnTo>
                    <a:pt x="2837" y="2060"/>
                  </a:lnTo>
                  <a:lnTo>
                    <a:pt x="2922" y="1906"/>
                  </a:lnTo>
                  <a:lnTo>
                    <a:pt x="2973" y="1824"/>
                  </a:lnTo>
                  <a:lnTo>
                    <a:pt x="2997" y="1786"/>
                  </a:lnTo>
                  <a:lnTo>
                    <a:pt x="3029" y="1726"/>
                  </a:lnTo>
                  <a:lnTo>
                    <a:pt x="3033" y="1713"/>
                  </a:lnTo>
                  <a:lnTo>
                    <a:pt x="3033" y="1704"/>
                  </a:lnTo>
                  <a:lnTo>
                    <a:pt x="3043" y="1694"/>
                  </a:lnTo>
                  <a:lnTo>
                    <a:pt x="3050" y="1693"/>
                  </a:lnTo>
                  <a:lnTo>
                    <a:pt x="3058" y="1691"/>
                  </a:lnTo>
                  <a:lnTo>
                    <a:pt x="3068" y="1681"/>
                  </a:lnTo>
                  <a:lnTo>
                    <a:pt x="3069" y="1673"/>
                  </a:lnTo>
                  <a:lnTo>
                    <a:pt x="3072" y="1660"/>
                  </a:lnTo>
                  <a:lnTo>
                    <a:pt x="3107" y="1599"/>
                  </a:lnTo>
                  <a:lnTo>
                    <a:pt x="3131" y="1560"/>
                  </a:lnTo>
                  <a:lnTo>
                    <a:pt x="3180" y="1483"/>
                  </a:lnTo>
                  <a:lnTo>
                    <a:pt x="3194" y="1452"/>
                  </a:lnTo>
                  <a:lnTo>
                    <a:pt x="3215" y="1416"/>
                  </a:lnTo>
                  <a:lnTo>
                    <a:pt x="3285" y="1317"/>
                  </a:lnTo>
                  <a:lnTo>
                    <a:pt x="3354" y="1218"/>
                  </a:lnTo>
                  <a:lnTo>
                    <a:pt x="3374" y="1180"/>
                  </a:lnTo>
                  <a:lnTo>
                    <a:pt x="3386" y="1154"/>
                  </a:lnTo>
                  <a:lnTo>
                    <a:pt x="3425" y="1094"/>
                  </a:lnTo>
                  <a:lnTo>
                    <a:pt x="3467" y="1028"/>
                  </a:lnTo>
                  <a:lnTo>
                    <a:pt x="3488" y="986"/>
                  </a:lnTo>
                  <a:lnTo>
                    <a:pt x="3494" y="973"/>
                  </a:lnTo>
                  <a:lnTo>
                    <a:pt x="3510" y="957"/>
                  </a:lnTo>
                  <a:lnTo>
                    <a:pt x="3519" y="956"/>
                  </a:lnTo>
                  <a:lnTo>
                    <a:pt x="3526" y="954"/>
                  </a:lnTo>
                  <a:lnTo>
                    <a:pt x="3536" y="944"/>
                  </a:lnTo>
                  <a:lnTo>
                    <a:pt x="3537" y="937"/>
                  </a:lnTo>
                  <a:lnTo>
                    <a:pt x="3540" y="924"/>
                  </a:lnTo>
                  <a:lnTo>
                    <a:pt x="3579" y="861"/>
                  </a:lnTo>
                  <a:lnTo>
                    <a:pt x="3609" y="822"/>
                  </a:lnTo>
                  <a:lnTo>
                    <a:pt x="3638" y="783"/>
                  </a:lnTo>
                  <a:lnTo>
                    <a:pt x="3677" y="719"/>
                  </a:lnTo>
                  <a:lnTo>
                    <a:pt x="3681" y="706"/>
                  </a:lnTo>
                  <a:lnTo>
                    <a:pt x="3681" y="698"/>
                  </a:lnTo>
                  <a:lnTo>
                    <a:pt x="3691" y="686"/>
                  </a:lnTo>
                  <a:lnTo>
                    <a:pt x="3699" y="685"/>
                  </a:lnTo>
                  <a:lnTo>
                    <a:pt x="3707" y="682"/>
                  </a:lnTo>
                  <a:lnTo>
                    <a:pt x="3726" y="660"/>
                  </a:lnTo>
                  <a:lnTo>
                    <a:pt x="3733" y="643"/>
                  </a:lnTo>
                  <a:lnTo>
                    <a:pt x="3762" y="591"/>
                  </a:lnTo>
                  <a:lnTo>
                    <a:pt x="3825" y="506"/>
                  </a:lnTo>
                  <a:lnTo>
                    <a:pt x="3889" y="421"/>
                  </a:lnTo>
                  <a:lnTo>
                    <a:pt x="3923" y="367"/>
                  </a:lnTo>
                  <a:lnTo>
                    <a:pt x="3948" y="323"/>
                  </a:lnTo>
                  <a:lnTo>
                    <a:pt x="4021" y="220"/>
                  </a:lnTo>
                  <a:lnTo>
                    <a:pt x="4103" y="119"/>
                  </a:lnTo>
                  <a:lnTo>
                    <a:pt x="4175" y="46"/>
                  </a:lnTo>
                  <a:lnTo>
                    <a:pt x="4200" y="30"/>
                  </a:lnTo>
                  <a:lnTo>
                    <a:pt x="4223" y="18"/>
                  </a:lnTo>
                  <a:lnTo>
                    <a:pt x="4270" y="4"/>
                  </a:lnTo>
                  <a:lnTo>
                    <a:pt x="4316" y="0"/>
                  </a:lnTo>
                  <a:lnTo>
                    <a:pt x="4360" y="2"/>
                  </a:lnTo>
                  <a:lnTo>
                    <a:pt x="4400" y="14"/>
                  </a:lnTo>
                  <a:lnTo>
                    <a:pt x="4434" y="33"/>
                  </a:lnTo>
                  <a:lnTo>
                    <a:pt x="4463" y="59"/>
                  </a:lnTo>
                  <a:lnTo>
                    <a:pt x="4483" y="93"/>
                  </a:lnTo>
                  <a:lnTo>
                    <a:pt x="4491" y="113"/>
                  </a:lnTo>
                  <a:lnTo>
                    <a:pt x="4498" y="142"/>
                  </a:lnTo>
                  <a:lnTo>
                    <a:pt x="4498" y="210"/>
                  </a:lnTo>
                  <a:lnTo>
                    <a:pt x="4486" y="279"/>
                  </a:lnTo>
                  <a:lnTo>
                    <a:pt x="4463" y="338"/>
                  </a:lnTo>
                  <a:lnTo>
                    <a:pt x="4447" y="361"/>
                  </a:lnTo>
                  <a:lnTo>
                    <a:pt x="4426" y="393"/>
                  </a:lnTo>
                  <a:lnTo>
                    <a:pt x="4347" y="551"/>
                  </a:lnTo>
                  <a:lnTo>
                    <a:pt x="4256" y="745"/>
                  </a:lnTo>
                  <a:lnTo>
                    <a:pt x="4191" y="898"/>
                  </a:lnTo>
                  <a:lnTo>
                    <a:pt x="4185" y="927"/>
                  </a:lnTo>
                  <a:lnTo>
                    <a:pt x="4184" y="938"/>
                  </a:lnTo>
                  <a:lnTo>
                    <a:pt x="4175" y="953"/>
                  </a:lnTo>
                  <a:lnTo>
                    <a:pt x="4171" y="956"/>
                  </a:lnTo>
                  <a:lnTo>
                    <a:pt x="4162" y="958"/>
                  </a:lnTo>
                  <a:lnTo>
                    <a:pt x="4141" y="1000"/>
                  </a:lnTo>
                  <a:lnTo>
                    <a:pt x="4131" y="1030"/>
                  </a:lnTo>
                  <a:lnTo>
                    <a:pt x="4120" y="1064"/>
                  </a:lnTo>
                  <a:lnTo>
                    <a:pt x="4093" y="1128"/>
                  </a:lnTo>
                  <a:lnTo>
                    <a:pt x="4082" y="1150"/>
                  </a:lnTo>
                  <a:lnTo>
                    <a:pt x="4073" y="1164"/>
                  </a:lnTo>
                  <a:lnTo>
                    <a:pt x="4066" y="1186"/>
                  </a:lnTo>
                  <a:lnTo>
                    <a:pt x="4070" y="1189"/>
                  </a:lnTo>
                  <a:lnTo>
                    <a:pt x="4073" y="1190"/>
                  </a:lnTo>
                  <a:lnTo>
                    <a:pt x="4070" y="1203"/>
                  </a:lnTo>
                  <a:lnTo>
                    <a:pt x="4064" y="1212"/>
                  </a:lnTo>
                  <a:lnTo>
                    <a:pt x="4056" y="1225"/>
                  </a:lnTo>
                  <a:lnTo>
                    <a:pt x="4033" y="1284"/>
                  </a:lnTo>
                  <a:lnTo>
                    <a:pt x="4021" y="1320"/>
                  </a:lnTo>
                  <a:lnTo>
                    <a:pt x="4011" y="1354"/>
                  </a:lnTo>
                  <a:lnTo>
                    <a:pt x="3989" y="1401"/>
                  </a:lnTo>
                  <a:lnTo>
                    <a:pt x="3981" y="1405"/>
                  </a:lnTo>
                  <a:lnTo>
                    <a:pt x="3975" y="1406"/>
                  </a:lnTo>
                  <a:lnTo>
                    <a:pt x="3972" y="1422"/>
                  </a:lnTo>
                  <a:lnTo>
                    <a:pt x="3976" y="1434"/>
                  </a:lnTo>
                  <a:lnTo>
                    <a:pt x="3978" y="1447"/>
                  </a:lnTo>
                  <a:lnTo>
                    <a:pt x="3971" y="1483"/>
                  </a:lnTo>
                  <a:lnTo>
                    <a:pt x="3962" y="1500"/>
                  </a:lnTo>
                  <a:lnTo>
                    <a:pt x="3951" y="1524"/>
                  </a:lnTo>
                  <a:lnTo>
                    <a:pt x="3925" y="1619"/>
                  </a:lnTo>
                  <a:lnTo>
                    <a:pt x="3915" y="1676"/>
                  </a:lnTo>
                  <a:lnTo>
                    <a:pt x="3904" y="1730"/>
                  </a:lnTo>
                  <a:lnTo>
                    <a:pt x="3880" y="1817"/>
                  </a:lnTo>
                  <a:lnTo>
                    <a:pt x="3871" y="1835"/>
                  </a:lnTo>
                  <a:lnTo>
                    <a:pt x="3867" y="1845"/>
                  </a:lnTo>
                  <a:lnTo>
                    <a:pt x="3858" y="1906"/>
                  </a:lnTo>
                  <a:lnTo>
                    <a:pt x="3853" y="2053"/>
                  </a:lnTo>
                  <a:lnTo>
                    <a:pt x="3853" y="2293"/>
                  </a:lnTo>
                  <a:lnTo>
                    <a:pt x="3858" y="2436"/>
                  </a:lnTo>
                  <a:lnTo>
                    <a:pt x="3867" y="2491"/>
                  </a:lnTo>
                  <a:lnTo>
                    <a:pt x="3871" y="2499"/>
                  </a:lnTo>
                  <a:lnTo>
                    <a:pt x="3880" y="2508"/>
                  </a:lnTo>
                  <a:lnTo>
                    <a:pt x="3897" y="2544"/>
                  </a:lnTo>
                  <a:lnTo>
                    <a:pt x="3904" y="2565"/>
                  </a:lnTo>
                  <a:lnTo>
                    <a:pt x="3907" y="2580"/>
                  </a:lnTo>
                  <a:lnTo>
                    <a:pt x="3926" y="2611"/>
                  </a:lnTo>
                  <a:lnTo>
                    <a:pt x="3969" y="2668"/>
                  </a:lnTo>
                  <a:lnTo>
                    <a:pt x="4046" y="2738"/>
                  </a:lnTo>
                  <a:lnTo>
                    <a:pt x="4099" y="2776"/>
                  </a:lnTo>
                  <a:lnTo>
                    <a:pt x="4128" y="2790"/>
                  </a:lnTo>
                  <a:lnTo>
                    <a:pt x="4139" y="2791"/>
                  </a:lnTo>
                  <a:lnTo>
                    <a:pt x="4161" y="2791"/>
                  </a:lnTo>
                  <a:lnTo>
                    <a:pt x="4192" y="2807"/>
                  </a:lnTo>
                  <a:lnTo>
                    <a:pt x="4211" y="2835"/>
                  </a:lnTo>
                  <a:lnTo>
                    <a:pt x="4216" y="2875"/>
                  </a:lnTo>
                  <a:lnTo>
                    <a:pt x="4211" y="2899"/>
                  </a:lnTo>
                  <a:lnTo>
                    <a:pt x="4208" y="2911"/>
                  </a:lnTo>
                  <a:lnTo>
                    <a:pt x="4197" y="2934"/>
                  </a:lnTo>
                  <a:lnTo>
                    <a:pt x="4168" y="2963"/>
                  </a:lnTo>
                  <a:lnTo>
                    <a:pt x="4108" y="2992"/>
                  </a:lnTo>
                  <a:lnTo>
                    <a:pt x="4027" y="3006"/>
                  </a:lnTo>
                  <a:lnTo>
                    <a:pt x="3978" y="3007"/>
                  </a:lnTo>
                  <a:lnTo>
                    <a:pt x="3949" y="3006"/>
                  </a:lnTo>
                  <a:lnTo>
                    <a:pt x="3903" y="3000"/>
                  </a:lnTo>
                  <a:lnTo>
                    <a:pt x="3858" y="2984"/>
                  </a:lnTo>
                  <a:lnTo>
                    <a:pt x="3808" y="2956"/>
                  </a:lnTo>
                  <a:lnTo>
                    <a:pt x="3775" y="2933"/>
                  </a:lnTo>
                  <a:lnTo>
                    <a:pt x="3730" y="2902"/>
                  </a:lnTo>
                  <a:lnTo>
                    <a:pt x="3668" y="2852"/>
                  </a:lnTo>
                  <a:lnTo>
                    <a:pt x="3663" y="2842"/>
                  </a:lnTo>
                  <a:lnTo>
                    <a:pt x="3652" y="2814"/>
                  </a:lnTo>
                  <a:lnTo>
                    <a:pt x="3619" y="2758"/>
                  </a:lnTo>
                  <a:lnTo>
                    <a:pt x="3601" y="2728"/>
                  </a:lnTo>
                  <a:lnTo>
                    <a:pt x="3565" y="2647"/>
                  </a:lnTo>
                  <a:lnTo>
                    <a:pt x="3553" y="2611"/>
                  </a:lnTo>
                  <a:lnTo>
                    <a:pt x="3543" y="2577"/>
                  </a:lnTo>
                  <a:lnTo>
                    <a:pt x="3521" y="2528"/>
                  </a:lnTo>
                  <a:lnTo>
                    <a:pt x="3516" y="2519"/>
                  </a:lnTo>
                  <a:lnTo>
                    <a:pt x="3508" y="2505"/>
                  </a:lnTo>
                  <a:lnTo>
                    <a:pt x="3490" y="2398"/>
                  </a:lnTo>
                  <a:lnTo>
                    <a:pt x="3482" y="2323"/>
                  </a:lnTo>
                  <a:lnTo>
                    <a:pt x="3477" y="2243"/>
                  </a:lnTo>
                  <a:lnTo>
                    <a:pt x="3477" y="2036"/>
                  </a:lnTo>
                  <a:lnTo>
                    <a:pt x="3487" y="1827"/>
                  </a:lnTo>
                  <a:lnTo>
                    <a:pt x="3500" y="1709"/>
                  </a:lnTo>
                  <a:lnTo>
                    <a:pt x="3510" y="1660"/>
                  </a:lnTo>
                  <a:lnTo>
                    <a:pt x="3516" y="1650"/>
                  </a:lnTo>
                  <a:lnTo>
                    <a:pt x="3523" y="1634"/>
                  </a:lnTo>
                  <a:lnTo>
                    <a:pt x="3543" y="1550"/>
                  </a:lnTo>
                  <a:lnTo>
                    <a:pt x="3553" y="1496"/>
                  </a:lnTo>
                  <a:lnTo>
                    <a:pt x="3563" y="1438"/>
                  </a:lnTo>
                  <a:lnTo>
                    <a:pt x="3589" y="1336"/>
                  </a:lnTo>
                  <a:lnTo>
                    <a:pt x="3602" y="1308"/>
                  </a:lnTo>
                  <a:lnTo>
                    <a:pt x="3621" y="1267"/>
                  </a:lnTo>
                  <a:lnTo>
                    <a:pt x="3627" y="1235"/>
                  </a:lnTo>
                  <a:lnTo>
                    <a:pt x="3616" y="1225"/>
                  </a:lnTo>
                  <a:lnTo>
                    <a:pt x="3609" y="1225"/>
                  </a:lnTo>
                  <a:lnTo>
                    <a:pt x="3601" y="1228"/>
                  </a:lnTo>
                  <a:lnTo>
                    <a:pt x="3575" y="1259"/>
                  </a:lnTo>
                  <a:lnTo>
                    <a:pt x="3562" y="1282"/>
                  </a:lnTo>
                  <a:lnTo>
                    <a:pt x="3527" y="1352"/>
                  </a:lnTo>
                  <a:lnTo>
                    <a:pt x="3477" y="1445"/>
                  </a:lnTo>
                  <a:lnTo>
                    <a:pt x="3416" y="1557"/>
                  </a:lnTo>
                  <a:lnTo>
                    <a:pt x="3245" y="1894"/>
                  </a:lnTo>
                  <a:lnTo>
                    <a:pt x="3065" y="2262"/>
                  </a:lnTo>
                  <a:lnTo>
                    <a:pt x="2931" y="2551"/>
                  </a:lnTo>
                  <a:lnTo>
                    <a:pt x="2905" y="2620"/>
                  </a:lnTo>
                  <a:lnTo>
                    <a:pt x="2882" y="2678"/>
                  </a:lnTo>
                  <a:lnTo>
                    <a:pt x="2869" y="2701"/>
                  </a:lnTo>
                  <a:lnTo>
                    <a:pt x="2855" y="2724"/>
                  </a:lnTo>
                  <a:lnTo>
                    <a:pt x="2834" y="2781"/>
                  </a:lnTo>
                  <a:lnTo>
                    <a:pt x="2824" y="2814"/>
                  </a:lnTo>
                  <a:lnTo>
                    <a:pt x="2788" y="2891"/>
                  </a:lnTo>
                  <a:lnTo>
                    <a:pt x="2770" y="2922"/>
                  </a:lnTo>
                  <a:lnTo>
                    <a:pt x="2755" y="2944"/>
                  </a:lnTo>
                  <a:lnTo>
                    <a:pt x="2731" y="2971"/>
                  </a:lnTo>
                  <a:lnTo>
                    <a:pt x="2705" y="2984"/>
                  </a:lnTo>
                  <a:lnTo>
                    <a:pt x="2662" y="2989"/>
                  </a:lnTo>
                  <a:lnTo>
                    <a:pt x="2631" y="2989"/>
                  </a:lnTo>
                  <a:lnTo>
                    <a:pt x="2582" y="2987"/>
                  </a:lnTo>
                  <a:lnTo>
                    <a:pt x="2500" y="2969"/>
                  </a:lnTo>
                  <a:lnTo>
                    <a:pt x="2434" y="2930"/>
                  </a:lnTo>
                  <a:lnTo>
                    <a:pt x="2376" y="2863"/>
                  </a:lnTo>
                  <a:lnTo>
                    <a:pt x="2349" y="2817"/>
                  </a:lnTo>
                  <a:lnTo>
                    <a:pt x="2286" y="2709"/>
                  </a:lnTo>
                  <a:lnTo>
                    <a:pt x="2286" y="2429"/>
                  </a:lnTo>
                  <a:lnTo>
                    <a:pt x="2286" y="2303"/>
                  </a:lnTo>
                  <a:lnTo>
                    <a:pt x="2294" y="2171"/>
                  </a:lnTo>
                  <a:lnTo>
                    <a:pt x="2302" y="2118"/>
                  </a:lnTo>
                  <a:lnTo>
                    <a:pt x="2307" y="2105"/>
                  </a:lnTo>
                  <a:lnTo>
                    <a:pt x="2316" y="2077"/>
                  </a:lnTo>
                  <a:lnTo>
                    <a:pt x="2345" y="1956"/>
                  </a:lnTo>
                  <a:lnTo>
                    <a:pt x="2359" y="1881"/>
                  </a:lnTo>
                  <a:lnTo>
                    <a:pt x="2372" y="1809"/>
                  </a:lnTo>
                  <a:lnTo>
                    <a:pt x="2395" y="1707"/>
                  </a:lnTo>
                  <a:lnTo>
                    <a:pt x="2401" y="1693"/>
                  </a:lnTo>
                  <a:lnTo>
                    <a:pt x="2408" y="1680"/>
                  </a:lnTo>
                  <a:lnTo>
                    <a:pt x="2433" y="1589"/>
                  </a:lnTo>
                  <a:lnTo>
                    <a:pt x="2446" y="1526"/>
                  </a:lnTo>
                  <a:lnTo>
                    <a:pt x="2460" y="1462"/>
                  </a:lnTo>
                  <a:lnTo>
                    <a:pt x="2487" y="1370"/>
                  </a:lnTo>
                  <a:lnTo>
                    <a:pt x="2495" y="1359"/>
                  </a:lnTo>
                  <a:lnTo>
                    <a:pt x="2502" y="1353"/>
                  </a:lnTo>
                  <a:lnTo>
                    <a:pt x="2509" y="1339"/>
                  </a:lnTo>
                  <a:lnTo>
                    <a:pt x="2509" y="1326"/>
                  </a:lnTo>
                  <a:lnTo>
                    <a:pt x="2502" y="1316"/>
                  </a:lnTo>
                  <a:lnTo>
                    <a:pt x="2495" y="1316"/>
                  </a:lnTo>
                  <a:lnTo>
                    <a:pt x="2483" y="1324"/>
                  </a:lnTo>
                  <a:lnTo>
                    <a:pt x="2428" y="1415"/>
                  </a:lnTo>
                  <a:lnTo>
                    <a:pt x="2395" y="1483"/>
                  </a:lnTo>
                  <a:lnTo>
                    <a:pt x="2300" y="1671"/>
                  </a:lnTo>
                  <a:lnTo>
                    <a:pt x="2186" y="1877"/>
                  </a:lnTo>
                  <a:lnTo>
                    <a:pt x="2140" y="1951"/>
                  </a:lnTo>
                  <a:lnTo>
                    <a:pt x="2130" y="1959"/>
                  </a:lnTo>
                  <a:lnTo>
                    <a:pt x="2124" y="1964"/>
                  </a:lnTo>
                  <a:lnTo>
                    <a:pt x="2116" y="1978"/>
                  </a:lnTo>
                  <a:lnTo>
                    <a:pt x="2114" y="1988"/>
                  </a:lnTo>
                  <a:lnTo>
                    <a:pt x="2111" y="2002"/>
                  </a:lnTo>
                  <a:lnTo>
                    <a:pt x="2077" y="2063"/>
                  </a:lnTo>
                  <a:lnTo>
                    <a:pt x="2051" y="2100"/>
                  </a:lnTo>
                  <a:lnTo>
                    <a:pt x="2003" y="2172"/>
                  </a:lnTo>
                  <a:lnTo>
                    <a:pt x="1989" y="2204"/>
                  </a:lnTo>
                  <a:lnTo>
                    <a:pt x="1975" y="2234"/>
                  </a:lnTo>
                  <a:lnTo>
                    <a:pt x="1926" y="2305"/>
                  </a:lnTo>
                  <a:lnTo>
                    <a:pt x="1900" y="2341"/>
                  </a:lnTo>
                  <a:lnTo>
                    <a:pt x="1867" y="2398"/>
                  </a:lnTo>
                  <a:lnTo>
                    <a:pt x="1862" y="2411"/>
                  </a:lnTo>
                  <a:lnTo>
                    <a:pt x="1861" y="2419"/>
                  </a:lnTo>
                  <a:lnTo>
                    <a:pt x="1851" y="2430"/>
                  </a:lnTo>
                  <a:lnTo>
                    <a:pt x="1845" y="2431"/>
                  </a:lnTo>
                  <a:lnTo>
                    <a:pt x="1836" y="2433"/>
                  </a:lnTo>
                  <a:lnTo>
                    <a:pt x="1818" y="2456"/>
                  </a:lnTo>
                  <a:lnTo>
                    <a:pt x="1810" y="2472"/>
                  </a:lnTo>
                  <a:lnTo>
                    <a:pt x="1780" y="2525"/>
                  </a:lnTo>
                  <a:lnTo>
                    <a:pt x="1632" y="2719"/>
                  </a:lnTo>
                  <a:lnTo>
                    <a:pt x="1571" y="2787"/>
                  </a:lnTo>
                  <a:lnTo>
                    <a:pt x="1553" y="2806"/>
                  </a:lnTo>
                  <a:lnTo>
                    <a:pt x="1527" y="2843"/>
                  </a:lnTo>
                  <a:lnTo>
                    <a:pt x="1521" y="2856"/>
                  </a:lnTo>
                  <a:lnTo>
                    <a:pt x="1504" y="2881"/>
                  </a:lnTo>
                  <a:lnTo>
                    <a:pt x="1387" y="3005"/>
                  </a:lnTo>
                  <a:lnTo>
                    <a:pt x="1236" y="3156"/>
                  </a:lnTo>
                  <a:lnTo>
                    <a:pt x="1115" y="3265"/>
                  </a:lnTo>
                  <a:lnTo>
                    <a:pt x="1093" y="3277"/>
                  </a:lnTo>
                  <a:lnTo>
                    <a:pt x="1085" y="3278"/>
                  </a:lnTo>
                  <a:lnTo>
                    <a:pt x="1064" y="3291"/>
                  </a:lnTo>
                  <a:lnTo>
                    <a:pt x="1057" y="3303"/>
                  </a:lnTo>
                  <a:lnTo>
                    <a:pt x="1047" y="3317"/>
                  </a:lnTo>
                  <a:lnTo>
                    <a:pt x="1001" y="3359"/>
                  </a:lnTo>
                  <a:lnTo>
                    <a:pt x="896" y="3432"/>
                  </a:lnTo>
                  <a:lnTo>
                    <a:pt x="713" y="3537"/>
                  </a:lnTo>
                  <a:lnTo>
                    <a:pt x="581" y="3599"/>
                  </a:lnTo>
                  <a:lnTo>
                    <a:pt x="506" y="3627"/>
                  </a:lnTo>
                  <a:lnTo>
                    <a:pt x="477" y="3635"/>
                  </a:lnTo>
                  <a:lnTo>
                    <a:pt x="435" y="3642"/>
                  </a:lnTo>
                  <a:lnTo>
                    <a:pt x="330" y="3651"/>
                  </a:lnTo>
                  <a:lnTo>
                    <a:pt x="219" y="3653"/>
                  </a:lnTo>
                  <a:lnTo>
                    <a:pt x="130" y="3644"/>
                  </a:lnTo>
                  <a:lnTo>
                    <a:pt x="105" y="3637"/>
                  </a:lnTo>
                  <a:close/>
                  <a:moveTo>
                    <a:pt x="2294" y="1261"/>
                  </a:moveTo>
                  <a:lnTo>
                    <a:pt x="2332" y="1213"/>
                  </a:lnTo>
                  <a:lnTo>
                    <a:pt x="2428" y="1072"/>
                  </a:lnTo>
                  <a:lnTo>
                    <a:pt x="2533" y="910"/>
                  </a:lnTo>
                  <a:lnTo>
                    <a:pt x="2613" y="793"/>
                  </a:lnTo>
                  <a:lnTo>
                    <a:pt x="2640" y="753"/>
                  </a:lnTo>
                  <a:lnTo>
                    <a:pt x="2673" y="695"/>
                  </a:lnTo>
                  <a:lnTo>
                    <a:pt x="2675" y="686"/>
                  </a:lnTo>
                  <a:lnTo>
                    <a:pt x="2675" y="679"/>
                  </a:lnTo>
                  <a:lnTo>
                    <a:pt x="2685" y="669"/>
                  </a:lnTo>
                  <a:lnTo>
                    <a:pt x="2702" y="652"/>
                  </a:lnTo>
                  <a:lnTo>
                    <a:pt x="2724" y="619"/>
                  </a:lnTo>
                  <a:lnTo>
                    <a:pt x="2734" y="596"/>
                  </a:lnTo>
                  <a:lnTo>
                    <a:pt x="2734" y="580"/>
                  </a:lnTo>
                  <a:lnTo>
                    <a:pt x="2725" y="577"/>
                  </a:lnTo>
                  <a:lnTo>
                    <a:pt x="2716" y="577"/>
                  </a:lnTo>
                  <a:lnTo>
                    <a:pt x="2692" y="583"/>
                  </a:lnTo>
                  <a:lnTo>
                    <a:pt x="2590" y="632"/>
                  </a:lnTo>
                  <a:lnTo>
                    <a:pt x="2459" y="708"/>
                  </a:lnTo>
                  <a:lnTo>
                    <a:pt x="2342" y="786"/>
                  </a:lnTo>
                  <a:lnTo>
                    <a:pt x="2303" y="816"/>
                  </a:lnTo>
                  <a:lnTo>
                    <a:pt x="2271" y="843"/>
                  </a:lnTo>
                  <a:lnTo>
                    <a:pt x="2218" y="879"/>
                  </a:lnTo>
                  <a:lnTo>
                    <a:pt x="2207" y="884"/>
                  </a:lnTo>
                  <a:lnTo>
                    <a:pt x="2198" y="884"/>
                  </a:lnTo>
                  <a:lnTo>
                    <a:pt x="2188" y="892"/>
                  </a:lnTo>
                  <a:lnTo>
                    <a:pt x="2186" y="899"/>
                  </a:lnTo>
                  <a:lnTo>
                    <a:pt x="2182" y="911"/>
                  </a:lnTo>
                  <a:lnTo>
                    <a:pt x="2137" y="973"/>
                  </a:lnTo>
                  <a:lnTo>
                    <a:pt x="2106" y="1013"/>
                  </a:lnTo>
                  <a:lnTo>
                    <a:pt x="2075" y="1051"/>
                  </a:lnTo>
                  <a:lnTo>
                    <a:pt x="2038" y="1110"/>
                  </a:lnTo>
                  <a:lnTo>
                    <a:pt x="2025" y="1150"/>
                  </a:lnTo>
                  <a:lnTo>
                    <a:pt x="2034" y="1166"/>
                  </a:lnTo>
                  <a:lnTo>
                    <a:pt x="2047" y="1172"/>
                  </a:lnTo>
                  <a:lnTo>
                    <a:pt x="2057" y="1173"/>
                  </a:lnTo>
                  <a:lnTo>
                    <a:pt x="2074" y="1176"/>
                  </a:lnTo>
                  <a:lnTo>
                    <a:pt x="2140" y="1213"/>
                  </a:lnTo>
                  <a:lnTo>
                    <a:pt x="2178" y="1241"/>
                  </a:lnTo>
                  <a:lnTo>
                    <a:pt x="2215" y="1268"/>
                  </a:lnTo>
                  <a:lnTo>
                    <a:pt x="2257" y="1291"/>
                  </a:lnTo>
                  <a:lnTo>
                    <a:pt x="2271" y="1294"/>
                  </a:lnTo>
                  <a:lnTo>
                    <a:pt x="2274" y="1290"/>
                  </a:lnTo>
                  <a:lnTo>
                    <a:pt x="2283" y="1272"/>
                  </a:lnTo>
                  <a:lnTo>
                    <a:pt x="2294" y="1261"/>
                  </a:lnTo>
                  <a:close/>
                  <a:moveTo>
                    <a:pt x="2529" y="1269"/>
                  </a:moveTo>
                  <a:lnTo>
                    <a:pt x="2526" y="1249"/>
                  </a:lnTo>
                  <a:lnTo>
                    <a:pt x="2522" y="1244"/>
                  </a:lnTo>
                  <a:lnTo>
                    <a:pt x="2515" y="1249"/>
                  </a:lnTo>
                  <a:lnTo>
                    <a:pt x="2503" y="1269"/>
                  </a:lnTo>
                  <a:lnTo>
                    <a:pt x="2500" y="1281"/>
                  </a:lnTo>
                  <a:lnTo>
                    <a:pt x="2505" y="1295"/>
                  </a:lnTo>
                  <a:lnTo>
                    <a:pt x="2510" y="1297"/>
                  </a:lnTo>
                  <a:lnTo>
                    <a:pt x="2518" y="1295"/>
                  </a:lnTo>
                  <a:lnTo>
                    <a:pt x="2528" y="1281"/>
                  </a:lnTo>
                  <a:lnTo>
                    <a:pt x="2529" y="1269"/>
                  </a:lnTo>
                  <a:close/>
                </a:path>
              </a:pathLst>
            </a:custGeom>
            <a:solidFill>
              <a:srgbClr val="C00000"/>
            </a:solidFill>
            <a:ln>
              <a:noFill/>
            </a:ln>
          </p:spPr>
          <p:txBody>
            <a:bodyPr vert="horz" wrap="square" lIns="91440" tIns="45720" rIns="91440" bIns="45720" numCol="1" anchor="t" anchorCtr="0" compatLnSpc="1">
              <a:prstTxWarp prst="textNoShape">
                <a:avLst/>
              </a:prstTxWarp>
            </a:bodyPr>
            <a:lstStyle/>
            <a:p>
              <a:endParaRPr lang="es-PE"/>
            </a:p>
          </p:txBody>
        </p:sp>
        <p:sp>
          <p:nvSpPr>
            <p:cNvPr id="24" name="Freeform 22"/>
            <p:cNvSpPr>
              <a:spLocks noEditPoints="1"/>
            </p:cNvSpPr>
            <p:nvPr/>
          </p:nvSpPr>
          <p:spPr bwMode="auto">
            <a:xfrm>
              <a:off x="6600146" y="1782308"/>
              <a:ext cx="1255713" cy="1103313"/>
            </a:xfrm>
            <a:custGeom>
              <a:avLst/>
              <a:gdLst>
                <a:gd name="T0" fmla="*/ 1205 w 2373"/>
                <a:gd name="T1" fmla="*/ 1988 h 2086"/>
                <a:gd name="T2" fmla="*/ 1081 w 2373"/>
                <a:gd name="T3" fmla="*/ 1808 h 2086"/>
                <a:gd name="T4" fmla="*/ 1195 w 2373"/>
                <a:gd name="T5" fmla="*/ 1732 h 2086"/>
                <a:gd name="T6" fmla="*/ 1361 w 2373"/>
                <a:gd name="T7" fmla="*/ 1866 h 2086"/>
                <a:gd name="T8" fmla="*/ 1545 w 2373"/>
                <a:gd name="T9" fmla="*/ 1880 h 2086"/>
                <a:gd name="T10" fmla="*/ 1709 w 2373"/>
                <a:gd name="T11" fmla="*/ 1739 h 2086"/>
                <a:gd name="T12" fmla="*/ 1780 w 2373"/>
                <a:gd name="T13" fmla="*/ 1565 h 2086"/>
                <a:gd name="T14" fmla="*/ 1824 w 2373"/>
                <a:gd name="T15" fmla="*/ 1188 h 2086"/>
                <a:gd name="T16" fmla="*/ 1773 w 2373"/>
                <a:gd name="T17" fmla="*/ 800 h 2086"/>
                <a:gd name="T18" fmla="*/ 1656 w 2373"/>
                <a:gd name="T19" fmla="*/ 707 h 2086"/>
                <a:gd name="T20" fmla="*/ 1309 w 2373"/>
                <a:gd name="T21" fmla="*/ 1420 h 2086"/>
                <a:gd name="T22" fmla="*/ 1276 w 2373"/>
                <a:gd name="T23" fmla="*/ 1476 h 2086"/>
                <a:gd name="T24" fmla="*/ 952 w 2373"/>
                <a:gd name="T25" fmla="*/ 1794 h 2086"/>
                <a:gd name="T26" fmla="*/ 858 w 2373"/>
                <a:gd name="T27" fmla="*/ 1852 h 2086"/>
                <a:gd name="T28" fmla="*/ 420 w 2373"/>
                <a:gd name="T29" fmla="*/ 1883 h 2086"/>
                <a:gd name="T30" fmla="*/ 211 w 2373"/>
                <a:gd name="T31" fmla="*/ 1790 h 2086"/>
                <a:gd name="T32" fmla="*/ 101 w 2373"/>
                <a:gd name="T33" fmla="*/ 1650 h 2086"/>
                <a:gd name="T34" fmla="*/ 36 w 2373"/>
                <a:gd name="T35" fmla="*/ 1382 h 2086"/>
                <a:gd name="T36" fmla="*/ 1 w 2373"/>
                <a:gd name="T37" fmla="*/ 1250 h 2086"/>
                <a:gd name="T38" fmla="*/ 36 w 2373"/>
                <a:gd name="T39" fmla="*/ 1099 h 2086"/>
                <a:gd name="T40" fmla="*/ 111 w 2373"/>
                <a:gd name="T41" fmla="*/ 744 h 2086"/>
                <a:gd name="T42" fmla="*/ 188 w 2373"/>
                <a:gd name="T43" fmla="*/ 546 h 2086"/>
                <a:gd name="T44" fmla="*/ 253 w 2373"/>
                <a:gd name="T45" fmla="*/ 423 h 2086"/>
                <a:gd name="T46" fmla="*/ 603 w 2373"/>
                <a:gd name="T47" fmla="*/ 79 h 2086"/>
                <a:gd name="T48" fmla="*/ 642 w 2373"/>
                <a:gd name="T49" fmla="*/ 63 h 2086"/>
                <a:gd name="T50" fmla="*/ 988 w 2373"/>
                <a:gd name="T51" fmla="*/ 1 h 2086"/>
                <a:gd name="T52" fmla="*/ 1211 w 2373"/>
                <a:gd name="T53" fmla="*/ 181 h 2086"/>
                <a:gd name="T54" fmla="*/ 1231 w 2373"/>
                <a:gd name="T55" fmla="*/ 518 h 2086"/>
                <a:gd name="T56" fmla="*/ 1204 w 2373"/>
                <a:gd name="T57" fmla="*/ 593 h 2086"/>
                <a:gd name="T58" fmla="*/ 1123 w 2373"/>
                <a:gd name="T59" fmla="*/ 756 h 2086"/>
                <a:gd name="T60" fmla="*/ 1028 w 2373"/>
                <a:gd name="T61" fmla="*/ 906 h 2086"/>
                <a:gd name="T62" fmla="*/ 717 w 2373"/>
                <a:gd name="T63" fmla="*/ 1160 h 2086"/>
                <a:gd name="T64" fmla="*/ 449 w 2373"/>
                <a:gd name="T65" fmla="*/ 1224 h 2086"/>
                <a:gd name="T66" fmla="*/ 474 w 2373"/>
                <a:gd name="T67" fmla="*/ 1437 h 2086"/>
                <a:gd name="T68" fmla="*/ 484 w 2373"/>
                <a:gd name="T69" fmla="*/ 1503 h 2086"/>
                <a:gd name="T70" fmla="*/ 540 w 2373"/>
                <a:gd name="T71" fmla="*/ 1607 h 2086"/>
                <a:gd name="T72" fmla="*/ 710 w 2373"/>
                <a:gd name="T73" fmla="*/ 1672 h 2086"/>
                <a:gd name="T74" fmla="*/ 1001 w 2373"/>
                <a:gd name="T75" fmla="*/ 1374 h 2086"/>
                <a:gd name="T76" fmla="*/ 1063 w 2373"/>
                <a:gd name="T77" fmla="*/ 1286 h 2086"/>
                <a:gd name="T78" fmla="*/ 1341 w 2373"/>
                <a:gd name="T79" fmla="*/ 782 h 2086"/>
                <a:gd name="T80" fmla="*/ 1420 w 2373"/>
                <a:gd name="T81" fmla="*/ 669 h 2086"/>
                <a:gd name="T82" fmla="*/ 1493 w 2373"/>
                <a:gd name="T83" fmla="*/ 528 h 2086"/>
                <a:gd name="T84" fmla="*/ 1462 w 2373"/>
                <a:gd name="T85" fmla="*/ 440 h 2086"/>
                <a:gd name="T86" fmla="*/ 1462 w 2373"/>
                <a:gd name="T87" fmla="*/ 127 h 2086"/>
                <a:gd name="T88" fmla="*/ 1662 w 2373"/>
                <a:gd name="T89" fmla="*/ 23 h 2086"/>
                <a:gd name="T90" fmla="*/ 1889 w 2373"/>
                <a:gd name="T91" fmla="*/ 89 h 2086"/>
                <a:gd name="T92" fmla="*/ 1881 w 2373"/>
                <a:gd name="T93" fmla="*/ 249 h 2086"/>
                <a:gd name="T94" fmla="*/ 1924 w 2373"/>
                <a:gd name="T95" fmla="*/ 476 h 2086"/>
                <a:gd name="T96" fmla="*/ 2232 w 2373"/>
                <a:gd name="T97" fmla="*/ 847 h 2086"/>
                <a:gd name="T98" fmla="*/ 2323 w 2373"/>
                <a:gd name="T99" fmla="*/ 1044 h 2086"/>
                <a:gd name="T100" fmla="*/ 2373 w 2373"/>
                <a:gd name="T101" fmla="*/ 1345 h 2086"/>
                <a:gd name="T102" fmla="*/ 2316 w 2373"/>
                <a:gd name="T103" fmla="*/ 1654 h 2086"/>
                <a:gd name="T104" fmla="*/ 2183 w 2373"/>
                <a:gd name="T105" fmla="*/ 1830 h 2086"/>
                <a:gd name="T106" fmla="*/ 1947 w 2373"/>
                <a:gd name="T107" fmla="*/ 1981 h 2086"/>
                <a:gd name="T108" fmla="*/ 1732 w 2373"/>
                <a:gd name="T109" fmla="*/ 2059 h 2086"/>
                <a:gd name="T110" fmla="*/ 642 w 2373"/>
                <a:gd name="T111" fmla="*/ 926 h 2086"/>
                <a:gd name="T112" fmla="*/ 828 w 2373"/>
                <a:gd name="T113" fmla="*/ 704 h 2086"/>
                <a:gd name="T114" fmla="*/ 868 w 2373"/>
                <a:gd name="T115" fmla="*/ 649 h 2086"/>
                <a:gd name="T116" fmla="*/ 894 w 2373"/>
                <a:gd name="T117" fmla="*/ 259 h 2086"/>
                <a:gd name="T118" fmla="*/ 746 w 2373"/>
                <a:gd name="T119" fmla="*/ 399 h 2086"/>
                <a:gd name="T120" fmla="*/ 504 w 2373"/>
                <a:gd name="T121" fmla="*/ 959 h 2086"/>
                <a:gd name="T122" fmla="*/ 642 w 2373"/>
                <a:gd name="T123" fmla="*/ 926 h 20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373" h="2086">
                  <a:moveTo>
                    <a:pt x="1413" y="2079"/>
                  </a:moveTo>
                  <a:lnTo>
                    <a:pt x="1382" y="2069"/>
                  </a:lnTo>
                  <a:lnTo>
                    <a:pt x="1320" y="2053"/>
                  </a:lnTo>
                  <a:lnTo>
                    <a:pt x="1286" y="2042"/>
                  </a:lnTo>
                  <a:lnTo>
                    <a:pt x="1205" y="1988"/>
                  </a:lnTo>
                  <a:lnTo>
                    <a:pt x="1132" y="1918"/>
                  </a:lnTo>
                  <a:lnTo>
                    <a:pt x="1094" y="1867"/>
                  </a:lnTo>
                  <a:lnTo>
                    <a:pt x="1080" y="1839"/>
                  </a:lnTo>
                  <a:lnTo>
                    <a:pt x="1080" y="1827"/>
                  </a:lnTo>
                  <a:lnTo>
                    <a:pt x="1081" y="1808"/>
                  </a:lnTo>
                  <a:lnTo>
                    <a:pt x="1097" y="1775"/>
                  </a:lnTo>
                  <a:lnTo>
                    <a:pt x="1126" y="1746"/>
                  </a:lnTo>
                  <a:lnTo>
                    <a:pt x="1161" y="1729"/>
                  </a:lnTo>
                  <a:lnTo>
                    <a:pt x="1178" y="1728"/>
                  </a:lnTo>
                  <a:lnTo>
                    <a:pt x="1195" y="1732"/>
                  </a:lnTo>
                  <a:lnTo>
                    <a:pt x="1247" y="1771"/>
                  </a:lnTo>
                  <a:lnTo>
                    <a:pt x="1276" y="1798"/>
                  </a:lnTo>
                  <a:lnTo>
                    <a:pt x="1293" y="1817"/>
                  </a:lnTo>
                  <a:lnTo>
                    <a:pt x="1328" y="1847"/>
                  </a:lnTo>
                  <a:lnTo>
                    <a:pt x="1361" y="1866"/>
                  </a:lnTo>
                  <a:lnTo>
                    <a:pt x="1401" y="1878"/>
                  </a:lnTo>
                  <a:lnTo>
                    <a:pt x="1426" y="1880"/>
                  </a:lnTo>
                  <a:lnTo>
                    <a:pt x="1460" y="1885"/>
                  </a:lnTo>
                  <a:lnTo>
                    <a:pt x="1525" y="1885"/>
                  </a:lnTo>
                  <a:lnTo>
                    <a:pt x="1545" y="1880"/>
                  </a:lnTo>
                  <a:lnTo>
                    <a:pt x="1561" y="1875"/>
                  </a:lnTo>
                  <a:lnTo>
                    <a:pt x="1611" y="1837"/>
                  </a:lnTo>
                  <a:lnTo>
                    <a:pt x="1666" y="1790"/>
                  </a:lnTo>
                  <a:lnTo>
                    <a:pt x="1705" y="1749"/>
                  </a:lnTo>
                  <a:lnTo>
                    <a:pt x="1709" y="1739"/>
                  </a:lnTo>
                  <a:lnTo>
                    <a:pt x="1716" y="1718"/>
                  </a:lnTo>
                  <a:lnTo>
                    <a:pt x="1739" y="1663"/>
                  </a:lnTo>
                  <a:lnTo>
                    <a:pt x="1764" y="1607"/>
                  </a:lnTo>
                  <a:lnTo>
                    <a:pt x="1773" y="1584"/>
                  </a:lnTo>
                  <a:lnTo>
                    <a:pt x="1780" y="1565"/>
                  </a:lnTo>
                  <a:lnTo>
                    <a:pt x="1800" y="1520"/>
                  </a:lnTo>
                  <a:lnTo>
                    <a:pt x="1806" y="1505"/>
                  </a:lnTo>
                  <a:lnTo>
                    <a:pt x="1814" y="1451"/>
                  </a:lnTo>
                  <a:lnTo>
                    <a:pt x="1823" y="1320"/>
                  </a:lnTo>
                  <a:lnTo>
                    <a:pt x="1824" y="1188"/>
                  </a:lnTo>
                  <a:lnTo>
                    <a:pt x="1824" y="1093"/>
                  </a:lnTo>
                  <a:lnTo>
                    <a:pt x="1823" y="970"/>
                  </a:lnTo>
                  <a:lnTo>
                    <a:pt x="1813" y="897"/>
                  </a:lnTo>
                  <a:lnTo>
                    <a:pt x="1791" y="838"/>
                  </a:lnTo>
                  <a:lnTo>
                    <a:pt x="1773" y="800"/>
                  </a:lnTo>
                  <a:lnTo>
                    <a:pt x="1750" y="759"/>
                  </a:lnTo>
                  <a:lnTo>
                    <a:pt x="1711" y="704"/>
                  </a:lnTo>
                  <a:lnTo>
                    <a:pt x="1686" y="688"/>
                  </a:lnTo>
                  <a:lnTo>
                    <a:pt x="1672" y="690"/>
                  </a:lnTo>
                  <a:lnTo>
                    <a:pt x="1656" y="707"/>
                  </a:lnTo>
                  <a:lnTo>
                    <a:pt x="1649" y="733"/>
                  </a:lnTo>
                  <a:lnTo>
                    <a:pt x="1631" y="777"/>
                  </a:lnTo>
                  <a:lnTo>
                    <a:pt x="1534" y="986"/>
                  </a:lnTo>
                  <a:lnTo>
                    <a:pt x="1408" y="1238"/>
                  </a:lnTo>
                  <a:lnTo>
                    <a:pt x="1309" y="1420"/>
                  </a:lnTo>
                  <a:lnTo>
                    <a:pt x="1293" y="1440"/>
                  </a:lnTo>
                  <a:lnTo>
                    <a:pt x="1287" y="1441"/>
                  </a:lnTo>
                  <a:lnTo>
                    <a:pt x="1279" y="1456"/>
                  </a:lnTo>
                  <a:lnTo>
                    <a:pt x="1277" y="1467"/>
                  </a:lnTo>
                  <a:lnTo>
                    <a:pt x="1276" y="1476"/>
                  </a:lnTo>
                  <a:lnTo>
                    <a:pt x="1254" y="1510"/>
                  </a:lnTo>
                  <a:lnTo>
                    <a:pt x="1197" y="1579"/>
                  </a:lnTo>
                  <a:lnTo>
                    <a:pt x="1089" y="1687"/>
                  </a:lnTo>
                  <a:lnTo>
                    <a:pt x="986" y="1775"/>
                  </a:lnTo>
                  <a:lnTo>
                    <a:pt x="952" y="1794"/>
                  </a:lnTo>
                  <a:lnTo>
                    <a:pt x="924" y="1807"/>
                  </a:lnTo>
                  <a:lnTo>
                    <a:pt x="885" y="1830"/>
                  </a:lnTo>
                  <a:lnTo>
                    <a:pt x="881" y="1837"/>
                  </a:lnTo>
                  <a:lnTo>
                    <a:pt x="880" y="1843"/>
                  </a:lnTo>
                  <a:lnTo>
                    <a:pt x="858" y="1852"/>
                  </a:lnTo>
                  <a:lnTo>
                    <a:pt x="798" y="1866"/>
                  </a:lnTo>
                  <a:lnTo>
                    <a:pt x="680" y="1882"/>
                  </a:lnTo>
                  <a:lnTo>
                    <a:pt x="550" y="1889"/>
                  </a:lnTo>
                  <a:lnTo>
                    <a:pt x="492" y="1888"/>
                  </a:lnTo>
                  <a:lnTo>
                    <a:pt x="420" y="1883"/>
                  </a:lnTo>
                  <a:lnTo>
                    <a:pt x="347" y="1869"/>
                  </a:lnTo>
                  <a:lnTo>
                    <a:pt x="312" y="1854"/>
                  </a:lnTo>
                  <a:lnTo>
                    <a:pt x="298" y="1844"/>
                  </a:lnTo>
                  <a:lnTo>
                    <a:pt x="249" y="1813"/>
                  </a:lnTo>
                  <a:lnTo>
                    <a:pt x="211" y="1790"/>
                  </a:lnTo>
                  <a:lnTo>
                    <a:pt x="196" y="1778"/>
                  </a:lnTo>
                  <a:lnTo>
                    <a:pt x="165" y="1746"/>
                  </a:lnTo>
                  <a:lnTo>
                    <a:pt x="154" y="1732"/>
                  </a:lnTo>
                  <a:lnTo>
                    <a:pt x="131" y="1695"/>
                  </a:lnTo>
                  <a:lnTo>
                    <a:pt x="101" y="1650"/>
                  </a:lnTo>
                  <a:lnTo>
                    <a:pt x="86" y="1627"/>
                  </a:lnTo>
                  <a:lnTo>
                    <a:pt x="62" y="1571"/>
                  </a:lnTo>
                  <a:lnTo>
                    <a:pt x="46" y="1502"/>
                  </a:lnTo>
                  <a:lnTo>
                    <a:pt x="36" y="1424"/>
                  </a:lnTo>
                  <a:lnTo>
                    <a:pt x="36" y="1382"/>
                  </a:lnTo>
                  <a:lnTo>
                    <a:pt x="34" y="1348"/>
                  </a:lnTo>
                  <a:lnTo>
                    <a:pt x="24" y="1296"/>
                  </a:lnTo>
                  <a:lnTo>
                    <a:pt x="17" y="1287"/>
                  </a:lnTo>
                  <a:lnTo>
                    <a:pt x="10" y="1280"/>
                  </a:lnTo>
                  <a:lnTo>
                    <a:pt x="1" y="1250"/>
                  </a:lnTo>
                  <a:lnTo>
                    <a:pt x="0" y="1215"/>
                  </a:lnTo>
                  <a:lnTo>
                    <a:pt x="8" y="1188"/>
                  </a:lnTo>
                  <a:lnTo>
                    <a:pt x="16" y="1181"/>
                  </a:lnTo>
                  <a:lnTo>
                    <a:pt x="21" y="1171"/>
                  </a:lnTo>
                  <a:lnTo>
                    <a:pt x="36" y="1099"/>
                  </a:lnTo>
                  <a:lnTo>
                    <a:pt x="43" y="1050"/>
                  </a:lnTo>
                  <a:lnTo>
                    <a:pt x="47" y="995"/>
                  </a:lnTo>
                  <a:lnTo>
                    <a:pt x="63" y="901"/>
                  </a:lnTo>
                  <a:lnTo>
                    <a:pt x="83" y="821"/>
                  </a:lnTo>
                  <a:lnTo>
                    <a:pt x="111" y="744"/>
                  </a:lnTo>
                  <a:lnTo>
                    <a:pt x="127" y="707"/>
                  </a:lnTo>
                  <a:lnTo>
                    <a:pt x="152" y="642"/>
                  </a:lnTo>
                  <a:lnTo>
                    <a:pt x="161" y="606"/>
                  </a:lnTo>
                  <a:lnTo>
                    <a:pt x="164" y="593"/>
                  </a:lnTo>
                  <a:lnTo>
                    <a:pt x="188" y="546"/>
                  </a:lnTo>
                  <a:lnTo>
                    <a:pt x="206" y="518"/>
                  </a:lnTo>
                  <a:lnTo>
                    <a:pt x="224" y="491"/>
                  </a:lnTo>
                  <a:lnTo>
                    <a:pt x="249" y="443"/>
                  </a:lnTo>
                  <a:lnTo>
                    <a:pt x="252" y="432"/>
                  </a:lnTo>
                  <a:lnTo>
                    <a:pt x="253" y="423"/>
                  </a:lnTo>
                  <a:lnTo>
                    <a:pt x="282" y="387"/>
                  </a:lnTo>
                  <a:lnTo>
                    <a:pt x="358" y="304"/>
                  </a:lnTo>
                  <a:lnTo>
                    <a:pt x="488" y="176"/>
                  </a:lnTo>
                  <a:lnTo>
                    <a:pt x="570" y="104"/>
                  </a:lnTo>
                  <a:lnTo>
                    <a:pt x="603" y="79"/>
                  </a:lnTo>
                  <a:lnTo>
                    <a:pt x="609" y="79"/>
                  </a:lnTo>
                  <a:lnTo>
                    <a:pt x="616" y="83"/>
                  </a:lnTo>
                  <a:lnTo>
                    <a:pt x="629" y="79"/>
                  </a:lnTo>
                  <a:lnTo>
                    <a:pt x="633" y="73"/>
                  </a:lnTo>
                  <a:lnTo>
                    <a:pt x="642" y="63"/>
                  </a:lnTo>
                  <a:lnTo>
                    <a:pt x="707" y="39"/>
                  </a:lnTo>
                  <a:lnTo>
                    <a:pt x="803" y="16"/>
                  </a:lnTo>
                  <a:lnTo>
                    <a:pt x="904" y="1"/>
                  </a:lnTo>
                  <a:lnTo>
                    <a:pt x="946" y="0"/>
                  </a:lnTo>
                  <a:lnTo>
                    <a:pt x="988" y="1"/>
                  </a:lnTo>
                  <a:lnTo>
                    <a:pt x="1060" y="20"/>
                  </a:lnTo>
                  <a:lnTo>
                    <a:pt x="1123" y="59"/>
                  </a:lnTo>
                  <a:lnTo>
                    <a:pt x="1175" y="119"/>
                  </a:lnTo>
                  <a:lnTo>
                    <a:pt x="1198" y="158"/>
                  </a:lnTo>
                  <a:lnTo>
                    <a:pt x="1211" y="181"/>
                  </a:lnTo>
                  <a:lnTo>
                    <a:pt x="1228" y="225"/>
                  </a:lnTo>
                  <a:lnTo>
                    <a:pt x="1240" y="299"/>
                  </a:lnTo>
                  <a:lnTo>
                    <a:pt x="1241" y="379"/>
                  </a:lnTo>
                  <a:lnTo>
                    <a:pt x="1240" y="435"/>
                  </a:lnTo>
                  <a:lnTo>
                    <a:pt x="1231" y="518"/>
                  </a:lnTo>
                  <a:lnTo>
                    <a:pt x="1224" y="531"/>
                  </a:lnTo>
                  <a:lnTo>
                    <a:pt x="1217" y="537"/>
                  </a:lnTo>
                  <a:lnTo>
                    <a:pt x="1207" y="561"/>
                  </a:lnTo>
                  <a:lnTo>
                    <a:pt x="1205" y="576"/>
                  </a:lnTo>
                  <a:lnTo>
                    <a:pt x="1204" y="593"/>
                  </a:lnTo>
                  <a:lnTo>
                    <a:pt x="1186" y="646"/>
                  </a:lnTo>
                  <a:lnTo>
                    <a:pt x="1162" y="704"/>
                  </a:lnTo>
                  <a:lnTo>
                    <a:pt x="1137" y="746"/>
                  </a:lnTo>
                  <a:lnTo>
                    <a:pt x="1127" y="753"/>
                  </a:lnTo>
                  <a:lnTo>
                    <a:pt x="1123" y="756"/>
                  </a:lnTo>
                  <a:lnTo>
                    <a:pt x="1120" y="766"/>
                  </a:lnTo>
                  <a:lnTo>
                    <a:pt x="1123" y="772"/>
                  </a:lnTo>
                  <a:lnTo>
                    <a:pt x="1123" y="780"/>
                  </a:lnTo>
                  <a:lnTo>
                    <a:pt x="1100" y="818"/>
                  </a:lnTo>
                  <a:lnTo>
                    <a:pt x="1028" y="906"/>
                  </a:lnTo>
                  <a:lnTo>
                    <a:pt x="894" y="1041"/>
                  </a:lnTo>
                  <a:lnTo>
                    <a:pt x="802" y="1120"/>
                  </a:lnTo>
                  <a:lnTo>
                    <a:pt x="759" y="1149"/>
                  </a:lnTo>
                  <a:lnTo>
                    <a:pt x="746" y="1152"/>
                  </a:lnTo>
                  <a:lnTo>
                    <a:pt x="717" y="1160"/>
                  </a:lnTo>
                  <a:lnTo>
                    <a:pt x="656" y="1188"/>
                  </a:lnTo>
                  <a:lnTo>
                    <a:pt x="623" y="1202"/>
                  </a:lnTo>
                  <a:lnTo>
                    <a:pt x="548" y="1221"/>
                  </a:lnTo>
                  <a:lnTo>
                    <a:pt x="518" y="1224"/>
                  </a:lnTo>
                  <a:lnTo>
                    <a:pt x="449" y="1224"/>
                  </a:lnTo>
                  <a:lnTo>
                    <a:pt x="449" y="1322"/>
                  </a:lnTo>
                  <a:lnTo>
                    <a:pt x="451" y="1361"/>
                  </a:lnTo>
                  <a:lnTo>
                    <a:pt x="459" y="1420"/>
                  </a:lnTo>
                  <a:lnTo>
                    <a:pt x="468" y="1431"/>
                  </a:lnTo>
                  <a:lnTo>
                    <a:pt x="474" y="1437"/>
                  </a:lnTo>
                  <a:lnTo>
                    <a:pt x="478" y="1456"/>
                  </a:lnTo>
                  <a:lnTo>
                    <a:pt x="475" y="1466"/>
                  </a:lnTo>
                  <a:lnTo>
                    <a:pt x="471" y="1476"/>
                  </a:lnTo>
                  <a:lnTo>
                    <a:pt x="476" y="1496"/>
                  </a:lnTo>
                  <a:lnTo>
                    <a:pt x="484" y="1503"/>
                  </a:lnTo>
                  <a:lnTo>
                    <a:pt x="491" y="1509"/>
                  </a:lnTo>
                  <a:lnTo>
                    <a:pt x="502" y="1533"/>
                  </a:lnTo>
                  <a:lnTo>
                    <a:pt x="504" y="1548"/>
                  </a:lnTo>
                  <a:lnTo>
                    <a:pt x="507" y="1562"/>
                  </a:lnTo>
                  <a:lnTo>
                    <a:pt x="540" y="1607"/>
                  </a:lnTo>
                  <a:lnTo>
                    <a:pt x="587" y="1656"/>
                  </a:lnTo>
                  <a:lnTo>
                    <a:pt x="633" y="1689"/>
                  </a:lnTo>
                  <a:lnTo>
                    <a:pt x="649" y="1692"/>
                  </a:lnTo>
                  <a:lnTo>
                    <a:pt x="665" y="1690"/>
                  </a:lnTo>
                  <a:lnTo>
                    <a:pt x="710" y="1672"/>
                  </a:lnTo>
                  <a:lnTo>
                    <a:pt x="789" y="1618"/>
                  </a:lnTo>
                  <a:lnTo>
                    <a:pt x="901" y="1518"/>
                  </a:lnTo>
                  <a:lnTo>
                    <a:pt x="966" y="1440"/>
                  </a:lnTo>
                  <a:lnTo>
                    <a:pt x="993" y="1392"/>
                  </a:lnTo>
                  <a:lnTo>
                    <a:pt x="1001" y="1374"/>
                  </a:lnTo>
                  <a:lnTo>
                    <a:pt x="1006" y="1356"/>
                  </a:lnTo>
                  <a:lnTo>
                    <a:pt x="1019" y="1335"/>
                  </a:lnTo>
                  <a:lnTo>
                    <a:pt x="1027" y="1332"/>
                  </a:lnTo>
                  <a:lnTo>
                    <a:pt x="1034" y="1327"/>
                  </a:lnTo>
                  <a:lnTo>
                    <a:pt x="1063" y="1286"/>
                  </a:lnTo>
                  <a:lnTo>
                    <a:pt x="1080" y="1257"/>
                  </a:lnTo>
                  <a:lnTo>
                    <a:pt x="1120" y="1176"/>
                  </a:lnTo>
                  <a:lnTo>
                    <a:pt x="1169" y="1088"/>
                  </a:lnTo>
                  <a:lnTo>
                    <a:pt x="1282" y="893"/>
                  </a:lnTo>
                  <a:lnTo>
                    <a:pt x="1341" y="782"/>
                  </a:lnTo>
                  <a:lnTo>
                    <a:pt x="1356" y="753"/>
                  </a:lnTo>
                  <a:lnTo>
                    <a:pt x="1388" y="705"/>
                  </a:lnTo>
                  <a:lnTo>
                    <a:pt x="1400" y="697"/>
                  </a:lnTo>
                  <a:lnTo>
                    <a:pt x="1408" y="690"/>
                  </a:lnTo>
                  <a:lnTo>
                    <a:pt x="1420" y="669"/>
                  </a:lnTo>
                  <a:lnTo>
                    <a:pt x="1421" y="659"/>
                  </a:lnTo>
                  <a:lnTo>
                    <a:pt x="1424" y="645"/>
                  </a:lnTo>
                  <a:lnTo>
                    <a:pt x="1449" y="596"/>
                  </a:lnTo>
                  <a:lnTo>
                    <a:pt x="1466" y="567"/>
                  </a:lnTo>
                  <a:lnTo>
                    <a:pt x="1493" y="528"/>
                  </a:lnTo>
                  <a:lnTo>
                    <a:pt x="1502" y="498"/>
                  </a:lnTo>
                  <a:lnTo>
                    <a:pt x="1492" y="485"/>
                  </a:lnTo>
                  <a:lnTo>
                    <a:pt x="1483" y="476"/>
                  </a:lnTo>
                  <a:lnTo>
                    <a:pt x="1474" y="469"/>
                  </a:lnTo>
                  <a:lnTo>
                    <a:pt x="1462" y="440"/>
                  </a:lnTo>
                  <a:lnTo>
                    <a:pt x="1447" y="371"/>
                  </a:lnTo>
                  <a:lnTo>
                    <a:pt x="1441" y="258"/>
                  </a:lnTo>
                  <a:lnTo>
                    <a:pt x="1446" y="180"/>
                  </a:lnTo>
                  <a:lnTo>
                    <a:pt x="1454" y="140"/>
                  </a:lnTo>
                  <a:lnTo>
                    <a:pt x="1462" y="127"/>
                  </a:lnTo>
                  <a:lnTo>
                    <a:pt x="1473" y="106"/>
                  </a:lnTo>
                  <a:lnTo>
                    <a:pt x="1508" y="72"/>
                  </a:lnTo>
                  <a:lnTo>
                    <a:pt x="1552" y="47"/>
                  </a:lnTo>
                  <a:lnTo>
                    <a:pt x="1604" y="30"/>
                  </a:lnTo>
                  <a:lnTo>
                    <a:pt x="1662" y="23"/>
                  </a:lnTo>
                  <a:lnTo>
                    <a:pt x="1721" y="24"/>
                  </a:lnTo>
                  <a:lnTo>
                    <a:pt x="1780" y="34"/>
                  </a:lnTo>
                  <a:lnTo>
                    <a:pt x="1835" y="56"/>
                  </a:lnTo>
                  <a:lnTo>
                    <a:pt x="1860" y="70"/>
                  </a:lnTo>
                  <a:lnTo>
                    <a:pt x="1889" y="89"/>
                  </a:lnTo>
                  <a:lnTo>
                    <a:pt x="1924" y="122"/>
                  </a:lnTo>
                  <a:lnTo>
                    <a:pt x="1932" y="157"/>
                  </a:lnTo>
                  <a:lnTo>
                    <a:pt x="1917" y="199"/>
                  </a:lnTo>
                  <a:lnTo>
                    <a:pt x="1898" y="223"/>
                  </a:lnTo>
                  <a:lnTo>
                    <a:pt x="1881" y="249"/>
                  </a:lnTo>
                  <a:lnTo>
                    <a:pt x="1856" y="299"/>
                  </a:lnTo>
                  <a:lnTo>
                    <a:pt x="1853" y="317"/>
                  </a:lnTo>
                  <a:lnTo>
                    <a:pt x="1855" y="341"/>
                  </a:lnTo>
                  <a:lnTo>
                    <a:pt x="1879" y="403"/>
                  </a:lnTo>
                  <a:lnTo>
                    <a:pt x="1924" y="476"/>
                  </a:lnTo>
                  <a:lnTo>
                    <a:pt x="1986" y="556"/>
                  </a:lnTo>
                  <a:lnTo>
                    <a:pt x="2023" y="595"/>
                  </a:lnTo>
                  <a:lnTo>
                    <a:pt x="2076" y="651"/>
                  </a:lnTo>
                  <a:lnTo>
                    <a:pt x="2164" y="754"/>
                  </a:lnTo>
                  <a:lnTo>
                    <a:pt x="2232" y="847"/>
                  </a:lnTo>
                  <a:lnTo>
                    <a:pt x="2275" y="926"/>
                  </a:lnTo>
                  <a:lnTo>
                    <a:pt x="2287" y="962"/>
                  </a:lnTo>
                  <a:lnTo>
                    <a:pt x="2297" y="993"/>
                  </a:lnTo>
                  <a:lnTo>
                    <a:pt x="2317" y="1039"/>
                  </a:lnTo>
                  <a:lnTo>
                    <a:pt x="2323" y="1044"/>
                  </a:lnTo>
                  <a:lnTo>
                    <a:pt x="2328" y="1045"/>
                  </a:lnTo>
                  <a:lnTo>
                    <a:pt x="2339" y="1063"/>
                  </a:lnTo>
                  <a:lnTo>
                    <a:pt x="2353" y="1114"/>
                  </a:lnTo>
                  <a:lnTo>
                    <a:pt x="2367" y="1221"/>
                  </a:lnTo>
                  <a:lnTo>
                    <a:pt x="2373" y="1345"/>
                  </a:lnTo>
                  <a:lnTo>
                    <a:pt x="2372" y="1408"/>
                  </a:lnTo>
                  <a:lnTo>
                    <a:pt x="2367" y="1505"/>
                  </a:lnTo>
                  <a:lnTo>
                    <a:pt x="2352" y="1587"/>
                  </a:lnTo>
                  <a:lnTo>
                    <a:pt x="2331" y="1631"/>
                  </a:lnTo>
                  <a:lnTo>
                    <a:pt x="2316" y="1654"/>
                  </a:lnTo>
                  <a:lnTo>
                    <a:pt x="2278" y="1712"/>
                  </a:lnTo>
                  <a:lnTo>
                    <a:pt x="2268" y="1736"/>
                  </a:lnTo>
                  <a:lnTo>
                    <a:pt x="2265" y="1745"/>
                  </a:lnTo>
                  <a:lnTo>
                    <a:pt x="2244" y="1772"/>
                  </a:lnTo>
                  <a:lnTo>
                    <a:pt x="2183" y="1830"/>
                  </a:lnTo>
                  <a:lnTo>
                    <a:pt x="2075" y="1914"/>
                  </a:lnTo>
                  <a:lnTo>
                    <a:pt x="2003" y="1961"/>
                  </a:lnTo>
                  <a:lnTo>
                    <a:pt x="1968" y="1978"/>
                  </a:lnTo>
                  <a:lnTo>
                    <a:pt x="1958" y="1980"/>
                  </a:lnTo>
                  <a:lnTo>
                    <a:pt x="1947" y="1981"/>
                  </a:lnTo>
                  <a:lnTo>
                    <a:pt x="1911" y="1996"/>
                  </a:lnTo>
                  <a:lnTo>
                    <a:pt x="1894" y="2007"/>
                  </a:lnTo>
                  <a:lnTo>
                    <a:pt x="1878" y="2016"/>
                  </a:lnTo>
                  <a:lnTo>
                    <a:pt x="1830" y="2034"/>
                  </a:lnTo>
                  <a:lnTo>
                    <a:pt x="1732" y="2059"/>
                  </a:lnTo>
                  <a:lnTo>
                    <a:pt x="1578" y="2082"/>
                  </a:lnTo>
                  <a:lnTo>
                    <a:pt x="1479" y="2086"/>
                  </a:lnTo>
                  <a:lnTo>
                    <a:pt x="1428" y="2083"/>
                  </a:lnTo>
                  <a:lnTo>
                    <a:pt x="1413" y="2079"/>
                  </a:lnTo>
                  <a:close/>
                  <a:moveTo>
                    <a:pt x="642" y="926"/>
                  </a:moveTo>
                  <a:lnTo>
                    <a:pt x="668" y="903"/>
                  </a:lnTo>
                  <a:lnTo>
                    <a:pt x="730" y="841"/>
                  </a:lnTo>
                  <a:lnTo>
                    <a:pt x="788" y="773"/>
                  </a:lnTo>
                  <a:lnTo>
                    <a:pt x="824" y="718"/>
                  </a:lnTo>
                  <a:lnTo>
                    <a:pt x="828" y="704"/>
                  </a:lnTo>
                  <a:lnTo>
                    <a:pt x="828" y="695"/>
                  </a:lnTo>
                  <a:lnTo>
                    <a:pt x="836" y="685"/>
                  </a:lnTo>
                  <a:lnTo>
                    <a:pt x="844" y="684"/>
                  </a:lnTo>
                  <a:lnTo>
                    <a:pt x="851" y="681"/>
                  </a:lnTo>
                  <a:lnTo>
                    <a:pt x="868" y="649"/>
                  </a:lnTo>
                  <a:lnTo>
                    <a:pt x="890" y="561"/>
                  </a:lnTo>
                  <a:lnTo>
                    <a:pt x="907" y="410"/>
                  </a:lnTo>
                  <a:lnTo>
                    <a:pt x="907" y="312"/>
                  </a:lnTo>
                  <a:lnTo>
                    <a:pt x="900" y="269"/>
                  </a:lnTo>
                  <a:lnTo>
                    <a:pt x="894" y="259"/>
                  </a:lnTo>
                  <a:lnTo>
                    <a:pt x="884" y="258"/>
                  </a:lnTo>
                  <a:lnTo>
                    <a:pt x="839" y="286"/>
                  </a:lnTo>
                  <a:lnTo>
                    <a:pt x="813" y="314"/>
                  </a:lnTo>
                  <a:lnTo>
                    <a:pt x="793" y="334"/>
                  </a:lnTo>
                  <a:lnTo>
                    <a:pt x="746" y="399"/>
                  </a:lnTo>
                  <a:lnTo>
                    <a:pt x="669" y="528"/>
                  </a:lnTo>
                  <a:lnTo>
                    <a:pt x="573" y="730"/>
                  </a:lnTo>
                  <a:lnTo>
                    <a:pt x="523" y="865"/>
                  </a:lnTo>
                  <a:lnTo>
                    <a:pt x="505" y="934"/>
                  </a:lnTo>
                  <a:lnTo>
                    <a:pt x="504" y="959"/>
                  </a:lnTo>
                  <a:lnTo>
                    <a:pt x="505" y="973"/>
                  </a:lnTo>
                  <a:lnTo>
                    <a:pt x="524" y="983"/>
                  </a:lnTo>
                  <a:lnTo>
                    <a:pt x="561" y="975"/>
                  </a:lnTo>
                  <a:lnTo>
                    <a:pt x="612" y="946"/>
                  </a:lnTo>
                  <a:lnTo>
                    <a:pt x="642" y="926"/>
                  </a:lnTo>
                  <a:close/>
                </a:path>
              </a:pathLst>
            </a:custGeom>
            <a:solidFill>
              <a:srgbClr val="C00000"/>
            </a:solidFill>
            <a:ln>
              <a:noFill/>
            </a:ln>
          </p:spPr>
          <p:txBody>
            <a:bodyPr vert="horz" wrap="square" lIns="91440" tIns="45720" rIns="91440" bIns="45720" numCol="1" anchor="t" anchorCtr="0" compatLnSpc="1">
              <a:prstTxWarp prst="textNoShape">
                <a:avLst/>
              </a:prstTxWarp>
            </a:bodyPr>
            <a:lstStyle/>
            <a:p>
              <a:endParaRPr lang="es-PE"/>
            </a:p>
          </p:txBody>
        </p:sp>
        <p:sp>
          <p:nvSpPr>
            <p:cNvPr id="25" name="Freeform 23"/>
            <p:cNvSpPr>
              <a:spLocks/>
            </p:cNvSpPr>
            <p:nvPr/>
          </p:nvSpPr>
          <p:spPr bwMode="auto">
            <a:xfrm>
              <a:off x="6038171" y="1706108"/>
              <a:ext cx="541338" cy="923925"/>
            </a:xfrm>
            <a:custGeom>
              <a:avLst/>
              <a:gdLst>
                <a:gd name="T0" fmla="*/ 648 w 1021"/>
                <a:gd name="T1" fmla="*/ 1689 h 1745"/>
                <a:gd name="T2" fmla="*/ 510 w 1021"/>
                <a:gd name="T3" fmla="*/ 1539 h 1745"/>
                <a:gd name="T4" fmla="*/ 448 w 1021"/>
                <a:gd name="T5" fmla="*/ 1279 h 1745"/>
                <a:gd name="T6" fmla="*/ 433 w 1021"/>
                <a:gd name="T7" fmla="*/ 1135 h 1745"/>
                <a:gd name="T8" fmla="*/ 415 w 1021"/>
                <a:gd name="T9" fmla="*/ 1064 h 1745"/>
                <a:gd name="T10" fmla="*/ 446 w 1021"/>
                <a:gd name="T11" fmla="*/ 944 h 1745"/>
                <a:gd name="T12" fmla="*/ 459 w 1021"/>
                <a:gd name="T13" fmla="*/ 720 h 1745"/>
                <a:gd name="T14" fmla="*/ 481 w 1021"/>
                <a:gd name="T15" fmla="*/ 538 h 1745"/>
                <a:gd name="T16" fmla="*/ 443 w 1021"/>
                <a:gd name="T17" fmla="*/ 531 h 1745"/>
                <a:gd name="T18" fmla="*/ 392 w 1021"/>
                <a:gd name="T19" fmla="*/ 561 h 1745"/>
                <a:gd name="T20" fmla="*/ 364 w 1021"/>
                <a:gd name="T21" fmla="*/ 811 h 1745"/>
                <a:gd name="T22" fmla="*/ 320 w 1021"/>
                <a:gd name="T23" fmla="*/ 986 h 1745"/>
                <a:gd name="T24" fmla="*/ 299 w 1021"/>
                <a:gd name="T25" fmla="*/ 1067 h 1745"/>
                <a:gd name="T26" fmla="*/ 150 w 1021"/>
                <a:gd name="T27" fmla="*/ 1207 h 1745"/>
                <a:gd name="T28" fmla="*/ 60 w 1021"/>
                <a:gd name="T29" fmla="*/ 1221 h 1745"/>
                <a:gd name="T30" fmla="*/ 0 w 1021"/>
                <a:gd name="T31" fmla="*/ 1179 h 1745"/>
                <a:gd name="T32" fmla="*/ 34 w 1021"/>
                <a:gd name="T33" fmla="*/ 1077 h 1745"/>
                <a:gd name="T34" fmla="*/ 102 w 1021"/>
                <a:gd name="T35" fmla="*/ 969 h 1745"/>
                <a:gd name="T36" fmla="*/ 122 w 1021"/>
                <a:gd name="T37" fmla="*/ 903 h 1745"/>
                <a:gd name="T38" fmla="*/ 152 w 1021"/>
                <a:gd name="T39" fmla="*/ 836 h 1745"/>
                <a:gd name="T40" fmla="*/ 150 w 1021"/>
                <a:gd name="T41" fmla="*/ 796 h 1745"/>
                <a:gd name="T42" fmla="*/ 180 w 1021"/>
                <a:gd name="T43" fmla="*/ 701 h 1745"/>
                <a:gd name="T44" fmla="*/ 109 w 1021"/>
                <a:gd name="T45" fmla="*/ 459 h 1745"/>
                <a:gd name="T46" fmla="*/ 11 w 1021"/>
                <a:gd name="T47" fmla="*/ 314 h 1745"/>
                <a:gd name="T48" fmla="*/ 6 w 1021"/>
                <a:gd name="T49" fmla="*/ 219 h 1745"/>
                <a:gd name="T50" fmla="*/ 57 w 1021"/>
                <a:gd name="T51" fmla="*/ 114 h 1745"/>
                <a:gd name="T52" fmla="*/ 176 w 1021"/>
                <a:gd name="T53" fmla="*/ 69 h 1745"/>
                <a:gd name="T54" fmla="*/ 294 w 1021"/>
                <a:gd name="T55" fmla="*/ 92 h 1745"/>
                <a:gd name="T56" fmla="*/ 357 w 1021"/>
                <a:gd name="T57" fmla="*/ 217 h 1745"/>
                <a:gd name="T58" fmla="*/ 340 w 1021"/>
                <a:gd name="T59" fmla="*/ 297 h 1745"/>
                <a:gd name="T60" fmla="*/ 322 w 1021"/>
                <a:gd name="T61" fmla="*/ 381 h 1745"/>
                <a:gd name="T62" fmla="*/ 345 w 1021"/>
                <a:gd name="T63" fmla="*/ 425 h 1745"/>
                <a:gd name="T64" fmla="*/ 481 w 1021"/>
                <a:gd name="T65" fmla="*/ 305 h 1745"/>
                <a:gd name="T66" fmla="*/ 572 w 1021"/>
                <a:gd name="T67" fmla="*/ 167 h 1745"/>
                <a:gd name="T68" fmla="*/ 747 w 1021"/>
                <a:gd name="T69" fmla="*/ 10 h 1745"/>
                <a:gd name="T70" fmla="*/ 816 w 1021"/>
                <a:gd name="T71" fmla="*/ 3 h 1745"/>
                <a:gd name="T72" fmla="*/ 959 w 1021"/>
                <a:gd name="T73" fmla="*/ 122 h 1745"/>
                <a:gd name="T74" fmla="*/ 970 w 1021"/>
                <a:gd name="T75" fmla="*/ 174 h 1745"/>
                <a:gd name="T76" fmla="*/ 995 w 1021"/>
                <a:gd name="T77" fmla="*/ 216 h 1745"/>
                <a:gd name="T78" fmla="*/ 996 w 1021"/>
                <a:gd name="T79" fmla="*/ 356 h 1745"/>
                <a:gd name="T80" fmla="*/ 955 w 1021"/>
                <a:gd name="T81" fmla="*/ 477 h 1745"/>
                <a:gd name="T82" fmla="*/ 904 w 1021"/>
                <a:gd name="T83" fmla="*/ 740 h 1745"/>
                <a:gd name="T84" fmla="*/ 880 w 1021"/>
                <a:gd name="T85" fmla="*/ 825 h 1745"/>
                <a:gd name="T86" fmla="*/ 860 w 1021"/>
                <a:gd name="T87" fmla="*/ 1035 h 1745"/>
                <a:gd name="T88" fmla="*/ 851 w 1021"/>
                <a:gd name="T89" fmla="*/ 1323 h 1745"/>
                <a:gd name="T90" fmla="*/ 884 w 1021"/>
                <a:gd name="T91" fmla="*/ 1450 h 1745"/>
                <a:gd name="T92" fmla="*/ 929 w 1021"/>
                <a:gd name="T93" fmla="*/ 1528 h 1745"/>
                <a:gd name="T94" fmla="*/ 1014 w 1021"/>
                <a:gd name="T95" fmla="*/ 1598 h 1745"/>
                <a:gd name="T96" fmla="*/ 985 w 1021"/>
                <a:gd name="T97" fmla="*/ 1699 h 1745"/>
                <a:gd name="T98" fmla="*/ 904 w 1021"/>
                <a:gd name="T99" fmla="*/ 1745 h 1745"/>
                <a:gd name="T100" fmla="*/ 726 w 1021"/>
                <a:gd name="T101" fmla="*/ 1735 h 17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021" h="1745">
                  <a:moveTo>
                    <a:pt x="703" y="1728"/>
                  </a:moveTo>
                  <a:lnTo>
                    <a:pt x="688" y="1721"/>
                  </a:lnTo>
                  <a:lnTo>
                    <a:pt x="648" y="1689"/>
                  </a:lnTo>
                  <a:lnTo>
                    <a:pt x="573" y="1617"/>
                  </a:lnTo>
                  <a:lnTo>
                    <a:pt x="523" y="1559"/>
                  </a:lnTo>
                  <a:lnTo>
                    <a:pt x="510" y="1539"/>
                  </a:lnTo>
                  <a:lnTo>
                    <a:pt x="484" y="1466"/>
                  </a:lnTo>
                  <a:lnTo>
                    <a:pt x="462" y="1372"/>
                  </a:lnTo>
                  <a:lnTo>
                    <a:pt x="448" y="1279"/>
                  </a:lnTo>
                  <a:lnTo>
                    <a:pt x="448" y="1238"/>
                  </a:lnTo>
                  <a:lnTo>
                    <a:pt x="446" y="1201"/>
                  </a:lnTo>
                  <a:lnTo>
                    <a:pt x="433" y="1135"/>
                  </a:lnTo>
                  <a:lnTo>
                    <a:pt x="426" y="1116"/>
                  </a:lnTo>
                  <a:lnTo>
                    <a:pt x="415" y="1096"/>
                  </a:lnTo>
                  <a:lnTo>
                    <a:pt x="415" y="1064"/>
                  </a:lnTo>
                  <a:lnTo>
                    <a:pt x="426" y="1044"/>
                  </a:lnTo>
                  <a:lnTo>
                    <a:pt x="433" y="1024"/>
                  </a:lnTo>
                  <a:lnTo>
                    <a:pt x="446" y="944"/>
                  </a:lnTo>
                  <a:lnTo>
                    <a:pt x="448" y="900"/>
                  </a:lnTo>
                  <a:lnTo>
                    <a:pt x="448" y="848"/>
                  </a:lnTo>
                  <a:lnTo>
                    <a:pt x="459" y="720"/>
                  </a:lnTo>
                  <a:lnTo>
                    <a:pt x="466" y="664"/>
                  </a:lnTo>
                  <a:lnTo>
                    <a:pt x="474" y="612"/>
                  </a:lnTo>
                  <a:lnTo>
                    <a:pt x="481" y="538"/>
                  </a:lnTo>
                  <a:lnTo>
                    <a:pt x="478" y="530"/>
                  </a:lnTo>
                  <a:lnTo>
                    <a:pt x="472" y="527"/>
                  </a:lnTo>
                  <a:lnTo>
                    <a:pt x="443" y="531"/>
                  </a:lnTo>
                  <a:lnTo>
                    <a:pt x="426" y="538"/>
                  </a:lnTo>
                  <a:lnTo>
                    <a:pt x="410" y="544"/>
                  </a:lnTo>
                  <a:lnTo>
                    <a:pt x="392" y="561"/>
                  </a:lnTo>
                  <a:lnTo>
                    <a:pt x="377" y="626"/>
                  </a:lnTo>
                  <a:lnTo>
                    <a:pt x="370" y="733"/>
                  </a:lnTo>
                  <a:lnTo>
                    <a:pt x="364" y="811"/>
                  </a:lnTo>
                  <a:lnTo>
                    <a:pt x="345" y="932"/>
                  </a:lnTo>
                  <a:lnTo>
                    <a:pt x="332" y="963"/>
                  </a:lnTo>
                  <a:lnTo>
                    <a:pt x="320" y="986"/>
                  </a:lnTo>
                  <a:lnTo>
                    <a:pt x="305" y="1032"/>
                  </a:lnTo>
                  <a:lnTo>
                    <a:pt x="304" y="1048"/>
                  </a:lnTo>
                  <a:lnTo>
                    <a:pt x="299" y="1067"/>
                  </a:lnTo>
                  <a:lnTo>
                    <a:pt x="263" y="1116"/>
                  </a:lnTo>
                  <a:lnTo>
                    <a:pt x="209" y="1168"/>
                  </a:lnTo>
                  <a:lnTo>
                    <a:pt x="150" y="1207"/>
                  </a:lnTo>
                  <a:lnTo>
                    <a:pt x="125" y="1215"/>
                  </a:lnTo>
                  <a:lnTo>
                    <a:pt x="101" y="1219"/>
                  </a:lnTo>
                  <a:lnTo>
                    <a:pt x="60" y="1221"/>
                  </a:lnTo>
                  <a:lnTo>
                    <a:pt x="30" y="1215"/>
                  </a:lnTo>
                  <a:lnTo>
                    <a:pt x="10" y="1201"/>
                  </a:lnTo>
                  <a:lnTo>
                    <a:pt x="0" y="1179"/>
                  </a:lnTo>
                  <a:lnTo>
                    <a:pt x="1" y="1150"/>
                  </a:lnTo>
                  <a:lnTo>
                    <a:pt x="13" y="1116"/>
                  </a:lnTo>
                  <a:lnTo>
                    <a:pt x="34" y="1077"/>
                  </a:lnTo>
                  <a:lnTo>
                    <a:pt x="52" y="1055"/>
                  </a:lnTo>
                  <a:lnTo>
                    <a:pt x="73" y="1024"/>
                  </a:lnTo>
                  <a:lnTo>
                    <a:pt x="102" y="969"/>
                  </a:lnTo>
                  <a:lnTo>
                    <a:pt x="105" y="955"/>
                  </a:lnTo>
                  <a:lnTo>
                    <a:pt x="106" y="940"/>
                  </a:lnTo>
                  <a:lnTo>
                    <a:pt x="122" y="903"/>
                  </a:lnTo>
                  <a:lnTo>
                    <a:pt x="134" y="885"/>
                  </a:lnTo>
                  <a:lnTo>
                    <a:pt x="144" y="868"/>
                  </a:lnTo>
                  <a:lnTo>
                    <a:pt x="152" y="836"/>
                  </a:lnTo>
                  <a:lnTo>
                    <a:pt x="150" y="828"/>
                  </a:lnTo>
                  <a:lnTo>
                    <a:pt x="145" y="819"/>
                  </a:lnTo>
                  <a:lnTo>
                    <a:pt x="150" y="796"/>
                  </a:lnTo>
                  <a:lnTo>
                    <a:pt x="155" y="786"/>
                  </a:lnTo>
                  <a:lnTo>
                    <a:pt x="163" y="772"/>
                  </a:lnTo>
                  <a:lnTo>
                    <a:pt x="180" y="701"/>
                  </a:lnTo>
                  <a:lnTo>
                    <a:pt x="186" y="656"/>
                  </a:lnTo>
                  <a:lnTo>
                    <a:pt x="197" y="547"/>
                  </a:lnTo>
                  <a:lnTo>
                    <a:pt x="109" y="459"/>
                  </a:lnTo>
                  <a:lnTo>
                    <a:pt x="63" y="410"/>
                  </a:lnTo>
                  <a:lnTo>
                    <a:pt x="26" y="353"/>
                  </a:lnTo>
                  <a:lnTo>
                    <a:pt x="11" y="314"/>
                  </a:lnTo>
                  <a:lnTo>
                    <a:pt x="8" y="292"/>
                  </a:lnTo>
                  <a:lnTo>
                    <a:pt x="4" y="266"/>
                  </a:lnTo>
                  <a:lnTo>
                    <a:pt x="6" y="219"/>
                  </a:lnTo>
                  <a:lnTo>
                    <a:pt x="14" y="177"/>
                  </a:lnTo>
                  <a:lnTo>
                    <a:pt x="32" y="142"/>
                  </a:lnTo>
                  <a:lnTo>
                    <a:pt x="57" y="114"/>
                  </a:lnTo>
                  <a:lnTo>
                    <a:pt x="89" y="91"/>
                  </a:lnTo>
                  <a:lnTo>
                    <a:pt x="129" y="76"/>
                  </a:lnTo>
                  <a:lnTo>
                    <a:pt x="176" y="69"/>
                  </a:lnTo>
                  <a:lnTo>
                    <a:pt x="200" y="69"/>
                  </a:lnTo>
                  <a:lnTo>
                    <a:pt x="236" y="70"/>
                  </a:lnTo>
                  <a:lnTo>
                    <a:pt x="294" y="92"/>
                  </a:lnTo>
                  <a:lnTo>
                    <a:pt x="334" y="131"/>
                  </a:lnTo>
                  <a:lnTo>
                    <a:pt x="356" y="186"/>
                  </a:lnTo>
                  <a:lnTo>
                    <a:pt x="357" y="217"/>
                  </a:lnTo>
                  <a:lnTo>
                    <a:pt x="356" y="246"/>
                  </a:lnTo>
                  <a:lnTo>
                    <a:pt x="347" y="289"/>
                  </a:lnTo>
                  <a:lnTo>
                    <a:pt x="340" y="297"/>
                  </a:lnTo>
                  <a:lnTo>
                    <a:pt x="331" y="305"/>
                  </a:lnTo>
                  <a:lnTo>
                    <a:pt x="322" y="338"/>
                  </a:lnTo>
                  <a:lnTo>
                    <a:pt x="322" y="381"/>
                  </a:lnTo>
                  <a:lnTo>
                    <a:pt x="331" y="415"/>
                  </a:lnTo>
                  <a:lnTo>
                    <a:pt x="340" y="423"/>
                  </a:lnTo>
                  <a:lnTo>
                    <a:pt x="345" y="425"/>
                  </a:lnTo>
                  <a:lnTo>
                    <a:pt x="366" y="415"/>
                  </a:lnTo>
                  <a:lnTo>
                    <a:pt x="410" y="379"/>
                  </a:lnTo>
                  <a:lnTo>
                    <a:pt x="481" y="305"/>
                  </a:lnTo>
                  <a:lnTo>
                    <a:pt x="540" y="229"/>
                  </a:lnTo>
                  <a:lnTo>
                    <a:pt x="556" y="200"/>
                  </a:lnTo>
                  <a:lnTo>
                    <a:pt x="572" y="167"/>
                  </a:lnTo>
                  <a:lnTo>
                    <a:pt x="628" y="98"/>
                  </a:lnTo>
                  <a:lnTo>
                    <a:pt x="697" y="39"/>
                  </a:lnTo>
                  <a:lnTo>
                    <a:pt x="747" y="10"/>
                  </a:lnTo>
                  <a:lnTo>
                    <a:pt x="778" y="1"/>
                  </a:lnTo>
                  <a:lnTo>
                    <a:pt x="790" y="0"/>
                  </a:lnTo>
                  <a:lnTo>
                    <a:pt x="816" y="3"/>
                  </a:lnTo>
                  <a:lnTo>
                    <a:pt x="875" y="34"/>
                  </a:lnTo>
                  <a:lnTo>
                    <a:pt x="930" y="83"/>
                  </a:lnTo>
                  <a:lnTo>
                    <a:pt x="959" y="122"/>
                  </a:lnTo>
                  <a:lnTo>
                    <a:pt x="968" y="147"/>
                  </a:lnTo>
                  <a:lnTo>
                    <a:pt x="969" y="158"/>
                  </a:lnTo>
                  <a:lnTo>
                    <a:pt x="970" y="174"/>
                  </a:lnTo>
                  <a:lnTo>
                    <a:pt x="981" y="201"/>
                  </a:lnTo>
                  <a:lnTo>
                    <a:pt x="988" y="207"/>
                  </a:lnTo>
                  <a:lnTo>
                    <a:pt x="995" y="216"/>
                  </a:lnTo>
                  <a:lnTo>
                    <a:pt x="1004" y="261"/>
                  </a:lnTo>
                  <a:lnTo>
                    <a:pt x="1004" y="314"/>
                  </a:lnTo>
                  <a:lnTo>
                    <a:pt x="996" y="356"/>
                  </a:lnTo>
                  <a:lnTo>
                    <a:pt x="989" y="364"/>
                  </a:lnTo>
                  <a:lnTo>
                    <a:pt x="979" y="376"/>
                  </a:lnTo>
                  <a:lnTo>
                    <a:pt x="955" y="477"/>
                  </a:lnTo>
                  <a:lnTo>
                    <a:pt x="942" y="548"/>
                  </a:lnTo>
                  <a:lnTo>
                    <a:pt x="929" y="623"/>
                  </a:lnTo>
                  <a:lnTo>
                    <a:pt x="904" y="740"/>
                  </a:lnTo>
                  <a:lnTo>
                    <a:pt x="896" y="764"/>
                  </a:lnTo>
                  <a:lnTo>
                    <a:pt x="888" y="782"/>
                  </a:lnTo>
                  <a:lnTo>
                    <a:pt x="880" y="825"/>
                  </a:lnTo>
                  <a:lnTo>
                    <a:pt x="880" y="847"/>
                  </a:lnTo>
                  <a:lnTo>
                    <a:pt x="874" y="913"/>
                  </a:lnTo>
                  <a:lnTo>
                    <a:pt x="860" y="1035"/>
                  </a:lnTo>
                  <a:lnTo>
                    <a:pt x="852" y="1093"/>
                  </a:lnTo>
                  <a:lnTo>
                    <a:pt x="847" y="1214"/>
                  </a:lnTo>
                  <a:lnTo>
                    <a:pt x="851" y="1323"/>
                  </a:lnTo>
                  <a:lnTo>
                    <a:pt x="862" y="1404"/>
                  </a:lnTo>
                  <a:lnTo>
                    <a:pt x="873" y="1424"/>
                  </a:lnTo>
                  <a:lnTo>
                    <a:pt x="884" y="1450"/>
                  </a:lnTo>
                  <a:lnTo>
                    <a:pt x="888" y="1476"/>
                  </a:lnTo>
                  <a:lnTo>
                    <a:pt x="891" y="1489"/>
                  </a:lnTo>
                  <a:lnTo>
                    <a:pt x="929" y="1528"/>
                  </a:lnTo>
                  <a:lnTo>
                    <a:pt x="956" y="1546"/>
                  </a:lnTo>
                  <a:lnTo>
                    <a:pt x="982" y="1565"/>
                  </a:lnTo>
                  <a:lnTo>
                    <a:pt x="1014" y="1598"/>
                  </a:lnTo>
                  <a:lnTo>
                    <a:pt x="1021" y="1634"/>
                  </a:lnTo>
                  <a:lnTo>
                    <a:pt x="1004" y="1674"/>
                  </a:lnTo>
                  <a:lnTo>
                    <a:pt x="985" y="1699"/>
                  </a:lnTo>
                  <a:lnTo>
                    <a:pt x="973" y="1713"/>
                  </a:lnTo>
                  <a:lnTo>
                    <a:pt x="952" y="1732"/>
                  </a:lnTo>
                  <a:lnTo>
                    <a:pt x="904" y="1745"/>
                  </a:lnTo>
                  <a:lnTo>
                    <a:pt x="847" y="1744"/>
                  </a:lnTo>
                  <a:lnTo>
                    <a:pt x="803" y="1744"/>
                  </a:lnTo>
                  <a:lnTo>
                    <a:pt x="726" y="1735"/>
                  </a:lnTo>
                  <a:lnTo>
                    <a:pt x="703" y="1728"/>
                  </a:lnTo>
                  <a:close/>
                </a:path>
              </a:pathLst>
            </a:custGeom>
            <a:solidFill>
              <a:srgbClr val="C00000"/>
            </a:solidFill>
            <a:ln>
              <a:noFill/>
            </a:ln>
          </p:spPr>
          <p:txBody>
            <a:bodyPr vert="horz" wrap="square" lIns="91440" tIns="45720" rIns="91440" bIns="45720" numCol="1" anchor="t" anchorCtr="0" compatLnSpc="1">
              <a:prstTxWarp prst="textNoShape">
                <a:avLst/>
              </a:prstTxWarp>
            </a:bodyPr>
            <a:lstStyle/>
            <a:p>
              <a:endParaRPr lang="es-PE"/>
            </a:p>
          </p:txBody>
        </p:sp>
        <p:sp>
          <p:nvSpPr>
            <p:cNvPr id="26" name="Freeform 24"/>
            <p:cNvSpPr>
              <a:spLocks noEditPoints="1"/>
            </p:cNvSpPr>
            <p:nvPr/>
          </p:nvSpPr>
          <p:spPr bwMode="auto">
            <a:xfrm>
              <a:off x="4152221" y="1501320"/>
              <a:ext cx="731838" cy="1079500"/>
            </a:xfrm>
            <a:custGeom>
              <a:avLst/>
              <a:gdLst>
                <a:gd name="T0" fmla="*/ 287 w 1383"/>
                <a:gd name="T1" fmla="*/ 1981 h 2039"/>
                <a:gd name="T2" fmla="*/ 192 w 1383"/>
                <a:gd name="T3" fmla="*/ 1918 h 2039"/>
                <a:gd name="T4" fmla="*/ 161 w 1383"/>
                <a:gd name="T5" fmla="*/ 1902 h 2039"/>
                <a:gd name="T6" fmla="*/ 141 w 1383"/>
                <a:gd name="T7" fmla="*/ 1850 h 2039"/>
                <a:gd name="T8" fmla="*/ 78 w 1383"/>
                <a:gd name="T9" fmla="*/ 1742 h 2039"/>
                <a:gd name="T10" fmla="*/ 14 w 1383"/>
                <a:gd name="T11" fmla="*/ 1552 h 2039"/>
                <a:gd name="T12" fmla="*/ 0 w 1383"/>
                <a:gd name="T13" fmla="*/ 1284 h 2039"/>
                <a:gd name="T14" fmla="*/ 24 w 1383"/>
                <a:gd name="T15" fmla="*/ 1162 h 2039"/>
                <a:gd name="T16" fmla="*/ 36 w 1383"/>
                <a:gd name="T17" fmla="*/ 1081 h 2039"/>
                <a:gd name="T18" fmla="*/ 115 w 1383"/>
                <a:gd name="T19" fmla="*/ 788 h 2039"/>
                <a:gd name="T20" fmla="*/ 147 w 1383"/>
                <a:gd name="T21" fmla="*/ 697 h 2039"/>
                <a:gd name="T22" fmla="*/ 242 w 1383"/>
                <a:gd name="T23" fmla="*/ 505 h 2039"/>
                <a:gd name="T24" fmla="*/ 562 w 1383"/>
                <a:gd name="T25" fmla="*/ 150 h 2039"/>
                <a:gd name="T26" fmla="*/ 701 w 1383"/>
                <a:gd name="T27" fmla="*/ 69 h 2039"/>
                <a:gd name="T28" fmla="*/ 946 w 1383"/>
                <a:gd name="T29" fmla="*/ 1 h 2039"/>
                <a:gd name="T30" fmla="*/ 1116 w 1383"/>
                <a:gd name="T31" fmla="*/ 3 h 2039"/>
                <a:gd name="T32" fmla="*/ 1213 w 1383"/>
                <a:gd name="T33" fmla="*/ 60 h 2039"/>
                <a:gd name="T34" fmla="*/ 1277 w 1383"/>
                <a:gd name="T35" fmla="*/ 145 h 2039"/>
                <a:gd name="T36" fmla="*/ 1309 w 1383"/>
                <a:gd name="T37" fmla="*/ 199 h 2039"/>
                <a:gd name="T38" fmla="*/ 1339 w 1383"/>
                <a:gd name="T39" fmla="*/ 324 h 2039"/>
                <a:gd name="T40" fmla="*/ 1331 w 1383"/>
                <a:gd name="T41" fmla="*/ 619 h 2039"/>
                <a:gd name="T42" fmla="*/ 1309 w 1383"/>
                <a:gd name="T43" fmla="*/ 658 h 2039"/>
                <a:gd name="T44" fmla="*/ 1263 w 1383"/>
                <a:gd name="T45" fmla="*/ 773 h 2039"/>
                <a:gd name="T46" fmla="*/ 1218 w 1383"/>
                <a:gd name="T47" fmla="*/ 835 h 2039"/>
                <a:gd name="T48" fmla="*/ 1204 w 1383"/>
                <a:gd name="T49" fmla="*/ 873 h 2039"/>
                <a:gd name="T50" fmla="*/ 1066 w 1383"/>
                <a:gd name="T51" fmla="*/ 1050 h 2039"/>
                <a:gd name="T52" fmla="*/ 860 w 1383"/>
                <a:gd name="T53" fmla="*/ 1227 h 2039"/>
                <a:gd name="T54" fmla="*/ 637 w 1383"/>
                <a:gd name="T55" fmla="*/ 1326 h 2039"/>
                <a:gd name="T56" fmla="*/ 550 w 1383"/>
                <a:gd name="T57" fmla="*/ 1356 h 2039"/>
                <a:gd name="T58" fmla="*/ 481 w 1383"/>
                <a:gd name="T59" fmla="*/ 1362 h 2039"/>
                <a:gd name="T60" fmla="*/ 467 w 1383"/>
                <a:gd name="T61" fmla="*/ 1449 h 2039"/>
                <a:gd name="T62" fmla="*/ 482 w 1383"/>
                <a:gd name="T63" fmla="*/ 1571 h 2039"/>
                <a:gd name="T64" fmla="*/ 537 w 1383"/>
                <a:gd name="T65" fmla="*/ 1716 h 2039"/>
                <a:gd name="T66" fmla="*/ 655 w 1383"/>
                <a:gd name="T67" fmla="*/ 1834 h 2039"/>
                <a:gd name="T68" fmla="*/ 773 w 1383"/>
                <a:gd name="T69" fmla="*/ 1840 h 2039"/>
                <a:gd name="T70" fmla="*/ 988 w 1383"/>
                <a:gd name="T71" fmla="*/ 1653 h 2039"/>
                <a:gd name="T72" fmla="*/ 1008 w 1383"/>
                <a:gd name="T73" fmla="*/ 1610 h 2039"/>
                <a:gd name="T74" fmla="*/ 1046 w 1383"/>
                <a:gd name="T75" fmla="*/ 1578 h 2039"/>
                <a:gd name="T76" fmla="*/ 1095 w 1383"/>
                <a:gd name="T77" fmla="*/ 1492 h 2039"/>
                <a:gd name="T78" fmla="*/ 1216 w 1383"/>
                <a:gd name="T79" fmla="*/ 1322 h 2039"/>
                <a:gd name="T80" fmla="*/ 1296 w 1383"/>
                <a:gd name="T81" fmla="*/ 1312 h 2039"/>
                <a:gd name="T82" fmla="*/ 1365 w 1383"/>
                <a:gd name="T83" fmla="*/ 1379 h 2039"/>
                <a:gd name="T84" fmla="*/ 1383 w 1383"/>
                <a:gd name="T85" fmla="*/ 1513 h 2039"/>
                <a:gd name="T86" fmla="*/ 1352 w 1383"/>
                <a:gd name="T87" fmla="*/ 1607 h 2039"/>
                <a:gd name="T88" fmla="*/ 1080 w 1383"/>
                <a:gd name="T89" fmla="*/ 1878 h 2039"/>
                <a:gd name="T90" fmla="*/ 925 w 1383"/>
                <a:gd name="T91" fmla="*/ 1970 h 2039"/>
                <a:gd name="T92" fmla="*/ 853 w 1383"/>
                <a:gd name="T93" fmla="*/ 2000 h 2039"/>
                <a:gd name="T94" fmla="*/ 700 w 1383"/>
                <a:gd name="T95" fmla="*/ 2030 h 2039"/>
                <a:gd name="T96" fmla="*/ 372 w 1383"/>
                <a:gd name="T97" fmla="*/ 2024 h 2039"/>
                <a:gd name="T98" fmla="*/ 644 w 1383"/>
                <a:gd name="T99" fmla="*/ 1035 h 2039"/>
                <a:gd name="T100" fmla="*/ 688 w 1383"/>
                <a:gd name="T101" fmla="*/ 1017 h 2039"/>
                <a:gd name="T102" fmla="*/ 894 w 1383"/>
                <a:gd name="T103" fmla="*/ 775 h 2039"/>
                <a:gd name="T104" fmla="*/ 969 w 1383"/>
                <a:gd name="T105" fmla="*/ 592 h 2039"/>
                <a:gd name="T106" fmla="*/ 981 w 1383"/>
                <a:gd name="T107" fmla="*/ 357 h 2039"/>
                <a:gd name="T108" fmla="*/ 923 w 1383"/>
                <a:gd name="T109" fmla="*/ 298 h 2039"/>
                <a:gd name="T110" fmla="*/ 817 w 1383"/>
                <a:gd name="T111" fmla="*/ 405 h 2039"/>
                <a:gd name="T112" fmla="*/ 701 w 1383"/>
                <a:gd name="T113" fmla="*/ 608 h 2039"/>
                <a:gd name="T114" fmla="*/ 677 w 1383"/>
                <a:gd name="T115" fmla="*/ 651 h 2039"/>
                <a:gd name="T116" fmla="*/ 631 w 1383"/>
                <a:gd name="T117" fmla="*/ 746 h 2039"/>
                <a:gd name="T118" fmla="*/ 563 w 1383"/>
                <a:gd name="T119" fmla="*/ 930 h 2039"/>
                <a:gd name="T120" fmla="*/ 521 w 1383"/>
                <a:gd name="T121" fmla="*/ 1097 h 2039"/>
                <a:gd name="T122" fmla="*/ 579 w 1383"/>
                <a:gd name="T123" fmla="*/ 1089 h 20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383" h="2039">
                  <a:moveTo>
                    <a:pt x="372" y="2024"/>
                  </a:moveTo>
                  <a:lnTo>
                    <a:pt x="347" y="2014"/>
                  </a:lnTo>
                  <a:lnTo>
                    <a:pt x="287" y="1981"/>
                  </a:lnTo>
                  <a:lnTo>
                    <a:pt x="259" y="1963"/>
                  </a:lnTo>
                  <a:lnTo>
                    <a:pt x="233" y="1944"/>
                  </a:lnTo>
                  <a:lnTo>
                    <a:pt x="192" y="1918"/>
                  </a:lnTo>
                  <a:lnTo>
                    <a:pt x="180" y="1917"/>
                  </a:lnTo>
                  <a:lnTo>
                    <a:pt x="173" y="1915"/>
                  </a:lnTo>
                  <a:lnTo>
                    <a:pt x="161" y="1902"/>
                  </a:lnTo>
                  <a:lnTo>
                    <a:pt x="161" y="1892"/>
                  </a:lnTo>
                  <a:lnTo>
                    <a:pt x="158" y="1881"/>
                  </a:lnTo>
                  <a:lnTo>
                    <a:pt x="141" y="1850"/>
                  </a:lnTo>
                  <a:lnTo>
                    <a:pt x="128" y="1837"/>
                  </a:lnTo>
                  <a:lnTo>
                    <a:pt x="112" y="1819"/>
                  </a:lnTo>
                  <a:lnTo>
                    <a:pt x="78" y="1742"/>
                  </a:lnTo>
                  <a:lnTo>
                    <a:pt x="63" y="1695"/>
                  </a:lnTo>
                  <a:lnTo>
                    <a:pt x="35" y="1601"/>
                  </a:lnTo>
                  <a:lnTo>
                    <a:pt x="14" y="1552"/>
                  </a:lnTo>
                  <a:lnTo>
                    <a:pt x="7" y="1528"/>
                  </a:lnTo>
                  <a:lnTo>
                    <a:pt x="0" y="1417"/>
                  </a:lnTo>
                  <a:lnTo>
                    <a:pt x="0" y="1284"/>
                  </a:lnTo>
                  <a:lnTo>
                    <a:pt x="9" y="1184"/>
                  </a:lnTo>
                  <a:lnTo>
                    <a:pt x="17" y="1169"/>
                  </a:lnTo>
                  <a:lnTo>
                    <a:pt x="24" y="1162"/>
                  </a:lnTo>
                  <a:lnTo>
                    <a:pt x="33" y="1130"/>
                  </a:lnTo>
                  <a:lnTo>
                    <a:pt x="35" y="1110"/>
                  </a:lnTo>
                  <a:lnTo>
                    <a:pt x="36" y="1081"/>
                  </a:lnTo>
                  <a:lnTo>
                    <a:pt x="50" y="1001"/>
                  </a:lnTo>
                  <a:lnTo>
                    <a:pt x="88" y="858"/>
                  </a:lnTo>
                  <a:lnTo>
                    <a:pt x="115" y="788"/>
                  </a:lnTo>
                  <a:lnTo>
                    <a:pt x="137" y="740"/>
                  </a:lnTo>
                  <a:lnTo>
                    <a:pt x="143" y="711"/>
                  </a:lnTo>
                  <a:lnTo>
                    <a:pt x="147" y="697"/>
                  </a:lnTo>
                  <a:lnTo>
                    <a:pt x="183" y="613"/>
                  </a:lnTo>
                  <a:lnTo>
                    <a:pt x="212" y="560"/>
                  </a:lnTo>
                  <a:lnTo>
                    <a:pt x="242" y="505"/>
                  </a:lnTo>
                  <a:lnTo>
                    <a:pt x="347" y="369"/>
                  </a:lnTo>
                  <a:lnTo>
                    <a:pt x="474" y="230"/>
                  </a:lnTo>
                  <a:lnTo>
                    <a:pt x="562" y="150"/>
                  </a:lnTo>
                  <a:lnTo>
                    <a:pt x="609" y="114"/>
                  </a:lnTo>
                  <a:lnTo>
                    <a:pt x="629" y="104"/>
                  </a:lnTo>
                  <a:lnTo>
                    <a:pt x="701" y="69"/>
                  </a:lnTo>
                  <a:lnTo>
                    <a:pt x="801" y="27"/>
                  </a:lnTo>
                  <a:lnTo>
                    <a:pt x="871" y="7"/>
                  </a:lnTo>
                  <a:lnTo>
                    <a:pt x="946" y="1"/>
                  </a:lnTo>
                  <a:lnTo>
                    <a:pt x="998" y="1"/>
                  </a:lnTo>
                  <a:lnTo>
                    <a:pt x="1048" y="0"/>
                  </a:lnTo>
                  <a:lnTo>
                    <a:pt x="1116" y="3"/>
                  </a:lnTo>
                  <a:lnTo>
                    <a:pt x="1156" y="13"/>
                  </a:lnTo>
                  <a:lnTo>
                    <a:pt x="1190" y="39"/>
                  </a:lnTo>
                  <a:lnTo>
                    <a:pt x="1213" y="60"/>
                  </a:lnTo>
                  <a:lnTo>
                    <a:pt x="1239" y="86"/>
                  </a:lnTo>
                  <a:lnTo>
                    <a:pt x="1273" y="132"/>
                  </a:lnTo>
                  <a:lnTo>
                    <a:pt x="1277" y="145"/>
                  </a:lnTo>
                  <a:lnTo>
                    <a:pt x="1279" y="156"/>
                  </a:lnTo>
                  <a:lnTo>
                    <a:pt x="1296" y="184"/>
                  </a:lnTo>
                  <a:lnTo>
                    <a:pt x="1309" y="199"/>
                  </a:lnTo>
                  <a:lnTo>
                    <a:pt x="1318" y="209"/>
                  </a:lnTo>
                  <a:lnTo>
                    <a:pt x="1331" y="239"/>
                  </a:lnTo>
                  <a:lnTo>
                    <a:pt x="1339" y="324"/>
                  </a:lnTo>
                  <a:lnTo>
                    <a:pt x="1339" y="438"/>
                  </a:lnTo>
                  <a:lnTo>
                    <a:pt x="1339" y="534"/>
                  </a:lnTo>
                  <a:lnTo>
                    <a:pt x="1331" y="619"/>
                  </a:lnTo>
                  <a:lnTo>
                    <a:pt x="1324" y="647"/>
                  </a:lnTo>
                  <a:lnTo>
                    <a:pt x="1318" y="651"/>
                  </a:lnTo>
                  <a:lnTo>
                    <a:pt x="1309" y="658"/>
                  </a:lnTo>
                  <a:lnTo>
                    <a:pt x="1285" y="707"/>
                  </a:lnTo>
                  <a:lnTo>
                    <a:pt x="1273" y="740"/>
                  </a:lnTo>
                  <a:lnTo>
                    <a:pt x="1263" y="773"/>
                  </a:lnTo>
                  <a:lnTo>
                    <a:pt x="1237" y="824"/>
                  </a:lnTo>
                  <a:lnTo>
                    <a:pt x="1228" y="831"/>
                  </a:lnTo>
                  <a:lnTo>
                    <a:pt x="1218" y="835"/>
                  </a:lnTo>
                  <a:lnTo>
                    <a:pt x="1205" y="854"/>
                  </a:lnTo>
                  <a:lnTo>
                    <a:pt x="1205" y="863"/>
                  </a:lnTo>
                  <a:lnTo>
                    <a:pt x="1204" y="873"/>
                  </a:lnTo>
                  <a:lnTo>
                    <a:pt x="1190" y="900"/>
                  </a:lnTo>
                  <a:lnTo>
                    <a:pt x="1149" y="956"/>
                  </a:lnTo>
                  <a:lnTo>
                    <a:pt x="1066" y="1050"/>
                  </a:lnTo>
                  <a:lnTo>
                    <a:pt x="966" y="1143"/>
                  </a:lnTo>
                  <a:lnTo>
                    <a:pt x="919" y="1184"/>
                  </a:lnTo>
                  <a:lnTo>
                    <a:pt x="860" y="1227"/>
                  </a:lnTo>
                  <a:lnTo>
                    <a:pt x="750" y="1289"/>
                  </a:lnTo>
                  <a:lnTo>
                    <a:pt x="706" y="1305"/>
                  </a:lnTo>
                  <a:lnTo>
                    <a:pt x="637" y="1326"/>
                  </a:lnTo>
                  <a:lnTo>
                    <a:pt x="603" y="1342"/>
                  </a:lnTo>
                  <a:lnTo>
                    <a:pt x="592" y="1348"/>
                  </a:lnTo>
                  <a:lnTo>
                    <a:pt x="550" y="1356"/>
                  </a:lnTo>
                  <a:lnTo>
                    <a:pt x="526" y="1358"/>
                  </a:lnTo>
                  <a:lnTo>
                    <a:pt x="506" y="1358"/>
                  </a:lnTo>
                  <a:lnTo>
                    <a:pt x="481" y="1362"/>
                  </a:lnTo>
                  <a:lnTo>
                    <a:pt x="470" y="1379"/>
                  </a:lnTo>
                  <a:lnTo>
                    <a:pt x="467" y="1417"/>
                  </a:lnTo>
                  <a:lnTo>
                    <a:pt x="467" y="1449"/>
                  </a:lnTo>
                  <a:lnTo>
                    <a:pt x="468" y="1486"/>
                  </a:lnTo>
                  <a:lnTo>
                    <a:pt x="477" y="1552"/>
                  </a:lnTo>
                  <a:lnTo>
                    <a:pt x="482" y="1571"/>
                  </a:lnTo>
                  <a:lnTo>
                    <a:pt x="500" y="1610"/>
                  </a:lnTo>
                  <a:lnTo>
                    <a:pt x="521" y="1673"/>
                  </a:lnTo>
                  <a:lnTo>
                    <a:pt x="537" y="1716"/>
                  </a:lnTo>
                  <a:lnTo>
                    <a:pt x="580" y="1784"/>
                  </a:lnTo>
                  <a:lnTo>
                    <a:pt x="624" y="1819"/>
                  </a:lnTo>
                  <a:lnTo>
                    <a:pt x="655" y="1834"/>
                  </a:lnTo>
                  <a:lnTo>
                    <a:pt x="710" y="1847"/>
                  </a:lnTo>
                  <a:lnTo>
                    <a:pt x="752" y="1847"/>
                  </a:lnTo>
                  <a:lnTo>
                    <a:pt x="773" y="1840"/>
                  </a:lnTo>
                  <a:lnTo>
                    <a:pt x="851" y="1784"/>
                  </a:lnTo>
                  <a:lnTo>
                    <a:pt x="939" y="1706"/>
                  </a:lnTo>
                  <a:lnTo>
                    <a:pt x="988" y="1653"/>
                  </a:lnTo>
                  <a:lnTo>
                    <a:pt x="1005" y="1627"/>
                  </a:lnTo>
                  <a:lnTo>
                    <a:pt x="1007" y="1618"/>
                  </a:lnTo>
                  <a:lnTo>
                    <a:pt x="1008" y="1610"/>
                  </a:lnTo>
                  <a:lnTo>
                    <a:pt x="1023" y="1591"/>
                  </a:lnTo>
                  <a:lnTo>
                    <a:pt x="1034" y="1585"/>
                  </a:lnTo>
                  <a:lnTo>
                    <a:pt x="1046" y="1578"/>
                  </a:lnTo>
                  <a:lnTo>
                    <a:pt x="1071" y="1545"/>
                  </a:lnTo>
                  <a:lnTo>
                    <a:pt x="1080" y="1525"/>
                  </a:lnTo>
                  <a:lnTo>
                    <a:pt x="1095" y="1492"/>
                  </a:lnTo>
                  <a:lnTo>
                    <a:pt x="1132" y="1423"/>
                  </a:lnTo>
                  <a:lnTo>
                    <a:pt x="1177" y="1362"/>
                  </a:lnTo>
                  <a:lnTo>
                    <a:pt x="1216" y="1322"/>
                  </a:lnTo>
                  <a:lnTo>
                    <a:pt x="1231" y="1315"/>
                  </a:lnTo>
                  <a:lnTo>
                    <a:pt x="1254" y="1310"/>
                  </a:lnTo>
                  <a:lnTo>
                    <a:pt x="1296" y="1312"/>
                  </a:lnTo>
                  <a:lnTo>
                    <a:pt x="1331" y="1329"/>
                  </a:lnTo>
                  <a:lnTo>
                    <a:pt x="1357" y="1359"/>
                  </a:lnTo>
                  <a:lnTo>
                    <a:pt x="1365" y="1379"/>
                  </a:lnTo>
                  <a:lnTo>
                    <a:pt x="1374" y="1407"/>
                  </a:lnTo>
                  <a:lnTo>
                    <a:pt x="1383" y="1461"/>
                  </a:lnTo>
                  <a:lnTo>
                    <a:pt x="1383" y="1513"/>
                  </a:lnTo>
                  <a:lnTo>
                    <a:pt x="1372" y="1564"/>
                  </a:lnTo>
                  <a:lnTo>
                    <a:pt x="1364" y="1587"/>
                  </a:lnTo>
                  <a:lnTo>
                    <a:pt x="1352" y="1607"/>
                  </a:lnTo>
                  <a:lnTo>
                    <a:pt x="1312" y="1660"/>
                  </a:lnTo>
                  <a:lnTo>
                    <a:pt x="1223" y="1752"/>
                  </a:lnTo>
                  <a:lnTo>
                    <a:pt x="1080" y="1878"/>
                  </a:lnTo>
                  <a:lnTo>
                    <a:pt x="987" y="1944"/>
                  </a:lnTo>
                  <a:lnTo>
                    <a:pt x="939" y="1967"/>
                  </a:lnTo>
                  <a:lnTo>
                    <a:pt x="925" y="1970"/>
                  </a:lnTo>
                  <a:lnTo>
                    <a:pt x="910" y="1971"/>
                  </a:lnTo>
                  <a:lnTo>
                    <a:pt x="871" y="1988"/>
                  </a:lnTo>
                  <a:lnTo>
                    <a:pt x="853" y="2000"/>
                  </a:lnTo>
                  <a:lnTo>
                    <a:pt x="840" y="2007"/>
                  </a:lnTo>
                  <a:lnTo>
                    <a:pt x="795" y="2017"/>
                  </a:lnTo>
                  <a:lnTo>
                    <a:pt x="700" y="2030"/>
                  </a:lnTo>
                  <a:lnTo>
                    <a:pt x="546" y="2039"/>
                  </a:lnTo>
                  <a:lnTo>
                    <a:pt x="412" y="2033"/>
                  </a:lnTo>
                  <a:lnTo>
                    <a:pt x="372" y="2024"/>
                  </a:lnTo>
                  <a:close/>
                  <a:moveTo>
                    <a:pt x="616" y="1060"/>
                  </a:moveTo>
                  <a:lnTo>
                    <a:pt x="622" y="1048"/>
                  </a:lnTo>
                  <a:lnTo>
                    <a:pt x="644" y="1035"/>
                  </a:lnTo>
                  <a:lnTo>
                    <a:pt x="652" y="1034"/>
                  </a:lnTo>
                  <a:lnTo>
                    <a:pt x="661" y="1032"/>
                  </a:lnTo>
                  <a:lnTo>
                    <a:pt x="688" y="1017"/>
                  </a:lnTo>
                  <a:lnTo>
                    <a:pt x="740" y="969"/>
                  </a:lnTo>
                  <a:lnTo>
                    <a:pt x="822" y="875"/>
                  </a:lnTo>
                  <a:lnTo>
                    <a:pt x="894" y="775"/>
                  </a:lnTo>
                  <a:lnTo>
                    <a:pt x="919" y="730"/>
                  </a:lnTo>
                  <a:lnTo>
                    <a:pt x="939" y="684"/>
                  </a:lnTo>
                  <a:lnTo>
                    <a:pt x="969" y="592"/>
                  </a:lnTo>
                  <a:lnTo>
                    <a:pt x="985" y="503"/>
                  </a:lnTo>
                  <a:lnTo>
                    <a:pt x="989" y="422"/>
                  </a:lnTo>
                  <a:lnTo>
                    <a:pt x="981" y="357"/>
                  </a:lnTo>
                  <a:lnTo>
                    <a:pt x="962" y="312"/>
                  </a:lnTo>
                  <a:lnTo>
                    <a:pt x="940" y="298"/>
                  </a:lnTo>
                  <a:lnTo>
                    <a:pt x="923" y="298"/>
                  </a:lnTo>
                  <a:lnTo>
                    <a:pt x="893" y="312"/>
                  </a:lnTo>
                  <a:lnTo>
                    <a:pt x="870" y="337"/>
                  </a:lnTo>
                  <a:lnTo>
                    <a:pt x="817" y="405"/>
                  </a:lnTo>
                  <a:lnTo>
                    <a:pt x="736" y="528"/>
                  </a:lnTo>
                  <a:lnTo>
                    <a:pt x="704" y="592"/>
                  </a:lnTo>
                  <a:lnTo>
                    <a:pt x="701" y="608"/>
                  </a:lnTo>
                  <a:lnTo>
                    <a:pt x="700" y="621"/>
                  </a:lnTo>
                  <a:lnTo>
                    <a:pt x="687" y="644"/>
                  </a:lnTo>
                  <a:lnTo>
                    <a:pt x="677" y="651"/>
                  </a:lnTo>
                  <a:lnTo>
                    <a:pt x="667" y="661"/>
                  </a:lnTo>
                  <a:lnTo>
                    <a:pt x="641" y="713"/>
                  </a:lnTo>
                  <a:lnTo>
                    <a:pt x="631" y="746"/>
                  </a:lnTo>
                  <a:lnTo>
                    <a:pt x="608" y="822"/>
                  </a:lnTo>
                  <a:lnTo>
                    <a:pt x="583" y="881"/>
                  </a:lnTo>
                  <a:lnTo>
                    <a:pt x="563" y="930"/>
                  </a:lnTo>
                  <a:lnTo>
                    <a:pt x="526" y="1060"/>
                  </a:lnTo>
                  <a:lnTo>
                    <a:pt x="521" y="1093"/>
                  </a:lnTo>
                  <a:lnTo>
                    <a:pt x="521" y="1097"/>
                  </a:lnTo>
                  <a:lnTo>
                    <a:pt x="529" y="1102"/>
                  </a:lnTo>
                  <a:lnTo>
                    <a:pt x="546" y="1100"/>
                  </a:lnTo>
                  <a:lnTo>
                    <a:pt x="579" y="1089"/>
                  </a:lnTo>
                  <a:lnTo>
                    <a:pt x="608" y="1070"/>
                  </a:lnTo>
                  <a:lnTo>
                    <a:pt x="616" y="1060"/>
                  </a:lnTo>
                  <a:close/>
                </a:path>
              </a:pathLst>
            </a:custGeom>
            <a:solidFill>
              <a:srgbClr val="C00000"/>
            </a:solidFill>
            <a:ln>
              <a:noFill/>
            </a:ln>
          </p:spPr>
          <p:txBody>
            <a:bodyPr vert="horz" wrap="square" lIns="91440" tIns="45720" rIns="91440" bIns="45720" numCol="1" anchor="t" anchorCtr="0" compatLnSpc="1">
              <a:prstTxWarp prst="textNoShape">
                <a:avLst/>
              </a:prstTxWarp>
            </a:bodyPr>
            <a:lstStyle/>
            <a:p>
              <a:endParaRPr lang="es-PE"/>
            </a:p>
          </p:txBody>
        </p:sp>
        <p:sp>
          <p:nvSpPr>
            <p:cNvPr id="27" name="Freeform 25"/>
            <p:cNvSpPr>
              <a:spLocks noEditPoints="1"/>
            </p:cNvSpPr>
            <p:nvPr/>
          </p:nvSpPr>
          <p:spPr bwMode="auto">
            <a:xfrm>
              <a:off x="5304746" y="1563233"/>
              <a:ext cx="679450" cy="971550"/>
            </a:xfrm>
            <a:custGeom>
              <a:avLst/>
              <a:gdLst>
                <a:gd name="T0" fmla="*/ 249 w 1285"/>
                <a:gd name="T1" fmla="*/ 1736 h 1836"/>
                <a:gd name="T2" fmla="*/ 147 w 1285"/>
                <a:gd name="T3" fmla="*/ 1620 h 1836"/>
                <a:gd name="T4" fmla="*/ 71 w 1285"/>
                <a:gd name="T5" fmla="*/ 1483 h 1836"/>
                <a:gd name="T6" fmla="*/ 53 w 1285"/>
                <a:gd name="T7" fmla="*/ 1457 h 1836"/>
                <a:gd name="T8" fmla="*/ 16 w 1285"/>
                <a:gd name="T9" fmla="*/ 1311 h 1836"/>
                <a:gd name="T10" fmla="*/ 11 w 1285"/>
                <a:gd name="T11" fmla="*/ 937 h 1836"/>
                <a:gd name="T12" fmla="*/ 71 w 1285"/>
                <a:gd name="T13" fmla="*/ 750 h 1836"/>
                <a:gd name="T14" fmla="*/ 102 w 1285"/>
                <a:gd name="T15" fmla="*/ 571 h 1836"/>
                <a:gd name="T16" fmla="*/ 131 w 1285"/>
                <a:gd name="T17" fmla="*/ 404 h 1836"/>
                <a:gd name="T18" fmla="*/ 151 w 1285"/>
                <a:gd name="T19" fmla="*/ 341 h 1836"/>
                <a:gd name="T20" fmla="*/ 220 w 1285"/>
                <a:gd name="T21" fmla="*/ 246 h 1836"/>
                <a:gd name="T22" fmla="*/ 418 w 1285"/>
                <a:gd name="T23" fmla="*/ 73 h 1836"/>
                <a:gd name="T24" fmla="*/ 481 w 1285"/>
                <a:gd name="T25" fmla="*/ 53 h 1836"/>
                <a:gd name="T26" fmla="*/ 619 w 1285"/>
                <a:gd name="T27" fmla="*/ 7 h 1836"/>
                <a:gd name="T28" fmla="*/ 789 w 1285"/>
                <a:gd name="T29" fmla="*/ 1 h 1836"/>
                <a:gd name="T30" fmla="*/ 937 w 1285"/>
                <a:gd name="T31" fmla="*/ 51 h 1836"/>
                <a:gd name="T32" fmla="*/ 1154 w 1285"/>
                <a:gd name="T33" fmla="*/ 221 h 1836"/>
                <a:gd name="T34" fmla="*/ 1243 w 1285"/>
                <a:gd name="T35" fmla="*/ 432 h 1836"/>
                <a:gd name="T36" fmla="*/ 1276 w 1285"/>
                <a:gd name="T37" fmla="*/ 551 h 1836"/>
                <a:gd name="T38" fmla="*/ 1276 w 1285"/>
                <a:gd name="T39" fmla="*/ 977 h 1836"/>
                <a:gd name="T40" fmla="*/ 1243 w 1285"/>
                <a:gd name="T41" fmla="*/ 1098 h 1836"/>
                <a:gd name="T42" fmla="*/ 1178 w 1285"/>
                <a:gd name="T43" fmla="*/ 1296 h 1836"/>
                <a:gd name="T44" fmla="*/ 1069 w 1285"/>
                <a:gd name="T45" fmla="*/ 1499 h 1836"/>
                <a:gd name="T46" fmla="*/ 903 w 1285"/>
                <a:gd name="T47" fmla="*/ 1676 h 1836"/>
                <a:gd name="T48" fmla="*/ 773 w 1285"/>
                <a:gd name="T49" fmla="*/ 1768 h 1836"/>
                <a:gd name="T50" fmla="*/ 690 w 1285"/>
                <a:gd name="T51" fmla="*/ 1808 h 1836"/>
                <a:gd name="T52" fmla="*/ 507 w 1285"/>
                <a:gd name="T53" fmla="*/ 1836 h 1836"/>
                <a:gd name="T54" fmla="*/ 320 w 1285"/>
                <a:gd name="T55" fmla="*/ 1782 h 1836"/>
                <a:gd name="T56" fmla="*/ 757 w 1285"/>
                <a:gd name="T57" fmla="*/ 1432 h 1836"/>
                <a:gd name="T58" fmla="*/ 783 w 1285"/>
                <a:gd name="T59" fmla="*/ 1369 h 1836"/>
                <a:gd name="T60" fmla="*/ 821 w 1285"/>
                <a:gd name="T61" fmla="*/ 1288 h 1836"/>
                <a:gd name="T62" fmla="*/ 874 w 1285"/>
                <a:gd name="T63" fmla="*/ 1080 h 1836"/>
                <a:gd name="T64" fmla="*/ 896 w 1285"/>
                <a:gd name="T65" fmla="*/ 964 h 1836"/>
                <a:gd name="T66" fmla="*/ 925 w 1285"/>
                <a:gd name="T67" fmla="*/ 774 h 1836"/>
                <a:gd name="T68" fmla="*/ 907 w 1285"/>
                <a:gd name="T69" fmla="*/ 508 h 1836"/>
                <a:gd name="T70" fmla="*/ 890 w 1285"/>
                <a:gd name="T71" fmla="*/ 466 h 1836"/>
                <a:gd name="T72" fmla="*/ 889 w 1285"/>
                <a:gd name="T73" fmla="*/ 432 h 1836"/>
                <a:gd name="T74" fmla="*/ 863 w 1285"/>
                <a:gd name="T75" fmla="*/ 413 h 1836"/>
                <a:gd name="T76" fmla="*/ 832 w 1285"/>
                <a:gd name="T77" fmla="*/ 341 h 1836"/>
                <a:gd name="T78" fmla="*/ 770 w 1285"/>
                <a:gd name="T79" fmla="*/ 283 h 1836"/>
                <a:gd name="T80" fmla="*/ 671 w 1285"/>
                <a:gd name="T81" fmla="*/ 269 h 1836"/>
                <a:gd name="T82" fmla="*/ 536 w 1285"/>
                <a:gd name="T83" fmla="*/ 302 h 1836"/>
                <a:gd name="T84" fmla="*/ 477 w 1285"/>
                <a:gd name="T85" fmla="*/ 367 h 1836"/>
                <a:gd name="T86" fmla="*/ 536 w 1285"/>
                <a:gd name="T87" fmla="*/ 409 h 1836"/>
                <a:gd name="T88" fmla="*/ 637 w 1285"/>
                <a:gd name="T89" fmla="*/ 466 h 1836"/>
                <a:gd name="T90" fmla="*/ 683 w 1285"/>
                <a:gd name="T91" fmla="*/ 616 h 1836"/>
                <a:gd name="T92" fmla="*/ 632 w 1285"/>
                <a:gd name="T93" fmla="*/ 727 h 1836"/>
                <a:gd name="T94" fmla="*/ 576 w 1285"/>
                <a:gd name="T95" fmla="*/ 756 h 1836"/>
                <a:gd name="T96" fmla="*/ 491 w 1285"/>
                <a:gd name="T97" fmla="*/ 902 h 1836"/>
                <a:gd name="T98" fmla="*/ 449 w 1285"/>
                <a:gd name="T99" fmla="*/ 1078 h 1836"/>
                <a:gd name="T100" fmla="*/ 420 w 1285"/>
                <a:gd name="T101" fmla="*/ 1153 h 1836"/>
                <a:gd name="T102" fmla="*/ 419 w 1285"/>
                <a:gd name="T103" fmla="*/ 1327 h 1836"/>
                <a:gd name="T104" fmla="*/ 449 w 1285"/>
                <a:gd name="T105" fmla="*/ 1406 h 1836"/>
                <a:gd name="T106" fmla="*/ 488 w 1285"/>
                <a:gd name="T107" fmla="*/ 1535 h 1836"/>
                <a:gd name="T108" fmla="*/ 546 w 1285"/>
                <a:gd name="T109" fmla="*/ 1572 h 1836"/>
                <a:gd name="T110" fmla="*/ 670 w 1285"/>
                <a:gd name="T111" fmla="*/ 1542 h 18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285" h="1836">
                  <a:moveTo>
                    <a:pt x="320" y="1782"/>
                  </a:moveTo>
                  <a:lnTo>
                    <a:pt x="295" y="1768"/>
                  </a:lnTo>
                  <a:lnTo>
                    <a:pt x="249" y="1736"/>
                  </a:lnTo>
                  <a:lnTo>
                    <a:pt x="209" y="1699"/>
                  </a:lnTo>
                  <a:lnTo>
                    <a:pt x="168" y="1650"/>
                  </a:lnTo>
                  <a:lnTo>
                    <a:pt x="147" y="1620"/>
                  </a:lnTo>
                  <a:lnTo>
                    <a:pt x="117" y="1573"/>
                  </a:lnTo>
                  <a:lnTo>
                    <a:pt x="73" y="1499"/>
                  </a:lnTo>
                  <a:lnTo>
                    <a:pt x="71" y="1483"/>
                  </a:lnTo>
                  <a:lnTo>
                    <a:pt x="69" y="1471"/>
                  </a:lnTo>
                  <a:lnTo>
                    <a:pt x="60" y="1458"/>
                  </a:lnTo>
                  <a:lnTo>
                    <a:pt x="53" y="1457"/>
                  </a:lnTo>
                  <a:lnTo>
                    <a:pt x="46" y="1448"/>
                  </a:lnTo>
                  <a:lnTo>
                    <a:pt x="26" y="1370"/>
                  </a:lnTo>
                  <a:lnTo>
                    <a:pt x="16" y="1311"/>
                  </a:lnTo>
                  <a:lnTo>
                    <a:pt x="6" y="1235"/>
                  </a:lnTo>
                  <a:lnTo>
                    <a:pt x="0" y="1081"/>
                  </a:lnTo>
                  <a:lnTo>
                    <a:pt x="11" y="937"/>
                  </a:lnTo>
                  <a:lnTo>
                    <a:pt x="39" y="817"/>
                  </a:lnTo>
                  <a:lnTo>
                    <a:pt x="59" y="773"/>
                  </a:lnTo>
                  <a:lnTo>
                    <a:pt x="71" y="750"/>
                  </a:lnTo>
                  <a:lnTo>
                    <a:pt x="88" y="707"/>
                  </a:lnTo>
                  <a:lnTo>
                    <a:pt x="101" y="635"/>
                  </a:lnTo>
                  <a:lnTo>
                    <a:pt x="102" y="571"/>
                  </a:lnTo>
                  <a:lnTo>
                    <a:pt x="104" y="512"/>
                  </a:lnTo>
                  <a:lnTo>
                    <a:pt x="118" y="430"/>
                  </a:lnTo>
                  <a:lnTo>
                    <a:pt x="131" y="404"/>
                  </a:lnTo>
                  <a:lnTo>
                    <a:pt x="143" y="384"/>
                  </a:lnTo>
                  <a:lnTo>
                    <a:pt x="153" y="350"/>
                  </a:lnTo>
                  <a:lnTo>
                    <a:pt x="151" y="341"/>
                  </a:lnTo>
                  <a:lnTo>
                    <a:pt x="150" y="335"/>
                  </a:lnTo>
                  <a:lnTo>
                    <a:pt x="167" y="308"/>
                  </a:lnTo>
                  <a:lnTo>
                    <a:pt x="220" y="246"/>
                  </a:lnTo>
                  <a:lnTo>
                    <a:pt x="320" y="149"/>
                  </a:lnTo>
                  <a:lnTo>
                    <a:pt x="386" y="93"/>
                  </a:lnTo>
                  <a:lnTo>
                    <a:pt x="418" y="73"/>
                  </a:lnTo>
                  <a:lnTo>
                    <a:pt x="426" y="72"/>
                  </a:lnTo>
                  <a:lnTo>
                    <a:pt x="442" y="69"/>
                  </a:lnTo>
                  <a:lnTo>
                    <a:pt x="481" y="53"/>
                  </a:lnTo>
                  <a:lnTo>
                    <a:pt x="500" y="40"/>
                  </a:lnTo>
                  <a:lnTo>
                    <a:pt x="526" y="27"/>
                  </a:lnTo>
                  <a:lnTo>
                    <a:pt x="619" y="7"/>
                  </a:lnTo>
                  <a:lnTo>
                    <a:pt x="683" y="3"/>
                  </a:lnTo>
                  <a:lnTo>
                    <a:pt x="726" y="0"/>
                  </a:lnTo>
                  <a:lnTo>
                    <a:pt x="789" y="1"/>
                  </a:lnTo>
                  <a:lnTo>
                    <a:pt x="841" y="11"/>
                  </a:lnTo>
                  <a:lnTo>
                    <a:pt x="900" y="34"/>
                  </a:lnTo>
                  <a:lnTo>
                    <a:pt x="937" y="51"/>
                  </a:lnTo>
                  <a:lnTo>
                    <a:pt x="989" y="77"/>
                  </a:lnTo>
                  <a:lnTo>
                    <a:pt x="1082" y="144"/>
                  </a:lnTo>
                  <a:lnTo>
                    <a:pt x="1154" y="221"/>
                  </a:lnTo>
                  <a:lnTo>
                    <a:pt x="1205" y="309"/>
                  </a:lnTo>
                  <a:lnTo>
                    <a:pt x="1220" y="355"/>
                  </a:lnTo>
                  <a:lnTo>
                    <a:pt x="1243" y="432"/>
                  </a:lnTo>
                  <a:lnTo>
                    <a:pt x="1263" y="483"/>
                  </a:lnTo>
                  <a:lnTo>
                    <a:pt x="1269" y="496"/>
                  </a:lnTo>
                  <a:lnTo>
                    <a:pt x="1276" y="551"/>
                  </a:lnTo>
                  <a:lnTo>
                    <a:pt x="1285" y="669"/>
                  </a:lnTo>
                  <a:lnTo>
                    <a:pt x="1285" y="858"/>
                  </a:lnTo>
                  <a:lnTo>
                    <a:pt x="1276" y="977"/>
                  </a:lnTo>
                  <a:lnTo>
                    <a:pt x="1269" y="1031"/>
                  </a:lnTo>
                  <a:lnTo>
                    <a:pt x="1263" y="1045"/>
                  </a:lnTo>
                  <a:lnTo>
                    <a:pt x="1243" y="1098"/>
                  </a:lnTo>
                  <a:lnTo>
                    <a:pt x="1220" y="1177"/>
                  </a:lnTo>
                  <a:lnTo>
                    <a:pt x="1211" y="1212"/>
                  </a:lnTo>
                  <a:lnTo>
                    <a:pt x="1178" y="1296"/>
                  </a:lnTo>
                  <a:lnTo>
                    <a:pt x="1136" y="1383"/>
                  </a:lnTo>
                  <a:lnTo>
                    <a:pt x="1092" y="1465"/>
                  </a:lnTo>
                  <a:lnTo>
                    <a:pt x="1069" y="1499"/>
                  </a:lnTo>
                  <a:lnTo>
                    <a:pt x="1047" y="1527"/>
                  </a:lnTo>
                  <a:lnTo>
                    <a:pt x="981" y="1601"/>
                  </a:lnTo>
                  <a:lnTo>
                    <a:pt x="903" y="1676"/>
                  </a:lnTo>
                  <a:lnTo>
                    <a:pt x="835" y="1733"/>
                  </a:lnTo>
                  <a:lnTo>
                    <a:pt x="814" y="1746"/>
                  </a:lnTo>
                  <a:lnTo>
                    <a:pt x="773" y="1768"/>
                  </a:lnTo>
                  <a:lnTo>
                    <a:pt x="755" y="1781"/>
                  </a:lnTo>
                  <a:lnTo>
                    <a:pt x="743" y="1789"/>
                  </a:lnTo>
                  <a:lnTo>
                    <a:pt x="690" y="1808"/>
                  </a:lnTo>
                  <a:lnTo>
                    <a:pt x="616" y="1824"/>
                  </a:lnTo>
                  <a:lnTo>
                    <a:pt x="540" y="1834"/>
                  </a:lnTo>
                  <a:lnTo>
                    <a:pt x="507" y="1836"/>
                  </a:lnTo>
                  <a:lnTo>
                    <a:pt x="461" y="1833"/>
                  </a:lnTo>
                  <a:lnTo>
                    <a:pt x="370" y="1808"/>
                  </a:lnTo>
                  <a:lnTo>
                    <a:pt x="320" y="1782"/>
                  </a:lnTo>
                  <a:close/>
                  <a:moveTo>
                    <a:pt x="693" y="1519"/>
                  </a:moveTo>
                  <a:lnTo>
                    <a:pt x="719" y="1490"/>
                  </a:lnTo>
                  <a:lnTo>
                    <a:pt x="757" y="1432"/>
                  </a:lnTo>
                  <a:lnTo>
                    <a:pt x="765" y="1411"/>
                  </a:lnTo>
                  <a:lnTo>
                    <a:pt x="769" y="1393"/>
                  </a:lnTo>
                  <a:lnTo>
                    <a:pt x="783" y="1369"/>
                  </a:lnTo>
                  <a:lnTo>
                    <a:pt x="791" y="1368"/>
                  </a:lnTo>
                  <a:lnTo>
                    <a:pt x="796" y="1359"/>
                  </a:lnTo>
                  <a:lnTo>
                    <a:pt x="821" y="1288"/>
                  </a:lnTo>
                  <a:lnTo>
                    <a:pt x="834" y="1238"/>
                  </a:lnTo>
                  <a:lnTo>
                    <a:pt x="860" y="1130"/>
                  </a:lnTo>
                  <a:lnTo>
                    <a:pt x="874" y="1080"/>
                  </a:lnTo>
                  <a:lnTo>
                    <a:pt x="884" y="1048"/>
                  </a:lnTo>
                  <a:lnTo>
                    <a:pt x="889" y="1008"/>
                  </a:lnTo>
                  <a:lnTo>
                    <a:pt x="896" y="964"/>
                  </a:lnTo>
                  <a:lnTo>
                    <a:pt x="909" y="925"/>
                  </a:lnTo>
                  <a:lnTo>
                    <a:pt x="917" y="895"/>
                  </a:lnTo>
                  <a:lnTo>
                    <a:pt x="925" y="774"/>
                  </a:lnTo>
                  <a:lnTo>
                    <a:pt x="923" y="630"/>
                  </a:lnTo>
                  <a:lnTo>
                    <a:pt x="916" y="544"/>
                  </a:lnTo>
                  <a:lnTo>
                    <a:pt x="907" y="508"/>
                  </a:lnTo>
                  <a:lnTo>
                    <a:pt x="903" y="501"/>
                  </a:lnTo>
                  <a:lnTo>
                    <a:pt x="896" y="492"/>
                  </a:lnTo>
                  <a:lnTo>
                    <a:pt x="890" y="466"/>
                  </a:lnTo>
                  <a:lnTo>
                    <a:pt x="893" y="456"/>
                  </a:lnTo>
                  <a:lnTo>
                    <a:pt x="896" y="446"/>
                  </a:lnTo>
                  <a:lnTo>
                    <a:pt x="889" y="432"/>
                  </a:lnTo>
                  <a:lnTo>
                    <a:pt x="881" y="432"/>
                  </a:lnTo>
                  <a:lnTo>
                    <a:pt x="874" y="429"/>
                  </a:lnTo>
                  <a:lnTo>
                    <a:pt x="863" y="413"/>
                  </a:lnTo>
                  <a:lnTo>
                    <a:pt x="863" y="400"/>
                  </a:lnTo>
                  <a:lnTo>
                    <a:pt x="860" y="386"/>
                  </a:lnTo>
                  <a:lnTo>
                    <a:pt x="832" y="341"/>
                  </a:lnTo>
                  <a:lnTo>
                    <a:pt x="814" y="319"/>
                  </a:lnTo>
                  <a:lnTo>
                    <a:pt x="798" y="305"/>
                  </a:lnTo>
                  <a:lnTo>
                    <a:pt x="770" y="283"/>
                  </a:lnTo>
                  <a:lnTo>
                    <a:pt x="740" y="273"/>
                  </a:lnTo>
                  <a:lnTo>
                    <a:pt x="698" y="269"/>
                  </a:lnTo>
                  <a:lnTo>
                    <a:pt x="671" y="269"/>
                  </a:lnTo>
                  <a:lnTo>
                    <a:pt x="621" y="270"/>
                  </a:lnTo>
                  <a:lnTo>
                    <a:pt x="567" y="283"/>
                  </a:lnTo>
                  <a:lnTo>
                    <a:pt x="536" y="302"/>
                  </a:lnTo>
                  <a:lnTo>
                    <a:pt x="520" y="316"/>
                  </a:lnTo>
                  <a:lnTo>
                    <a:pt x="487" y="344"/>
                  </a:lnTo>
                  <a:lnTo>
                    <a:pt x="477" y="367"/>
                  </a:lnTo>
                  <a:lnTo>
                    <a:pt x="487" y="380"/>
                  </a:lnTo>
                  <a:lnTo>
                    <a:pt x="498" y="388"/>
                  </a:lnTo>
                  <a:lnTo>
                    <a:pt x="536" y="409"/>
                  </a:lnTo>
                  <a:lnTo>
                    <a:pt x="582" y="424"/>
                  </a:lnTo>
                  <a:lnTo>
                    <a:pt x="601" y="430"/>
                  </a:lnTo>
                  <a:lnTo>
                    <a:pt x="637" y="466"/>
                  </a:lnTo>
                  <a:lnTo>
                    <a:pt x="665" y="518"/>
                  </a:lnTo>
                  <a:lnTo>
                    <a:pt x="680" y="583"/>
                  </a:lnTo>
                  <a:lnTo>
                    <a:pt x="683" y="616"/>
                  </a:lnTo>
                  <a:lnTo>
                    <a:pt x="680" y="638"/>
                  </a:lnTo>
                  <a:lnTo>
                    <a:pt x="661" y="685"/>
                  </a:lnTo>
                  <a:lnTo>
                    <a:pt x="632" y="727"/>
                  </a:lnTo>
                  <a:lnTo>
                    <a:pt x="598" y="753"/>
                  </a:lnTo>
                  <a:lnTo>
                    <a:pt x="583" y="756"/>
                  </a:lnTo>
                  <a:lnTo>
                    <a:pt x="576" y="756"/>
                  </a:lnTo>
                  <a:lnTo>
                    <a:pt x="560" y="771"/>
                  </a:lnTo>
                  <a:lnTo>
                    <a:pt x="531" y="816"/>
                  </a:lnTo>
                  <a:lnTo>
                    <a:pt x="491" y="902"/>
                  </a:lnTo>
                  <a:lnTo>
                    <a:pt x="462" y="997"/>
                  </a:lnTo>
                  <a:lnTo>
                    <a:pt x="455" y="1039"/>
                  </a:lnTo>
                  <a:lnTo>
                    <a:pt x="449" y="1078"/>
                  </a:lnTo>
                  <a:lnTo>
                    <a:pt x="433" y="1134"/>
                  </a:lnTo>
                  <a:lnTo>
                    <a:pt x="428" y="1144"/>
                  </a:lnTo>
                  <a:lnTo>
                    <a:pt x="420" y="1153"/>
                  </a:lnTo>
                  <a:lnTo>
                    <a:pt x="413" y="1205"/>
                  </a:lnTo>
                  <a:lnTo>
                    <a:pt x="413" y="1273"/>
                  </a:lnTo>
                  <a:lnTo>
                    <a:pt x="419" y="1327"/>
                  </a:lnTo>
                  <a:lnTo>
                    <a:pt x="426" y="1339"/>
                  </a:lnTo>
                  <a:lnTo>
                    <a:pt x="432" y="1349"/>
                  </a:lnTo>
                  <a:lnTo>
                    <a:pt x="449" y="1406"/>
                  </a:lnTo>
                  <a:lnTo>
                    <a:pt x="456" y="1444"/>
                  </a:lnTo>
                  <a:lnTo>
                    <a:pt x="468" y="1491"/>
                  </a:lnTo>
                  <a:lnTo>
                    <a:pt x="488" y="1535"/>
                  </a:lnTo>
                  <a:lnTo>
                    <a:pt x="508" y="1553"/>
                  </a:lnTo>
                  <a:lnTo>
                    <a:pt x="520" y="1559"/>
                  </a:lnTo>
                  <a:lnTo>
                    <a:pt x="546" y="1572"/>
                  </a:lnTo>
                  <a:lnTo>
                    <a:pt x="589" y="1581"/>
                  </a:lnTo>
                  <a:lnTo>
                    <a:pt x="628" y="1572"/>
                  </a:lnTo>
                  <a:lnTo>
                    <a:pt x="670" y="1542"/>
                  </a:lnTo>
                  <a:lnTo>
                    <a:pt x="693" y="1519"/>
                  </a:lnTo>
                  <a:close/>
                </a:path>
              </a:pathLst>
            </a:custGeom>
            <a:solidFill>
              <a:srgbClr val="C00000"/>
            </a:solidFill>
            <a:ln>
              <a:noFill/>
            </a:ln>
          </p:spPr>
          <p:txBody>
            <a:bodyPr vert="horz" wrap="square" lIns="91440" tIns="45720" rIns="91440" bIns="45720" numCol="1" anchor="t" anchorCtr="0" compatLnSpc="1">
              <a:prstTxWarp prst="textNoShape">
                <a:avLst/>
              </a:prstTxWarp>
            </a:bodyPr>
            <a:lstStyle/>
            <a:p>
              <a:endParaRPr lang="es-PE"/>
            </a:p>
          </p:txBody>
        </p:sp>
        <p:sp>
          <p:nvSpPr>
            <p:cNvPr id="28" name="Freeform 26"/>
            <p:cNvSpPr>
              <a:spLocks/>
            </p:cNvSpPr>
            <p:nvPr/>
          </p:nvSpPr>
          <p:spPr bwMode="auto">
            <a:xfrm>
              <a:off x="5103134" y="1155245"/>
              <a:ext cx="219075" cy="312738"/>
            </a:xfrm>
            <a:custGeom>
              <a:avLst/>
              <a:gdLst>
                <a:gd name="T0" fmla="*/ 102 w 412"/>
                <a:gd name="T1" fmla="*/ 556 h 590"/>
                <a:gd name="T2" fmla="*/ 83 w 412"/>
                <a:gd name="T3" fmla="*/ 538 h 590"/>
                <a:gd name="T4" fmla="*/ 49 w 412"/>
                <a:gd name="T5" fmla="*/ 481 h 590"/>
                <a:gd name="T6" fmla="*/ 18 w 412"/>
                <a:gd name="T7" fmla="*/ 407 h 590"/>
                <a:gd name="T8" fmla="*/ 1 w 412"/>
                <a:gd name="T9" fmla="*/ 334 h 590"/>
                <a:gd name="T10" fmla="*/ 0 w 412"/>
                <a:gd name="T11" fmla="*/ 304 h 590"/>
                <a:gd name="T12" fmla="*/ 1 w 412"/>
                <a:gd name="T13" fmla="*/ 273 h 590"/>
                <a:gd name="T14" fmla="*/ 18 w 412"/>
                <a:gd name="T15" fmla="*/ 201 h 590"/>
                <a:gd name="T16" fmla="*/ 47 w 412"/>
                <a:gd name="T17" fmla="*/ 129 h 590"/>
                <a:gd name="T18" fmla="*/ 80 w 412"/>
                <a:gd name="T19" fmla="*/ 70 h 590"/>
                <a:gd name="T20" fmla="*/ 99 w 412"/>
                <a:gd name="T21" fmla="*/ 52 h 590"/>
                <a:gd name="T22" fmla="*/ 121 w 412"/>
                <a:gd name="T23" fmla="*/ 34 h 590"/>
                <a:gd name="T24" fmla="*/ 184 w 412"/>
                <a:gd name="T25" fmla="*/ 8 h 590"/>
                <a:gd name="T26" fmla="*/ 220 w 412"/>
                <a:gd name="T27" fmla="*/ 3 h 590"/>
                <a:gd name="T28" fmla="*/ 243 w 412"/>
                <a:gd name="T29" fmla="*/ 0 h 590"/>
                <a:gd name="T30" fmla="*/ 278 w 412"/>
                <a:gd name="T31" fmla="*/ 1 h 590"/>
                <a:gd name="T32" fmla="*/ 305 w 412"/>
                <a:gd name="T33" fmla="*/ 10 h 590"/>
                <a:gd name="T34" fmla="*/ 331 w 412"/>
                <a:gd name="T35" fmla="*/ 32 h 590"/>
                <a:gd name="T36" fmla="*/ 347 w 412"/>
                <a:gd name="T37" fmla="*/ 47 h 590"/>
                <a:gd name="T38" fmla="*/ 370 w 412"/>
                <a:gd name="T39" fmla="*/ 75 h 590"/>
                <a:gd name="T40" fmla="*/ 400 w 412"/>
                <a:gd name="T41" fmla="*/ 138 h 590"/>
                <a:gd name="T42" fmla="*/ 412 w 412"/>
                <a:gd name="T43" fmla="*/ 212 h 590"/>
                <a:gd name="T44" fmla="*/ 402 w 412"/>
                <a:gd name="T45" fmla="*/ 294 h 590"/>
                <a:gd name="T46" fmla="*/ 389 w 412"/>
                <a:gd name="T47" fmla="*/ 337 h 590"/>
                <a:gd name="T48" fmla="*/ 377 w 412"/>
                <a:gd name="T49" fmla="*/ 373 h 590"/>
                <a:gd name="T50" fmla="*/ 341 w 412"/>
                <a:gd name="T51" fmla="*/ 446 h 590"/>
                <a:gd name="T52" fmla="*/ 301 w 412"/>
                <a:gd name="T53" fmla="*/ 515 h 590"/>
                <a:gd name="T54" fmla="*/ 262 w 412"/>
                <a:gd name="T55" fmla="*/ 564 h 590"/>
                <a:gd name="T56" fmla="*/ 246 w 412"/>
                <a:gd name="T57" fmla="*/ 577 h 590"/>
                <a:gd name="T58" fmla="*/ 232 w 412"/>
                <a:gd name="T59" fmla="*/ 584 h 590"/>
                <a:gd name="T60" fmla="*/ 197 w 412"/>
                <a:gd name="T61" fmla="*/ 590 h 590"/>
                <a:gd name="T62" fmla="*/ 158 w 412"/>
                <a:gd name="T63" fmla="*/ 584 h 590"/>
                <a:gd name="T64" fmla="*/ 121 w 412"/>
                <a:gd name="T65" fmla="*/ 569 h 590"/>
                <a:gd name="T66" fmla="*/ 102 w 412"/>
                <a:gd name="T67" fmla="*/ 556 h 5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12" h="590">
                  <a:moveTo>
                    <a:pt x="102" y="556"/>
                  </a:moveTo>
                  <a:lnTo>
                    <a:pt x="83" y="538"/>
                  </a:lnTo>
                  <a:lnTo>
                    <a:pt x="49" y="481"/>
                  </a:lnTo>
                  <a:lnTo>
                    <a:pt x="18" y="407"/>
                  </a:lnTo>
                  <a:lnTo>
                    <a:pt x="1" y="334"/>
                  </a:lnTo>
                  <a:lnTo>
                    <a:pt x="0" y="304"/>
                  </a:lnTo>
                  <a:lnTo>
                    <a:pt x="1" y="273"/>
                  </a:lnTo>
                  <a:lnTo>
                    <a:pt x="18" y="201"/>
                  </a:lnTo>
                  <a:lnTo>
                    <a:pt x="47" y="129"/>
                  </a:lnTo>
                  <a:lnTo>
                    <a:pt x="80" y="70"/>
                  </a:lnTo>
                  <a:lnTo>
                    <a:pt x="99" y="52"/>
                  </a:lnTo>
                  <a:lnTo>
                    <a:pt x="121" y="34"/>
                  </a:lnTo>
                  <a:lnTo>
                    <a:pt x="184" y="8"/>
                  </a:lnTo>
                  <a:lnTo>
                    <a:pt x="220" y="3"/>
                  </a:lnTo>
                  <a:lnTo>
                    <a:pt x="243" y="0"/>
                  </a:lnTo>
                  <a:lnTo>
                    <a:pt x="278" y="1"/>
                  </a:lnTo>
                  <a:lnTo>
                    <a:pt x="305" y="10"/>
                  </a:lnTo>
                  <a:lnTo>
                    <a:pt x="331" y="32"/>
                  </a:lnTo>
                  <a:lnTo>
                    <a:pt x="347" y="47"/>
                  </a:lnTo>
                  <a:lnTo>
                    <a:pt x="370" y="75"/>
                  </a:lnTo>
                  <a:lnTo>
                    <a:pt x="400" y="138"/>
                  </a:lnTo>
                  <a:lnTo>
                    <a:pt x="412" y="212"/>
                  </a:lnTo>
                  <a:lnTo>
                    <a:pt x="402" y="294"/>
                  </a:lnTo>
                  <a:lnTo>
                    <a:pt x="389" y="337"/>
                  </a:lnTo>
                  <a:lnTo>
                    <a:pt x="377" y="373"/>
                  </a:lnTo>
                  <a:lnTo>
                    <a:pt x="341" y="446"/>
                  </a:lnTo>
                  <a:lnTo>
                    <a:pt x="301" y="515"/>
                  </a:lnTo>
                  <a:lnTo>
                    <a:pt x="262" y="564"/>
                  </a:lnTo>
                  <a:lnTo>
                    <a:pt x="246" y="577"/>
                  </a:lnTo>
                  <a:lnTo>
                    <a:pt x="232" y="584"/>
                  </a:lnTo>
                  <a:lnTo>
                    <a:pt x="197" y="590"/>
                  </a:lnTo>
                  <a:lnTo>
                    <a:pt x="158" y="584"/>
                  </a:lnTo>
                  <a:lnTo>
                    <a:pt x="121" y="569"/>
                  </a:lnTo>
                  <a:lnTo>
                    <a:pt x="102" y="556"/>
                  </a:lnTo>
                  <a:close/>
                </a:path>
              </a:pathLst>
            </a:custGeom>
            <a:solidFill>
              <a:srgbClr val="C00000"/>
            </a:solidFill>
            <a:ln>
              <a:noFill/>
            </a:ln>
          </p:spPr>
          <p:txBody>
            <a:bodyPr vert="horz" wrap="square" lIns="91440" tIns="45720" rIns="91440" bIns="45720" numCol="1" anchor="t" anchorCtr="0" compatLnSpc="1">
              <a:prstTxWarp prst="textNoShape">
                <a:avLst/>
              </a:prstTxWarp>
            </a:bodyPr>
            <a:lstStyle/>
            <a:p>
              <a:endParaRPr lang="es-PE"/>
            </a:p>
          </p:txBody>
        </p:sp>
      </p:grpSp>
    </p:spTree>
    <p:extLst>
      <p:ext uri="{BB962C8B-B14F-4D97-AF65-F5344CB8AC3E}">
        <p14:creationId xmlns:p14="http://schemas.microsoft.com/office/powerpoint/2010/main" val="423498229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3_Encabezado de sección">
    <p:bg>
      <p:bgPr>
        <a:solidFill>
          <a:schemeClr val="bg1">
            <a:lumMod val="95000"/>
          </a:schemeClr>
        </a:solidFill>
        <a:effectLst/>
      </p:bgPr>
    </p:bg>
    <p:spTree>
      <p:nvGrpSpPr>
        <p:cNvPr id="1" name=""/>
        <p:cNvGrpSpPr/>
        <p:nvPr/>
      </p:nvGrpSpPr>
      <p:grpSpPr>
        <a:xfrm>
          <a:off x="0" y="0"/>
          <a:ext cx="0" cy="0"/>
          <a:chOff x="0" y="0"/>
          <a:chExt cx="0" cy="0"/>
        </a:xfrm>
      </p:grpSpPr>
      <p:sp>
        <p:nvSpPr>
          <p:cNvPr id="13" name="12 Triángulo isósceles"/>
          <p:cNvSpPr/>
          <p:nvPr userDrawn="1"/>
        </p:nvSpPr>
        <p:spPr>
          <a:xfrm>
            <a:off x="815413" y="1"/>
            <a:ext cx="11376587" cy="6869593"/>
          </a:xfrm>
          <a:custGeom>
            <a:avLst/>
            <a:gdLst>
              <a:gd name="connsiteX0" fmla="*/ 0 w 8532440"/>
              <a:gd name="connsiteY0" fmla="*/ 11577497 h 11577497"/>
              <a:gd name="connsiteX1" fmla="*/ 8532440 w 8532440"/>
              <a:gd name="connsiteY1" fmla="*/ 0 h 11577497"/>
              <a:gd name="connsiteX2" fmla="*/ 8532440 w 8532440"/>
              <a:gd name="connsiteY2" fmla="*/ 11577497 h 11577497"/>
              <a:gd name="connsiteX3" fmla="*/ 0 w 8532440"/>
              <a:gd name="connsiteY3" fmla="*/ 11577497 h 11577497"/>
              <a:gd name="connsiteX0" fmla="*/ 0 w 8532440"/>
              <a:gd name="connsiteY0" fmla="*/ 11577497 h 11577497"/>
              <a:gd name="connsiteX1" fmla="*/ 5038613 w 8532440"/>
              <a:gd name="connsiteY1" fmla="*/ 4735200 h 11577497"/>
              <a:gd name="connsiteX2" fmla="*/ 8532440 w 8532440"/>
              <a:gd name="connsiteY2" fmla="*/ 0 h 11577497"/>
              <a:gd name="connsiteX3" fmla="*/ 8532440 w 8532440"/>
              <a:gd name="connsiteY3" fmla="*/ 11577497 h 11577497"/>
              <a:gd name="connsiteX4" fmla="*/ 0 w 8532440"/>
              <a:gd name="connsiteY4" fmla="*/ 11577497 h 11577497"/>
              <a:gd name="connsiteX0" fmla="*/ 0 w 8532440"/>
              <a:gd name="connsiteY0" fmla="*/ 11577497 h 11577497"/>
              <a:gd name="connsiteX1" fmla="*/ 5038613 w 8532440"/>
              <a:gd name="connsiteY1" fmla="*/ 4735200 h 11577497"/>
              <a:gd name="connsiteX2" fmla="*/ 8532440 w 8532440"/>
              <a:gd name="connsiteY2" fmla="*/ 0 h 11577497"/>
              <a:gd name="connsiteX3" fmla="*/ 8518792 w 8532440"/>
              <a:gd name="connsiteY3" fmla="*/ 4735200 h 11577497"/>
              <a:gd name="connsiteX4" fmla="*/ 8532440 w 8532440"/>
              <a:gd name="connsiteY4" fmla="*/ 11577497 h 11577497"/>
              <a:gd name="connsiteX5" fmla="*/ 0 w 8532440"/>
              <a:gd name="connsiteY5" fmla="*/ 11577497 h 11577497"/>
              <a:gd name="connsiteX0" fmla="*/ 0 w 8532440"/>
              <a:gd name="connsiteY0" fmla="*/ 7365058 h 7365058"/>
              <a:gd name="connsiteX1" fmla="*/ 5038613 w 8532440"/>
              <a:gd name="connsiteY1" fmla="*/ 522761 h 7365058"/>
              <a:gd name="connsiteX2" fmla="*/ 6744583 w 8532440"/>
              <a:gd name="connsiteY2" fmla="*/ 18367 h 7365058"/>
              <a:gd name="connsiteX3" fmla="*/ 8518792 w 8532440"/>
              <a:gd name="connsiteY3" fmla="*/ 522761 h 7365058"/>
              <a:gd name="connsiteX4" fmla="*/ 8532440 w 8532440"/>
              <a:gd name="connsiteY4" fmla="*/ 7365058 h 7365058"/>
              <a:gd name="connsiteX5" fmla="*/ 0 w 8532440"/>
              <a:gd name="connsiteY5" fmla="*/ 7365058 h 7365058"/>
              <a:gd name="connsiteX0" fmla="*/ 0 w 8532440"/>
              <a:gd name="connsiteY0" fmla="*/ 7477769 h 7477769"/>
              <a:gd name="connsiteX1" fmla="*/ 5038613 w 8532440"/>
              <a:gd name="connsiteY1" fmla="*/ 635472 h 7477769"/>
              <a:gd name="connsiteX2" fmla="*/ 6744583 w 8532440"/>
              <a:gd name="connsiteY2" fmla="*/ 131078 h 7477769"/>
              <a:gd name="connsiteX3" fmla="*/ 7372380 w 8532440"/>
              <a:gd name="connsiteY3" fmla="*/ 253333 h 7477769"/>
              <a:gd name="connsiteX4" fmla="*/ 8518792 w 8532440"/>
              <a:gd name="connsiteY4" fmla="*/ 635472 h 7477769"/>
              <a:gd name="connsiteX5" fmla="*/ 8532440 w 8532440"/>
              <a:gd name="connsiteY5" fmla="*/ 7477769 h 7477769"/>
              <a:gd name="connsiteX6" fmla="*/ 0 w 8532440"/>
              <a:gd name="connsiteY6" fmla="*/ 7477769 h 7477769"/>
              <a:gd name="connsiteX0" fmla="*/ 0 w 8532440"/>
              <a:gd name="connsiteY0" fmla="*/ 7477769 h 7477769"/>
              <a:gd name="connsiteX1" fmla="*/ 5038613 w 8532440"/>
              <a:gd name="connsiteY1" fmla="*/ 635472 h 7477769"/>
              <a:gd name="connsiteX2" fmla="*/ 7372380 w 8532440"/>
              <a:gd name="connsiteY2" fmla="*/ 253333 h 7477769"/>
              <a:gd name="connsiteX3" fmla="*/ 8518792 w 8532440"/>
              <a:gd name="connsiteY3" fmla="*/ 635472 h 7477769"/>
              <a:gd name="connsiteX4" fmla="*/ 8532440 w 8532440"/>
              <a:gd name="connsiteY4" fmla="*/ 7477769 h 7477769"/>
              <a:gd name="connsiteX5" fmla="*/ 0 w 8532440"/>
              <a:gd name="connsiteY5" fmla="*/ 7477769 h 7477769"/>
              <a:gd name="connsiteX0" fmla="*/ 0 w 8532440"/>
              <a:gd name="connsiteY0" fmla="*/ 6842297 h 6842297"/>
              <a:gd name="connsiteX1" fmla="*/ 5038613 w 8532440"/>
              <a:gd name="connsiteY1" fmla="*/ 0 h 6842297"/>
              <a:gd name="connsiteX2" fmla="*/ 8518792 w 8532440"/>
              <a:gd name="connsiteY2" fmla="*/ 0 h 6842297"/>
              <a:gd name="connsiteX3" fmla="*/ 8532440 w 8532440"/>
              <a:gd name="connsiteY3" fmla="*/ 6842297 h 6842297"/>
              <a:gd name="connsiteX4" fmla="*/ 0 w 8532440"/>
              <a:gd name="connsiteY4" fmla="*/ 6842297 h 68422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32440" h="6842297">
                <a:moveTo>
                  <a:pt x="0" y="6842297"/>
                </a:moveTo>
                <a:lnTo>
                  <a:pt x="5038613" y="0"/>
                </a:lnTo>
                <a:lnTo>
                  <a:pt x="8518792" y="0"/>
                </a:lnTo>
                <a:cubicBezTo>
                  <a:pt x="8523341" y="2280766"/>
                  <a:pt x="8527891" y="4561531"/>
                  <a:pt x="8532440" y="6842297"/>
                </a:cubicBezTo>
                <a:lnTo>
                  <a:pt x="0" y="6842297"/>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sz="1800"/>
          </a:p>
        </p:txBody>
      </p:sp>
      <p:sp>
        <p:nvSpPr>
          <p:cNvPr id="8" name="7 CuadroTexto"/>
          <p:cNvSpPr txBox="1"/>
          <p:nvPr userDrawn="1"/>
        </p:nvSpPr>
        <p:spPr>
          <a:xfrm>
            <a:off x="239350" y="836712"/>
            <a:ext cx="11713301" cy="5832366"/>
          </a:xfrm>
          <a:prstGeom prst="rect">
            <a:avLst/>
          </a:prstGeom>
          <a:solidFill>
            <a:schemeClr val="bg1"/>
          </a:solidFill>
          <a:ln>
            <a:noFill/>
          </a:ln>
        </p:spPr>
        <p:txBody>
          <a:bodyPr wrap="square" rtlCol="0">
            <a:spAutoFit/>
          </a:bodyPr>
          <a:lstStyle/>
          <a:p>
            <a:endParaRPr lang="es-PE" sz="1500"/>
          </a:p>
          <a:p>
            <a:endParaRPr lang="es-PE" sz="1800"/>
          </a:p>
          <a:p>
            <a:endParaRPr lang="es-PE" sz="1800"/>
          </a:p>
          <a:p>
            <a:endParaRPr lang="es-PE" sz="1800"/>
          </a:p>
          <a:p>
            <a:endParaRPr lang="es-PE" sz="1800"/>
          </a:p>
          <a:p>
            <a:endParaRPr lang="es-PE" sz="1800"/>
          </a:p>
          <a:p>
            <a:endParaRPr lang="es-PE" sz="1800"/>
          </a:p>
          <a:p>
            <a:endParaRPr lang="es-PE" sz="1800"/>
          </a:p>
          <a:p>
            <a:endParaRPr lang="es-PE" sz="1800"/>
          </a:p>
          <a:p>
            <a:endParaRPr lang="es-PE" sz="2500" baseline="0">
              <a:solidFill>
                <a:srgbClr val="DC0000"/>
              </a:solidFill>
              <a:latin typeface="Stag Book" pitchFamily="50" charset="0"/>
            </a:endParaRPr>
          </a:p>
          <a:p>
            <a:endParaRPr lang="es-PE" sz="1500"/>
          </a:p>
          <a:p>
            <a:endParaRPr lang="es-PE" sz="1500"/>
          </a:p>
          <a:p>
            <a:endParaRPr lang="es-PE" sz="1500"/>
          </a:p>
          <a:p>
            <a:endParaRPr lang="es-PE" sz="1800"/>
          </a:p>
          <a:p>
            <a:endParaRPr lang="es-PE" sz="1800"/>
          </a:p>
          <a:p>
            <a:endParaRPr lang="es-PE" sz="1800"/>
          </a:p>
          <a:p>
            <a:endParaRPr lang="es-PE" sz="1800"/>
          </a:p>
          <a:p>
            <a:endParaRPr lang="es-PE" sz="1800"/>
          </a:p>
          <a:p>
            <a:endParaRPr lang="es-PE" sz="1800"/>
          </a:p>
          <a:p>
            <a:endParaRPr lang="es-PE" sz="1800"/>
          </a:p>
          <a:p>
            <a:endParaRPr lang="es-PE" sz="1800"/>
          </a:p>
        </p:txBody>
      </p:sp>
      <p:pic>
        <p:nvPicPr>
          <p:cNvPr id="2052" name="Picture 4" descr="C:\Users\MED\Desktop\logo MINEDU.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772174" y="260648"/>
            <a:ext cx="3092015" cy="4689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66003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2" name="Grupo 11"/>
          <p:cNvGrpSpPr/>
          <p:nvPr/>
        </p:nvGrpSpPr>
        <p:grpSpPr>
          <a:xfrm>
            <a:off x="0" y="-1246"/>
            <a:ext cx="12192000" cy="6859246"/>
            <a:chOff x="0" y="-1246"/>
            <a:chExt cx="12192000" cy="6859246"/>
          </a:xfrm>
        </p:grpSpPr>
        <p:sp>
          <p:nvSpPr>
            <p:cNvPr id="13" name="Rectángulo 12"/>
            <p:cNvSpPr/>
            <p:nvPr userDrawn="1"/>
          </p:nvSpPr>
          <p:spPr>
            <a:xfrm>
              <a:off x="0" y="-1246"/>
              <a:ext cx="12192000" cy="6859246"/>
            </a:xfrm>
            <a:prstGeom prst="rect">
              <a:avLst/>
            </a:prstGeom>
            <a:solidFill>
              <a:srgbClr val="F3F3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4" name="Triángulo isósceles 13"/>
            <p:cNvSpPr/>
            <p:nvPr userDrawn="1"/>
          </p:nvSpPr>
          <p:spPr>
            <a:xfrm flipV="1">
              <a:off x="6076950" y="-1246"/>
              <a:ext cx="6115050" cy="4859069"/>
            </a:xfrm>
            <a:prstGeom prst="triangle">
              <a:avLst>
                <a:gd name="adj" fmla="val 100000"/>
              </a:avLst>
            </a:prstGeom>
            <a:solidFill>
              <a:srgbClr val="EBEC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5" name="Triángulo isósceles 14"/>
            <p:cNvSpPr/>
            <p:nvPr userDrawn="1"/>
          </p:nvSpPr>
          <p:spPr>
            <a:xfrm>
              <a:off x="6076950" y="1998931"/>
              <a:ext cx="6115050" cy="4859069"/>
            </a:xfrm>
            <a:prstGeom prst="triangle">
              <a:avLst>
                <a:gd name="adj" fmla="val 100000"/>
              </a:avLst>
            </a:prstGeom>
            <a:solidFill>
              <a:srgbClr val="CDCE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grpSp>
      <p:sp>
        <p:nvSpPr>
          <p:cNvPr id="16" name="Triángulo isósceles 15"/>
          <p:cNvSpPr/>
          <p:nvPr/>
        </p:nvSpPr>
        <p:spPr>
          <a:xfrm rot="16200000">
            <a:off x="9854851" y="2531228"/>
            <a:ext cx="2880000" cy="1794297"/>
          </a:xfrm>
          <a:prstGeom prst="triangle">
            <a:avLst>
              <a:gd name="adj" fmla="val 49991"/>
            </a:avLst>
          </a:prstGeom>
          <a:solidFill>
            <a:srgbClr val="AF0D1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pic>
        <p:nvPicPr>
          <p:cNvPr id="9" name="Imagen 8"/>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9370189" y="143228"/>
            <a:ext cx="2694811" cy="587019"/>
          </a:xfrm>
          <a:prstGeom prst="rect">
            <a:avLst/>
          </a:prstGeom>
        </p:spPr>
      </p:pic>
      <p:sp>
        <p:nvSpPr>
          <p:cNvPr id="17" name="Forma libre 16"/>
          <p:cNvSpPr/>
          <p:nvPr/>
        </p:nvSpPr>
        <p:spPr>
          <a:xfrm>
            <a:off x="138327" y="164307"/>
            <a:ext cx="11925300" cy="6557166"/>
          </a:xfrm>
          <a:custGeom>
            <a:avLst/>
            <a:gdLst>
              <a:gd name="connsiteX0" fmla="*/ 0 w 11925300"/>
              <a:gd name="connsiteY0" fmla="*/ 0 h 6557166"/>
              <a:gd name="connsiteX1" fmla="*/ 8436245 w 11925300"/>
              <a:gd name="connsiteY1" fmla="*/ 0 h 6557166"/>
              <a:gd name="connsiteX2" fmla="*/ 9420122 w 11925300"/>
              <a:gd name="connsiteY2" fmla="*/ 721517 h 6557166"/>
              <a:gd name="connsiteX3" fmla="*/ 11925300 w 11925300"/>
              <a:gd name="connsiteY3" fmla="*/ 721517 h 6557166"/>
              <a:gd name="connsiteX4" fmla="*/ 11925300 w 11925300"/>
              <a:gd name="connsiteY4" fmla="*/ 6557166 h 6557166"/>
              <a:gd name="connsiteX5" fmla="*/ 0 w 11925300"/>
              <a:gd name="connsiteY5" fmla="*/ 6557166 h 6557166"/>
              <a:gd name="connsiteX6" fmla="*/ 0 w 11925300"/>
              <a:gd name="connsiteY6" fmla="*/ 875271 h 6557166"/>
              <a:gd name="connsiteX7" fmla="*/ 0 w 11925300"/>
              <a:gd name="connsiteY7" fmla="*/ 721517 h 6557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925300" h="6557166">
                <a:moveTo>
                  <a:pt x="0" y="0"/>
                </a:moveTo>
                <a:lnTo>
                  <a:pt x="8436245" y="0"/>
                </a:lnTo>
                <a:lnTo>
                  <a:pt x="9420122" y="721517"/>
                </a:lnTo>
                <a:lnTo>
                  <a:pt x="11925300" y="721517"/>
                </a:lnTo>
                <a:lnTo>
                  <a:pt x="11925300" y="6557166"/>
                </a:lnTo>
                <a:lnTo>
                  <a:pt x="0" y="6557166"/>
                </a:lnTo>
                <a:lnTo>
                  <a:pt x="0" y="875271"/>
                </a:lnTo>
                <a:lnTo>
                  <a:pt x="0" y="721517"/>
                </a:lnTo>
                <a:close/>
              </a:path>
            </a:pathLst>
          </a:cu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s-PE"/>
          </a:p>
        </p:txBody>
      </p:sp>
      <p:sp>
        <p:nvSpPr>
          <p:cNvPr id="2" name="Marcador de título 1"/>
          <p:cNvSpPr>
            <a:spLocks noGrp="1"/>
          </p:cNvSpPr>
          <p:nvPr>
            <p:ph type="title"/>
          </p:nvPr>
        </p:nvSpPr>
        <p:spPr>
          <a:xfrm>
            <a:off x="314324" y="187894"/>
            <a:ext cx="8927494" cy="721517"/>
          </a:xfrm>
          <a:prstGeom prst="rect">
            <a:avLst/>
          </a:prstGeom>
        </p:spPr>
        <p:txBody>
          <a:bodyPr vert="horz" lIns="91440" tIns="45720" rIns="91440" bIns="45720" rtlCol="0" anchor="ctr">
            <a:noAutofit/>
          </a:bodyPr>
          <a:lstStyle/>
          <a:p>
            <a:r>
              <a:rPr lang="es-ES"/>
              <a:t>Haga clic para modificar el estilo de título del patrón</a:t>
            </a:r>
            <a:endParaRPr lang="es-PE"/>
          </a:p>
        </p:txBody>
      </p:sp>
      <p:cxnSp>
        <p:nvCxnSpPr>
          <p:cNvPr id="11" name="Conector recto 10"/>
          <p:cNvCxnSpPr/>
          <p:nvPr/>
        </p:nvCxnSpPr>
        <p:spPr>
          <a:xfrm flipH="1">
            <a:off x="152400" y="951705"/>
            <a:ext cx="11916000" cy="0"/>
          </a:xfrm>
          <a:prstGeom prst="line">
            <a:avLst/>
          </a:prstGeom>
          <a:ln>
            <a:solidFill>
              <a:schemeClr val="bg1">
                <a:lumMod val="85000"/>
              </a:schemeClr>
            </a:solidFill>
          </a:ln>
        </p:spPr>
        <p:style>
          <a:lnRef idx="1">
            <a:schemeClr val="accent3"/>
          </a:lnRef>
          <a:fillRef idx="0">
            <a:schemeClr val="accent3"/>
          </a:fillRef>
          <a:effectRef idx="0">
            <a:schemeClr val="accent3"/>
          </a:effectRef>
          <a:fontRef idx="minor">
            <a:schemeClr val="tx1"/>
          </a:fontRef>
        </p:style>
      </p:cxnSp>
      <p:sp>
        <p:nvSpPr>
          <p:cNvPr id="3" name="Marcador de texto 2"/>
          <p:cNvSpPr>
            <a:spLocks noGrp="1"/>
          </p:cNvSpPr>
          <p:nvPr>
            <p:ph type="body" idx="1"/>
          </p:nvPr>
        </p:nvSpPr>
        <p:spPr>
          <a:xfrm>
            <a:off x="314324" y="1122703"/>
            <a:ext cx="11591925" cy="5342610"/>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p:cNvSpPr>
            <a:spLocks noGrp="1"/>
          </p:cNvSpPr>
          <p:nvPr>
            <p:ph type="dt" sz="half" idx="2"/>
          </p:nvPr>
        </p:nvSpPr>
        <p:spPr>
          <a:xfrm>
            <a:off x="136450" y="6514755"/>
            <a:ext cx="2743200" cy="192206"/>
          </a:xfrm>
          <a:prstGeom prst="rect">
            <a:avLst/>
          </a:prstGeom>
        </p:spPr>
        <p:txBody>
          <a:bodyPr vert="horz" lIns="91440" tIns="45720" rIns="91440" bIns="45720" rtlCol="0" anchor="ctr"/>
          <a:lstStyle>
            <a:lvl1pPr algn="l">
              <a:defRPr sz="1100">
                <a:solidFill>
                  <a:schemeClr val="tx1">
                    <a:tint val="75000"/>
                  </a:schemeClr>
                </a:solidFill>
                <a:latin typeface="Arial" panose="020B0604020202020204" pitchFamily="34" charset="0"/>
                <a:cs typeface="Arial" panose="020B0604020202020204" pitchFamily="34" charset="0"/>
              </a:defRPr>
            </a:lvl1pPr>
          </a:lstStyle>
          <a:p>
            <a:endParaRPr lang="es-PE"/>
          </a:p>
        </p:txBody>
      </p:sp>
      <p:sp>
        <p:nvSpPr>
          <p:cNvPr id="5" name="Marcador de pie de página 4"/>
          <p:cNvSpPr>
            <a:spLocks noGrp="1"/>
          </p:cNvSpPr>
          <p:nvPr>
            <p:ph type="ftr" sz="quarter" idx="3"/>
          </p:nvPr>
        </p:nvSpPr>
        <p:spPr>
          <a:xfrm>
            <a:off x="4038600" y="6514755"/>
            <a:ext cx="4114800" cy="192206"/>
          </a:xfrm>
          <a:prstGeom prst="rect">
            <a:avLst/>
          </a:prstGeom>
        </p:spPr>
        <p:txBody>
          <a:bodyPr vert="horz" lIns="91440" tIns="45720" rIns="91440" bIns="45720" rtlCol="0" anchor="ctr"/>
          <a:lstStyle>
            <a:lvl1pPr algn="ctr">
              <a:defRPr sz="1100">
                <a:solidFill>
                  <a:schemeClr val="tx1">
                    <a:tint val="75000"/>
                  </a:schemeClr>
                </a:solidFill>
                <a:latin typeface="Arial" panose="020B0604020202020204" pitchFamily="34" charset="0"/>
                <a:cs typeface="Arial" panose="020B0604020202020204" pitchFamily="34" charset="0"/>
              </a:defRPr>
            </a:lvl1pPr>
          </a:lstStyle>
          <a:p>
            <a:endParaRPr lang="es-PE"/>
          </a:p>
        </p:txBody>
      </p:sp>
      <p:sp>
        <p:nvSpPr>
          <p:cNvPr id="18" name="Lágrima 17"/>
          <p:cNvSpPr/>
          <p:nvPr/>
        </p:nvSpPr>
        <p:spPr>
          <a:xfrm rot="5400000">
            <a:off x="11852300" y="6515100"/>
            <a:ext cx="339698" cy="339698"/>
          </a:xfrm>
          <a:prstGeom prst="teardrop">
            <a:avLst/>
          </a:prstGeom>
          <a:solidFill>
            <a:srgbClr val="CDCED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6" name="Marcador de número de diapositiva 5"/>
          <p:cNvSpPr>
            <a:spLocks noGrp="1"/>
          </p:cNvSpPr>
          <p:nvPr>
            <p:ph type="sldNum" sz="quarter" idx="4"/>
          </p:nvPr>
        </p:nvSpPr>
        <p:spPr>
          <a:xfrm>
            <a:off x="11820525" y="6595944"/>
            <a:ext cx="396000" cy="192206"/>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lIns="91440" tIns="45720" rIns="91440" bIns="45720" rtlCol="0" anchor="ctr"/>
          <a:lstStyle>
            <a:lvl1pPr algn="ctr">
              <a:defRPr sz="1100" b="1">
                <a:solidFill>
                  <a:schemeClr val="bg1"/>
                </a:solidFill>
                <a:latin typeface="Arial Narrow" panose="020B0606020202030204" pitchFamily="34" charset="0"/>
                <a:cs typeface="Arial" panose="020B0604020202020204" pitchFamily="34" charset="0"/>
              </a:defRPr>
            </a:lvl1pPr>
          </a:lstStyle>
          <a:p>
            <a:fld id="{DAF31D20-51B2-49A6-91FA-1FC48A60B42D}" type="slidenum">
              <a:rPr lang="es-PE" smtClean="0"/>
              <a:t>‹#›</a:t>
            </a:fld>
            <a:endParaRPr lang="es-PE"/>
          </a:p>
        </p:txBody>
      </p:sp>
    </p:spTree>
    <p:extLst>
      <p:ext uri="{BB962C8B-B14F-4D97-AF65-F5344CB8AC3E}">
        <p14:creationId xmlns:p14="http://schemas.microsoft.com/office/powerpoint/2010/main" val="207048697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hdr="0" ftr="0" dt="0"/>
  <p:txStyles>
    <p:titleStyle>
      <a:lvl1pPr algn="l" defTabSz="914400" rtl="0" eaLnBrk="1" latinLnBrk="0" hangingPunct="1">
        <a:lnSpc>
          <a:spcPct val="90000"/>
        </a:lnSpc>
        <a:spcBef>
          <a:spcPct val="0"/>
        </a:spcBef>
        <a:buNone/>
        <a:defRPr sz="2800" b="1" kern="1200" spc="-100" baseline="0">
          <a:solidFill>
            <a:schemeClr val="tx2"/>
          </a:solidFill>
          <a:effectLst/>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6.xml"/><Relationship Id="rId4" Type="http://schemas.openxmlformats.org/officeDocument/2006/relationships/chart" Target="../charts/char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5.xml"/><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jpeg"/><Relationship Id="rId1" Type="http://schemas.openxmlformats.org/officeDocument/2006/relationships/slideLayout" Target="../slideLayouts/slideLayout5.xml"/><Relationship Id="rId6" Type="http://schemas.openxmlformats.org/officeDocument/2006/relationships/image" Target="../media/image16.emf"/><Relationship Id="rId5" Type="http://schemas.openxmlformats.org/officeDocument/2006/relationships/image" Target="../media/image15.png"/><Relationship Id="rId4" Type="http://schemas.openxmlformats.org/officeDocument/2006/relationships/image" Target="../media/image1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openxmlformats.org/officeDocument/2006/relationships/slideLayout" Target="../slideLayouts/slideLayout5.xml"/><Relationship Id="rId1" Type="http://schemas.openxmlformats.org/officeDocument/2006/relationships/vmlDrawing" Target="../drawings/vmlDrawing1.vml"/><Relationship Id="rId4" Type="http://schemas.openxmlformats.org/officeDocument/2006/relationships/image" Target="../media/image19.emf"/></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image" Target="../media/image20.jpg"/><Relationship Id="rId1" Type="http://schemas.openxmlformats.org/officeDocument/2006/relationships/slideLayout" Target="../slideLayouts/slideLayout6.xml"/><Relationship Id="rId4" Type="http://schemas.openxmlformats.org/officeDocument/2006/relationships/image" Target="../media/image2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26.png"/><Relationship Id="rId2" Type="http://schemas.openxmlformats.org/officeDocument/2006/relationships/image" Target="../media/image23.png"/><Relationship Id="rId1" Type="http://schemas.openxmlformats.org/officeDocument/2006/relationships/slideLayout" Target="../slideLayouts/slideLayout6.xml"/><Relationship Id="rId6" Type="http://schemas.openxmlformats.org/officeDocument/2006/relationships/image" Target="../media/image25.png"/><Relationship Id="rId5" Type="http://schemas.openxmlformats.org/officeDocument/2006/relationships/image" Target="../media/image11.png"/><Relationship Id="rId4" Type="http://schemas.openxmlformats.org/officeDocument/2006/relationships/image" Target="../media/image2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8" Type="http://schemas.openxmlformats.org/officeDocument/2006/relationships/image" Target="../media/image16.emf"/><Relationship Id="rId3" Type="http://schemas.openxmlformats.org/officeDocument/2006/relationships/image" Target="../media/image13.png"/><Relationship Id="rId7" Type="http://schemas.openxmlformats.org/officeDocument/2006/relationships/image" Target="../media/image170.png"/><Relationship Id="rId2" Type="http://schemas.openxmlformats.org/officeDocument/2006/relationships/image" Target="../media/image12.jpeg"/><Relationship Id="rId1" Type="http://schemas.openxmlformats.org/officeDocument/2006/relationships/slideLayout" Target="../slideLayouts/slideLayout5.xml"/><Relationship Id="rId5" Type="http://schemas.openxmlformats.org/officeDocument/2006/relationships/image" Target="../media/image150.png"/><Relationship Id="rId4" Type="http://schemas.openxmlformats.org/officeDocument/2006/relationships/image" Target="../media/image14.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262;p40">
            <a:extLst>
              <a:ext uri="{FF2B5EF4-FFF2-40B4-BE49-F238E27FC236}">
                <a16:creationId xmlns:a16="http://schemas.microsoft.com/office/drawing/2014/main" id="{6B2D2997-07CA-4904-B617-4D49470490AF}"/>
              </a:ext>
            </a:extLst>
          </p:cNvPr>
          <p:cNvSpPr txBox="1">
            <a:spLocks/>
          </p:cNvSpPr>
          <p:nvPr/>
        </p:nvSpPr>
        <p:spPr>
          <a:xfrm>
            <a:off x="1652971" y="2541977"/>
            <a:ext cx="8275431" cy="1919100"/>
          </a:xfrm>
          <a:prstGeom prst="rect">
            <a:avLst/>
          </a:prstGeom>
          <a:noFill/>
          <a:ln>
            <a:noFill/>
          </a:ln>
        </p:spPr>
        <p:txBody>
          <a:bodyPr spcFirstLastPara="1" wrap="square" lIns="0" tIns="0" rIns="0" bIns="0" anchor="ctr" anchorCtr="0">
            <a:noAutofit/>
          </a:bodyPr>
          <a:lstStyle>
            <a:lvl1pPr algn="l" defTabSz="914400" rtl="0" eaLnBrk="1" latinLnBrk="0" hangingPunct="1">
              <a:lnSpc>
                <a:spcPct val="90000"/>
              </a:lnSpc>
              <a:spcBef>
                <a:spcPct val="0"/>
              </a:spcBef>
              <a:buNone/>
              <a:defRPr sz="2800" b="1" kern="1200" spc="-100" baseline="0">
                <a:solidFill>
                  <a:schemeClr val="tx2"/>
                </a:solidFill>
                <a:effectLst/>
                <a:latin typeface="Arial" panose="020B0604020202020204" pitchFamily="34" charset="0"/>
                <a:ea typeface="+mj-ea"/>
                <a:cs typeface="Arial" panose="020B0604020202020204" pitchFamily="34" charset="0"/>
              </a:defRPr>
            </a:lvl1pPr>
          </a:lstStyle>
          <a:p>
            <a:pPr marL="0" marR="0" lvl="0" indent="0" algn="l" defTabSz="914400" rtl="0" eaLnBrk="1" fontAlgn="auto" latinLnBrk="0" hangingPunct="1">
              <a:lnSpc>
                <a:spcPct val="115000"/>
              </a:lnSpc>
              <a:spcBef>
                <a:spcPct val="0"/>
              </a:spcBef>
              <a:spcAft>
                <a:spcPts val="0"/>
              </a:spcAft>
              <a:buClrTx/>
              <a:buSzPts val="1400"/>
              <a:buFontTx/>
              <a:buNone/>
              <a:tabLst/>
              <a:defRPr/>
            </a:pPr>
            <a:r>
              <a:rPr kumimoji="0" lang="es-MX" sz="3600" b="1" i="0" u="none" strike="noStrike" kern="1200" cap="none" spc="-100" normalizeH="0" baseline="0" noProof="0" dirty="0">
                <a:ln>
                  <a:noFill/>
                </a:ln>
                <a:solidFill>
                  <a:srgbClr val="C00000"/>
                </a:solidFill>
                <a:effectLst/>
                <a:uLnTx/>
                <a:uFillTx/>
                <a:latin typeface="Calibri" panose="020F0502020204030204" pitchFamily="34" charset="0"/>
                <a:ea typeface="+mj-ea"/>
                <a:cs typeface="Calibri" panose="020F0502020204030204" pitchFamily="34" charset="0"/>
              </a:rPr>
              <a:t>Estrategia de Educación Remedial </a:t>
            </a:r>
            <a:r>
              <a:rPr kumimoji="0" lang="es-MX" sz="3400" b="1" i="0" u="none" strike="noStrike" kern="1200" cap="none" spc="-100" normalizeH="0" baseline="0" noProof="0" dirty="0">
                <a:ln>
                  <a:noFill/>
                </a:ln>
                <a:solidFill>
                  <a:srgbClr val="C00000"/>
                </a:solidFill>
                <a:effectLst/>
                <a:uLnTx/>
                <a:uFillTx/>
                <a:latin typeface="Calibri" panose="020F0502020204030204" pitchFamily="34" charset="0"/>
                <a:ea typeface="+mj-ea"/>
                <a:cs typeface="Calibri" panose="020F0502020204030204" pitchFamily="34" charset="0"/>
              </a:rPr>
              <a:t>(2022 - 2024)</a:t>
            </a:r>
            <a:br>
              <a:rPr kumimoji="0" lang="es-MX" sz="3400" b="1" i="0" u="none" strike="noStrike" kern="1200" cap="none" spc="-100" normalizeH="0" baseline="0" noProof="0" dirty="0">
                <a:ln>
                  <a:noFill/>
                </a:ln>
                <a:solidFill>
                  <a:srgbClr val="C00000"/>
                </a:solidFill>
                <a:effectLst/>
                <a:uLnTx/>
                <a:uFillTx/>
                <a:latin typeface="Calibri" panose="020F0502020204030204" pitchFamily="34" charset="0"/>
                <a:ea typeface="+mj-ea"/>
                <a:cs typeface="Calibri" panose="020F0502020204030204" pitchFamily="34" charset="0"/>
              </a:rPr>
            </a:br>
            <a:r>
              <a:rPr kumimoji="0" lang="es-MX" sz="2800" b="1" i="0" u="none" strike="noStrike" kern="1200" cap="none" spc="-100" normalizeH="0" baseline="0" noProof="0" dirty="0">
                <a:ln>
                  <a:noFill/>
                </a:ln>
                <a:solidFill>
                  <a:srgbClr val="666666"/>
                </a:solidFill>
                <a:effectLst/>
                <a:uLnTx/>
                <a:uFillTx/>
                <a:latin typeface="Calibri"/>
                <a:ea typeface="+mj-ea"/>
                <a:cs typeface="Calibri"/>
              </a:rPr>
              <a:t>Ministerio de Educación</a:t>
            </a:r>
            <a:endParaRPr kumimoji="0" lang="es-MX" sz="3200" b="1" i="0" u="none" strike="noStrike" kern="1200" cap="none" spc="-100" normalizeH="0" baseline="0" noProof="0" dirty="0">
              <a:ln>
                <a:noFill/>
              </a:ln>
              <a:solidFill>
                <a:srgbClr val="C00000"/>
              </a:solidFill>
              <a:effectLst/>
              <a:uLnTx/>
              <a:uFillTx/>
              <a:latin typeface="Calibri" panose="020F0502020204030204" pitchFamily="34" charset="0"/>
              <a:ea typeface="+mj-ea"/>
              <a:cs typeface="Calibri" panose="020F0502020204030204" pitchFamily="34" charset="0"/>
            </a:endParaRPr>
          </a:p>
        </p:txBody>
      </p:sp>
    </p:spTree>
    <p:extLst>
      <p:ext uri="{BB962C8B-B14F-4D97-AF65-F5344CB8AC3E}">
        <p14:creationId xmlns:p14="http://schemas.microsoft.com/office/powerpoint/2010/main" val="13313878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Diagonal Corners Rounded 6">
            <a:extLst>
              <a:ext uri="{FF2B5EF4-FFF2-40B4-BE49-F238E27FC236}">
                <a16:creationId xmlns:a16="http://schemas.microsoft.com/office/drawing/2014/main" id="{5DC549E6-0B6C-450B-922D-0F58D2924A72}"/>
              </a:ext>
            </a:extLst>
          </p:cNvPr>
          <p:cNvSpPr/>
          <p:nvPr/>
        </p:nvSpPr>
        <p:spPr>
          <a:xfrm>
            <a:off x="429623" y="2924776"/>
            <a:ext cx="11267440" cy="721517"/>
          </a:xfrm>
          <a:prstGeom prst="round2Diag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solidFill>
                <a:schemeClr val="tx2"/>
              </a:solidFill>
            </a:endParaRPr>
          </a:p>
        </p:txBody>
      </p:sp>
      <p:sp>
        <p:nvSpPr>
          <p:cNvPr id="6" name="Rectangle: Diagonal Corners Rounded 5">
            <a:extLst>
              <a:ext uri="{FF2B5EF4-FFF2-40B4-BE49-F238E27FC236}">
                <a16:creationId xmlns:a16="http://schemas.microsoft.com/office/drawing/2014/main" id="{4E20E10E-4C87-4242-A0D4-EB119D6387FB}"/>
              </a:ext>
            </a:extLst>
          </p:cNvPr>
          <p:cNvSpPr/>
          <p:nvPr/>
        </p:nvSpPr>
        <p:spPr>
          <a:xfrm>
            <a:off x="429623" y="1595120"/>
            <a:ext cx="11267440" cy="721517"/>
          </a:xfrm>
          <a:prstGeom prst="round2Diag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 name="Title 1">
            <a:extLst>
              <a:ext uri="{FF2B5EF4-FFF2-40B4-BE49-F238E27FC236}">
                <a16:creationId xmlns:a16="http://schemas.microsoft.com/office/drawing/2014/main" id="{16C18CE1-72D9-4719-A2FF-5C93A7E96E39}"/>
              </a:ext>
            </a:extLst>
          </p:cNvPr>
          <p:cNvSpPr>
            <a:spLocks noGrp="1"/>
          </p:cNvSpPr>
          <p:nvPr>
            <p:ph type="title"/>
          </p:nvPr>
        </p:nvSpPr>
        <p:spPr/>
        <p:txBody>
          <a:bodyPr/>
          <a:lstStyle/>
          <a:p>
            <a:r>
              <a:rPr lang="es-PE" sz="4000" dirty="0"/>
              <a:t>AGENDA</a:t>
            </a:r>
            <a:endParaRPr lang="en-CA" sz="4000" dirty="0"/>
          </a:p>
        </p:txBody>
      </p:sp>
      <p:sp>
        <p:nvSpPr>
          <p:cNvPr id="3" name="Slide Number Placeholder 2">
            <a:extLst>
              <a:ext uri="{FF2B5EF4-FFF2-40B4-BE49-F238E27FC236}">
                <a16:creationId xmlns:a16="http://schemas.microsoft.com/office/drawing/2014/main" id="{0DFD7E46-D5CE-48DD-96F3-51002A57C15D}"/>
              </a:ext>
            </a:extLst>
          </p:cNvPr>
          <p:cNvSpPr>
            <a:spLocks noGrp="1"/>
          </p:cNvSpPr>
          <p:nvPr>
            <p:ph type="sldNum" sz="quarter" idx="12"/>
          </p:nvPr>
        </p:nvSpPr>
        <p:spPr/>
        <p:txBody>
          <a:bodyPr/>
          <a:lstStyle/>
          <a:p>
            <a:fld id="{DAF31D20-51B2-49A6-91FA-1FC48A60B42D}" type="slidenum">
              <a:rPr lang="es-PE" smtClean="0"/>
              <a:t>2</a:t>
            </a:fld>
            <a:endParaRPr lang="es-PE"/>
          </a:p>
        </p:txBody>
      </p:sp>
      <p:sp>
        <p:nvSpPr>
          <p:cNvPr id="4" name="TextBox 3">
            <a:extLst>
              <a:ext uri="{FF2B5EF4-FFF2-40B4-BE49-F238E27FC236}">
                <a16:creationId xmlns:a16="http://schemas.microsoft.com/office/drawing/2014/main" id="{708D1216-4945-42E1-8730-051FDE1086A1}"/>
              </a:ext>
            </a:extLst>
          </p:cNvPr>
          <p:cNvSpPr txBox="1"/>
          <p:nvPr/>
        </p:nvSpPr>
        <p:spPr>
          <a:xfrm>
            <a:off x="528320" y="1772921"/>
            <a:ext cx="10972800" cy="36933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marL="342900" indent="-342900">
              <a:buAutoNum type="arabicPeriod"/>
            </a:pPr>
            <a:r>
              <a:rPr lang="es-PE" b="1" dirty="0"/>
              <a:t>¿Por qué es importante implementar un plan de Educación Remedial en el 2022?</a:t>
            </a:r>
          </a:p>
        </p:txBody>
      </p:sp>
      <p:sp>
        <p:nvSpPr>
          <p:cNvPr id="5" name="TextBox 4">
            <a:extLst>
              <a:ext uri="{FF2B5EF4-FFF2-40B4-BE49-F238E27FC236}">
                <a16:creationId xmlns:a16="http://schemas.microsoft.com/office/drawing/2014/main" id="{17CB7C5A-6404-4218-A2FD-BE386960A332}"/>
              </a:ext>
            </a:extLst>
          </p:cNvPr>
          <p:cNvSpPr txBox="1"/>
          <p:nvPr/>
        </p:nvSpPr>
        <p:spPr>
          <a:xfrm>
            <a:off x="494937" y="3100869"/>
            <a:ext cx="10739120" cy="369332"/>
          </a:xfrm>
          <a:prstGeom prst="rect">
            <a:avLst/>
          </a:prstGeom>
          <a:noFill/>
        </p:spPr>
        <p:txBody>
          <a:bodyPr wrap="square" rtlCol="0">
            <a:spAutoFit/>
          </a:bodyPr>
          <a:lstStyle/>
          <a:p>
            <a:r>
              <a:rPr lang="es-PE" b="1" dirty="0">
                <a:solidFill>
                  <a:schemeClr val="tx2"/>
                </a:solidFill>
              </a:rPr>
              <a:t>2.  Propuesta de estrategia de Educación Remedial </a:t>
            </a:r>
            <a:endParaRPr lang="en-CA" b="1" dirty="0">
              <a:solidFill>
                <a:schemeClr val="tx2"/>
              </a:solidFill>
            </a:endParaRPr>
          </a:p>
        </p:txBody>
      </p:sp>
      <p:sp>
        <p:nvSpPr>
          <p:cNvPr id="8" name="Rectangle: Diagonal Corners Rounded 7">
            <a:extLst>
              <a:ext uri="{FF2B5EF4-FFF2-40B4-BE49-F238E27FC236}">
                <a16:creationId xmlns:a16="http://schemas.microsoft.com/office/drawing/2014/main" id="{59E6A756-3695-42A0-9AB6-C0C899FB34D5}"/>
              </a:ext>
            </a:extLst>
          </p:cNvPr>
          <p:cNvSpPr/>
          <p:nvPr/>
        </p:nvSpPr>
        <p:spPr>
          <a:xfrm>
            <a:off x="429623" y="4254432"/>
            <a:ext cx="11267440" cy="721517"/>
          </a:xfrm>
          <a:prstGeom prst="round2Diag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solidFill>
                <a:schemeClr val="tx2"/>
              </a:solidFill>
            </a:endParaRPr>
          </a:p>
        </p:txBody>
      </p:sp>
      <p:sp>
        <p:nvSpPr>
          <p:cNvPr id="9" name="TextBox 8">
            <a:extLst>
              <a:ext uri="{FF2B5EF4-FFF2-40B4-BE49-F238E27FC236}">
                <a16:creationId xmlns:a16="http://schemas.microsoft.com/office/drawing/2014/main" id="{6D2632DC-3264-4A47-B18B-30D8EC5F8809}"/>
              </a:ext>
            </a:extLst>
          </p:cNvPr>
          <p:cNvSpPr txBox="1"/>
          <p:nvPr/>
        </p:nvSpPr>
        <p:spPr>
          <a:xfrm>
            <a:off x="494937" y="4430524"/>
            <a:ext cx="10739120" cy="369332"/>
          </a:xfrm>
          <a:prstGeom prst="rect">
            <a:avLst/>
          </a:prstGeom>
          <a:noFill/>
        </p:spPr>
        <p:txBody>
          <a:bodyPr wrap="square" rtlCol="0">
            <a:spAutoFit/>
          </a:bodyPr>
          <a:lstStyle/>
          <a:p>
            <a:r>
              <a:rPr lang="es-PE" b="1" dirty="0">
                <a:solidFill>
                  <a:schemeClr val="tx2"/>
                </a:solidFill>
              </a:rPr>
              <a:t>3.  Recomendaciones </a:t>
            </a:r>
            <a:endParaRPr lang="en-CA" b="1" dirty="0">
              <a:solidFill>
                <a:schemeClr val="tx2"/>
              </a:solidFill>
            </a:endParaRPr>
          </a:p>
        </p:txBody>
      </p:sp>
    </p:spTree>
    <p:extLst>
      <p:ext uri="{BB962C8B-B14F-4D97-AF65-F5344CB8AC3E}">
        <p14:creationId xmlns:p14="http://schemas.microsoft.com/office/powerpoint/2010/main" val="10919300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99D1CE8-9146-4B11-978E-21C3660B0811}"/>
              </a:ext>
            </a:extLst>
          </p:cNvPr>
          <p:cNvSpPr>
            <a:spLocks noGrp="1"/>
          </p:cNvSpPr>
          <p:nvPr>
            <p:ph type="sldNum" sz="quarter" idx="12"/>
          </p:nvPr>
        </p:nvSpPr>
        <p:spPr/>
        <p:txBody>
          <a:bodyPr/>
          <a:lstStyle/>
          <a:p>
            <a:fld id="{DAF31D20-51B2-49A6-91FA-1FC48A60B42D}" type="slidenum">
              <a:rPr lang="es-PE" smtClean="0"/>
              <a:t>3</a:t>
            </a:fld>
            <a:endParaRPr lang="es-PE"/>
          </a:p>
        </p:txBody>
      </p:sp>
      <p:sp>
        <p:nvSpPr>
          <p:cNvPr id="4" name="Title 1">
            <a:extLst>
              <a:ext uri="{FF2B5EF4-FFF2-40B4-BE49-F238E27FC236}">
                <a16:creationId xmlns:a16="http://schemas.microsoft.com/office/drawing/2014/main" id="{5A9CE606-4263-4FEF-A6E8-D98A8580D736}"/>
              </a:ext>
            </a:extLst>
          </p:cNvPr>
          <p:cNvSpPr>
            <a:spLocks noGrp="1"/>
          </p:cNvSpPr>
          <p:nvPr>
            <p:ph type="title"/>
          </p:nvPr>
        </p:nvSpPr>
        <p:spPr>
          <a:xfrm>
            <a:off x="112811" y="0"/>
            <a:ext cx="9103360" cy="1253808"/>
          </a:xfrm>
        </p:spPr>
        <p:txBody>
          <a:bodyPr/>
          <a:lstStyle/>
          <a:p>
            <a:pPr marL="233363" marR="0" lvl="0" indent="-233363" defTabSz="914400" rtl="0" eaLnBrk="1" fontAlgn="auto" latinLnBrk="0" hangingPunct="1">
              <a:lnSpc>
                <a:spcPct val="100000"/>
              </a:lnSpc>
              <a:spcBef>
                <a:spcPts val="0"/>
              </a:spcBef>
              <a:spcAft>
                <a:spcPts val="0"/>
              </a:spcAft>
              <a:tabLst/>
              <a:defRPr/>
            </a:pPr>
            <a:r>
              <a:rPr kumimoji="0" lang="es-PE" sz="1800" b="1" i="0" u="none" strike="noStrike" kern="1200" cap="none" spc="0" normalizeH="0" baseline="0" noProof="0" dirty="0">
                <a:ln>
                  <a:noFill/>
                </a:ln>
                <a:solidFill>
                  <a:srgbClr val="C00000"/>
                </a:solidFill>
                <a:effectLst/>
                <a:uLnTx/>
                <a:uFillTx/>
                <a:latin typeface="Arial"/>
                <a:ea typeface="+mn-ea"/>
                <a:cs typeface="+mn-cs"/>
              </a:rPr>
              <a:t>1. Parte I:  </a:t>
            </a:r>
            <a:r>
              <a:rPr kumimoji="0" lang="es-PE" sz="1800" b="1" i="0" u="none" strike="noStrike" kern="1200" cap="none" spc="0" normalizeH="0" baseline="0" noProof="0" dirty="0">
                <a:ln>
                  <a:noFill/>
                </a:ln>
                <a:effectLst/>
                <a:uLnTx/>
                <a:uFillTx/>
                <a:latin typeface="Arial"/>
                <a:ea typeface="+mn-ea"/>
                <a:cs typeface="+mn-cs"/>
              </a:rPr>
              <a:t>¿Por qué es importante implementar un plan de Educación Remedial en el 2022?</a:t>
            </a:r>
            <a:endParaRPr lang="en-CA" dirty="0"/>
          </a:p>
        </p:txBody>
      </p:sp>
      <p:pic>
        <p:nvPicPr>
          <p:cNvPr id="5" name="Picture 4" descr="Icon&#10;&#10;Description automatically generated">
            <a:extLst>
              <a:ext uri="{FF2B5EF4-FFF2-40B4-BE49-F238E27FC236}">
                <a16:creationId xmlns:a16="http://schemas.microsoft.com/office/drawing/2014/main" id="{B868E004-924B-4976-AB9D-88D50421FDC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3082" y="2871583"/>
            <a:ext cx="2072708" cy="2072708"/>
          </a:xfrm>
          <a:prstGeom prst="rect">
            <a:avLst/>
          </a:prstGeom>
        </p:spPr>
      </p:pic>
      <p:sp>
        <p:nvSpPr>
          <p:cNvPr id="6" name="TextBox 5">
            <a:extLst>
              <a:ext uri="{FF2B5EF4-FFF2-40B4-BE49-F238E27FC236}">
                <a16:creationId xmlns:a16="http://schemas.microsoft.com/office/drawing/2014/main" id="{D687C41E-ECA1-47E0-B1BA-265921AD6A8F}"/>
              </a:ext>
            </a:extLst>
          </p:cNvPr>
          <p:cNvSpPr txBox="1"/>
          <p:nvPr/>
        </p:nvSpPr>
        <p:spPr>
          <a:xfrm>
            <a:off x="3892731" y="2034067"/>
            <a:ext cx="7511144" cy="3046988"/>
          </a:xfrm>
          <a:prstGeom prst="rect">
            <a:avLst/>
          </a:prstGeom>
          <a:noFill/>
        </p:spPr>
        <p:txBody>
          <a:bodyPr wrap="square">
            <a:spAutoFit/>
          </a:body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s-ES" altLang="en-US" sz="1600" b="0" i="0" u="none" strike="noStrike" kern="1200" cap="none" spc="0" normalizeH="0" baseline="0" noProof="0" dirty="0">
                <a:ln>
                  <a:noFill/>
                </a:ln>
                <a:solidFill>
                  <a:srgbClr val="000000"/>
                </a:solidFill>
                <a:effectLst/>
                <a:uLnTx/>
                <a:uFillTx/>
                <a:latin typeface="Calibri Light" panose="020F0302020204030204"/>
                <a:ea typeface="+mn-ea"/>
                <a:cs typeface="+mn-cs"/>
              </a:rPr>
              <a:t>Las intervenciones de Educación Remedial son un </a:t>
            </a:r>
            <a:r>
              <a:rPr kumimoji="0" lang="es-ES" altLang="en-US" sz="1600" b="1" i="0" u="none" strike="noStrike" kern="1200" cap="none" spc="0" normalizeH="0" baseline="0" noProof="0" dirty="0">
                <a:ln>
                  <a:noFill/>
                </a:ln>
                <a:solidFill>
                  <a:srgbClr val="000000"/>
                </a:solidFill>
                <a:effectLst/>
                <a:uLnTx/>
                <a:uFillTx/>
                <a:latin typeface="Calibri Light" panose="020F0302020204030204"/>
                <a:ea typeface="+mn-ea"/>
                <a:cs typeface="+mn-cs"/>
              </a:rPr>
              <a:t>método que puede reducir la variación del rendimiento en el aula y, por lo tanto, garantizar que todos los estudiantes estén progresando. </a:t>
            </a:r>
          </a:p>
          <a:p>
            <a:pPr marL="0" marR="0" lvl="0" indent="0" algn="just" defTabSz="914400" rtl="0" eaLnBrk="0" fontAlgn="base" latinLnBrk="0" hangingPunct="0">
              <a:lnSpc>
                <a:spcPct val="100000"/>
              </a:lnSpc>
              <a:spcBef>
                <a:spcPct val="0"/>
              </a:spcBef>
              <a:spcAft>
                <a:spcPct val="0"/>
              </a:spcAft>
              <a:buClrTx/>
              <a:buSzTx/>
              <a:buFontTx/>
              <a:buNone/>
              <a:tabLst/>
              <a:defRPr/>
            </a:pPr>
            <a:endParaRPr kumimoji="0" lang="es-ES" altLang="en-US" sz="1600" b="0" i="0" u="none" strike="noStrike" kern="1200" cap="none" spc="0" normalizeH="0" baseline="0" noProof="0" dirty="0">
              <a:ln>
                <a:noFill/>
              </a:ln>
              <a:solidFill>
                <a:srgbClr val="000000"/>
              </a:solidFill>
              <a:effectLst/>
              <a:uLnTx/>
              <a:uFillTx/>
              <a:latin typeface="Calibri Light" panose="020F0302020204030204"/>
              <a:ea typeface="+mn-ea"/>
              <a:cs typeface="+mn-cs"/>
            </a:endParaRPr>
          </a:p>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s-ES" altLang="en-US" sz="1600" b="0" i="0" u="none" strike="noStrike" kern="1200" cap="none" spc="0" normalizeH="0" baseline="0" noProof="0" dirty="0">
                <a:ln>
                  <a:noFill/>
                </a:ln>
                <a:solidFill>
                  <a:srgbClr val="000000"/>
                </a:solidFill>
                <a:effectLst/>
                <a:uLnTx/>
                <a:uFillTx/>
                <a:latin typeface="Calibri Light" panose="020F0302020204030204"/>
                <a:ea typeface="+mn-ea"/>
                <a:cs typeface="+mn-cs"/>
              </a:rPr>
              <a:t>Los programas de recuperación ofrecen la posibilidad de </a:t>
            </a:r>
            <a:r>
              <a:rPr kumimoji="0" lang="es-ES" altLang="en-US" sz="1600" b="1" i="0" u="none" strike="noStrike" kern="1200" cap="none" spc="0" normalizeH="0" baseline="0" noProof="0" dirty="0">
                <a:ln>
                  <a:noFill/>
                </a:ln>
                <a:solidFill>
                  <a:srgbClr val="000000"/>
                </a:solidFill>
                <a:effectLst/>
                <a:uLnTx/>
                <a:uFillTx/>
                <a:latin typeface="Calibri Light" panose="020F0302020204030204"/>
                <a:ea typeface="+mn-ea"/>
                <a:cs typeface="+mn-cs"/>
              </a:rPr>
              <a:t>enfocarse en aquellos estudiantes que están rezagados y enseñar a un nivel que sea apropiado para su nivel actual de habilidades. </a:t>
            </a:r>
            <a:r>
              <a:rPr kumimoji="0" lang="es-ES" altLang="en-US" sz="1600" b="0" i="0" u="none" strike="noStrike" kern="1200" cap="none" spc="0" normalizeH="0" baseline="0" noProof="0" dirty="0">
                <a:ln>
                  <a:noFill/>
                </a:ln>
                <a:solidFill>
                  <a:srgbClr val="000000"/>
                </a:solidFill>
                <a:effectLst/>
                <a:uLnTx/>
                <a:uFillTx/>
                <a:latin typeface="Calibri Light" panose="020F0302020204030204"/>
                <a:ea typeface="+mn-ea"/>
                <a:cs typeface="+mn-cs"/>
              </a:rPr>
              <a:t>Idealmente, la intervención aumentaría su progreso y disminuiría la heterogeneidad de los niveles de aprendizaje de los estudiantes en un grado dado. </a:t>
            </a:r>
          </a:p>
          <a:p>
            <a:pPr marL="0" marR="0" lvl="0" indent="0" algn="just" defTabSz="914400" rtl="0" eaLnBrk="0" fontAlgn="base" latinLnBrk="0" hangingPunct="0">
              <a:lnSpc>
                <a:spcPct val="100000"/>
              </a:lnSpc>
              <a:spcBef>
                <a:spcPct val="0"/>
              </a:spcBef>
              <a:spcAft>
                <a:spcPct val="0"/>
              </a:spcAft>
              <a:buClrTx/>
              <a:buSzTx/>
              <a:buFontTx/>
              <a:buNone/>
              <a:tabLst/>
              <a:defRPr/>
            </a:pPr>
            <a:endParaRPr kumimoji="0" lang="es-ES" altLang="en-US" sz="1600" b="0" i="0" u="none" strike="noStrike" kern="1200" cap="none" spc="0" normalizeH="0" baseline="0" noProof="0" dirty="0">
              <a:ln>
                <a:noFill/>
              </a:ln>
              <a:solidFill>
                <a:srgbClr val="000000"/>
              </a:solidFill>
              <a:effectLst/>
              <a:uLnTx/>
              <a:uFillTx/>
              <a:latin typeface="Calibri Light" panose="020F0302020204030204"/>
              <a:ea typeface="+mn-ea"/>
              <a:cs typeface="+mn-cs"/>
            </a:endParaRPr>
          </a:p>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s-ES" altLang="en-US" sz="1600" b="0" i="0" u="none" strike="noStrike" kern="1200" cap="none" spc="0" normalizeH="0" baseline="0" noProof="0" dirty="0">
                <a:ln>
                  <a:noFill/>
                </a:ln>
                <a:solidFill>
                  <a:srgbClr val="000000"/>
                </a:solidFill>
                <a:effectLst/>
                <a:uLnTx/>
                <a:uFillTx/>
                <a:latin typeface="Calibri Light" panose="020F0302020204030204"/>
                <a:ea typeface="+mn-ea"/>
                <a:cs typeface="+mn-cs"/>
              </a:rPr>
              <a:t>La evidencia sugiere que este puede ser el caso, con varios estudios de alta calidad que encuentran fuertes impactos de los programas de instrucción correctiva en los resultados del aprendizaje.</a:t>
            </a:r>
          </a:p>
        </p:txBody>
      </p:sp>
      <p:sp>
        <p:nvSpPr>
          <p:cNvPr id="7" name="TextBox 6">
            <a:extLst>
              <a:ext uri="{FF2B5EF4-FFF2-40B4-BE49-F238E27FC236}">
                <a16:creationId xmlns:a16="http://schemas.microsoft.com/office/drawing/2014/main" id="{AECFE852-B01E-43D9-8C9F-8C974DED04B6}"/>
              </a:ext>
            </a:extLst>
          </p:cNvPr>
          <p:cNvSpPr txBox="1"/>
          <p:nvPr/>
        </p:nvSpPr>
        <p:spPr>
          <a:xfrm>
            <a:off x="8294914" y="5238673"/>
            <a:ext cx="310896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800" b="1" i="0" u="none" strike="noStrike" kern="1200" cap="none" spc="0" normalizeH="0" baseline="0" noProof="0" dirty="0" err="1">
                <a:ln>
                  <a:noFill/>
                </a:ln>
                <a:solidFill>
                  <a:srgbClr val="000000"/>
                </a:solidFill>
                <a:effectLst/>
                <a:uLnTx/>
                <a:uFillTx/>
                <a:latin typeface="Calibri Light" panose="020F0302020204030204"/>
                <a:ea typeface="+mn-ea"/>
                <a:cs typeface="+mn-cs"/>
              </a:rPr>
              <a:t>Glewwe</a:t>
            </a:r>
            <a:r>
              <a:rPr kumimoji="0" lang="en-CA" sz="1800" b="1" i="0" u="none" strike="noStrike" kern="1200" cap="none" spc="0" normalizeH="0" baseline="0" noProof="0" dirty="0">
                <a:ln>
                  <a:noFill/>
                </a:ln>
                <a:solidFill>
                  <a:srgbClr val="000000"/>
                </a:solidFill>
                <a:effectLst/>
                <a:uLnTx/>
                <a:uFillTx/>
                <a:latin typeface="Calibri Light" panose="020F0302020204030204"/>
                <a:ea typeface="+mn-ea"/>
                <a:cs typeface="+mn-cs"/>
              </a:rPr>
              <a:t> y </a:t>
            </a:r>
            <a:r>
              <a:rPr kumimoji="0" lang="en-CA" sz="1800" b="1" i="0" u="none" strike="noStrike" kern="1200" cap="none" spc="0" normalizeH="0" baseline="0" noProof="0" dirty="0" err="1">
                <a:ln>
                  <a:noFill/>
                </a:ln>
                <a:solidFill>
                  <a:srgbClr val="000000"/>
                </a:solidFill>
                <a:effectLst/>
                <a:uLnTx/>
                <a:uFillTx/>
                <a:latin typeface="Calibri Light" panose="020F0302020204030204"/>
                <a:ea typeface="+mn-ea"/>
                <a:cs typeface="+mn-cs"/>
              </a:rPr>
              <a:t>Muralidharan</a:t>
            </a:r>
            <a:r>
              <a:rPr kumimoji="0" lang="en-CA" sz="1800" b="1" i="0" u="none" strike="noStrike" kern="1200" cap="none" spc="0" normalizeH="0" baseline="0" noProof="0" dirty="0">
                <a:ln>
                  <a:noFill/>
                </a:ln>
                <a:solidFill>
                  <a:srgbClr val="000000"/>
                </a:solidFill>
                <a:effectLst/>
                <a:uLnTx/>
                <a:uFillTx/>
                <a:latin typeface="Calibri Light" panose="020F0302020204030204"/>
                <a:ea typeface="+mn-ea"/>
                <a:cs typeface="+mn-cs"/>
              </a:rPr>
              <a:t>, 2016</a:t>
            </a:r>
            <a:r>
              <a:rPr kumimoji="0" lang="en-CA" sz="1800" b="0" i="0" u="none" strike="noStrike" kern="1200" cap="none" spc="0" normalizeH="0" baseline="0" noProof="0" dirty="0">
                <a:ln>
                  <a:noFill/>
                </a:ln>
                <a:solidFill>
                  <a:srgbClr val="000000"/>
                </a:solidFill>
                <a:effectLst/>
                <a:uLnTx/>
                <a:uFillTx/>
                <a:latin typeface="Calibri Light" panose="020F0302020204030204"/>
                <a:ea typeface="+mn-ea"/>
                <a:cs typeface="+mn-cs"/>
              </a:rPr>
              <a:t>.</a:t>
            </a:r>
          </a:p>
        </p:txBody>
      </p:sp>
      <p:sp>
        <p:nvSpPr>
          <p:cNvPr id="9" name="TextBox 8">
            <a:extLst>
              <a:ext uri="{FF2B5EF4-FFF2-40B4-BE49-F238E27FC236}">
                <a16:creationId xmlns:a16="http://schemas.microsoft.com/office/drawing/2014/main" id="{289068BC-9972-4ABC-8603-F6134319A5E4}"/>
              </a:ext>
            </a:extLst>
          </p:cNvPr>
          <p:cNvSpPr txBox="1"/>
          <p:nvPr/>
        </p:nvSpPr>
        <p:spPr>
          <a:xfrm>
            <a:off x="3914775" y="1343025"/>
            <a:ext cx="3486150" cy="369332"/>
          </a:xfrm>
          <a:prstGeom prst="rect">
            <a:avLst/>
          </a:prstGeom>
          <a:noFill/>
        </p:spPr>
        <p:txBody>
          <a:bodyPr wrap="square" rtlCol="0">
            <a:spAutoFit/>
          </a:bodyPr>
          <a:lstStyle/>
          <a:p>
            <a:r>
              <a:rPr lang="es-PE" b="1" dirty="0">
                <a:solidFill>
                  <a:schemeClr val="tx2"/>
                </a:solidFill>
              </a:rPr>
              <a:t>Definición:</a:t>
            </a:r>
            <a:endParaRPr lang="en-CA" b="1" dirty="0">
              <a:solidFill>
                <a:schemeClr val="tx2"/>
              </a:solidFill>
            </a:endParaRPr>
          </a:p>
        </p:txBody>
      </p:sp>
    </p:spTree>
    <p:extLst>
      <p:ext uri="{BB962C8B-B14F-4D97-AF65-F5344CB8AC3E}">
        <p14:creationId xmlns:p14="http://schemas.microsoft.com/office/powerpoint/2010/main" val="41596737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C924FC-3E94-4446-953E-740374C06E98}"/>
              </a:ext>
            </a:extLst>
          </p:cNvPr>
          <p:cNvSpPr>
            <a:spLocks noGrp="1"/>
          </p:cNvSpPr>
          <p:nvPr>
            <p:ph type="title"/>
          </p:nvPr>
        </p:nvSpPr>
        <p:spPr>
          <a:xfrm>
            <a:off x="112811" y="0"/>
            <a:ext cx="9103360" cy="1253808"/>
          </a:xfrm>
        </p:spPr>
        <p:txBody>
          <a:bodyPr/>
          <a:lstStyle/>
          <a:p>
            <a:pPr marL="233363" marR="0" lvl="0" indent="-233363" defTabSz="914400" rtl="0" eaLnBrk="1" fontAlgn="auto" latinLnBrk="0" hangingPunct="1">
              <a:lnSpc>
                <a:spcPct val="100000"/>
              </a:lnSpc>
              <a:spcBef>
                <a:spcPts val="0"/>
              </a:spcBef>
              <a:spcAft>
                <a:spcPts val="0"/>
              </a:spcAft>
              <a:tabLst/>
              <a:defRPr/>
            </a:pPr>
            <a:r>
              <a:rPr kumimoji="0" lang="es-PE" sz="1800" b="1" i="0" u="none" strike="noStrike" kern="1200" cap="none" spc="0" normalizeH="0" baseline="0" noProof="0" dirty="0">
                <a:ln>
                  <a:noFill/>
                </a:ln>
                <a:solidFill>
                  <a:srgbClr val="C00000"/>
                </a:solidFill>
                <a:effectLst/>
                <a:uLnTx/>
                <a:uFillTx/>
                <a:latin typeface="Arial"/>
                <a:ea typeface="+mn-ea"/>
                <a:cs typeface="+mn-cs"/>
              </a:rPr>
              <a:t>1. Parte I:  </a:t>
            </a:r>
            <a:r>
              <a:rPr kumimoji="0" lang="es-PE" sz="1800" b="1" i="0" u="none" strike="noStrike" kern="1200" cap="none" spc="0" normalizeH="0" baseline="0" noProof="0" dirty="0">
                <a:ln>
                  <a:noFill/>
                </a:ln>
                <a:effectLst/>
                <a:uLnTx/>
                <a:uFillTx/>
                <a:latin typeface="Arial"/>
                <a:ea typeface="+mn-ea"/>
                <a:cs typeface="+mn-cs"/>
              </a:rPr>
              <a:t>¿Por qué es importante implementar un plan de Educación Remedial en el 2022?</a:t>
            </a:r>
            <a:endParaRPr lang="en-CA" dirty="0"/>
          </a:p>
        </p:txBody>
      </p:sp>
      <p:sp>
        <p:nvSpPr>
          <p:cNvPr id="3" name="Slide Number Placeholder 2">
            <a:extLst>
              <a:ext uri="{FF2B5EF4-FFF2-40B4-BE49-F238E27FC236}">
                <a16:creationId xmlns:a16="http://schemas.microsoft.com/office/drawing/2014/main" id="{DD53C752-7DD8-4232-AE7E-B38A79712724}"/>
              </a:ext>
            </a:extLst>
          </p:cNvPr>
          <p:cNvSpPr>
            <a:spLocks noGrp="1"/>
          </p:cNvSpPr>
          <p:nvPr>
            <p:ph type="sldNum" sz="quarter" idx="12"/>
          </p:nvPr>
        </p:nvSpPr>
        <p:spPr/>
        <p:txBody>
          <a:bodyPr/>
          <a:lstStyle/>
          <a:p>
            <a:fld id="{DAF31D20-51B2-49A6-91FA-1FC48A60B42D}" type="slidenum">
              <a:rPr lang="es-PE" smtClean="0"/>
              <a:t>4</a:t>
            </a:fld>
            <a:endParaRPr lang="es-PE"/>
          </a:p>
        </p:txBody>
      </p:sp>
      <p:sp>
        <p:nvSpPr>
          <p:cNvPr id="5" name="TextBox 4">
            <a:extLst>
              <a:ext uri="{FF2B5EF4-FFF2-40B4-BE49-F238E27FC236}">
                <a16:creationId xmlns:a16="http://schemas.microsoft.com/office/drawing/2014/main" id="{6E8E11EA-25EF-40A3-8E91-2CA500696270}"/>
              </a:ext>
            </a:extLst>
          </p:cNvPr>
          <p:cNvSpPr txBox="1"/>
          <p:nvPr/>
        </p:nvSpPr>
        <p:spPr>
          <a:xfrm>
            <a:off x="328623" y="1226536"/>
            <a:ext cx="11298621" cy="646331"/>
          </a:xfrm>
          <a:prstGeom prst="rect">
            <a:avLst/>
          </a:prstGeom>
          <a:noFill/>
        </p:spPr>
        <p:txBody>
          <a:bodyPr wrap="square" rtlCol="0">
            <a:spAutoFit/>
          </a:bodyPr>
          <a:lstStyle/>
          <a:p>
            <a:pPr algn="ctr"/>
            <a:r>
              <a:rPr lang="es-PE" b="1" dirty="0">
                <a:solidFill>
                  <a:schemeClr val="tx2"/>
                </a:solidFill>
              </a:rPr>
              <a:t>Se estima que la COVID-19 estaría </a:t>
            </a:r>
            <a:r>
              <a:rPr lang="es-PE" b="1" u="sng" dirty="0">
                <a:solidFill>
                  <a:schemeClr val="tx2"/>
                </a:solidFill>
              </a:rPr>
              <a:t>revirtiendo años de avances </a:t>
            </a:r>
            <a:r>
              <a:rPr lang="es-PE" b="1" dirty="0">
                <a:solidFill>
                  <a:schemeClr val="tx2"/>
                </a:solidFill>
              </a:rPr>
              <a:t>en términos de cobertura de servicio educativo y en logros de aprendizaje.</a:t>
            </a:r>
            <a:endParaRPr lang="en-CA" b="1" dirty="0">
              <a:solidFill>
                <a:schemeClr val="tx2"/>
              </a:solidFill>
            </a:endParaRPr>
          </a:p>
        </p:txBody>
      </p:sp>
      <p:grpSp>
        <p:nvGrpSpPr>
          <p:cNvPr id="6" name="Group 5">
            <a:extLst>
              <a:ext uri="{FF2B5EF4-FFF2-40B4-BE49-F238E27FC236}">
                <a16:creationId xmlns:a16="http://schemas.microsoft.com/office/drawing/2014/main" id="{BBE1E92B-AD34-4B1F-B4CA-DE041BBA5F06}"/>
              </a:ext>
            </a:extLst>
          </p:cNvPr>
          <p:cNvGrpSpPr/>
          <p:nvPr/>
        </p:nvGrpSpPr>
        <p:grpSpPr>
          <a:xfrm>
            <a:off x="5599640" y="2962153"/>
            <a:ext cx="6301924" cy="3597344"/>
            <a:chOff x="222419" y="1923612"/>
            <a:chExt cx="7647158" cy="4253213"/>
          </a:xfrm>
        </p:grpSpPr>
        <p:graphicFrame>
          <p:nvGraphicFramePr>
            <p:cNvPr id="7" name="Gráfico 4">
              <a:extLst>
                <a:ext uri="{FF2B5EF4-FFF2-40B4-BE49-F238E27FC236}">
                  <a16:creationId xmlns:a16="http://schemas.microsoft.com/office/drawing/2014/main" id="{3D35F174-05D4-4B90-BF40-5218411BABFE}"/>
                </a:ext>
              </a:extLst>
            </p:cNvPr>
            <p:cNvGraphicFramePr>
              <a:graphicFrameLocks/>
            </p:cNvGraphicFramePr>
            <p:nvPr/>
          </p:nvGraphicFramePr>
          <p:xfrm>
            <a:off x="222419" y="1923612"/>
            <a:ext cx="5009982" cy="3705028"/>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Gráfico 5">
              <a:extLst>
                <a:ext uri="{FF2B5EF4-FFF2-40B4-BE49-F238E27FC236}">
                  <a16:creationId xmlns:a16="http://schemas.microsoft.com/office/drawing/2014/main" id="{B8280464-0F88-47A0-8C27-AE9B132EE7F9}"/>
                </a:ext>
              </a:extLst>
            </p:cNvPr>
            <p:cNvGraphicFramePr>
              <a:graphicFrameLocks/>
            </p:cNvGraphicFramePr>
            <p:nvPr>
              <p:extLst>
                <p:ext uri="{D42A27DB-BD31-4B8C-83A1-F6EECF244321}">
                  <p14:modId xmlns:p14="http://schemas.microsoft.com/office/powerpoint/2010/main" val="2216457231"/>
                </p:ext>
              </p:extLst>
            </p:nvPr>
          </p:nvGraphicFramePr>
          <p:xfrm>
            <a:off x="5078994" y="2033758"/>
            <a:ext cx="2590703" cy="3222372"/>
          </p:xfrm>
          <a:graphic>
            <a:graphicData uri="http://schemas.openxmlformats.org/drawingml/2006/chart">
              <c:chart xmlns:c="http://schemas.openxmlformats.org/drawingml/2006/chart" xmlns:r="http://schemas.openxmlformats.org/officeDocument/2006/relationships" r:id="rId3"/>
            </a:graphicData>
          </a:graphic>
        </p:graphicFrame>
        <p:sp>
          <p:nvSpPr>
            <p:cNvPr id="9" name="CuadroTexto 7">
              <a:extLst>
                <a:ext uri="{FF2B5EF4-FFF2-40B4-BE49-F238E27FC236}">
                  <a16:creationId xmlns:a16="http://schemas.microsoft.com/office/drawing/2014/main" id="{6D11AECC-FCA1-4E4F-8ECB-68E517C9FF12}"/>
                </a:ext>
              </a:extLst>
            </p:cNvPr>
            <p:cNvSpPr txBox="1"/>
            <p:nvPr/>
          </p:nvSpPr>
          <p:spPr>
            <a:xfrm>
              <a:off x="3657112" y="5978481"/>
              <a:ext cx="4212465" cy="198344"/>
            </a:xfrm>
            <a:prstGeom prst="rect">
              <a:avLst/>
            </a:prstGeom>
            <a:noFill/>
          </p:spPr>
          <p:txBody>
            <a:bodyPr wrap="square" rtlCol="0">
              <a:no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r>
                <a:rPr kumimoji="0" lang="es-PE" sz="1100" b="0" i="0" u="none" strike="noStrike" kern="1200" cap="none" spc="0" normalizeH="0" baseline="0" noProof="0" dirty="0">
                  <a:ln>
                    <a:noFill/>
                  </a:ln>
                  <a:solidFill>
                    <a:srgbClr val="000000"/>
                  </a:solidFill>
                  <a:effectLst/>
                  <a:uLnTx/>
                  <a:uFillTx/>
                  <a:latin typeface="Calibri" panose="020F0502020204030204"/>
                  <a:ea typeface="+mn-ea"/>
                  <a:cs typeface="+mn-cs"/>
                </a:rPr>
                <a:t>Fuente: Unidad de Estadística y  Banco Mundial 2021</a:t>
              </a:r>
            </a:p>
          </p:txBody>
        </p:sp>
      </p:grpSp>
      <p:sp>
        <p:nvSpPr>
          <p:cNvPr id="12" name="TextBox 11">
            <a:extLst>
              <a:ext uri="{FF2B5EF4-FFF2-40B4-BE49-F238E27FC236}">
                <a16:creationId xmlns:a16="http://schemas.microsoft.com/office/drawing/2014/main" id="{04D4D585-A846-4EAE-9445-8DE26D713C2E}"/>
              </a:ext>
            </a:extLst>
          </p:cNvPr>
          <p:cNvSpPr txBox="1"/>
          <p:nvPr/>
        </p:nvSpPr>
        <p:spPr>
          <a:xfrm>
            <a:off x="5892799" y="2185944"/>
            <a:ext cx="5480445"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PE" sz="1400" b="1" i="0" u="none" strike="noStrike" kern="1200" cap="none" spc="0" normalizeH="0" baseline="0" noProof="0" dirty="0">
                <a:ln>
                  <a:noFill/>
                </a:ln>
                <a:solidFill>
                  <a:srgbClr val="000000"/>
                </a:solidFill>
                <a:effectLst/>
                <a:uLnTx/>
                <a:uFillTx/>
                <a:latin typeface="Calibri Light" panose="020F0302020204030204"/>
                <a:ea typeface="+mn-ea"/>
                <a:cs typeface="+mn-cs"/>
              </a:rPr>
              <a:t>Estimaciones de los efectos de un cierre de escuelas de 10 meses en Perú</a:t>
            </a:r>
            <a:endParaRPr kumimoji="0" lang="en-CA" sz="1400" b="1" i="0" u="none" strike="noStrike" kern="1200" cap="none" spc="0" normalizeH="0" baseline="0" noProof="0" dirty="0">
              <a:ln>
                <a:noFill/>
              </a:ln>
              <a:solidFill>
                <a:srgbClr val="000000"/>
              </a:solidFill>
              <a:effectLst/>
              <a:uLnTx/>
              <a:uFillTx/>
              <a:latin typeface="Calibri Light" panose="020F0302020204030204"/>
              <a:ea typeface="+mn-ea"/>
              <a:cs typeface="+mn-cs"/>
            </a:endParaRPr>
          </a:p>
        </p:txBody>
      </p:sp>
      <p:graphicFrame>
        <p:nvGraphicFramePr>
          <p:cNvPr id="15" name="Chart 14">
            <a:extLst>
              <a:ext uri="{FF2B5EF4-FFF2-40B4-BE49-F238E27FC236}">
                <a16:creationId xmlns:a16="http://schemas.microsoft.com/office/drawing/2014/main" id="{A64640B2-EA92-4307-BB7A-A52CC99FBCEB}"/>
              </a:ext>
            </a:extLst>
          </p:cNvPr>
          <p:cNvGraphicFramePr>
            <a:graphicFrameLocks/>
          </p:cNvGraphicFramePr>
          <p:nvPr>
            <p:extLst>
              <p:ext uri="{D42A27DB-BD31-4B8C-83A1-F6EECF244321}">
                <p14:modId xmlns:p14="http://schemas.microsoft.com/office/powerpoint/2010/main" val="3875707796"/>
              </p:ext>
            </p:extLst>
          </p:nvPr>
        </p:nvGraphicFramePr>
        <p:xfrm>
          <a:off x="328623" y="2731372"/>
          <a:ext cx="4849595" cy="3354183"/>
        </p:xfrm>
        <a:graphic>
          <a:graphicData uri="http://schemas.openxmlformats.org/drawingml/2006/chart">
            <c:chart xmlns:c="http://schemas.openxmlformats.org/drawingml/2006/chart" xmlns:r="http://schemas.openxmlformats.org/officeDocument/2006/relationships" r:id="rId4"/>
          </a:graphicData>
        </a:graphic>
      </p:graphicFrame>
      <p:sp>
        <p:nvSpPr>
          <p:cNvPr id="16" name="TextBox 15">
            <a:extLst>
              <a:ext uri="{FF2B5EF4-FFF2-40B4-BE49-F238E27FC236}">
                <a16:creationId xmlns:a16="http://schemas.microsoft.com/office/drawing/2014/main" id="{33EA0309-F743-4543-85AF-4FB662BBC74F}"/>
              </a:ext>
            </a:extLst>
          </p:cNvPr>
          <p:cNvSpPr txBox="1"/>
          <p:nvPr/>
        </p:nvSpPr>
        <p:spPr>
          <a:xfrm>
            <a:off x="4292992" y="2546706"/>
            <a:ext cx="88522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PE" sz="1800" b="1" i="0" u="none" strike="noStrike" kern="1200" cap="none" spc="0" normalizeH="0" baseline="0" noProof="0" dirty="0">
                <a:ln>
                  <a:noFill/>
                </a:ln>
                <a:solidFill>
                  <a:srgbClr val="C00000"/>
                </a:solidFill>
                <a:effectLst/>
                <a:uLnTx/>
                <a:uFillTx/>
                <a:latin typeface="Calibri" panose="020F0502020204030204"/>
                <a:ea typeface="+mn-ea"/>
                <a:cs typeface="+mn-cs"/>
              </a:rPr>
              <a:t>-8.9%</a:t>
            </a:r>
            <a:endParaRPr kumimoji="0" lang="en-CA" sz="1800" b="1" i="0" u="none" strike="noStrike" kern="1200" cap="none" spc="0" normalizeH="0" baseline="0" noProof="0" dirty="0">
              <a:ln>
                <a:noFill/>
              </a:ln>
              <a:solidFill>
                <a:srgbClr val="C00000"/>
              </a:solidFill>
              <a:effectLst/>
              <a:uLnTx/>
              <a:uFillTx/>
              <a:latin typeface="Calibri" panose="020F0502020204030204"/>
              <a:ea typeface="+mn-ea"/>
              <a:cs typeface="+mn-cs"/>
            </a:endParaRPr>
          </a:p>
        </p:txBody>
      </p:sp>
      <p:sp>
        <p:nvSpPr>
          <p:cNvPr id="17" name="TextBox 16">
            <a:extLst>
              <a:ext uri="{FF2B5EF4-FFF2-40B4-BE49-F238E27FC236}">
                <a16:creationId xmlns:a16="http://schemas.microsoft.com/office/drawing/2014/main" id="{49866945-C401-4C1B-9367-3863F72C9CB2}"/>
              </a:ext>
            </a:extLst>
          </p:cNvPr>
          <p:cNvSpPr txBox="1"/>
          <p:nvPr/>
        </p:nvSpPr>
        <p:spPr>
          <a:xfrm>
            <a:off x="447826" y="2236744"/>
            <a:ext cx="4611188"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PE" sz="1400" b="1" i="0" u="none" strike="noStrike" kern="1200" cap="none" spc="0" normalizeH="0" baseline="0" noProof="0" dirty="0">
                <a:ln>
                  <a:noFill/>
                </a:ln>
                <a:solidFill>
                  <a:srgbClr val="000000"/>
                </a:solidFill>
                <a:effectLst/>
                <a:uLnTx/>
                <a:uFillTx/>
                <a:latin typeface="Calibri Light" panose="020F0302020204030204"/>
                <a:ea typeface="+mn-ea"/>
                <a:cs typeface="+mn-cs"/>
              </a:rPr>
              <a:t>Matrícula 2015 - 2021</a:t>
            </a:r>
            <a:endParaRPr kumimoji="0" lang="en-CA" sz="1400" b="1" i="0" u="none" strike="noStrike" kern="1200" cap="none" spc="0" normalizeH="0" baseline="0" noProof="0" dirty="0">
              <a:ln>
                <a:noFill/>
              </a:ln>
              <a:solidFill>
                <a:srgbClr val="000000"/>
              </a:solidFill>
              <a:effectLst/>
              <a:uLnTx/>
              <a:uFillTx/>
              <a:latin typeface="Calibri Light" panose="020F0302020204030204"/>
              <a:ea typeface="+mn-ea"/>
              <a:cs typeface="+mn-cs"/>
            </a:endParaRPr>
          </a:p>
        </p:txBody>
      </p:sp>
      <p:sp>
        <p:nvSpPr>
          <p:cNvPr id="18" name="TextBox 17">
            <a:extLst>
              <a:ext uri="{FF2B5EF4-FFF2-40B4-BE49-F238E27FC236}">
                <a16:creationId xmlns:a16="http://schemas.microsoft.com/office/drawing/2014/main" id="{29FA21DF-B3D4-4F12-A76B-D2DF2A09BB8E}"/>
              </a:ext>
            </a:extLst>
          </p:cNvPr>
          <p:cNvSpPr txBox="1"/>
          <p:nvPr/>
        </p:nvSpPr>
        <p:spPr>
          <a:xfrm>
            <a:off x="1759378" y="6393407"/>
            <a:ext cx="4343400"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s-PE" sz="1100" b="0" i="0" u="none" strike="noStrike" kern="1200" cap="none" spc="0" normalizeH="0" baseline="0" noProof="0" dirty="0">
                <a:ln>
                  <a:noFill/>
                </a:ln>
                <a:solidFill>
                  <a:srgbClr val="DDDDDD">
                    <a:lumMod val="50000"/>
                  </a:srgbClr>
                </a:solidFill>
                <a:effectLst/>
                <a:uLnTx/>
                <a:uFillTx/>
                <a:latin typeface="Calibri" panose="020F0502020204030204" pitchFamily="34" charset="0"/>
                <a:cs typeface="Calibri" panose="020F0502020204030204" pitchFamily="34" charset="0"/>
              </a:rPr>
              <a:t>Fuente: Unidad de Estadística. Información a Abril 2021.</a:t>
            </a:r>
            <a:endParaRPr kumimoji="0" lang="en-CA" sz="1100" b="0" i="0" u="none" strike="noStrike" kern="1200" cap="none" spc="0" normalizeH="0" baseline="0" noProof="0" dirty="0">
              <a:ln>
                <a:noFill/>
              </a:ln>
              <a:solidFill>
                <a:srgbClr val="DDDDDD">
                  <a:lumMod val="50000"/>
                </a:srgbClr>
              </a:solidFill>
              <a:effectLst/>
              <a:uLnTx/>
              <a:uFillTx/>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272847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C924FC-3E94-4446-953E-740374C06E98}"/>
              </a:ext>
            </a:extLst>
          </p:cNvPr>
          <p:cNvSpPr>
            <a:spLocks noGrp="1"/>
          </p:cNvSpPr>
          <p:nvPr>
            <p:ph type="title"/>
          </p:nvPr>
        </p:nvSpPr>
        <p:spPr>
          <a:xfrm>
            <a:off x="112811" y="0"/>
            <a:ext cx="9103360" cy="1253808"/>
          </a:xfrm>
        </p:spPr>
        <p:txBody>
          <a:bodyPr/>
          <a:lstStyle/>
          <a:p>
            <a:pPr marL="233363" marR="0" lvl="0" indent="-233363" defTabSz="914400" rtl="0" eaLnBrk="1" fontAlgn="auto" latinLnBrk="0" hangingPunct="1">
              <a:lnSpc>
                <a:spcPct val="100000"/>
              </a:lnSpc>
              <a:spcBef>
                <a:spcPts val="0"/>
              </a:spcBef>
              <a:spcAft>
                <a:spcPts val="0"/>
              </a:spcAft>
              <a:tabLst/>
              <a:defRPr/>
            </a:pPr>
            <a:r>
              <a:rPr kumimoji="0" lang="es-PE" sz="1800" b="1" i="0" u="none" strike="noStrike" kern="1200" cap="none" spc="0" normalizeH="0" baseline="0" noProof="0" dirty="0">
                <a:ln>
                  <a:noFill/>
                </a:ln>
                <a:solidFill>
                  <a:srgbClr val="C00000"/>
                </a:solidFill>
                <a:effectLst/>
                <a:uLnTx/>
                <a:uFillTx/>
                <a:latin typeface="Arial"/>
                <a:ea typeface="+mn-ea"/>
                <a:cs typeface="+mn-cs"/>
              </a:rPr>
              <a:t>1. Parte I:  </a:t>
            </a:r>
            <a:r>
              <a:rPr kumimoji="0" lang="es-PE" sz="1800" b="1" i="0" u="none" strike="noStrike" kern="1200" cap="none" spc="0" normalizeH="0" baseline="0" noProof="0" dirty="0">
                <a:ln>
                  <a:noFill/>
                </a:ln>
                <a:effectLst/>
                <a:uLnTx/>
                <a:uFillTx/>
                <a:latin typeface="Arial"/>
                <a:ea typeface="+mn-ea"/>
                <a:cs typeface="+mn-cs"/>
              </a:rPr>
              <a:t>¿Por qué es importante implementar un plan de Educación Remedial en el 2022?</a:t>
            </a:r>
            <a:endParaRPr lang="en-CA" dirty="0"/>
          </a:p>
        </p:txBody>
      </p:sp>
      <p:sp>
        <p:nvSpPr>
          <p:cNvPr id="3" name="Slide Number Placeholder 2">
            <a:extLst>
              <a:ext uri="{FF2B5EF4-FFF2-40B4-BE49-F238E27FC236}">
                <a16:creationId xmlns:a16="http://schemas.microsoft.com/office/drawing/2014/main" id="{DD53C752-7DD8-4232-AE7E-B38A79712724}"/>
              </a:ext>
            </a:extLst>
          </p:cNvPr>
          <p:cNvSpPr>
            <a:spLocks noGrp="1"/>
          </p:cNvSpPr>
          <p:nvPr>
            <p:ph type="sldNum" sz="quarter" idx="12"/>
          </p:nvPr>
        </p:nvSpPr>
        <p:spPr/>
        <p:txBody>
          <a:bodyPr/>
          <a:lstStyle/>
          <a:p>
            <a:fld id="{DAF31D20-51B2-49A6-91FA-1FC48A60B42D}" type="slidenum">
              <a:rPr lang="es-PE" smtClean="0"/>
              <a:t>5</a:t>
            </a:fld>
            <a:endParaRPr lang="es-PE"/>
          </a:p>
        </p:txBody>
      </p:sp>
      <p:sp>
        <p:nvSpPr>
          <p:cNvPr id="11" name="TextBox 10">
            <a:extLst>
              <a:ext uri="{FF2B5EF4-FFF2-40B4-BE49-F238E27FC236}">
                <a16:creationId xmlns:a16="http://schemas.microsoft.com/office/drawing/2014/main" id="{77130BF3-9B8D-4DAB-8E57-3BCBBFE5B8E9}"/>
              </a:ext>
            </a:extLst>
          </p:cNvPr>
          <p:cNvSpPr txBox="1"/>
          <p:nvPr/>
        </p:nvSpPr>
        <p:spPr>
          <a:xfrm>
            <a:off x="314960" y="2876948"/>
            <a:ext cx="4957029" cy="3142399"/>
          </a:xfrm>
          <a:prstGeom prst="rect">
            <a:avLst/>
          </a:prstGeom>
          <a:noFill/>
        </p:spPr>
        <p:txBody>
          <a:bodyPr wrap="square">
            <a:spAutoFit/>
          </a:bodyPr>
          <a:lstStyle/>
          <a:p>
            <a:pPr marL="57150" marR="0" lvl="0" indent="0" algn="just" defTabSz="914400" rtl="0" eaLnBrk="1" fontAlgn="auto" latinLnBrk="0" hangingPunct="1">
              <a:lnSpc>
                <a:spcPct val="90000"/>
              </a:lnSpc>
              <a:spcBef>
                <a:spcPts val="0"/>
              </a:spcBef>
              <a:spcAft>
                <a:spcPts val="600"/>
              </a:spcAft>
              <a:buClrTx/>
              <a:buSzTx/>
              <a:buFontTx/>
              <a:buNone/>
              <a:tabLst/>
              <a:defRPr/>
            </a:pPr>
            <a:r>
              <a:rPr kumimoji="0" lang="es-PE" sz="1800" b="1" i="0" u="none" strike="noStrike" kern="1200" cap="none" spc="0" normalizeH="0" baseline="0" noProof="0" dirty="0">
                <a:ln>
                  <a:noFill/>
                </a:ln>
                <a:solidFill>
                  <a:srgbClr val="C00000"/>
                </a:solidFill>
                <a:effectLst/>
                <a:uLnTx/>
                <a:uFillTx/>
                <a:latin typeface="Calibri" panose="020F0502020204030204"/>
                <a:ea typeface="+mn-ea"/>
                <a:cs typeface="+mn-cs"/>
              </a:rPr>
              <a:t>Contexto pre COVID- 19:</a:t>
            </a:r>
          </a:p>
          <a:p>
            <a:pPr marL="57150" marR="0" lvl="0" indent="0" algn="just" defTabSz="914400" rtl="0" eaLnBrk="1" fontAlgn="auto" latinLnBrk="0" hangingPunct="1">
              <a:lnSpc>
                <a:spcPct val="90000"/>
              </a:lnSpc>
              <a:spcBef>
                <a:spcPts val="0"/>
              </a:spcBef>
              <a:spcAft>
                <a:spcPts val="600"/>
              </a:spcAft>
              <a:buClrTx/>
              <a:buSzTx/>
              <a:buFontTx/>
              <a:buNone/>
              <a:tabLst/>
              <a:defRPr/>
            </a:pPr>
            <a:endParaRPr kumimoji="0" lang="es-PE" sz="1800" b="1" i="0" u="none" strike="noStrike" kern="1200" cap="none" spc="0" normalizeH="0" baseline="0" noProof="0" dirty="0">
              <a:ln>
                <a:noFill/>
              </a:ln>
              <a:solidFill>
                <a:srgbClr val="C00000"/>
              </a:solidFill>
              <a:effectLst/>
              <a:uLnTx/>
              <a:uFillTx/>
              <a:latin typeface="Calibri" panose="020F0502020204030204"/>
              <a:ea typeface="+mn-ea"/>
              <a:cs typeface="+mn-cs"/>
            </a:endParaRPr>
          </a:p>
          <a:p>
            <a:pPr marL="342900" marR="0" lvl="0" indent="-285750" algn="just" defTabSz="914400" rtl="0" eaLnBrk="1" fontAlgn="auto" latinLnBrk="0" hangingPunct="1">
              <a:lnSpc>
                <a:spcPct val="90000"/>
              </a:lnSpc>
              <a:spcBef>
                <a:spcPts val="0"/>
              </a:spcBef>
              <a:spcAft>
                <a:spcPts val="600"/>
              </a:spcAft>
              <a:buClrTx/>
              <a:buSzTx/>
              <a:buFont typeface="Arial" panose="020B0604020202020204" pitchFamily="34" charset="0"/>
              <a:buChar char="•"/>
              <a:tabLst/>
              <a:defRPr/>
            </a:pPr>
            <a:r>
              <a:rPr kumimoji="0" lang="es-PE" sz="1800" b="0" i="0" u="none" strike="noStrike" kern="1200" cap="none" spc="0" normalizeH="0" baseline="0" noProof="0" dirty="0">
                <a:ln>
                  <a:noFill/>
                </a:ln>
                <a:solidFill>
                  <a:schemeClr val="tx2"/>
                </a:solidFill>
                <a:effectLst/>
                <a:uLnTx/>
                <a:uFillTx/>
                <a:latin typeface="Calibri" panose="020F0502020204030204"/>
                <a:ea typeface="+mn-ea"/>
                <a:cs typeface="+mn-cs"/>
              </a:rPr>
              <a:t>En promedio, según resultados </a:t>
            </a:r>
            <a:r>
              <a:rPr kumimoji="0" lang="es-PE" sz="1800" b="1" i="0" u="none" strike="noStrike" kern="1200" cap="none" spc="0" normalizeH="0" baseline="0" noProof="0" dirty="0">
                <a:ln>
                  <a:noFill/>
                </a:ln>
                <a:solidFill>
                  <a:schemeClr val="tx2"/>
                </a:solidFill>
                <a:effectLst/>
                <a:uLnTx/>
                <a:uFillTx/>
                <a:latin typeface="Calibri" panose="020F0502020204030204"/>
                <a:ea typeface="+mn-ea"/>
                <a:cs typeface="+mn-cs"/>
              </a:rPr>
              <a:t>PISA 2018</a:t>
            </a:r>
            <a:r>
              <a:rPr kumimoji="0" lang="es-PE" sz="1800" b="0" i="0" u="none" strike="noStrike" kern="1200" cap="none" spc="0" normalizeH="0" baseline="0" noProof="0" dirty="0">
                <a:ln>
                  <a:noFill/>
                </a:ln>
                <a:solidFill>
                  <a:schemeClr val="tx2"/>
                </a:solidFill>
                <a:effectLst/>
                <a:uLnTx/>
                <a:uFillTx/>
                <a:latin typeface="Calibri" panose="020F0502020204030204"/>
                <a:ea typeface="+mn-ea"/>
                <a:cs typeface="+mn-cs"/>
              </a:rPr>
              <a:t>, alumnos de 15 años de edad en </a:t>
            </a:r>
            <a:r>
              <a:rPr kumimoji="0" lang="es-PE" sz="1800" b="1" i="0" u="none" strike="noStrike" kern="1200" cap="none" spc="0" normalizeH="0" baseline="0" noProof="0" dirty="0">
                <a:ln>
                  <a:noFill/>
                </a:ln>
                <a:solidFill>
                  <a:schemeClr val="tx2"/>
                </a:solidFill>
                <a:effectLst/>
                <a:uLnTx/>
                <a:uFillTx/>
                <a:latin typeface="Calibri" panose="020F0502020204030204"/>
                <a:ea typeface="+mn-ea"/>
                <a:cs typeface="+mn-cs"/>
              </a:rPr>
              <a:t>Perú</a:t>
            </a:r>
            <a:r>
              <a:rPr kumimoji="0" lang="es-PE" sz="1800" b="0" i="0" u="none" strike="noStrike" kern="1200" cap="none" spc="0" normalizeH="0" baseline="0" noProof="0" dirty="0">
                <a:ln>
                  <a:noFill/>
                </a:ln>
                <a:solidFill>
                  <a:schemeClr val="tx2"/>
                </a:solidFill>
                <a:effectLst/>
                <a:uLnTx/>
                <a:uFillTx/>
                <a:latin typeface="Calibri" panose="020F0502020204030204"/>
                <a:ea typeface="+mn-ea"/>
                <a:cs typeface="+mn-cs"/>
              </a:rPr>
              <a:t>, se encuentran </a:t>
            </a:r>
            <a:r>
              <a:rPr kumimoji="0" lang="en-US" sz="1800" b="1" i="0" u="none" strike="noStrike" kern="1200" cap="none" spc="0" normalizeH="0" baseline="0" noProof="0" dirty="0">
                <a:ln>
                  <a:noFill/>
                </a:ln>
                <a:solidFill>
                  <a:schemeClr val="tx2"/>
                </a:solidFill>
                <a:effectLst/>
                <a:uLnTx/>
                <a:uFillTx/>
                <a:latin typeface="Leelawadee" panose="020B0502040204020203" pitchFamily="34" charset="-34"/>
                <a:ea typeface="+mn-ea"/>
                <a:cs typeface="Leelawadee" panose="020B0502040204020203" pitchFamily="34" charset="-34"/>
              </a:rPr>
              <a:t>~</a:t>
            </a:r>
            <a:r>
              <a:rPr kumimoji="0" lang="es-PE" sz="1800" b="1" i="0" u="none" strike="noStrike" kern="1200" cap="none" spc="0" normalizeH="0" baseline="0" noProof="0" dirty="0">
                <a:ln>
                  <a:noFill/>
                </a:ln>
                <a:solidFill>
                  <a:schemeClr val="tx2"/>
                </a:solidFill>
                <a:effectLst/>
                <a:uLnTx/>
                <a:uFillTx/>
                <a:latin typeface="Calibri" panose="020F0502020204030204"/>
                <a:ea typeface="+mn-ea"/>
                <a:cs typeface="+mn-cs"/>
              </a:rPr>
              <a:t>2 años por detrás </a:t>
            </a:r>
            <a:r>
              <a:rPr kumimoji="0" lang="es-PE" sz="1800" b="0" i="0" u="none" strike="noStrike" kern="1200" cap="none" spc="0" normalizeH="0" baseline="0" noProof="0" dirty="0">
                <a:ln>
                  <a:noFill/>
                </a:ln>
                <a:solidFill>
                  <a:schemeClr val="tx2"/>
                </a:solidFill>
                <a:effectLst/>
                <a:uLnTx/>
                <a:uFillTx/>
                <a:latin typeface="Calibri" panose="020F0502020204030204"/>
                <a:ea typeface="+mn-ea"/>
                <a:cs typeface="+mn-cs"/>
              </a:rPr>
              <a:t>de los alumnos de la </a:t>
            </a:r>
            <a:r>
              <a:rPr kumimoji="0" lang="es-PE" sz="1800" b="1" i="0" u="none" strike="noStrike" kern="1200" cap="none" spc="0" normalizeH="0" baseline="0" noProof="0" dirty="0">
                <a:ln>
                  <a:noFill/>
                </a:ln>
                <a:solidFill>
                  <a:schemeClr val="tx2"/>
                </a:solidFill>
                <a:effectLst/>
                <a:uLnTx/>
                <a:uFillTx/>
                <a:latin typeface="Calibri" panose="020F0502020204030204"/>
                <a:ea typeface="+mn-ea"/>
                <a:cs typeface="+mn-cs"/>
              </a:rPr>
              <a:t>OCDE en lectura, matemática y ciencias.</a:t>
            </a:r>
          </a:p>
          <a:p>
            <a:pPr marL="342900" marR="0" lvl="0" indent="-285750" algn="just" defTabSz="914400" rtl="0" eaLnBrk="1" fontAlgn="auto" latinLnBrk="0" hangingPunct="1">
              <a:lnSpc>
                <a:spcPct val="90000"/>
              </a:lnSpc>
              <a:spcBef>
                <a:spcPts val="0"/>
              </a:spcBef>
              <a:spcAft>
                <a:spcPts val="600"/>
              </a:spcAft>
              <a:buClrTx/>
              <a:buSzTx/>
              <a:buFont typeface="Arial" panose="020B0604020202020204" pitchFamily="34" charset="0"/>
              <a:buChar char="•"/>
              <a:tabLst/>
              <a:defRPr/>
            </a:pPr>
            <a:r>
              <a:rPr kumimoji="0" lang="es-PE" sz="1800" b="0" i="0" u="none" strike="noStrike" kern="1200" cap="none" spc="0" normalizeH="0" baseline="0" noProof="0" dirty="0">
                <a:ln>
                  <a:noFill/>
                </a:ln>
                <a:solidFill>
                  <a:schemeClr val="tx2"/>
                </a:solidFill>
                <a:effectLst/>
                <a:uLnTx/>
                <a:uFillTx/>
                <a:latin typeface="Calibri" panose="020F0502020204030204"/>
                <a:ea typeface="+mn-ea"/>
                <a:cs typeface="+mn-cs"/>
              </a:rPr>
              <a:t>Además, los resultados sugieren que la </a:t>
            </a:r>
            <a:r>
              <a:rPr kumimoji="0" lang="es-PE" sz="1800" b="1" i="0" u="none" strike="noStrike" kern="1200" cap="none" spc="0" normalizeH="0" baseline="0" noProof="0" dirty="0">
                <a:ln>
                  <a:noFill/>
                </a:ln>
                <a:solidFill>
                  <a:schemeClr val="tx2"/>
                </a:solidFill>
                <a:effectLst/>
                <a:uLnTx/>
                <a:uFillTx/>
                <a:latin typeface="Calibri" panose="020F0502020204030204"/>
                <a:ea typeface="+mn-ea"/>
                <a:cs typeface="+mn-cs"/>
              </a:rPr>
              <a:t>brecha</a:t>
            </a:r>
            <a:r>
              <a:rPr kumimoji="0" lang="es-PE" sz="1800" b="0" i="0" u="none" strike="noStrike" kern="1200" cap="none" spc="0" normalizeH="0" baseline="0" noProof="0" dirty="0">
                <a:ln>
                  <a:noFill/>
                </a:ln>
                <a:solidFill>
                  <a:schemeClr val="tx2"/>
                </a:solidFill>
                <a:effectLst/>
                <a:uLnTx/>
                <a:uFillTx/>
                <a:latin typeface="Calibri" panose="020F0502020204030204"/>
                <a:ea typeface="+mn-ea"/>
                <a:cs typeface="+mn-cs"/>
              </a:rPr>
              <a:t> existente al interior del Perú entre  el </a:t>
            </a:r>
            <a:r>
              <a:rPr kumimoji="0" lang="es-PE" sz="1800" b="1" i="0" u="none" strike="noStrike" kern="1200" cap="none" spc="0" normalizeH="0" baseline="0" noProof="0" dirty="0">
                <a:ln>
                  <a:noFill/>
                </a:ln>
                <a:solidFill>
                  <a:schemeClr val="tx2"/>
                </a:solidFill>
                <a:effectLst/>
                <a:uLnTx/>
                <a:uFillTx/>
                <a:latin typeface="Calibri" panose="020F0502020204030204"/>
                <a:ea typeface="+mn-ea"/>
                <a:cs typeface="+mn-cs"/>
              </a:rPr>
              <a:t>quintil 1 y 5 </a:t>
            </a:r>
            <a:r>
              <a:rPr kumimoji="0" lang="es-PE" sz="1800" b="0" i="0" u="none" strike="noStrike" kern="1200" cap="none" spc="0" normalizeH="0" baseline="0" noProof="0" dirty="0">
                <a:ln>
                  <a:noFill/>
                </a:ln>
                <a:solidFill>
                  <a:schemeClr val="tx2"/>
                </a:solidFill>
                <a:effectLst/>
                <a:uLnTx/>
                <a:uFillTx/>
                <a:latin typeface="Calibri" panose="020F0502020204030204"/>
                <a:ea typeface="+mn-ea"/>
                <a:cs typeface="+mn-cs"/>
              </a:rPr>
              <a:t>en años de escolaridad sería de </a:t>
            </a:r>
            <a:r>
              <a:rPr kumimoji="0" lang="es-PE" sz="1800" b="1" i="0" u="none" strike="noStrike" kern="1200" cap="none" spc="0" normalizeH="0" baseline="0" noProof="0" dirty="0">
                <a:ln>
                  <a:noFill/>
                </a:ln>
                <a:solidFill>
                  <a:schemeClr val="tx2"/>
                </a:solidFill>
                <a:effectLst/>
                <a:uLnTx/>
                <a:uFillTx/>
                <a:latin typeface="Calibri" panose="020F0502020204030204"/>
                <a:ea typeface="+mn-ea"/>
                <a:cs typeface="+mn-cs"/>
              </a:rPr>
              <a:t>3 años </a:t>
            </a:r>
            <a:r>
              <a:rPr kumimoji="0" lang="es-PE" sz="1800" b="0" i="0" u="none" strike="noStrike" kern="1200" cap="none" spc="0" normalizeH="0" baseline="0" noProof="0" dirty="0">
                <a:ln>
                  <a:noFill/>
                </a:ln>
                <a:solidFill>
                  <a:schemeClr val="tx2"/>
                </a:solidFill>
                <a:effectLst/>
                <a:uLnTx/>
                <a:uFillTx/>
                <a:latin typeface="Calibri" panose="020F0502020204030204"/>
                <a:ea typeface="+mn-ea"/>
                <a:cs typeface="+mn-cs"/>
              </a:rPr>
              <a:t>(patrones regresivos de acceso y calidad).</a:t>
            </a:r>
          </a:p>
          <a:p>
            <a:pPr marL="57150" marR="0" lvl="0" indent="0" algn="just" defTabSz="914400" rtl="0" eaLnBrk="1" fontAlgn="auto" latinLnBrk="0" hangingPunct="1">
              <a:lnSpc>
                <a:spcPct val="90000"/>
              </a:lnSpc>
              <a:spcBef>
                <a:spcPts val="0"/>
              </a:spcBef>
              <a:spcAft>
                <a:spcPts val="600"/>
              </a:spcAft>
              <a:buClrTx/>
              <a:buSzTx/>
              <a:buFontTx/>
              <a:buNone/>
              <a:tabLst/>
              <a:defRPr/>
            </a:pPr>
            <a:endParaRPr kumimoji="0" lang="es-PE" sz="18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4" name="TextBox 13">
            <a:extLst>
              <a:ext uri="{FF2B5EF4-FFF2-40B4-BE49-F238E27FC236}">
                <a16:creationId xmlns:a16="http://schemas.microsoft.com/office/drawing/2014/main" id="{CD9A3AD9-508A-477E-9222-D464E8930A4A}"/>
              </a:ext>
            </a:extLst>
          </p:cNvPr>
          <p:cNvSpPr txBox="1"/>
          <p:nvPr/>
        </p:nvSpPr>
        <p:spPr>
          <a:xfrm>
            <a:off x="6050981" y="2876948"/>
            <a:ext cx="5689600" cy="1492716"/>
          </a:xfrm>
          <a:prstGeom prst="rect">
            <a:avLst/>
          </a:prstGeom>
          <a:noFill/>
        </p:spPr>
        <p:txBody>
          <a:bodyPr wrap="square">
            <a:spAutoFit/>
          </a:bodyPr>
          <a:lstStyle/>
          <a:p>
            <a:pPr marL="57150" marR="0" lvl="0" indent="0" algn="just" defTabSz="914400" rtl="0" eaLnBrk="1" fontAlgn="auto" latinLnBrk="0" hangingPunct="1">
              <a:lnSpc>
                <a:spcPct val="90000"/>
              </a:lnSpc>
              <a:spcBef>
                <a:spcPts val="0"/>
              </a:spcBef>
              <a:spcAft>
                <a:spcPts val="600"/>
              </a:spcAft>
              <a:buClrTx/>
              <a:buSzTx/>
              <a:buFontTx/>
              <a:buNone/>
              <a:tabLst/>
              <a:defRPr/>
            </a:pPr>
            <a:r>
              <a:rPr kumimoji="0" lang="es-PE" sz="1800" b="1" i="0" u="none" strike="noStrike" kern="1200" cap="none" spc="0" normalizeH="0" baseline="0" noProof="0" dirty="0">
                <a:ln>
                  <a:noFill/>
                </a:ln>
                <a:solidFill>
                  <a:srgbClr val="C00000"/>
                </a:solidFill>
                <a:effectLst/>
                <a:uLnTx/>
                <a:uFillTx/>
                <a:latin typeface="Calibri" panose="020F0502020204030204"/>
                <a:ea typeface="+mn-ea"/>
                <a:cs typeface="+mn-cs"/>
              </a:rPr>
              <a:t>Estimaciones post COVID-19:</a:t>
            </a:r>
          </a:p>
          <a:p>
            <a:pPr marL="57150" marR="0" lvl="0" indent="0" algn="just" defTabSz="914400" rtl="0" eaLnBrk="1" fontAlgn="auto" latinLnBrk="0" hangingPunct="1">
              <a:lnSpc>
                <a:spcPct val="90000"/>
              </a:lnSpc>
              <a:spcBef>
                <a:spcPts val="0"/>
              </a:spcBef>
              <a:spcAft>
                <a:spcPts val="600"/>
              </a:spcAft>
              <a:buClrTx/>
              <a:buSzTx/>
              <a:buFontTx/>
              <a:buNone/>
              <a:tabLst/>
              <a:defRPr/>
            </a:pPr>
            <a:endParaRPr kumimoji="0" lang="es-PE" sz="1800" b="1" i="0" u="none" strike="noStrike" kern="1200" cap="none" spc="0" normalizeH="0" baseline="0" noProof="0" dirty="0">
              <a:ln>
                <a:noFill/>
              </a:ln>
              <a:solidFill>
                <a:srgbClr val="C00000"/>
              </a:solidFill>
              <a:effectLst/>
              <a:uLnTx/>
              <a:uFillTx/>
              <a:latin typeface="Calibri" panose="020F0502020204030204"/>
              <a:ea typeface="+mn-ea"/>
              <a:cs typeface="+mn-cs"/>
            </a:endParaRPr>
          </a:p>
          <a:p>
            <a:pPr marL="285750" marR="0" lvl="0" indent="-228600" algn="just" defTabSz="914400" rtl="0" eaLnBrk="1" fontAlgn="auto" latinLnBrk="0" hangingPunct="1">
              <a:lnSpc>
                <a:spcPct val="90000"/>
              </a:lnSpc>
              <a:spcBef>
                <a:spcPts val="0"/>
              </a:spcBef>
              <a:spcAft>
                <a:spcPts val="600"/>
              </a:spcAft>
              <a:buClrTx/>
              <a:buSzTx/>
              <a:buFont typeface="Arial" panose="020B0604020202020204" pitchFamily="34" charset="0"/>
              <a:buChar char="•"/>
              <a:tabLst/>
              <a:defRPr/>
            </a:pPr>
            <a:r>
              <a:rPr kumimoji="0" lang="es-PE" sz="1800" b="0" i="0" u="none" strike="noStrike" kern="1200" cap="none" spc="0" normalizeH="0" baseline="0" noProof="0" dirty="0">
                <a:ln>
                  <a:noFill/>
                </a:ln>
                <a:solidFill>
                  <a:schemeClr val="tx2"/>
                </a:solidFill>
                <a:effectLst/>
                <a:uLnTx/>
                <a:uFillTx/>
                <a:latin typeface="Calibri" panose="020F0502020204030204"/>
                <a:ea typeface="+mn-ea"/>
                <a:cs typeface="+mn-cs"/>
              </a:rPr>
              <a:t>Se estima que el efecto de cierres de escuelas tendrá un efecto negativo en logros de aprendizaje: </a:t>
            </a:r>
            <a:r>
              <a:rPr kumimoji="0" lang="es-PE" sz="1800" b="1" i="0" u="none" strike="noStrike" kern="1200" cap="none" spc="0" normalizeH="0" baseline="0" noProof="0" dirty="0">
                <a:ln>
                  <a:noFill/>
                </a:ln>
                <a:solidFill>
                  <a:schemeClr val="tx2"/>
                </a:solidFill>
                <a:effectLst/>
                <a:uLnTx/>
                <a:uFillTx/>
                <a:latin typeface="Calibri" panose="020F0502020204030204"/>
                <a:ea typeface="+mn-ea"/>
                <a:cs typeface="+mn-cs"/>
              </a:rPr>
              <a:t>Los resultados de aprendizaje podrían retornar a niveles del 2012.</a:t>
            </a:r>
            <a:endParaRPr kumimoji="0" lang="en-US" sz="2400" b="1" i="0" u="none" strike="noStrike" kern="1200" cap="none" spc="0" normalizeH="0" baseline="0" noProof="0" dirty="0">
              <a:ln>
                <a:noFill/>
              </a:ln>
              <a:solidFill>
                <a:schemeClr val="tx2"/>
              </a:solidFill>
              <a:effectLst/>
              <a:uLnTx/>
              <a:uFillTx/>
              <a:latin typeface="Calibri" panose="020F0502020204030204"/>
              <a:ea typeface="+mn-ea"/>
              <a:cs typeface="+mn-cs"/>
            </a:endParaRPr>
          </a:p>
        </p:txBody>
      </p:sp>
      <p:sp>
        <p:nvSpPr>
          <p:cNvPr id="15" name="TextBox 14">
            <a:extLst>
              <a:ext uri="{FF2B5EF4-FFF2-40B4-BE49-F238E27FC236}">
                <a16:creationId xmlns:a16="http://schemas.microsoft.com/office/drawing/2014/main" id="{31791476-8567-4D37-9A67-4AB010B0F3FF}"/>
              </a:ext>
            </a:extLst>
          </p:cNvPr>
          <p:cNvSpPr txBox="1"/>
          <p:nvPr/>
        </p:nvSpPr>
        <p:spPr>
          <a:xfrm>
            <a:off x="1179611" y="1528128"/>
            <a:ext cx="9579829" cy="646331"/>
          </a:xfrm>
          <a:prstGeom prst="rect">
            <a:avLst/>
          </a:prstGeom>
          <a:noFill/>
        </p:spPr>
        <p:txBody>
          <a:bodyPr wrap="square" rtlCol="0">
            <a:spAutoFit/>
          </a:bodyPr>
          <a:lstStyle/>
          <a:p>
            <a:pPr algn="ctr"/>
            <a:r>
              <a:rPr lang="es-PE" b="1" dirty="0">
                <a:solidFill>
                  <a:schemeClr val="tx2"/>
                </a:solidFill>
              </a:rPr>
              <a:t>La pandemia estaría </a:t>
            </a:r>
            <a:r>
              <a:rPr lang="es-PE" b="1" u="sng" dirty="0">
                <a:solidFill>
                  <a:schemeClr val="tx2"/>
                </a:solidFill>
              </a:rPr>
              <a:t>incrementando las brechas de aprendizajes </a:t>
            </a:r>
            <a:r>
              <a:rPr lang="es-PE" b="1" dirty="0">
                <a:solidFill>
                  <a:schemeClr val="tx2"/>
                </a:solidFill>
              </a:rPr>
              <a:t>afectando particularmente a los estudiantes de menores ingresos</a:t>
            </a:r>
            <a:r>
              <a:rPr lang="es-ES" b="1" u="sng" dirty="0">
                <a:solidFill>
                  <a:schemeClr val="tx2"/>
                </a:solidFill>
              </a:rPr>
              <a:t>.</a:t>
            </a:r>
            <a:r>
              <a:rPr lang="es-PE" b="1" u="sng" dirty="0">
                <a:solidFill>
                  <a:schemeClr val="tx2"/>
                </a:solidFill>
              </a:rPr>
              <a:t> </a:t>
            </a:r>
            <a:endParaRPr lang="en-CA" b="1" u="sng" dirty="0">
              <a:solidFill>
                <a:schemeClr val="tx2"/>
              </a:solidFill>
            </a:endParaRPr>
          </a:p>
        </p:txBody>
      </p:sp>
    </p:spTree>
    <p:extLst>
      <p:ext uri="{BB962C8B-B14F-4D97-AF65-F5344CB8AC3E}">
        <p14:creationId xmlns:p14="http://schemas.microsoft.com/office/powerpoint/2010/main" val="15659044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C924FC-3E94-4446-953E-740374C06E98}"/>
              </a:ext>
            </a:extLst>
          </p:cNvPr>
          <p:cNvSpPr>
            <a:spLocks noGrp="1"/>
          </p:cNvSpPr>
          <p:nvPr>
            <p:ph type="title"/>
          </p:nvPr>
        </p:nvSpPr>
        <p:spPr>
          <a:xfrm>
            <a:off x="148274" y="222749"/>
            <a:ext cx="8926514" cy="762000"/>
          </a:xfrm>
        </p:spPr>
        <p:txBody>
          <a:bodyPr/>
          <a:lstStyle/>
          <a:p>
            <a:pPr marL="233363" marR="0" lvl="0" indent="-233363" defTabSz="914400" rtl="0" eaLnBrk="1" fontAlgn="auto" latinLnBrk="0" hangingPunct="1">
              <a:lnSpc>
                <a:spcPct val="100000"/>
              </a:lnSpc>
              <a:spcBef>
                <a:spcPts val="0"/>
              </a:spcBef>
              <a:spcAft>
                <a:spcPts val="0"/>
              </a:spcAft>
              <a:tabLst/>
              <a:defRPr/>
            </a:pPr>
            <a:r>
              <a:rPr kumimoji="0" lang="es-PE" sz="1800" b="1" i="0" u="none" strike="noStrike" kern="1200" cap="none" spc="0" normalizeH="0" baseline="0" noProof="0" dirty="0">
                <a:ln>
                  <a:noFill/>
                </a:ln>
                <a:solidFill>
                  <a:srgbClr val="C00000"/>
                </a:solidFill>
                <a:effectLst/>
                <a:uLnTx/>
                <a:uFillTx/>
                <a:latin typeface="Arial"/>
                <a:ea typeface="+mn-ea"/>
                <a:cs typeface="+mn-cs"/>
              </a:rPr>
              <a:t>1. Parte I:  </a:t>
            </a:r>
            <a:r>
              <a:rPr kumimoji="0" lang="es-PE" sz="1800" b="1" i="0" u="none" strike="noStrike" kern="1200" cap="none" spc="0" normalizeH="0" baseline="0" noProof="0" dirty="0">
                <a:ln>
                  <a:noFill/>
                </a:ln>
                <a:effectLst/>
                <a:uLnTx/>
                <a:uFillTx/>
                <a:latin typeface="Arial"/>
                <a:ea typeface="+mn-ea"/>
                <a:cs typeface="+mn-cs"/>
              </a:rPr>
              <a:t>¿Por qué es importante implementar un plan de Educación Remedial en el 2022?</a:t>
            </a:r>
            <a:endParaRPr lang="en-CA" dirty="0"/>
          </a:p>
        </p:txBody>
      </p:sp>
      <p:sp>
        <p:nvSpPr>
          <p:cNvPr id="3" name="Slide Number Placeholder 2">
            <a:extLst>
              <a:ext uri="{FF2B5EF4-FFF2-40B4-BE49-F238E27FC236}">
                <a16:creationId xmlns:a16="http://schemas.microsoft.com/office/drawing/2014/main" id="{DD53C752-7DD8-4232-AE7E-B38A79712724}"/>
              </a:ext>
            </a:extLst>
          </p:cNvPr>
          <p:cNvSpPr>
            <a:spLocks noGrp="1"/>
          </p:cNvSpPr>
          <p:nvPr>
            <p:ph type="sldNum" sz="quarter" idx="12"/>
          </p:nvPr>
        </p:nvSpPr>
        <p:spPr/>
        <p:txBody>
          <a:bodyPr/>
          <a:lstStyle/>
          <a:p>
            <a:fld id="{DAF31D20-51B2-49A6-91FA-1FC48A60B42D}" type="slidenum">
              <a:rPr lang="es-PE" smtClean="0"/>
              <a:t>6</a:t>
            </a:fld>
            <a:endParaRPr lang="es-PE"/>
          </a:p>
        </p:txBody>
      </p:sp>
      <p:sp>
        <p:nvSpPr>
          <p:cNvPr id="15" name="TextBox 14">
            <a:extLst>
              <a:ext uri="{FF2B5EF4-FFF2-40B4-BE49-F238E27FC236}">
                <a16:creationId xmlns:a16="http://schemas.microsoft.com/office/drawing/2014/main" id="{31791476-8567-4D37-9A67-4AB010B0F3FF}"/>
              </a:ext>
            </a:extLst>
          </p:cNvPr>
          <p:cNvSpPr txBox="1"/>
          <p:nvPr/>
        </p:nvSpPr>
        <p:spPr>
          <a:xfrm>
            <a:off x="148274" y="1182970"/>
            <a:ext cx="11876340" cy="646331"/>
          </a:xfrm>
          <a:prstGeom prst="rect">
            <a:avLst/>
          </a:prstGeom>
          <a:noFill/>
        </p:spPr>
        <p:txBody>
          <a:bodyPr wrap="square" rtlCol="0">
            <a:spAutoFit/>
          </a:bodyPr>
          <a:lstStyle/>
          <a:p>
            <a:pPr algn="ctr"/>
            <a:r>
              <a:rPr lang="es-ES" b="1" dirty="0">
                <a:solidFill>
                  <a:schemeClr val="tx2"/>
                </a:solidFill>
              </a:rPr>
              <a:t>Los estudiantes de menores ingresos y </a:t>
            </a:r>
            <a:r>
              <a:rPr lang="es-ES" b="1" u="sng" dirty="0">
                <a:solidFill>
                  <a:schemeClr val="tx2"/>
                </a:solidFill>
              </a:rPr>
              <a:t>aquellos que ya estaban aprendiendo muy poco antes de la crisis, estarían en riesgo de desvincularse o desertar del sistema educativo.</a:t>
            </a:r>
            <a:r>
              <a:rPr lang="es-PE" b="1" u="sng" dirty="0">
                <a:solidFill>
                  <a:schemeClr val="tx2"/>
                </a:solidFill>
              </a:rPr>
              <a:t> </a:t>
            </a:r>
            <a:endParaRPr lang="en-CA" b="1" u="sng" dirty="0">
              <a:solidFill>
                <a:schemeClr val="tx2"/>
              </a:solidFill>
            </a:endParaRPr>
          </a:p>
        </p:txBody>
      </p:sp>
      <p:pic>
        <p:nvPicPr>
          <p:cNvPr id="4" name="Picture 3">
            <a:extLst>
              <a:ext uri="{FF2B5EF4-FFF2-40B4-BE49-F238E27FC236}">
                <a16:creationId xmlns:a16="http://schemas.microsoft.com/office/drawing/2014/main" id="{ADB61431-1E95-4D5D-9D2B-12D731A5994B}"/>
              </a:ext>
            </a:extLst>
          </p:cNvPr>
          <p:cNvPicPr>
            <a:picLocks noChangeAspect="1"/>
          </p:cNvPicPr>
          <p:nvPr/>
        </p:nvPicPr>
        <p:blipFill>
          <a:blip r:embed="rId2"/>
          <a:stretch>
            <a:fillRect/>
          </a:stretch>
        </p:blipFill>
        <p:spPr>
          <a:xfrm>
            <a:off x="1573327" y="2027522"/>
            <a:ext cx="8739073" cy="4665561"/>
          </a:xfrm>
          <a:prstGeom prst="rect">
            <a:avLst/>
          </a:prstGeom>
        </p:spPr>
      </p:pic>
    </p:spTree>
    <p:extLst>
      <p:ext uri="{BB962C8B-B14F-4D97-AF65-F5344CB8AC3E}">
        <p14:creationId xmlns:p14="http://schemas.microsoft.com/office/powerpoint/2010/main" val="3869391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C924FC-3E94-4446-953E-740374C06E98}"/>
              </a:ext>
            </a:extLst>
          </p:cNvPr>
          <p:cNvSpPr>
            <a:spLocks noGrp="1"/>
          </p:cNvSpPr>
          <p:nvPr>
            <p:ph type="title"/>
          </p:nvPr>
        </p:nvSpPr>
        <p:spPr>
          <a:xfrm>
            <a:off x="112811" y="0"/>
            <a:ext cx="9103360" cy="1253808"/>
          </a:xfrm>
        </p:spPr>
        <p:txBody>
          <a:bodyPr/>
          <a:lstStyle/>
          <a:p>
            <a:pPr marL="233363" marR="0" lvl="0" indent="-233363" defTabSz="914400" rtl="0" eaLnBrk="1" fontAlgn="auto" latinLnBrk="0" hangingPunct="1">
              <a:lnSpc>
                <a:spcPct val="100000"/>
              </a:lnSpc>
              <a:spcBef>
                <a:spcPts val="0"/>
              </a:spcBef>
              <a:spcAft>
                <a:spcPts val="0"/>
              </a:spcAft>
              <a:tabLst/>
              <a:defRPr/>
            </a:pPr>
            <a:r>
              <a:rPr kumimoji="0" lang="es-PE" sz="1800" b="1" i="0" u="none" strike="noStrike" kern="1200" cap="none" spc="0" normalizeH="0" baseline="0" noProof="0" dirty="0">
                <a:ln>
                  <a:noFill/>
                </a:ln>
                <a:solidFill>
                  <a:srgbClr val="C00000"/>
                </a:solidFill>
                <a:effectLst/>
                <a:uLnTx/>
                <a:uFillTx/>
                <a:latin typeface="Arial"/>
                <a:ea typeface="+mn-ea"/>
                <a:cs typeface="+mn-cs"/>
              </a:rPr>
              <a:t>1. Parte I:  </a:t>
            </a:r>
            <a:r>
              <a:rPr kumimoji="0" lang="es-PE" sz="1800" b="1" i="0" u="none" strike="noStrike" kern="1200" cap="none" spc="0" normalizeH="0" baseline="0" noProof="0" dirty="0">
                <a:ln>
                  <a:noFill/>
                </a:ln>
                <a:effectLst/>
                <a:uLnTx/>
                <a:uFillTx/>
                <a:latin typeface="Arial"/>
                <a:ea typeface="+mn-ea"/>
                <a:cs typeface="+mn-cs"/>
              </a:rPr>
              <a:t>¿Por qué es importante implementar un plan de Educación Remedial en el 2022?</a:t>
            </a:r>
            <a:endParaRPr lang="en-CA" dirty="0"/>
          </a:p>
        </p:txBody>
      </p:sp>
      <p:sp>
        <p:nvSpPr>
          <p:cNvPr id="3" name="Slide Number Placeholder 2">
            <a:extLst>
              <a:ext uri="{FF2B5EF4-FFF2-40B4-BE49-F238E27FC236}">
                <a16:creationId xmlns:a16="http://schemas.microsoft.com/office/drawing/2014/main" id="{DD53C752-7DD8-4232-AE7E-B38A79712724}"/>
              </a:ext>
            </a:extLst>
          </p:cNvPr>
          <p:cNvSpPr>
            <a:spLocks noGrp="1"/>
          </p:cNvSpPr>
          <p:nvPr>
            <p:ph type="sldNum" sz="quarter" idx="12"/>
          </p:nvPr>
        </p:nvSpPr>
        <p:spPr/>
        <p:txBody>
          <a:bodyPr/>
          <a:lstStyle/>
          <a:p>
            <a:fld id="{DAF31D20-51B2-49A6-91FA-1FC48A60B42D}" type="slidenum">
              <a:rPr lang="es-PE" smtClean="0"/>
              <a:t>7</a:t>
            </a:fld>
            <a:endParaRPr lang="es-PE"/>
          </a:p>
        </p:txBody>
      </p:sp>
      <p:graphicFrame>
        <p:nvGraphicFramePr>
          <p:cNvPr id="8" name="Tabla 17">
            <a:extLst>
              <a:ext uri="{FF2B5EF4-FFF2-40B4-BE49-F238E27FC236}">
                <a16:creationId xmlns:a16="http://schemas.microsoft.com/office/drawing/2014/main" id="{A8A7EF67-FD9B-4D9C-8942-14BAD04FB465}"/>
              </a:ext>
            </a:extLst>
          </p:cNvPr>
          <p:cNvGraphicFramePr>
            <a:graphicFrameLocks noGrp="1"/>
          </p:cNvGraphicFramePr>
          <p:nvPr>
            <p:extLst>
              <p:ext uri="{D42A27DB-BD31-4B8C-83A1-F6EECF244321}">
                <p14:modId xmlns:p14="http://schemas.microsoft.com/office/powerpoint/2010/main" val="2023813230"/>
              </p:ext>
            </p:extLst>
          </p:nvPr>
        </p:nvGraphicFramePr>
        <p:xfrm>
          <a:off x="6512559" y="1768267"/>
          <a:ext cx="5068887" cy="4390714"/>
        </p:xfrm>
        <a:graphic>
          <a:graphicData uri="http://schemas.openxmlformats.org/drawingml/2006/table">
            <a:tbl>
              <a:tblPr firstRow="1" firstCol="1" bandRow="1">
                <a:tableStyleId>{9D7B26C5-4107-4FEC-AEDC-1716B250A1EF}</a:tableStyleId>
              </a:tblPr>
              <a:tblGrid>
                <a:gridCol w="3396205">
                  <a:extLst>
                    <a:ext uri="{9D8B030D-6E8A-4147-A177-3AD203B41FA5}">
                      <a16:colId xmlns:a16="http://schemas.microsoft.com/office/drawing/2014/main" val="3423465654"/>
                    </a:ext>
                  </a:extLst>
                </a:gridCol>
                <a:gridCol w="1672682">
                  <a:extLst>
                    <a:ext uri="{9D8B030D-6E8A-4147-A177-3AD203B41FA5}">
                      <a16:colId xmlns:a16="http://schemas.microsoft.com/office/drawing/2014/main" val="330028690"/>
                    </a:ext>
                  </a:extLst>
                </a:gridCol>
              </a:tblGrid>
              <a:tr h="51553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lnSpc>
                          <a:spcPct val="107000"/>
                        </a:lnSpc>
                        <a:spcAft>
                          <a:spcPts val="0"/>
                        </a:spcAft>
                      </a:pPr>
                      <a:r>
                        <a:rPr lang="es-PE" sz="1800" b="1" dirty="0">
                          <a:solidFill>
                            <a:schemeClr val="tx2"/>
                          </a:solidFill>
                          <a:effectLst/>
                        </a:rPr>
                        <a:t>Intervención</a:t>
                      </a:r>
                      <a:endParaRPr lang="es-PE" sz="1800" dirty="0">
                        <a:solidFill>
                          <a:schemeClr val="tx2"/>
                        </a:solidFill>
                        <a:effectLst/>
                        <a:latin typeface="+mj-lt"/>
                        <a:ea typeface="Calibri" panose="020F0502020204030204" pitchFamily="34" charset="0"/>
                        <a:cs typeface="Times New Roman" panose="02020603050405020304" pitchFamily="18" charset="0"/>
                      </a:endParaRPr>
                    </a:p>
                  </a:txBody>
                  <a:tcPr marL="44450" marR="44450" marT="0" marB="0" anchor="ct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lnSpc>
                          <a:spcPct val="107000"/>
                        </a:lnSpc>
                        <a:spcAft>
                          <a:spcPts val="0"/>
                        </a:spcAft>
                      </a:pPr>
                      <a:r>
                        <a:rPr lang="es-PE" sz="1800" b="1" dirty="0">
                          <a:solidFill>
                            <a:schemeClr val="tx2"/>
                          </a:solidFill>
                          <a:effectLst/>
                        </a:rPr>
                        <a:t>Efecto promedio</a:t>
                      </a:r>
                      <a:endParaRPr lang="es-PE" sz="1800" dirty="0">
                        <a:solidFill>
                          <a:schemeClr val="tx2"/>
                        </a:solidFill>
                        <a:effectLst/>
                        <a:latin typeface="+mj-lt"/>
                        <a:ea typeface="Calibri" panose="020F0502020204030204" pitchFamily="34" charset="0"/>
                        <a:cs typeface="Times New Roman" panose="02020603050405020304" pitchFamily="18" charset="0"/>
                      </a:endParaRPr>
                    </a:p>
                  </a:txBody>
                  <a:tcPr marL="44450" marR="44450" marT="0" marB="0" anchor="ctr"/>
                </a:tc>
                <a:extLst>
                  <a:ext uri="{0D108BD9-81ED-4DB2-BD59-A6C34878D82A}">
                    <a16:rowId xmlns:a16="http://schemas.microsoft.com/office/drawing/2014/main" val="3429189578"/>
                  </a:ext>
                </a:extLst>
              </a:tr>
              <a:tr h="275353">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nSpc>
                          <a:spcPct val="107000"/>
                        </a:lnSpc>
                        <a:spcAft>
                          <a:spcPts val="0"/>
                        </a:spcAft>
                      </a:pPr>
                      <a:r>
                        <a:rPr lang="es-PE" sz="1600" b="0" dirty="0">
                          <a:solidFill>
                            <a:schemeClr val="tx2"/>
                          </a:solidFill>
                          <a:effectLst/>
                        </a:rPr>
                        <a:t>Incentivos </a:t>
                      </a:r>
                      <a:endParaRPr lang="es-PE" sz="1600" b="0" dirty="0">
                        <a:solidFill>
                          <a:schemeClr val="tx2"/>
                        </a:solidFill>
                        <a:effectLst/>
                        <a:latin typeface="+mj-lt"/>
                        <a:ea typeface="Calibri" panose="020F0502020204030204" pitchFamily="34" charset="0"/>
                        <a:cs typeface="Times New Roman" panose="02020603050405020304" pitchFamily="18" charset="0"/>
                      </a:endParaRPr>
                    </a:p>
                  </a:txBody>
                  <a:tcPr marL="44450" marR="44450" marT="0" marB="0" anchor="ct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lnSpc>
                          <a:spcPct val="107000"/>
                        </a:lnSpc>
                        <a:spcAft>
                          <a:spcPts val="0"/>
                        </a:spcAft>
                      </a:pPr>
                      <a:r>
                        <a:rPr lang="es-PE" sz="1600" dirty="0">
                          <a:solidFill>
                            <a:schemeClr val="tx2"/>
                          </a:solidFill>
                          <a:effectLst/>
                        </a:rPr>
                        <a:t>0.01</a:t>
                      </a:r>
                      <a:endParaRPr lang="es-PE" sz="1600" dirty="0">
                        <a:solidFill>
                          <a:schemeClr val="tx2"/>
                        </a:solidFill>
                        <a:effectLst/>
                        <a:latin typeface="+mj-lt"/>
                        <a:ea typeface="Calibri" panose="020F0502020204030204" pitchFamily="34" charset="0"/>
                        <a:cs typeface="Times New Roman" panose="02020603050405020304" pitchFamily="18" charset="0"/>
                      </a:endParaRPr>
                    </a:p>
                  </a:txBody>
                  <a:tcPr marL="44450" marR="44450" marT="0" marB="0" anchor="ctr"/>
                </a:tc>
                <a:extLst>
                  <a:ext uri="{0D108BD9-81ED-4DB2-BD59-A6C34878D82A}">
                    <a16:rowId xmlns:a16="http://schemas.microsoft.com/office/drawing/2014/main" val="3382518511"/>
                  </a:ext>
                </a:extLst>
              </a:tr>
              <a:tr h="275353">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nSpc>
                          <a:spcPct val="107000"/>
                        </a:lnSpc>
                        <a:spcAft>
                          <a:spcPts val="0"/>
                        </a:spcAft>
                      </a:pPr>
                      <a:r>
                        <a:rPr lang="es-PE" sz="1600" b="0" dirty="0">
                          <a:solidFill>
                            <a:schemeClr val="tx2"/>
                          </a:solidFill>
                          <a:effectLst/>
                        </a:rPr>
                        <a:t>Clases luego de la escuela </a:t>
                      </a:r>
                      <a:endParaRPr lang="es-PE" sz="1600" b="0" dirty="0">
                        <a:solidFill>
                          <a:schemeClr val="tx2"/>
                        </a:solidFill>
                        <a:effectLst/>
                        <a:latin typeface="+mj-lt"/>
                        <a:ea typeface="Calibri" panose="020F0502020204030204" pitchFamily="34" charset="0"/>
                        <a:cs typeface="Times New Roman" panose="02020603050405020304" pitchFamily="18" charset="0"/>
                      </a:endParaRPr>
                    </a:p>
                  </a:txBody>
                  <a:tcPr marL="44450" marR="44450" marT="0" marB="0" anchor="ct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lnSpc>
                          <a:spcPct val="107000"/>
                        </a:lnSpc>
                        <a:spcAft>
                          <a:spcPts val="0"/>
                        </a:spcAft>
                      </a:pPr>
                      <a:r>
                        <a:rPr lang="es-PE" sz="1600">
                          <a:solidFill>
                            <a:schemeClr val="tx2"/>
                          </a:solidFill>
                          <a:effectLst/>
                        </a:rPr>
                        <a:t>0.02</a:t>
                      </a:r>
                      <a:endParaRPr lang="es-PE" sz="1600">
                        <a:solidFill>
                          <a:schemeClr val="tx2"/>
                        </a:solidFill>
                        <a:effectLst/>
                        <a:latin typeface="+mj-lt"/>
                        <a:ea typeface="Calibri" panose="020F0502020204030204" pitchFamily="34" charset="0"/>
                        <a:cs typeface="Times New Roman" panose="02020603050405020304" pitchFamily="18" charset="0"/>
                      </a:endParaRPr>
                    </a:p>
                  </a:txBody>
                  <a:tcPr marL="44450" marR="44450" marT="0" marB="0" anchor="ctr"/>
                </a:tc>
                <a:extLst>
                  <a:ext uri="{0D108BD9-81ED-4DB2-BD59-A6C34878D82A}">
                    <a16:rowId xmlns:a16="http://schemas.microsoft.com/office/drawing/2014/main" val="2970518397"/>
                  </a:ext>
                </a:extLst>
              </a:tr>
              <a:tr h="275353">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nSpc>
                          <a:spcPct val="107000"/>
                        </a:lnSpc>
                        <a:spcAft>
                          <a:spcPts val="0"/>
                        </a:spcAft>
                      </a:pPr>
                      <a:r>
                        <a:rPr lang="es-PE" sz="1600" b="0" dirty="0">
                          <a:solidFill>
                            <a:schemeClr val="tx2"/>
                          </a:solidFill>
                          <a:effectLst/>
                        </a:rPr>
                        <a:t>Programas de verano </a:t>
                      </a:r>
                      <a:endParaRPr lang="es-PE" sz="1600" b="0" dirty="0">
                        <a:solidFill>
                          <a:schemeClr val="tx2"/>
                        </a:solidFill>
                        <a:effectLst/>
                        <a:latin typeface="+mj-lt"/>
                        <a:ea typeface="Calibri" panose="020F0502020204030204" pitchFamily="34" charset="0"/>
                        <a:cs typeface="Times New Roman" panose="02020603050405020304" pitchFamily="18" charset="0"/>
                      </a:endParaRPr>
                    </a:p>
                  </a:txBody>
                  <a:tcPr marL="44450" marR="44450" marT="0" marB="0" anchor="ct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lnSpc>
                          <a:spcPct val="107000"/>
                        </a:lnSpc>
                        <a:spcAft>
                          <a:spcPts val="0"/>
                        </a:spcAft>
                      </a:pPr>
                      <a:r>
                        <a:rPr lang="es-PE" sz="1600" dirty="0">
                          <a:solidFill>
                            <a:schemeClr val="tx2"/>
                          </a:solidFill>
                          <a:effectLst/>
                        </a:rPr>
                        <a:t>0.03</a:t>
                      </a:r>
                      <a:endParaRPr lang="es-PE" sz="1600" dirty="0">
                        <a:solidFill>
                          <a:schemeClr val="tx2"/>
                        </a:solidFill>
                        <a:effectLst/>
                        <a:latin typeface="+mj-lt"/>
                        <a:ea typeface="Calibri" panose="020F0502020204030204" pitchFamily="34" charset="0"/>
                        <a:cs typeface="Times New Roman" panose="02020603050405020304" pitchFamily="18" charset="0"/>
                      </a:endParaRPr>
                    </a:p>
                  </a:txBody>
                  <a:tcPr marL="44450" marR="44450" marT="0" marB="0" anchor="ctr"/>
                </a:tc>
                <a:extLst>
                  <a:ext uri="{0D108BD9-81ED-4DB2-BD59-A6C34878D82A}">
                    <a16:rowId xmlns:a16="http://schemas.microsoft.com/office/drawing/2014/main" val="1042235863"/>
                  </a:ext>
                </a:extLst>
              </a:tr>
              <a:tr h="275353">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nSpc>
                          <a:spcPct val="107000"/>
                        </a:lnSpc>
                        <a:spcAft>
                          <a:spcPts val="0"/>
                        </a:spcAft>
                      </a:pPr>
                      <a:r>
                        <a:rPr lang="es-PE" sz="1600" b="0" dirty="0">
                          <a:solidFill>
                            <a:schemeClr val="tx2"/>
                          </a:solidFill>
                          <a:effectLst/>
                        </a:rPr>
                        <a:t>Coaching a estudiantes </a:t>
                      </a:r>
                      <a:endParaRPr lang="es-PE" sz="1600" b="0" dirty="0">
                        <a:solidFill>
                          <a:schemeClr val="tx2"/>
                        </a:solidFill>
                        <a:effectLst/>
                        <a:latin typeface="+mj-lt"/>
                        <a:ea typeface="Calibri" panose="020F0502020204030204" pitchFamily="34" charset="0"/>
                        <a:cs typeface="Times New Roman" panose="02020603050405020304" pitchFamily="18" charset="0"/>
                      </a:endParaRPr>
                    </a:p>
                  </a:txBody>
                  <a:tcPr marL="44450" marR="44450" marT="0" marB="0" anchor="ct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lnSpc>
                          <a:spcPct val="107000"/>
                        </a:lnSpc>
                        <a:spcAft>
                          <a:spcPts val="0"/>
                        </a:spcAft>
                      </a:pPr>
                      <a:r>
                        <a:rPr lang="es-PE" sz="1600">
                          <a:solidFill>
                            <a:schemeClr val="tx2"/>
                          </a:solidFill>
                          <a:effectLst/>
                        </a:rPr>
                        <a:t>0.04</a:t>
                      </a:r>
                      <a:endParaRPr lang="es-PE" sz="1600">
                        <a:solidFill>
                          <a:schemeClr val="tx2"/>
                        </a:solidFill>
                        <a:effectLst/>
                        <a:latin typeface="+mj-lt"/>
                        <a:ea typeface="Calibri" panose="020F0502020204030204" pitchFamily="34" charset="0"/>
                        <a:cs typeface="Times New Roman" panose="02020603050405020304" pitchFamily="18" charset="0"/>
                      </a:endParaRPr>
                    </a:p>
                  </a:txBody>
                  <a:tcPr marL="44450" marR="44450" marT="0" marB="0" anchor="ctr"/>
                </a:tc>
                <a:extLst>
                  <a:ext uri="{0D108BD9-81ED-4DB2-BD59-A6C34878D82A}">
                    <a16:rowId xmlns:a16="http://schemas.microsoft.com/office/drawing/2014/main" val="2875981882"/>
                  </a:ext>
                </a:extLst>
              </a:tr>
              <a:tr h="275353">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nSpc>
                          <a:spcPct val="107000"/>
                        </a:lnSpc>
                        <a:spcAft>
                          <a:spcPts val="0"/>
                        </a:spcAft>
                      </a:pPr>
                      <a:r>
                        <a:rPr lang="es-PE" sz="1600" b="0" dirty="0">
                          <a:solidFill>
                            <a:schemeClr val="tx2"/>
                          </a:solidFill>
                          <a:effectLst/>
                        </a:rPr>
                        <a:t>Intervenciones pedagógicas </a:t>
                      </a:r>
                      <a:endParaRPr lang="es-PE" sz="1600" b="0" dirty="0">
                        <a:solidFill>
                          <a:schemeClr val="tx2"/>
                        </a:solidFill>
                        <a:effectLst/>
                        <a:latin typeface="+mj-lt"/>
                        <a:ea typeface="Calibri" panose="020F0502020204030204" pitchFamily="34" charset="0"/>
                        <a:cs typeface="Times New Roman" panose="02020603050405020304" pitchFamily="18" charset="0"/>
                      </a:endParaRPr>
                    </a:p>
                  </a:txBody>
                  <a:tcPr marL="44450" marR="44450" marT="0" marB="0" anchor="ct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lnSpc>
                          <a:spcPct val="107000"/>
                        </a:lnSpc>
                        <a:spcAft>
                          <a:spcPts val="0"/>
                        </a:spcAft>
                      </a:pPr>
                      <a:r>
                        <a:rPr lang="es-PE" sz="1600">
                          <a:solidFill>
                            <a:schemeClr val="tx2"/>
                          </a:solidFill>
                          <a:effectLst/>
                        </a:rPr>
                        <a:t>0.05</a:t>
                      </a:r>
                      <a:endParaRPr lang="es-PE" sz="1600">
                        <a:solidFill>
                          <a:schemeClr val="tx2"/>
                        </a:solidFill>
                        <a:effectLst/>
                        <a:latin typeface="+mj-lt"/>
                        <a:ea typeface="Calibri" panose="020F0502020204030204" pitchFamily="34" charset="0"/>
                        <a:cs typeface="Times New Roman" panose="02020603050405020304" pitchFamily="18" charset="0"/>
                      </a:endParaRPr>
                    </a:p>
                  </a:txBody>
                  <a:tcPr marL="44450" marR="44450" marT="0" marB="0" anchor="ctr"/>
                </a:tc>
                <a:extLst>
                  <a:ext uri="{0D108BD9-81ED-4DB2-BD59-A6C34878D82A}">
                    <a16:rowId xmlns:a16="http://schemas.microsoft.com/office/drawing/2014/main" val="130142189"/>
                  </a:ext>
                </a:extLst>
              </a:tr>
              <a:tr h="285474">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nSpc>
                          <a:spcPct val="107000"/>
                        </a:lnSpc>
                        <a:spcAft>
                          <a:spcPts val="0"/>
                        </a:spcAft>
                      </a:pPr>
                      <a:r>
                        <a:rPr lang="es-PE" sz="1600" b="0" dirty="0">
                          <a:solidFill>
                            <a:schemeClr val="tx2"/>
                          </a:solidFill>
                          <a:effectLst/>
                        </a:rPr>
                        <a:t>Capacitación del personal (docentes)</a:t>
                      </a:r>
                      <a:endParaRPr lang="es-PE" sz="1600" b="0" dirty="0">
                        <a:solidFill>
                          <a:schemeClr val="tx2"/>
                        </a:solidFill>
                        <a:effectLst/>
                        <a:latin typeface="+mj-lt"/>
                        <a:ea typeface="Calibri" panose="020F0502020204030204" pitchFamily="34" charset="0"/>
                        <a:cs typeface="Times New Roman" panose="02020603050405020304" pitchFamily="18" charset="0"/>
                      </a:endParaRPr>
                    </a:p>
                  </a:txBody>
                  <a:tcPr marL="44450" marR="44450" marT="0" marB="0" anchor="ct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lnSpc>
                          <a:spcPct val="107000"/>
                        </a:lnSpc>
                        <a:spcAft>
                          <a:spcPts val="0"/>
                        </a:spcAft>
                      </a:pPr>
                      <a:r>
                        <a:rPr lang="es-PE" sz="1600">
                          <a:solidFill>
                            <a:schemeClr val="tx2"/>
                          </a:solidFill>
                          <a:effectLst/>
                        </a:rPr>
                        <a:t>0.07</a:t>
                      </a:r>
                      <a:endParaRPr lang="es-PE" sz="1600">
                        <a:solidFill>
                          <a:schemeClr val="tx2"/>
                        </a:solidFill>
                        <a:effectLst/>
                        <a:latin typeface="+mj-lt"/>
                        <a:ea typeface="Calibri" panose="020F0502020204030204" pitchFamily="34" charset="0"/>
                        <a:cs typeface="Times New Roman" panose="02020603050405020304" pitchFamily="18" charset="0"/>
                      </a:endParaRPr>
                    </a:p>
                  </a:txBody>
                  <a:tcPr marL="44450" marR="44450" marT="0" marB="0" anchor="ctr"/>
                </a:tc>
                <a:extLst>
                  <a:ext uri="{0D108BD9-81ED-4DB2-BD59-A6C34878D82A}">
                    <a16:rowId xmlns:a16="http://schemas.microsoft.com/office/drawing/2014/main" val="4158839544"/>
                  </a:ext>
                </a:extLst>
              </a:tr>
              <a:tr h="275353">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nSpc>
                          <a:spcPct val="107000"/>
                        </a:lnSpc>
                        <a:spcAft>
                          <a:spcPts val="0"/>
                        </a:spcAft>
                      </a:pPr>
                      <a:r>
                        <a:rPr lang="es-PE" sz="1600" b="0" dirty="0">
                          <a:solidFill>
                            <a:schemeClr val="tx2"/>
                          </a:solidFill>
                          <a:effectLst/>
                        </a:rPr>
                        <a:t>Incremento de recursos </a:t>
                      </a:r>
                      <a:endParaRPr lang="es-PE" sz="1600" b="0" dirty="0">
                        <a:solidFill>
                          <a:schemeClr val="tx2"/>
                        </a:solidFill>
                        <a:effectLst/>
                        <a:latin typeface="+mj-lt"/>
                        <a:ea typeface="Calibri" panose="020F0502020204030204" pitchFamily="34" charset="0"/>
                        <a:cs typeface="Times New Roman" panose="02020603050405020304" pitchFamily="18" charset="0"/>
                      </a:endParaRPr>
                    </a:p>
                  </a:txBody>
                  <a:tcPr marL="44450" marR="44450" marT="0" marB="0" anchor="ct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lnSpc>
                          <a:spcPct val="107000"/>
                        </a:lnSpc>
                        <a:spcAft>
                          <a:spcPts val="0"/>
                        </a:spcAft>
                      </a:pPr>
                      <a:r>
                        <a:rPr lang="es-PE" sz="1600" dirty="0">
                          <a:solidFill>
                            <a:schemeClr val="tx2"/>
                          </a:solidFill>
                          <a:effectLst/>
                        </a:rPr>
                        <a:t>0.08</a:t>
                      </a:r>
                      <a:endParaRPr lang="es-PE" sz="1600" dirty="0">
                        <a:solidFill>
                          <a:schemeClr val="tx2"/>
                        </a:solidFill>
                        <a:effectLst/>
                        <a:latin typeface="+mj-lt"/>
                        <a:ea typeface="Calibri" panose="020F0502020204030204" pitchFamily="34" charset="0"/>
                        <a:cs typeface="Times New Roman" panose="02020603050405020304" pitchFamily="18" charset="0"/>
                      </a:endParaRPr>
                    </a:p>
                  </a:txBody>
                  <a:tcPr marL="44450" marR="44450" marT="0" marB="0" anchor="ctr"/>
                </a:tc>
                <a:extLst>
                  <a:ext uri="{0D108BD9-81ED-4DB2-BD59-A6C34878D82A}">
                    <a16:rowId xmlns:a16="http://schemas.microsoft.com/office/drawing/2014/main" val="3869499173"/>
                  </a:ext>
                </a:extLst>
              </a:tr>
              <a:tr h="285474">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nSpc>
                          <a:spcPct val="107000"/>
                        </a:lnSpc>
                        <a:spcAft>
                          <a:spcPts val="0"/>
                        </a:spcAft>
                      </a:pPr>
                      <a:r>
                        <a:rPr lang="es-PE" sz="1600" b="0" dirty="0">
                          <a:solidFill>
                            <a:schemeClr val="tx2"/>
                          </a:solidFill>
                          <a:effectLst/>
                        </a:rPr>
                        <a:t>Instrucción asistida por computadora</a:t>
                      </a:r>
                      <a:endParaRPr lang="es-PE" sz="1600" b="0" dirty="0">
                        <a:solidFill>
                          <a:schemeClr val="tx2"/>
                        </a:solidFill>
                        <a:effectLst/>
                        <a:latin typeface="+mj-lt"/>
                        <a:ea typeface="Calibri" panose="020F0502020204030204" pitchFamily="34" charset="0"/>
                        <a:cs typeface="Times New Roman" panose="02020603050405020304" pitchFamily="18" charset="0"/>
                      </a:endParaRPr>
                    </a:p>
                  </a:txBody>
                  <a:tcPr marL="44450" marR="44450" marT="0" marB="0" anchor="ct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lnSpc>
                          <a:spcPct val="107000"/>
                        </a:lnSpc>
                        <a:spcAft>
                          <a:spcPts val="0"/>
                        </a:spcAft>
                      </a:pPr>
                      <a:r>
                        <a:rPr lang="es-PE" sz="1600" dirty="0">
                          <a:solidFill>
                            <a:schemeClr val="tx2"/>
                          </a:solidFill>
                          <a:effectLst/>
                        </a:rPr>
                        <a:t>0.11</a:t>
                      </a:r>
                      <a:endParaRPr lang="es-PE" sz="1600" dirty="0">
                        <a:solidFill>
                          <a:schemeClr val="tx2"/>
                        </a:solidFill>
                        <a:effectLst/>
                        <a:latin typeface="+mj-lt"/>
                        <a:ea typeface="Calibri" panose="020F0502020204030204" pitchFamily="34" charset="0"/>
                        <a:cs typeface="Times New Roman" panose="02020603050405020304" pitchFamily="18" charset="0"/>
                      </a:endParaRPr>
                    </a:p>
                  </a:txBody>
                  <a:tcPr marL="44450" marR="44450" marT="0" marB="0" anchor="ctr"/>
                </a:tc>
                <a:extLst>
                  <a:ext uri="{0D108BD9-81ED-4DB2-BD59-A6C34878D82A}">
                    <a16:rowId xmlns:a16="http://schemas.microsoft.com/office/drawing/2014/main" val="2890163578"/>
                  </a:ext>
                </a:extLst>
              </a:tr>
              <a:tr h="275353">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nSpc>
                          <a:spcPct val="107000"/>
                        </a:lnSpc>
                        <a:spcAft>
                          <a:spcPts val="0"/>
                        </a:spcAft>
                      </a:pPr>
                      <a:r>
                        <a:rPr lang="es-PE" sz="1600" b="0" dirty="0">
                          <a:solidFill>
                            <a:schemeClr val="tx2"/>
                          </a:solidFill>
                          <a:effectLst/>
                        </a:rPr>
                        <a:t>Cambio de los contenidos </a:t>
                      </a:r>
                      <a:endParaRPr lang="es-PE" sz="1600" b="0" dirty="0">
                        <a:solidFill>
                          <a:schemeClr val="tx2"/>
                        </a:solidFill>
                        <a:effectLst/>
                        <a:latin typeface="+mj-lt"/>
                        <a:ea typeface="Calibri" panose="020F0502020204030204" pitchFamily="34" charset="0"/>
                        <a:cs typeface="Times New Roman" panose="02020603050405020304" pitchFamily="18" charset="0"/>
                      </a:endParaRPr>
                    </a:p>
                  </a:txBody>
                  <a:tcPr marL="44450" marR="44450" marT="0" marB="0" anchor="ct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lnSpc>
                          <a:spcPct val="107000"/>
                        </a:lnSpc>
                        <a:spcAft>
                          <a:spcPts val="0"/>
                        </a:spcAft>
                      </a:pPr>
                      <a:r>
                        <a:rPr lang="es-PE" sz="1600">
                          <a:solidFill>
                            <a:schemeClr val="tx2"/>
                          </a:solidFill>
                          <a:effectLst/>
                        </a:rPr>
                        <a:t>0.15</a:t>
                      </a:r>
                      <a:endParaRPr lang="es-PE" sz="1600">
                        <a:solidFill>
                          <a:schemeClr val="tx2"/>
                        </a:solidFill>
                        <a:effectLst/>
                        <a:latin typeface="+mj-lt"/>
                        <a:ea typeface="Calibri" panose="020F0502020204030204" pitchFamily="34" charset="0"/>
                        <a:cs typeface="Times New Roman" panose="02020603050405020304" pitchFamily="18" charset="0"/>
                      </a:endParaRPr>
                    </a:p>
                  </a:txBody>
                  <a:tcPr marL="44450" marR="44450" marT="0" marB="0" anchor="ctr"/>
                </a:tc>
                <a:extLst>
                  <a:ext uri="{0D108BD9-81ED-4DB2-BD59-A6C34878D82A}">
                    <a16:rowId xmlns:a16="http://schemas.microsoft.com/office/drawing/2014/main" val="716773628"/>
                  </a:ext>
                </a:extLst>
              </a:tr>
              <a:tr h="275353">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nSpc>
                          <a:spcPct val="107000"/>
                        </a:lnSpc>
                        <a:spcAft>
                          <a:spcPts val="0"/>
                        </a:spcAft>
                      </a:pPr>
                      <a:r>
                        <a:rPr lang="es-PE" sz="1600" b="0" dirty="0">
                          <a:solidFill>
                            <a:schemeClr val="tx2"/>
                          </a:solidFill>
                          <a:effectLst/>
                        </a:rPr>
                        <a:t>Coaching del personal</a:t>
                      </a:r>
                      <a:endParaRPr lang="es-PE" sz="1600" b="0" dirty="0">
                        <a:solidFill>
                          <a:schemeClr val="tx2"/>
                        </a:solidFill>
                        <a:effectLst/>
                        <a:latin typeface="+mj-lt"/>
                        <a:ea typeface="Calibri" panose="020F0502020204030204" pitchFamily="34" charset="0"/>
                        <a:cs typeface="Times New Roman" panose="02020603050405020304" pitchFamily="18" charset="0"/>
                      </a:endParaRPr>
                    </a:p>
                  </a:txBody>
                  <a:tcPr marL="44450" marR="44450" marT="0" marB="0" anchor="ct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lnSpc>
                          <a:spcPct val="107000"/>
                        </a:lnSpc>
                        <a:spcAft>
                          <a:spcPts val="0"/>
                        </a:spcAft>
                      </a:pPr>
                      <a:r>
                        <a:rPr lang="es-PE" sz="1600" dirty="0">
                          <a:solidFill>
                            <a:schemeClr val="tx2"/>
                          </a:solidFill>
                          <a:effectLst/>
                        </a:rPr>
                        <a:t>0.16</a:t>
                      </a:r>
                      <a:endParaRPr lang="es-PE" sz="1600" dirty="0">
                        <a:solidFill>
                          <a:schemeClr val="tx2"/>
                        </a:solidFill>
                        <a:effectLst/>
                        <a:latin typeface="+mj-lt"/>
                        <a:ea typeface="Calibri" panose="020F0502020204030204" pitchFamily="34" charset="0"/>
                        <a:cs typeface="Times New Roman" panose="02020603050405020304" pitchFamily="18" charset="0"/>
                      </a:endParaRPr>
                    </a:p>
                  </a:txBody>
                  <a:tcPr marL="44450" marR="44450" marT="0" marB="0" anchor="ctr"/>
                </a:tc>
                <a:extLst>
                  <a:ext uri="{0D108BD9-81ED-4DB2-BD59-A6C34878D82A}">
                    <a16:rowId xmlns:a16="http://schemas.microsoft.com/office/drawing/2014/main" val="3922286916"/>
                  </a:ext>
                </a:extLst>
              </a:tr>
              <a:tr h="275353">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nSpc>
                          <a:spcPct val="107000"/>
                        </a:lnSpc>
                        <a:spcAft>
                          <a:spcPts val="0"/>
                        </a:spcAft>
                      </a:pPr>
                      <a:r>
                        <a:rPr lang="es-PE" sz="1600" b="0" dirty="0">
                          <a:solidFill>
                            <a:schemeClr val="tx2"/>
                          </a:solidFill>
                          <a:effectLst/>
                        </a:rPr>
                        <a:t>Aprendizaje cooperativo</a:t>
                      </a:r>
                      <a:endParaRPr lang="es-PE" sz="1600" b="0" dirty="0">
                        <a:solidFill>
                          <a:schemeClr val="tx2"/>
                        </a:solidFill>
                        <a:effectLst/>
                        <a:latin typeface="+mj-lt"/>
                        <a:ea typeface="Calibri" panose="020F0502020204030204" pitchFamily="34" charset="0"/>
                        <a:cs typeface="Times New Roman" panose="02020603050405020304" pitchFamily="18" charset="0"/>
                      </a:endParaRPr>
                    </a:p>
                  </a:txBody>
                  <a:tcPr marL="44450" marR="44450" marT="0" marB="0" anchor="ct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lnSpc>
                          <a:spcPct val="107000"/>
                        </a:lnSpc>
                        <a:spcAft>
                          <a:spcPts val="0"/>
                        </a:spcAft>
                      </a:pPr>
                      <a:r>
                        <a:rPr lang="es-PE" sz="1600" b="0" dirty="0">
                          <a:solidFill>
                            <a:schemeClr val="tx2"/>
                          </a:solidFill>
                          <a:effectLst/>
                        </a:rPr>
                        <a:t>0.22</a:t>
                      </a:r>
                      <a:endParaRPr lang="es-PE" sz="1600" b="0" dirty="0">
                        <a:solidFill>
                          <a:schemeClr val="tx2"/>
                        </a:solidFill>
                        <a:effectLst/>
                        <a:latin typeface="+mj-lt"/>
                        <a:ea typeface="Calibri" panose="020F0502020204030204" pitchFamily="34" charset="0"/>
                        <a:cs typeface="Times New Roman" panose="02020603050405020304" pitchFamily="18" charset="0"/>
                      </a:endParaRPr>
                    </a:p>
                  </a:txBody>
                  <a:tcPr marL="44450" marR="44450" marT="0" marB="0" anchor="ctr"/>
                </a:tc>
                <a:extLst>
                  <a:ext uri="{0D108BD9-81ED-4DB2-BD59-A6C34878D82A}">
                    <a16:rowId xmlns:a16="http://schemas.microsoft.com/office/drawing/2014/main" val="1994714256"/>
                  </a:ext>
                </a:extLst>
              </a:tr>
              <a:tr h="275353">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nSpc>
                          <a:spcPct val="107000"/>
                        </a:lnSpc>
                        <a:spcAft>
                          <a:spcPts val="0"/>
                        </a:spcAft>
                      </a:pPr>
                      <a:r>
                        <a:rPr lang="es-PE" sz="1600" b="0" dirty="0">
                          <a:solidFill>
                            <a:schemeClr val="tx2"/>
                          </a:solidFill>
                          <a:effectLst/>
                        </a:rPr>
                        <a:t>Clases en pequeños grupos</a:t>
                      </a:r>
                      <a:endParaRPr lang="es-PE" sz="1600" b="0" dirty="0">
                        <a:solidFill>
                          <a:schemeClr val="tx2"/>
                        </a:solidFill>
                        <a:effectLst/>
                        <a:latin typeface="+mj-lt"/>
                        <a:ea typeface="Calibri" panose="020F0502020204030204" pitchFamily="34" charset="0"/>
                        <a:cs typeface="Times New Roman" panose="02020603050405020304" pitchFamily="18" charset="0"/>
                      </a:endParaRPr>
                    </a:p>
                  </a:txBody>
                  <a:tcPr marL="44450" marR="44450" marT="0" marB="0" anchor="ct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lnSpc>
                          <a:spcPct val="107000"/>
                        </a:lnSpc>
                        <a:spcAft>
                          <a:spcPts val="0"/>
                        </a:spcAft>
                      </a:pPr>
                      <a:r>
                        <a:rPr lang="es-PE" sz="1600" b="0" dirty="0">
                          <a:solidFill>
                            <a:schemeClr val="tx2"/>
                          </a:solidFill>
                          <a:effectLst/>
                        </a:rPr>
                        <a:t>0.24</a:t>
                      </a:r>
                      <a:endParaRPr lang="es-PE" sz="1600" b="0" dirty="0">
                        <a:solidFill>
                          <a:schemeClr val="tx2"/>
                        </a:solidFill>
                        <a:effectLst/>
                        <a:latin typeface="+mj-lt"/>
                        <a:ea typeface="Calibri" panose="020F0502020204030204" pitchFamily="34" charset="0"/>
                        <a:cs typeface="Times New Roman" panose="02020603050405020304" pitchFamily="18" charset="0"/>
                      </a:endParaRPr>
                    </a:p>
                  </a:txBody>
                  <a:tcPr marL="44450" marR="44450" marT="0" marB="0" anchor="ctr"/>
                </a:tc>
                <a:extLst>
                  <a:ext uri="{0D108BD9-81ED-4DB2-BD59-A6C34878D82A}">
                    <a16:rowId xmlns:a16="http://schemas.microsoft.com/office/drawing/2014/main" val="4095470357"/>
                  </a:ext>
                </a:extLst>
              </a:tr>
              <a:tr h="275353">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nSpc>
                          <a:spcPct val="107000"/>
                        </a:lnSpc>
                        <a:spcAft>
                          <a:spcPts val="0"/>
                        </a:spcAft>
                      </a:pPr>
                      <a:r>
                        <a:rPr lang="es-PE" sz="1600" b="0" dirty="0">
                          <a:solidFill>
                            <a:schemeClr val="tx2"/>
                          </a:solidFill>
                          <a:effectLst/>
                        </a:rPr>
                        <a:t>Monitoreo del progreso</a:t>
                      </a:r>
                      <a:endParaRPr lang="es-PE" sz="1600" b="0" dirty="0">
                        <a:solidFill>
                          <a:schemeClr val="tx2"/>
                        </a:solidFill>
                        <a:effectLst/>
                        <a:latin typeface="+mj-lt"/>
                        <a:ea typeface="Calibri" panose="020F0502020204030204" pitchFamily="34" charset="0"/>
                        <a:cs typeface="Times New Roman" panose="02020603050405020304" pitchFamily="18" charset="0"/>
                      </a:endParaRPr>
                    </a:p>
                  </a:txBody>
                  <a:tcPr marL="44450" marR="44450" marT="0" marB="0" anchor="ct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lnSpc>
                          <a:spcPct val="107000"/>
                        </a:lnSpc>
                        <a:spcAft>
                          <a:spcPts val="0"/>
                        </a:spcAft>
                      </a:pPr>
                      <a:r>
                        <a:rPr lang="es-PE" sz="1600" b="0" dirty="0">
                          <a:solidFill>
                            <a:schemeClr val="tx2"/>
                          </a:solidFill>
                          <a:effectLst/>
                        </a:rPr>
                        <a:t>0.32</a:t>
                      </a:r>
                      <a:endParaRPr lang="es-PE" sz="1600" b="0" dirty="0">
                        <a:solidFill>
                          <a:schemeClr val="tx2"/>
                        </a:solidFill>
                        <a:effectLst/>
                        <a:latin typeface="+mj-lt"/>
                        <a:ea typeface="Calibri" panose="020F0502020204030204" pitchFamily="34" charset="0"/>
                        <a:cs typeface="Times New Roman" panose="02020603050405020304" pitchFamily="18" charset="0"/>
                      </a:endParaRPr>
                    </a:p>
                  </a:txBody>
                  <a:tcPr marL="44450" marR="44450" marT="0" marB="0" anchor="ctr"/>
                </a:tc>
                <a:extLst>
                  <a:ext uri="{0D108BD9-81ED-4DB2-BD59-A6C34878D82A}">
                    <a16:rowId xmlns:a16="http://schemas.microsoft.com/office/drawing/2014/main" val="1345129295"/>
                  </a:ext>
                </a:extLst>
              </a:tr>
              <a:tr h="275353">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nSpc>
                          <a:spcPct val="107000"/>
                        </a:lnSpc>
                        <a:spcAft>
                          <a:spcPts val="0"/>
                        </a:spcAft>
                      </a:pPr>
                      <a:r>
                        <a:rPr lang="es-PE" sz="1600" b="0" dirty="0">
                          <a:solidFill>
                            <a:schemeClr val="tx2"/>
                          </a:solidFill>
                          <a:effectLst/>
                        </a:rPr>
                        <a:t>Tutoría</a:t>
                      </a:r>
                      <a:endParaRPr lang="es-PE" sz="1600" b="0" dirty="0">
                        <a:solidFill>
                          <a:schemeClr val="tx2"/>
                        </a:solidFill>
                        <a:effectLst/>
                        <a:latin typeface="+mj-lt"/>
                        <a:ea typeface="Calibri" panose="020F0502020204030204" pitchFamily="34" charset="0"/>
                        <a:cs typeface="Times New Roman" panose="02020603050405020304" pitchFamily="18" charset="0"/>
                      </a:endParaRPr>
                    </a:p>
                  </a:txBody>
                  <a:tcPr marL="44450" marR="44450" marT="0" marB="0" anchor="ct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lnSpc>
                          <a:spcPct val="107000"/>
                        </a:lnSpc>
                        <a:spcAft>
                          <a:spcPts val="0"/>
                        </a:spcAft>
                      </a:pPr>
                      <a:r>
                        <a:rPr lang="es-PE" sz="1600" b="0" dirty="0">
                          <a:solidFill>
                            <a:schemeClr val="tx2"/>
                          </a:solidFill>
                          <a:effectLst/>
                        </a:rPr>
                        <a:t>0.36</a:t>
                      </a:r>
                      <a:endParaRPr lang="es-PE" sz="1600" b="0" dirty="0">
                        <a:solidFill>
                          <a:schemeClr val="tx2"/>
                        </a:solidFill>
                        <a:effectLst/>
                        <a:latin typeface="+mj-lt"/>
                        <a:ea typeface="Calibri" panose="020F0502020204030204" pitchFamily="34" charset="0"/>
                        <a:cs typeface="Times New Roman" panose="02020603050405020304" pitchFamily="18" charset="0"/>
                      </a:endParaRPr>
                    </a:p>
                  </a:txBody>
                  <a:tcPr marL="44450" marR="44450" marT="0" marB="0" anchor="ctr"/>
                </a:tc>
                <a:extLst>
                  <a:ext uri="{0D108BD9-81ED-4DB2-BD59-A6C34878D82A}">
                    <a16:rowId xmlns:a16="http://schemas.microsoft.com/office/drawing/2014/main" val="4111724902"/>
                  </a:ext>
                </a:extLst>
              </a:tr>
            </a:tbl>
          </a:graphicData>
        </a:graphic>
      </p:graphicFrame>
      <p:sp>
        <p:nvSpPr>
          <p:cNvPr id="9" name="TextBox 8">
            <a:extLst>
              <a:ext uri="{FF2B5EF4-FFF2-40B4-BE49-F238E27FC236}">
                <a16:creationId xmlns:a16="http://schemas.microsoft.com/office/drawing/2014/main" id="{6ECA5095-D8C7-4422-B235-998FCB8A4DCB}"/>
              </a:ext>
            </a:extLst>
          </p:cNvPr>
          <p:cNvSpPr txBox="1"/>
          <p:nvPr/>
        </p:nvSpPr>
        <p:spPr>
          <a:xfrm rot="16200000">
            <a:off x="10251108" y="4447562"/>
            <a:ext cx="3122341"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PE" sz="2400" b="1" i="0" u="none" strike="noStrike" kern="1200" cap="none" spc="0" normalizeH="0" baseline="0" noProof="0" dirty="0">
                <a:ln>
                  <a:noFill/>
                </a:ln>
                <a:solidFill>
                  <a:srgbClr val="C00000"/>
                </a:solidFill>
                <a:effectLst/>
                <a:uLnTx/>
                <a:uFillTx/>
                <a:latin typeface="Calibri" panose="020F0502020204030204"/>
                <a:ea typeface="+mn-ea"/>
                <a:cs typeface="+mn-cs"/>
              </a:rPr>
              <a:t>+ Efectivos</a:t>
            </a:r>
            <a:endParaRPr kumimoji="0" lang="en-CA" sz="2400" b="1" i="0" u="none" strike="noStrike" kern="1200" cap="none" spc="0" normalizeH="0" baseline="0" noProof="0" dirty="0">
              <a:ln>
                <a:noFill/>
              </a:ln>
              <a:solidFill>
                <a:srgbClr val="C00000"/>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E17E8BAF-DBD8-41CC-BE0E-C546092F14A4}"/>
              </a:ext>
            </a:extLst>
          </p:cNvPr>
          <p:cNvSpPr/>
          <p:nvPr/>
        </p:nvSpPr>
        <p:spPr>
          <a:xfrm>
            <a:off x="6512560" y="5046725"/>
            <a:ext cx="5068887" cy="1112256"/>
          </a:xfrm>
          <a:prstGeom prst="rect">
            <a:avLst/>
          </a:prstGeom>
          <a:noFill/>
          <a:ln w="28575" cap="flat" cmpd="sng" algn="ctr">
            <a:solidFill>
              <a:srgbClr val="C0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dirty="0">
              <a:ln>
                <a:noFill/>
              </a:ln>
              <a:solidFill>
                <a:srgbClr val="DF5327"/>
              </a:solidFill>
              <a:effectLst/>
              <a:uLnTx/>
              <a:uFillTx/>
              <a:latin typeface="Calibri" panose="020F0502020204030204"/>
              <a:ea typeface="+mn-ea"/>
              <a:cs typeface="+mn-cs"/>
            </a:endParaRPr>
          </a:p>
        </p:txBody>
      </p:sp>
      <p:sp>
        <p:nvSpPr>
          <p:cNvPr id="12" name="Rectángulo 23">
            <a:extLst>
              <a:ext uri="{FF2B5EF4-FFF2-40B4-BE49-F238E27FC236}">
                <a16:creationId xmlns:a16="http://schemas.microsoft.com/office/drawing/2014/main" id="{DE48E747-FDD0-4C96-B0CB-6B7C3D86E624}"/>
              </a:ext>
            </a:extLst>
          </p:cNvPr>
          <p:cNvSpPr/>
          <p:nvPr/>
        </p:nvSpPr>
        <p:spPr>
          <a:xfrm>
            <a:off x="9117758" y="6320150"/>
            <a:ext cx="2463688" cy="312650"/>
          </a:xfrm>
          <a:prstGeom prst="rect">
            <a:avLst/>
          </a:prstGeom>
        </p:spPr>
        <p:txBody>
          <a:bodyPr wrap="none">
            <a:spAutoFit/>
          </a:bodyPr>
          <a:lstStyle/>
          <a:p>
            <a:pPr marL="0" marR="0" lvl="0" indent="0" algn="r" defTabSz="914400" rtl="0" eaLnBrk="1" fontAlgn="auto" latinLnBrk="0" hangingPunct="1">
              <a:lnSpc>
                <a:spcPct val="107000"/>
              </a:lnSpc>
              <a:spcBef>
                <a:spcPts val="0"/>
              </a:spcBef>
              <a:spcAft>
                <a:spcPts val="0"/>
              </a:spcAft>
              <a:buClrTx/>
              <a:buSzTx/>
              <a:buFontTx/>
              <a:buNone/>
              <a:tabLst/>
              <a:defRPr/>
            </a:pPr>
            <a:r>
              <a:rPr kumimoji="0" lang="es-PE" sz="1400" b="1" i="0" u="none" strike="noStrike" kern="1200" cap="none" spc="0" normalizeH="0" baseline="0" noProof="0" dirty="0">
                <a:ln>
                  <a:noFill/>
                </a:ln>
                <a:solidFill>
                  <a:srgbClr val="000000"/>
                </a:solidFill>
                <a:effectLst/>
                <a:uLnTx/>
                <a:uFillTx/>
                <a:latin typeface="Calibri Light" panose="020F0302020204030204"/>
                <a:ea typeface="Calibri" panose="020F0502020204030204" pitchFamily="34" charset="0"/>
                <a:cs typeface="Times New Roman" panose="02020603050405020304" pitchFamily="18" charset="0"/>
              </a:rPr>
              <a:t>Fuente: </a:t>
            </a:r>
            <a:r>
              <a:rPr kumimoji="0" lang="es-PE" sz="1400" b="1" i="0" u="none" strike="noStrike" kern="1200" cap="none" spc="0" normalizeH="0" baseline="0" noProof="0" dirty="0" err="1">
                <a:ln>
                  <a:noFill/>
                </a:ln>
                <a:solidFill>
                  <a:srgbClr val="000000"/>
                </a:solidFill>
                <a:effectLst/>
                <a:uLnTx/>
                <a:uFillTx/>
                <a:latin typeface="Calibri Light" panose="020F0302020204030204"/>
                <a:ea typeface="Calibri" panose="020F0502020204030204" pitchFamily="34" charset="0"/>
                <a:cs typeface="Times New Roman" panose="02020603050405020304" pitchFamily="18" charset="0"/>
              </a:rPr>
              <a:t>Dietrichson</a:t>
            </a:r>
            <a:r>
              <a:rPr kumimoji="0" lang="es-PE" sz="1400" b="1" i="0" u="none" strike="noStrike" kern="1200" cap="none" spc="0" normalizeH="0" baseline="0" noProof="0" dirty="0">
                <a:ln>
                  <a:noFill/>
                </a:ln>
                <a:solidFill>
                  <a:srgbClr val="000000"/>
                </a:solidFill>
                <a:effectLst/>
                <a:uLnTx/>
                <a:uFillTx/>
                <a:latin typeface="Calibri Light" panose="020F0302020204030204"/>
                <a:ea typeface="Calibri" panose="020F0502020204030204" pitchFamily="34" charset="0"/>
                <a:cs typeface="Times New Roman" panose="02020603050405020304" pitchFamily="18" charset="0"/>
              </a:rPr>
              <a:t> et al. (2017)</a:t>
            </a:r>
          </a:p>
        </p:txBody>
      </p:sp>
      <p:sp>
        <p:nvSpPr>
          <p:cNvPr id="4" name="TextBox 3">
            <a:extLst>
              <a:ext uri="{FF2B5EF4-FFF2-40B4-BE49-F238E27FC236}">
                <a16:creationId xmlns:a16="http://schemas.microsoft.com/office/drawing/2014/main" id="{D914EE59-B80B-4E2E-8717-8E2B720A12B3}"/>
              </a:ext>
            </a:extLst>
          </p:cNvPr>
          <p:cNvSpPr txBox="1"/>
          <p:nvPr/>
        </p:nvSpPr>
        <p:spPr>
          <a:xfrm>
            <a:off x="7354521" y="1237766"/>
            <a:ext cx="3526474" cy="369332"/>
          </a:xfrm>
          <a:prstGeom prst="rect">
            <a:avLst/>
          </a:prstGeom>
          <a:noFill/>
        </p:spPr>
        <p:txBody>
          <a:bodyPr wrap="square" rtlCol="0">
            <a:spAutoFit/>
          </a:bodyPr>
          <a:lstStyle/>
          <a:p>
            <a:r>
              <a:rPr lang="es-PE" b="1" dirty="0">
                <a:solidFill>
                  <a:schemeClr val="tx2"/>
                </a:solidFill>
                <a:latin typeface="Calibri Light" panose="020F0302020204030204" pitchFamily="34" charset="0"/>
                <a:cs typeface="Calibri Light" panose="020F0302020204030204" pitchFamily="34" charset="0"/>
              </a:rPr>
              <a:t>Alternativas de Educación remedial</a:t>
            </a:r>
            <a:endParaRPr lang="en-CA" b="1" dirty="0">
              <a:solidFill>
                <a:schemeClr val="tx2"/>
              </a:solidFill>
              <a:latin typeface="Calibri Light" panose="020F0302020204030204" pitchFamily="34" charset="0"/>
              <a:cs typeface="Calibri Light" panose="020F0302020204030204" pitchFamily="34" charset="0"/>
            </a:endParaRPr>
          </a:p>
        </p:txBody>
      </p:sp>
      <p:sp>
        <p:nvSpPr>
          <p:cNvPr id="5" name="TextBox 4">
            <a:extLst>
              <a:ext uri="{FF2B5EF4-FFF2-40B4-BE49-F238E27FC236}">
                <a16:creationId xmlns:a16="http://schemas.microsoft.com/office/drawing/2014/main" id="{5421EA8C-3601-4A10-B12C-02C0A040C4BA}"/>
              </a:ext>
            </a:extLst>
          </p:cNvPr>
          <p:cNvSpPr txBox="1"/>
          <p:nvPr/>
        </p:nvSpPr>
        <p:spPr>
          <a:xfrm>
            <a:off x="299771" y="1768267"/>
            <a:ext cx="5379671" cy="4016484"/>
          </a:xfrm>
          <a:prstGeom prst="rect">
            <a:avLst/>
          </a:prstGeom>
          <a:noFill/>
        </p:spPr>
        <p:txBody>
          <a:bodyPr wrap="square" rtlCol="0">
            <a:spAutoFit/>
          </a:bodyPr>
          <a:lstStyle/>
          <a:p>
            <a:pPr marL="285750" indent="-285750" algn="just">
              <a:buFont typeface="Wingdings" panose="05000000000000000000" pitchFamily="2" charset="2"/>
              <a:buChar char="Ø"/>
            </a:pPr>
            <a:r>
              <a:rPr lang="es-ES" sz="1700" dirty="0">
                <a:solidFill>
                  <a:schemeClr val="tx2"/>
                </a:solidFill>
                <a:latin typeface="Calibri" panose="020F0502020204030204" pitchFamily="34" charset="0"/>
                <a:cs typeface="Calibri" panose="020F0502020204030204" pitchFamily="34" charset="0"/>
              </a:rPr>
              <a:t>Los programas de educación remedial permiten nivelar y reducir las pérdidas de aprendizaje, ayudando a abordar algunas de las crecientes desigualdades de aprendizaje en el marco de la pandemia.</a:t>
            </a:r>
          </a:p>
          <a:p>
            <a:pPr algn="just"/>
            <a:endParaRPr lang="es-ES" sz="1700" dirty="0">
              <a:solidFill>
                <a:schemeClr val="tx2"/>
              </a:solidFill>
              <a:latin typeface="Calibri" panose="020F0502020204030204" pitchFamily="34" charset="0"/>
              <a:cs typeface="Calibri" panose="020F0502020204030204" pitchFamily="34" charset="0"/>
            </a:endParaRPr>
          </a:p>
          <a:p>
            <a:pPr marL="285750" indent="-285750" algn="just">
              <a:buFont typeface="Wingdings" panose="05000000000000000000" pitchFamily="2" charset="2"/>
              <a:buChar char="Ø"/>
            </a:pPr>
            <a:r>
              <a:rPr lang="es-ES" sz="1700" dirty="0">
                <a:solidFill>
                  <a:schemeClr val="tx2"/>
                </a:solidFill>
                <a:latin typeface="Calibri" panose="020F0502020204030204" pitchFamily="34" charset="0"/>
                <a:cs typeface="Calibri" panose="020F0502020204030204" pitchFamily="34" charset="0"/>
              </a:rPr>
              <a:t>La evidencia sugiere que los programas de educación remedial tienen efectos positivos -incluso en estudiantes de  niveles socioeconómicos bajos-y </a:t>
            </a:r>
            <a:r>
              <a:rPr lang="es-ES" sz="1700" b="1" dirty="0">
                <a:solidFill>
                  <a:schemeClr val="tx2"/>
                </a:solidFill>
                <a:latin typeface="Calibri" panose="020F0502020204030204" pitchFamily="34" charset="0"/>
                <a:cs typeface="Calibri" panose="020F0502020204030204" pitchFamily="34" charset="0"/>
              </a:rPr>
              <a:t>su implementación puede ser de fácil adaptabilidad al contexto del país implementador.</a:t>
            </a:r>
          </a:p>
          <a:p>
            <a:pPr marL="285750" indent="-285750" algn="just">
              <a:buFont typeface="Wingdings" panose="05000000000000000000" pitchFamily="2" charset="2"/>
              <a:buChar char="Ø"/>
            </a:pPr>
            <a:endParaRPr lang="es-ES" sz="1700" dirty="0">
              <a:solidFill>
                <a:schemeClr val="tx2"/>
              </a:solidFill>
              <a:latin typeface="Calibri" panose="020F0502020204030204" pitchFamily="34" charset="0"/>
              <a:cs typeface="Calibri" panose="020F0502020204030204" pitchFamily="34" charset="0"/>
            </a:endParaRPr>
          </a:p>
          <a:p>
            <a:pPr marL="285750" indent="-285750" algn="just">
              <a:buFont typeface="Wingdings" panose="05000000000000000000" pitchFamily="2" charset="2"/>
              <a:buChar char="Ø"/>
            </a:pPr>
            <a:r>
              <a:rPr lang="es-ES" sz="1700" dirty="0">
                <a:solidFill>
                  <a:schemeClr val="tx2"/>
                </a:solidFill>
                <a:latin typeface="Calibri" panose="020F0502020204030204" pitchFamily="34" charset="0"/>
                <a:cs typeface="Calibri" panose="020F0502020204030204" pitchFamily="34" charset="0"/>
              </a:rPr>
              <a:t>A junio de 2020, más del </a:t>
            </a:r>
            <a:r>
              <a:rPr lang="es-ES" sz="1700" b="1" dirty="0">
                <a:solidFill>
                  <a:schemeClr val="tx2"/>
                </a:solidFill>
                <a:latin typeface="Calibri" panose="020F0502020204030204" pitchFamily="34" charset="0"/>
                <a:cs typeface="Calibri" panose="020F0502020204030204" pitchFamily="34" charset="0"/>
              </a:rPr>
              <a:t>70 por ciento de los países de la región ya contaba con planes para implementar programas de remediación</a:t>
            </a:r>
            <a:r>
              <a:rPr lang="es-ES" sz="1700" b="1" baseline="66000" dirty="0">
                <a:solidFill>
                  <a:schemeClr val="tx2"/>
                </a:solidFill>
                <a:latin typeface="Calibri" panose="020F0502020204030204" pitchFamily="34" charset="0"/>
                <a:cs typeface="Calibri" panose="020F0502020204030204" pitchFamily="34" charset="0"/>
              </a:rPr>
              <a:t>1</a:t>
            </a:r>
            <a:r>
              <a:rPr lang="es-ES" sz="1700" dirty="0">
                <a:solidFill>
                  <a:schemeClr val="tx2"/>
                </a:solidFill>
                <a:latin typeface="Calibri" panose="020F0502020204030204" pitchFamily="34" charset="0"/>
                <a:cs typeface="Calibri" panose="020F0502020204030204" pitchFamily="34" charset="0"/>
              </a:rPr>
              <a:t>.</a:t>
            </a:r>
          </a:p>
          <a:p>
            <a:pPr algn="just"/>
            <a:endParaRPr lang="en-CA" sz="1700" dirty="0">
              <a:latin typeface="Calibri Light" panose="020F0302020204030204" pitchFamily="34" charset="0"/>
              <a:cs typeface="Calibri Light" panose="020F0302020204030204" pitchFamily="34" charset="0"/>
            </a:endParaRPr>
          </a:p>
        </p:txBody>
      </p:sp>
      <p:sp>
        <p:nvSpPr>
          <p:cNvPr id="6" name="Footer Placeholder 5">
            <a:extLst>
              <a:ext uri="{FF2B5EF4-FFF2-40B4-BE49-F238E27FC236}">
                <a16:creationId xmlns:a16="http://schemas.microsoft.com/office/drawing/2014/main" id="{76266A5B-99C0-4134-9586-0A53E9F313CA}"/>
              </a:ext>
            </a:extLst>
          </p:cNvPr>
          <p:cNvSpPr>
            <a:spLocks noGrp="1"/>
          </p:cNvSpPr>
          <p:nvPr>
            <p:ph type="ftr" sz="quarter" idx="11"/>
          </p:nvPr>
        </p:nvSpPr>
        <p:spPr>
          <a:xfrm>
            <a:off x="299771" y="5995239"/>
            <a:ext cx="5751123" cy="706016"/>
          </a:xfrm>
        </p:spPr>
        <p:txBody>
          <a:bodyPr/>
          <a:lstStyle/>
          <a:p>
            <a:pPr algn="just"/>
            <a:r>
              <a:rPr lang="en-US" dirty="0"/>
              <a:t>1 UNESCO Institute for Statistics (UIS), based on UNESCO-UNICEF-World Bank Survey on National Education Responses to COVID-19 School Closures, 1st Iteration. 2020</a:t>
            </a:r>
            <a:endParaRPr lang="es-PE" dirty="0"/>
          </a:p>
        </p:txBody>
      </p:sp>
    </p:spTree>
    <p:extLst>
      <p:ext uri="{BB962C8B-B14F-4D97-AF65-F5344CB8AC3E}">
        <p14:creationId xmlns:p14="http://schemas.microsoft.com/office/powerpoint/2010/main" val="8870177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Diagonal Corners Rounded 6">
            <a:extLst>
              <a:ext uri="{FF2B5EF4-FFF2-40B4-BE49-F238E27FC236}">
                <a16:creationId xmlns:a16="http://schemas.microsoft.com/office/drawing/2014/main" id="{5DC549E6-0B6C-450B-922D-0F58D2924A72}"/>
              </a:ext>
            </a:extLst>
          </p:cNvPr>
          <p:cNvSpPr/>
          <p:nvPr/>
        </p:nvSpPr>
        <p:spPr>
          <a:xfrm>
            <a:off x="429623" y="2924777"/>
            <a:ext cx="11267440" cy="721517"/>
          </a:xfrm>
          <a:prstGeom prst="round2DiagRect">
            <a:avLst/>
          </a:prstGeom>
          <a:solidFill>
            <a:srgbClr val="C00000"/>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solidFill>
                <a:schemeClr val="bg1"/>
              </a:solidFill>
            </a:endParaRPr>
          </a:p>
        </p:txBody>
      </p:sp>
      <p:sp>
        <p:nvSpPr>
          <p:cNvPr id="6" name="Rectangle: Diagonal Corners Rounded 5">
            <a:extLst>
              <a:ext uri="{FF2B5EF4-FFF2-40B4-BE49-F238E27FC236}">
                <a16:creationId xmlns:a16="http://schemas.microsoft.com/office/drawing/2014/main" id="{4E20E10E-4C87-4242-A0D4-EB119D6387FB}"/>
              </a:ext>
            </a:extLst>
          </p:cNvPr>
          <p:cNvSpPr/>
          <p:nvPr/>
        </p:nvSpPr>
        <p:spPr>
          <a:xfrm>
            <a:off x="429623" y="1595120"/>
            <a:ext cx="11267440" cy="721517"/>
          </a:xfrm>
          <a:prstGeom prst="round2Diag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solidFill>
                <a:schemeClr val="tx2"/>
              </a:solidFill>
            </a:endParaRPr>
          </a:p>
        </p:txBody>
      </p:sp>
      <p:sp>
        <p:nvSpPr>
          <p:cNvPr id="2" name="Title 1">
            <a:extLst>
              <a:ext uri="{FF2B5EF4-FFF2-40B4-BE49-F238E27FC236}">
                <a16:creationId xmlns:a16="http://schemas.microsoft.com/office/drawing/2014/main" id="{16C18CE1-72D9-4719-A2FF-5C93A7E96E39}"/>
              </a:ext>
            </a:extLst>
          </p:cNvPr>
          <p:cNvSpPr>
            <a:spLocks noGrp="1"/>
          </p:cNvSpPr>
          <p:nvPr>
            <p:ph type="title"/>
          </p:nvPr>
        </p:nvSpPr>
        <p:spPr/>
        <p:txBody>
          <a:bodyPr/>
          <a:lstStyle/>
          <a:p>
            <a:r>
              <a:rPr lang="es-PE" sz="4000" dirty="0"/>
              <a:t>AGENDA</a:t>
            </a:r>
            <a:endParaRPr lang="en-CA" sz="4000" dirty="0"/>
          </a:p>
        </p:txBody>
      </p:sp>
      <p:sp>
        <p:nvSpPr>
          <p:cNvPr id="3" name="Slide Number Placeholder 2">
            <a:extLst>
              <a:ext uri="{FF2B5EF4-FFF2-40B4-BE49-F238E27FC236}">
                <a16:creationId xmlns:a16="http://schemas.microsoft.com/office/drawing/2014/main" id="{0DFD7E46-D5CE-48DD-96F3-51002A57C15D}"/>
              </a:ext>
            </a:extLst>
          </p:cNvPr>
          <p:cNvSpPr>
            <a:spLocks noGrp="1"/>
          </p:cNvSpPr>
          <p:nvPr>
            <p:ph type="sldNum" sz="quarter" idx="12"/>
          </p:nvPr>
        </p:nvSpPr>
        <p:spPr/>
        <p:txBody>
          <a:bodyPr/>
          <a:lstStyle/>
          <a:p>
            <a:fld id="{DAF31D20-51B2-49A6-91FA-1FC48A60B42D}" type="slidenum">
              <a:rPr lang="es-PE" smtClean="0"/>
              <a:t>8</a:t>
            </a:fld>
            <a:endParaRPr lang="es-PE"/>
          </a:p>
        </p:txBody>
      </p:sp>
      <p:sp>
        <p:nvSpPr>
          <p:cNvPr id="4" name="TextBox 3">
            <a:extLst>
              <a:ext uri="{FF2B5EF4-FFF2-40B4-BE49-F238E27FC236}">
                <a16:creationId xmlns:a16="http://schemas.microsoft.com/office/drawing/2014/main" id="{708D1216-4945-42E1-8730-051FDE1086A1}"/>
              </a:ext>
            </a:extLst>
          </p:cNvPr>
          <p:cNvSpPr txBox="1"/>
          <p:nvPr/>
        </p:nvSpPr>
        <p:spPr>
          <a:xfrm>
            <a:off x="528320" y="1772921"/>
            <a:ext cx="10972800"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marL="342900" indent="-342900">
              <a:buAutoNum type="arabicPeriod"/>
            </a:pPr>
            <a:r>
              <a:rPr lang="es-PE" b="1" dirty="0">
                <a:solidFill>
                  <a:schemeClr val="tx2"/>
                </a:solidFill>
              </a:rPr>
              <a:t>¿Por qué es importante implementar un plan de Educación Remedial en el 2022?</a:t>
            </a:r>
          </a:p>
        </p:txBody>
      </p:sp>
      <p:sp>
        <p:nvSpPr>
          <p:cNvPr id="5" name="TextBox 4">
            <a:extLst>
              <a:ext uri="{FF2B5EF4-FFF2-40B4-BE49-F238E27FC236}">
                <a16:creationId xmlns:a16="http://schemas.microsoft.com/office/drawing/2014/main" id="{17CB7C5A-6404-4218-A2FD-BE386960A332}"/>
              </a:ext>
            </a:extLst>
          </p:cNvPr>
          <p:cNvSpPr txBox="1"/>
          <p:nvPr/>
        </p:nvSpPr>
        <p:spPr>
          <a:xfrm>
            <a:off x="494937" y="3100869"/>
            <a:ext cx="10739120" cy="369332"/>
          </a:xfrm>
          <a:prstGeom prst="rect">
            <a:avLst/>
          </a:prstGeom>
          <a:noFill/>
        </p:spPr>
        <p:txBody>
          <a:bodyPr wrap="square" rtlCol="0">
            <a:spAutoFit/>
          </a:bodyPr>
          <a:lstStyle/>
          <a:p>
            <a:r>
              <a:rPr lang="es-PE" b="1" dirty="0">
                <a:solidFill>
                  <a:schemeClr val="bg1"/>
                </a:solidFill>
              </a:rPr>
              <a:t>2.  Propuesta de estrategia de Educación Remedial </a:t>
            </a:r>
            <a:endParaRPr lang="en-CA" b="1" dirty="0">
              <a:solidFill>
                <a:schemeClr val="bg1"/>
              </a:solidFill>
            </a:endParaRPr>
          </a:p>
        </p:txBody>
      </p:sp>
      <p:sp>
        <p:nvSpPr>
          <p:cNvPr id="8" name="Rectangle: Diagonal Corners Rounded 7">
            <a:extLst>
              <a:ext uri="{FF2B5EF4-FFF2-40B4-BE49-F238E27FC236}">
                <a16:creationId xmlns:a16="http://schemas.microsoft.com/office/drawing/2014/main" id="{59E6A756-3695-42A0-9AB6-C0C899FB34D5}"/>
              </a:ext>
            </a:extLst>
          </p:cNvPr>
          <p:cNvSpPr/>
          <p:nvPr/>
        </p:nvSpPr>
        <p:spPr>
          <a:xfrm>
            <a:off x="462280" y="4254434"/>
            <a:ext cx="11267440" cy="721517"/>
          </a:xfrm>
          <a:prstGeom prst="round2Diag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solidFill>
                <a:schemeClr val="tx2"/>
              </a:solidFill>
            </a:endParaRPr>
          </a:p>
        </p:txBody>
      </p:sp>
      <p:sp>
        <p:nvSpPr>
          <p:cNvPr id="9" name="TextBox 8">
            <a:extLst>
              <a:ext uri="{FF2B5EF4-FFF2-40B4-BE49-F238E27FC236}">
                <a16:creationId xmlns:a16="http://schemas.microsoft.com/office/drawing/2014/main" id="{6D2632DC-3264-4A47-B18B-30D8EC5F8809}"/>
              </a:ext>
            </a:extLst>
          </p:cNvPr>
          <p:cNvSpPr txBox="1"/>
          <p:nvPr/>
        </p:nvSpPr>
        <p:spPr>
          <a:xfrm>
            <a:off x="528320" y="4430526"/>
            <a:ext cx="10739120" cy="369332"/>
          </a:xfrm>
          <a:prstGeom prst="rect">
            <a:avLst/>
          </a:prstGeom>
          <a:noFill/>
        </p:spPr>
        <p:txBody>
          <a:bodyPr wrap="square" rtlCol="0">
            <a:spAutoFit/>
          </a:bodyPr>
          <a:lstStyle/>
          <a:p>
            <a:r>
              <a:rPr lang="es-PE" b="1" dirty="0">
                <a:solidFill>
                  <a:schemeClr val="tx2"/>
                </a:solidFill>
              </a:rPr>
              <a:t>3.  Recomendaciones </a:t>
            </a:r>
            <a:endParaRPr lang="en-CA" b="1" dirty="0">
              <a:solidFill>
                <a:schemeClr val="tx2"/>
              </a:solidFill>
            </a:endParaRPr>
          </a:p>
        </p:txBody>
      </p:sp>
    </p:spTree>
    <p:extLst>
      <p:ext uri="{BB962C8B-B14F-4D97-AF65-F5344CB8AC3E}">
        <p14:creationId xmlns:p14="http://schemas.microsoft.com/office/powerpoint/2010/main" val="30295960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Diagonal Corners Rounded 6">
            <a:extLst>
              <a:ext uri="{FF2B5EF4-FFF2-40B4-BE49-F238E27FC236}">
                <a16:creationId xmlns:a16="http://schemas.microsoft.com/office/drawing/2014/main" id="{5DC549E6-0B6C-450B-922D-0F58D2924A72}"/>
              </a:ext>
            </a:extLst>
          </p:cNvPr>
          <p:cNvSpPr/>
          <p:nvPr/>
        </p:nvSpPr>
        <p:spPr>
          <a:xfrm>
            <a:off x="429623" y="1048649"/>
            <a:ext cx="11267440" cy="721517"/>
          </a:xfrm>
          <a:prstGeom prst="round2DiagRect">
            <a:avLst/>
          </a:prstGeom>
          <a:solidFill>
            <a:srgbClr val="C00000"/>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solidFill>
                <a:schemeClr val="bg1"/>
              </a:solidFill>
            </a:endParaRPr>
          </a:p>
        </p:txBody>
      </p:sp>
      <p:sp>
        <p:nvSpPr>
          <p:cNvPr id="2" name="Title 1">
            <a:extLst>
              <a:ext uri="{FF2B5EF4-FFF2-40B4-BE49-F238E27FC236}">
                <a16:creationId xmlns:a16="http://schemas.microsoft.com/office/drawing/2014/main" id="{16C18CE1-72D9-4719-A2FF-5C93A7E96E39}"/>
              </a:ext>
            </a:extLst>
          </p:cNvPr>
          <p:cNvSpPr>
            <a:spLocks noGrp="1"/>
          </p:cNvSpPr>
          <p:nvPr>
            <p:ph type="title"/>
          </p:nvPr>
        </p:nvSpPr>
        <p:spPr/>
        <p:txBody>
          <a:bodyPr/>
          <a:lstStyle/>
          <a:p>
            <a:r>
              <a:rPr lang="es-PE" sz="4000" dirty="0"/>
              <a:t>AGENDA</a:t>
            </a:r>
            <a:endParaRPr lang="en-CA" sz="4000" dirty="0"/>
          </a:p>
        </p:txBody>
      </p:sp>
      <p:sp>
        <p:nvSpPr>
          <p:cNvPr id="3" name="Slide Number Placeholder 2">
            <a:extLst>
              <a:ext uri="{FF2B5EF4-FFF2-40B4-BE49-F238E27FC236}">
                <a16:creationId xmlns:a16="http://schemas.microsoft.com/office/drawing/2014/main" id="{0DFD7E46-D5CE-48DD-96F3-51002A57C15D}"/>
              </a:ext>
            </a:extLst>
          </p:cNvPr>
          <p:cNvSpPr>
            <a:spLocks noGrp="1"/>
          </p:cNvSpPr>
          <p:nvPr>
            <p:ph type="sldNum" sz="quarter" idx="12"/>
          </p:nvPr>
        </p:nvSpPr>
        <p:spPr/>
        <p:txBody>
          <a:bodyPr/>
          <a:lstStyle/>
          <a:p>
            <a:fld id="{DAF31D20-51B2-49A6-91FA-1FC48A60B42D}" type="slidenum">
              <a:rPr lang="es-PE" smtClean="0"/>
              <a:t>9</a:t>
            </a:fld>
            <a:endParaRPr lang="es-PE"/>
          </a:p>
        </p:txBody>
      </p:sp>
      <p:sp>
        <p:nvSpPr>
          <p:cNvPr id="5" name="TextBox 4">
            <a:extLst>
              <a:ext uri="{FF2B5EF4-FFF2-40B4-BE49-F238E27FC236}">
                <a16:creationId xmlns:a16="http://schemas.microsoft.com/office/drawing/2014/main" id="{17CB7C5A-6404-4218-A2FD-BE386960A332}"/>
              </a:ext>
            </a:extLst>
          </p:cNvPr>
          <p:cNvSpPr txBox="1"/>
          <p:nvPr/>
        </p:nvSpPr>
        <p:spPr>
          <a:xfrm>
            <a:off x="494937" y="1249444"/>
            <a:ext cx="10739120" cy="369332"/>
          </a:xfrm>
          <a:prstGeom prst="rect">
            <a:avLst/>
          </a:prstGeom>
          <a:noFill/>
        </p:spPr>
        <p:txBody>
          <a:bodyPr wrap="square" rtlCol="0">
            <a:spAutoFit/>
          </a:bodyPr>
          <a:lstStyle/>
          <a:p>
            <a:r>
              <a:rPr lang="es-PE" b="1" dirty="0">
                <a:solidFill>
                  <a:schemeClr val="bg1"/>
                </a:solidFill>
              </a:rPr>
              <a:t>2.  Propuesta de estrategia de Educación Remedial </a:t>
            </a:r>
            <a:endParaRPr lang="en-CA" b="1" dirty="0">
              <a:solidFill>
                <a:schemeClr val="bg1"/>
              </a:solidFill>
            </a:endParaRPr>
          </a:p>
        </p:txBody>
      </p:sp>
      <p:sp>
        <p:nvSpPr>
          <p:cNvPr id="11" name="Rectangle 10">
            <a:extLst>
              <a:ext uri="{FF2B5EF4-FFF2-40B4-BE49-F238E27FC236}">
                <a16:creationId xmlns:a16="http://schemas.microsoft.com/office/drawing/2014/main" id="{73ED18D7-638E-4BF8-8DFC-833E74760777}"/>
              </a:ext>
            </a:extLst>
          </p:cNvPr>
          <p:cNvSpPr/>
          <p:nvPr/>
        </p:nvSpPr>
        <p:spPr>
          <a:xfrm>
            <a:off x="866770" y="1964956"/>
            <a:ext cx="10753725" cy="381602"/>
          </a:xfrm>
          <a:prstGeom prst="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00050" indent="-400050">
              <a:buFont typeface="+mj-lt"/>
              <a:buAutoNum type="romanUcPeriod"/>
            </a:pPr>
            <a:r>
              <a:rPr lang="es-PE" b="1" dirty="0">
                <a:solidFill>
                  <a:schemeClr val="bg1"/>
                </a:solidFill>
              </a:rPr>
              <a:t>Información general de estrategias</a:t>
            </a:r>
            <a:endParaRPr lang="en-CA" b="1" dirty="0">
              <a:solidFill>
                <a:schemeClr val="bg1"/>
              </a:solidFill>
            </a:endParaRPr>
          </a:p>
        </p:txBody>
      </p:sp>
      <p:sp>
        <p:nvSpPr>
          <p:cNvPr id="13" name="Rectangle 12">
            <a:extLst>
              <a:ext uri="{FF2B5EF4-FFF2-40B4-BE49-F238E27FC236}">
                <a16:creationId xmlns:a16="http://schemas.microsoft.com/office/drawing/2014/main" id="{BF24706C-635F-48B8-86E0-9354C25A8312}"/>
              </a:ext>
            </a:extLst>
          </p:cNvPr>
          <p:cNvSpPr/>
          <p:nvPr/>
        </p:nvSpPr>
        <p:spPr>
          <a:xfrm>
            <a:off x="866770" y="2559386"/>
            <a:ext cx="10753725" cy="381602"/>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00050" indent="-400050">
              <a:buFont typeface="+mj-lt"/>
              <a:buAutoNum type="romanUcPeriod" startAt="2"/>
            </a:pPr>
            <a:r>
              <a:rPr lang="es-PE" b="1" dirty="0">
                <a:solidFill>
                  <a:schemeClr val="tx2"/>
                </a:solidFill>
              </a:rPr>
              <a:t>Modelo 1: Enseñanza al nivel adecuado (</a:t>
            </a:r>
            <a:r>
              <a:rPr lang="es-PE" b="1" dirty="0" err="1">
                <a:solidFill>
                  <a:schemeClr val="tx2"/>
                </a:solidFill>
              </a:rPr>
              <a:t>TaRL</a:t>
            </a:r>
            <a:r>
              <a:rPr lang="es-PE" b="1" dirty="0">
                <a:solidFill>
                  <a:schemeClr val="tx2"/>
                </a:solidFill>
              </a:rPr>
              <a:t>)</a:t>
            </a:r>
            <a:endParaRPr lang="en-CA" b="1" dirty="0">
              <a:solidFill>
                <a:schemeClr val="tx2"/>
              </a:solidFill>
            </a:endParaRPr>
          </a:p>
        </p:txBody>
      </p:sp>
      <p:sp>
        <p:nvSpPr>
          <p:cNvPr id="15" name="Rectangle 14">
            <a:extLst>
              <a:ext uri="{FF2B5EF4-FFF2-40B4-BE49-F238E27FC236}">
                <a16:creationId xmlns:a16="http://schemas.microsoft.com/office/drawing/2014/main" id="{6D048FC1-72B2-4921-BF07-AC34182DA451}"/>
              </a:ext>
            </a:extLst>
          </p:cNvPr>
          <p:cNvSpPr/>
          <p:nvPr/>
        </p:nvSpPr>
        <p:spPr>
          <a:xfrm>
            <a:off x="866770" y="4598728"/>
            <a:ext cx="10753725" cy="381602"/>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00050" indent="-400050">
              <a:buFont typeface="+mj-lt"/>
              <a:buAutoNum type="romanUcPeriod" startAt="3"/>
            </a:pPr>
            <a:r>
              <a:rPr lang="es-PE" b="1" dirty="0">
                <a:solidFill>
                  <a:schemeClr val="tx2"/>
                </a:solidFill>
              </a:rPr>
              <a:t>Modelo 2: Tutoría con componente digital</a:t>
            </a:r>
            <a:endParaRPr lang="en-CA" b="1" dirty="0">
              <a:solidFill>
                <a:schemeClr val="tx2"/>
              </a:solidFill>
            </a:endParaRPr>
          </a:p>
        </p:txBody>
      </p:sp>
      <p:sp>
        <p:nvSpPr>
          <p:cNvPr id="18" name="TextBox 17">
            <a:extLst>
              <a:ext uri="{FF2B5EF4-FFF2-40B4-BE49-F238E27FC236}">
                <a16:creationId xmlns:a16="http://schemas.microsoft.com/office/drawing/2014/main" id="{1472411D-B88F-4453-A39D-EDA418DB8DC9}"/>
              </a:ext>
            </a:extLst>
          </p:cNvPr>
          <p:cNvSpPr txBox="1"/>
          <p:nvPr/>
        </p:nvSpPr>
        <p:spPr>
          <a:xfrm>
            <a:off x="1104894" y="2959666"/>
            <a:ext cx="10277475" cy="1754326"/>
          </a:xfrm>
          <a:prstGeom prst="rect">
            <a:avLst/>
          </a:prstGeom>
          <a:noFill/>
        </p:spPr>
        <p:txBody>
          <a:bodyPr wrap="square" rtlCol="0">
            <a:spAutoFit/>
          </a:bodyPr>
          <a:lstStyle/>
          <a:p>
            <a:pPr marL="285750" indent="-285750">
              <a:buFont typeface="Wingdings" panose="05000000000000000000" pitchFamily="2" charset="2"/>
              <a:buChar char="§"/>
            </a:pPr>
            <a:r>
              <a:rPr lang="es-PE" sz="1200" dirty="0">
                <a:solidFill>
                  <a:schemeClr val="bg1">
                    <a:lumMod val="65000"/>
                  </a:schemeClr>
                </a:solidFill>
              </a:rPr>
              <a:t>Antecedentes</a:t>
            </a:r>
          </a:p>
          <a:p>
            <a:pPr marL="285750" indent="-285750">
              <a:buFont typeface="Wingdings" panose="05000000000000000000" pitchFamily="2" charset="2"/>
              <a:buChar char="§"/>
            </a:pPr>
            <a:r>
              <a:rPr lang="es-PE" sz="1200" dirty="0">
                <a:solidFill>
                  <a:schemeClr val="bg1">
                    <a:lumMod val="65000"/>
                  </a:schemeClr>
                </a:solidFill>
              </a:rPr>
              <a:t>El Modelo</a:t>
            </a:r>
          </a:p>
          <a:p>
            <a:pPr marL="285750" indent="-285750">
              <a:buFont typeface="Wingdings" panose="05000000000000000000" pitchFamily="2" charset="2"/>
              <a:buChar char="§"/>
            </a:pPr>
            <a:r>
              <a:rPr lang="es-PE" sz="1200" dirty="0">
                <a:solidFill>
                  <a:schemeClr val="bg1">
                    <a:lumMod val="65000"/>
                  </a:schemeClr>
                </a:solidFill>
              </a:rPr>
              <a:t>Componentes de la estrategia</a:t>
            </a:r>
          </a:p>
          <a:p>
            <a:pPr marL="285750" indent="-285750">
              <a:buFont typeface="Wingdings" panose="05000000000000000000" pitchFamily="2" charset="2"/>
              <a:buChar char="§"/>
            </a:pPr>
            <a:r>
              <a:rPr lang="es-PE" sz="1200" dirty="0">
                <a:solidFill>
                  <a:schemeClr val="bg1">
                    <a:lumMod val="65000"/>
                  </a:schemeClr>
                </a:solidFill>
              </a:rPr>
              <a:t>Focalización</a:t>
            </a:r>
          </a:p>
          <a:p>
            <a:pPr marL="285750" indent="-285750">
              <a:buFont typeface="Wingdings" panose="05000000000000000000" pitchFamily="2" charset="2"/>
              <a:buChar char="§"/>
            </a:pPr>
            <a:r>
              <a:rPr lang="es-PE" sz="1200" dirty="0">
                <a:solidFill>
                  <a:schemeClr val="bg1">
                    <a:lumMod val="65000"/>
                  </a:schemeClr>
                </a:solidFill>
              </a:rPr>
              <a:t>Cobertura</a:t>
            </a:r>
          </a:p>
          <a:p>
            <a:pPr marL="285750" indent="-285750">
              <a:buFont typeface="Wingdings" panose="05000000000000000000" pitchFamily="2" charset="2"/>
              <a:buChar char="§"/>
            </a:pPr>
            <a:r>
              <a:rPr lang="es-PE" sz="1200" dirty="0">
                <a:solidFill>
                  <a:schemeClr val="bg1">
                    <a:lumMod val="65000"/>
                  </a:schemeClr>
                </a:solidFill>
              </a:rPr>
              <a:t>Estimación de Costos</a:t>
            </a:r>
          </a:p>
          <a:p>
            <a:pPr marL="285750" indent="-285750">
              <a:buFont typeface="Wingdings" panose="05000000000000000000" pitchFamily="2" charset="2"/>
              <a:buChar char="§"/>
            </a:pPr>
            <a:r>
              <a:rPr lang="es-PE" sz="1200" dirty="0">
                <a:solidFill>
                  <a:schemeClr val="bg1">
                    <a:lumMod val="65000"/>
                  </a:schemeClr>
                </a:solidFill>
              </a:rPr>
              <a:t>Cronograma</a:t>
            </a:r>
          </a:p>
          <a:p>
            <a:pPr marL="285750" indent="-285750">
              <a:buFont typeface="Wingdings" panose="05000000000000000000" pitchFamily="2" charset="2"/>
              <a:buChar char="§"/>
            </a:pPr>
            <a:r>
              <a:rPr lang="es-PE" sz="1200" dirty="0">
                <a:solidFill>
                  <a:schemeClr val="bg1">
                    <a:lumMod val="65000"/>
                  </a:schemeClr>
                </a:solidFill>
              </a:rPr>
              <a:t>Complementariedad con otras estrategias y recomendaciones</a:t>
            </a:r>
          </a:p>
          <a:p>
            <a:pPr marL="285750" indent="-285750">
              <a:buFont typeface="Wingdings" panose="05000000000000000000" pitchFamily="2" charset="2"/>
              <a:buChar char="§"/>
            </a:pPr>
            <a:endParaRPr lang="es-PE" sz="1200" dirty="0">
              <a:solidFill>
                <a:schemeClr val="tx2"/>
              </a:solidFill>
            </a:endParaRPr>
          </a:p>
        </p:txBody>
      </p:sp>
      <p:sp>
        <p:nvSpPr>
          <p:cNvPr id="19" name="TextBox 18">
            <a:extLst>
              <a:ext uri="{FF2B5EF4-FFF2-40B4-BE49-F238E27FC236}">
                <a16:creationId xmlns:a16="http://schemas.microsoft.com/office/drawing/2014/main" id="{5947BA55-15C3-4040-9B5B-8EAC7B3B3343}"/>
              </a:ext>
            </a:extLst>
          </p:cNvPr>
          <p:cNvSpPr txBox="1"/>
          <p:nvPr/>
        </p:nvSpPr>
        <p:spPr>
          <a:xfrm>
            <a:off x="1104893" y="5024521"/>
            <a:ext cx="10277475" cy="1754326"/>
          </a:xfrm>
          <a:prstGeom prst="rect">
            <a:avLst/>
          </a:prstGeom>
          <a:noFill/>
        </p:spPr>
        <p:txBody>
          <a:bodyPr wrap="square" rtlCol="0">
            <a:spAutoFit/>
          </a:bodyPr>
          <a:lstStyle/>
          <a:p>
            <a:pPr marL="285750" indent="-285750">
              <a:buFont typeface="Wingdings" panose="05000000000000000000" pitchFamily="2" charset="2"/>
              <a:buChar char="§"/>
            </a:pPr>
            <a:r>
              <a:rPr lang="es-PE" sz="1200" dirty="0">
                <a:solidFill>
                  <a:schemeClr val="bg1">
                    <a:lumMod val="65000"/>
                  </a:schemeClr>
                </a:solidFill>
              </a:rPr>
              <a:t>Antecedentes</a:t>
            </a:r>
          </a:p>
          <a:p>
            <a:pPr marL="285750" indent="-285750">
              <a:buFont typeface="Wingdings" panose="05000000000000000000" pitchFamily="2" charset="2"/>
              <a:buChar char="§"/>
            </a:pPr>
            <a:r>
              <a:rPr lang="es-PE" sz="1200" dirty="0">
                <a:solidFill>
                  <a:schemeClr val="bg1">
                    <a:lumMod val="65000"/>
                  </a:schemeClr>
                </a:solidFill>
              </a:rPr>
              <a:t>Oportunidades</a:t>
            </a:r>
          </a:p>
          <a:p>
            <a:pPr marL="285750" indent="-285750">
              <a:buFont typeface="Wingdings" panose="05000000000000000000" pitchFamily="2" charset="2"/>
              <a:buChar char="§"/>
            </a:pPr>
            <a:r>
              <a:rPr lang="es-PE" sz="1200" dirty="0">
                <a:solidFill>
                  <a:schemeClr val="bg1">
                    <a:lumMod val="65000"/>
                  </a:schemeClr>
                </a:solidFill>
              </a:rPr>
              <a:t>El Modelo</a:t>
            </a:r>
          </a:p>
          <a:p>
            <a:pPr marL="285750" indent="-285750">
              <a:buFont typeface="Wingdings" panose="05000000000000000000" pitchFamily="2" charset="2"/>
              <a:buChar char="§"/>
            </a:pPr>
            <a:r>
              <a:rPr lang="es-PE" sz="1200" dirty="0">
                <a:solidFill>
                  <a:schemeClr val="bg1">
                    <a:lumMod val="65000"/>
                  </a:schemeClr>
                </a:solidFill>
              </a:rPr>
              <a:t>Componentes de la estrategia</a:t>
            </a:r>
          </a:p>
          <a:p>
            <a:pPr marL="285750" indent="-285750">
              <a:buFont typeface="Wingdings" panose="05000000000000000000" pitchFamily="2" charset="2"/>
              <a:buChar char="§"/>
            </a:pPr>
            <a:r>
              <a:rPr lang="es-PE" sz="1200" dirty="0">
                <a:solidFill>
                  <a:schemeClr val="bg1">
                    <a:lumMod val="65000"/>
                  </a:schemeClr>
                </a:solidFill>
              </a:rPr>
              <a:t>Focalización</a:t>
            </a:r>
          </a:p>
          <a:p>
            <a:pPr marL="285750" indent="-285750">
              <a:buFont typeface="Wingdings" panose="05000000000000000000" pitchFamily="2" charset="2"/>
              <a:buChar char="§"/>
            </a:pPr>
            <a:r>
              <a:rPr lang="es-PE" sz="1200" dirty="0">
                <a:solidFill>
                  <a:schemeClr val="bg1">
                    <a:lumMod val="65000"/>
                  </a:schemeClr>
                </a:solidFill>
              </a:rPr>
              <a:t>Cobertura</a:t>
            </a:r>
          </a:p>
          <a:p>
            <a:pPr marL="285750" indent="-285750">
              <a:buFont typeface="Wingdings" panose="05000000000000000000" pitchFamily="2" charset="2"/>
              <a:buChar char="§"/>
            </a:pPr>
            <a:r>
              <a:rPr lang="es-PE" sz="1200" dirty="0">
                <a:solidFill>
                  <a:schemeClr val="bg1">
                    <a:lumMod val="65000"/>
                  </a:schemeClr>
                </a:solidFill>
              </a:rPr>
              <a:t>Estimación de Costos</a:t>
            </a:r>
          </a:p>
          <a:p>
            <a:pPr marL="285750" indent="-285750">
              <a:buFont typeface="Wingdings" panose="05000000000000000000" pitchFamily="2" charset="2"/>
              <a:buChar char="§"/>
            </a:pPr>
            <a:r>
              <a:rPr lang="es-PE" sz="1200" dirty="0">
                <a:solidFill>
                  <a:schemeClr val="bg1">
                    <a:lumMod val="65000"/>
                  </a:schemeClr>
                </a:solidFill>
              </a:rPr>
              <a:t>Cronograma</a:t>
            </a:r>
          </a:p>
          <a:p>
            <a:pPr marL="285750" indent="-285750">
              <a:buFont typeface="Wingdings" panose="05000000000000000000" pitchFamily="2" charset="2"/>
              <a:buChar char="§"/>
            </a:pPr>
            <a:r>
              <a:rPr lang="es-PE" sz="1200" dirty="0">
                <a:solidFill>
                  <a:schemeClr val="bg1">
                    <a:lumMod val="65000"/>
                  </a:schemeClr>
                </a:solidFill>
              </a:rPr>
              <a:t>Complementariedad con otras estrategias y recomendaciones</a:t>
            </a:r>
          </a:p>
        </p:txBody>
      </p:sp>
    </p:spTree>
    <p:extLst>
      <p:ext uri="{BB962C8B-B14F-4D97-AF65-F5344CB8AC3E}">
        <p14:creationId xmlns:p14="http://schemas.microsoft.com/office/powerpoint/2010/main" val="29447356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81AE746-9564-4052-976B-7771C7155E94}"/>
              </a:ext>
            </a:extLst>
          </p:cNvPr>
          <p:cNvSpPr>
            <a:spLocks noGrp="1"/>
          </p:cNvSpPr>
          <p:nvPr>
            <p:ph type="sldNum" sz="quarter" idx="12"/>
          </p:nvPr>
        </p:nvSpPr>
        <p:spPr/>
        <p:txBody>
          <a:bodyPr/>
          <a:lstStyle/>
          <a:p>
            <a:fld id="{DAF31D20-51B2-49A6-91FA-1FC48A60B42D}" type="slidenum">
              <a:rPr lang="es-PE" smtClean="0"/>
              <a:t>10</a:t>
            </a:fld>
            <a:endParaRPr lang="es-PE"/>
          </a:p>
        </p:txBody>
      </p:sp>
      <p:sp>
        <p:nvSpPr>
          <p:cNvPr id="5" name="Arrow: Right 4">
            <a:extLst>
              <a:ext uri="{FF2B5EF4-FFF2-40B4-BE49-F238E27FC236}">
                <a16:creationId xmlns:a16="http://schemas.microsoft.com/office/drawing/2014/main" id="{E3F1CC57-FB33-4329-A953-CAF3191407B4}"/>
              </a:ext>
            </a:extLst>
          </p:cNvPr>
          <p:cNvSpPr/>
          <p:nvPr/>
        </p:nvSpPr>
        <p:spPr>
          <a:xfrm>
            <a:off x="5308314" y="2063586"/>
            <a:ext cx="6335045" cy="1225899"/>
          </a:xfrm>
          <a:prstGeom prst="rightArrow">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PE" sz="1800" b="1" i="0" u="none" strike="noStrike" kern="1200" cap="none" spc="0" normalizeH="0" baseline="0" noProof="0" dirty="0">
                <a:ln>
                  <a:noFill/>
                </a:ln>
                <a:solidFill>
                  <a:prstClr val="white"/>
                </a:solidFill>
                <a:effectLst/>
                <a:uLnTx/>
                <a:uFillTx/>
                <a:latin typeface="Calibri" panose="020F0502020204030204"/>
                <a:ea typeface="+mn-ea"/>
                <a:cs typeface="+mn-cs"/>
              </a:rPr>
              <a:t>Educación Remedial 2022-2024</a:t>
            </a:r>
            <a:endParaRPr kumimoji="0" lang="en-CA" sz="18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 name="Rectangle 5">
            <a:extLst>
              <a:ext uri="{FF2B5EF4-FFF2-40B4-BE49-F238E27FC236}">
                <a16:creationId xmlns:a16="http://schemas.microsoft.com/office/drawing/2014/main" id="{0FE8623F-FE7B-4907-B9CE-3F8E3375A8E1}"/>
              </a:ext>
            </a:extLst>
          </p:cNvPr>
          <p:cNvSpPr/>
          <p:nvPr/>
        </p:nvSpPr>
        <p:spPr>
          <a:xfrm>
            <a:off x="5318474" y="3273644"/>
            <a:ext cx="3270620" cy="572753"/>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PE" sz="1800" b="1" i="0" u="none" strike="noStrike" kern="1200" cap="none" spc="0" normalizeH="0" baseline="0" noProof="0" dirty="0">
                <a:ln>
                  <a:noFill/>
                </a:ln>
                <a:solidFill>
                  <a:prstClr val="white"/>
                </a:solidFill>
                <a:effectLst/>
                <a:uLnTx/>
                <a:uFillTx/>
                <a:latin typeface="Calibri" panose="020F0502020204030204"/>
                <a:ea typeface="+mn-ea"/>
                <a:cs typeface="+mn-cs"/>
              </a:rPr>
              <a:t>Primaria</a:t>
            </a:r>
            <a:endParaRPr kumimoji="0" lang="en-CA" sz="18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 name="Rectangle 6">
            <a:extLst>
              <a:ext uri="{FF2B5EF4-FFF2-40B4-BE49-F238E27FC236}">
                <a16:creationId xmlns:a16="http://schemas.microsoft.com/office/drawing/2014/main" id="{D01CC6D3-F26B-4085-AB38-3F5B8280B571}"/>
              </a:ext>
            </a:extLst>
          </p:cNvPr>
          <p:cNvSpPr/>
          <p:nvPr/>
        </p:nvSpPr>
        <p:spPr>
          <a:xfrm>
            <a:off x="8768080" y="3273644"/>
            <a:ext cx="2133600" cy="572753"/>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PE" sz="1800" b="1" i="0" u="none" strike="noStrike" kern="1200" cap="none" spc="0" normalizeH="0" baseline="0" noProof="0" dirty="0">
                <a:ln>
                  <a:noFill/>
                </a:ln>
                <a:solidFill>
                  <a:prstClr val="white"/>
                </a:solidFill>
                <a:effectLst/>
                <a:uLnTx/>
                <a:uFillTx/>
                <a:latin typeface="Calibri" panose="020F0502020204030204"/>
                <a:ea typeface="+mn-ea"/>
                <a:cs typeface="+mn-cs"/>
              </a:rPr>
              <a:t>Secundaria</a:t>
            </a:r>
            <a:endParaRPr kumimoji="0" lang="en-CA" sz="18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 name="Rectangle: Rounded Corners 7">
            <a:extLst>
              <a:ext uri="{FF2B5EF4-FFF2-40B4-BE49-F238E27FC236}">
                <a16:creationId xmlns:a16="http://schemas.microsoft.com/office/drawing/2014/main" id="{3549AA2C-DEA1-456B-BD92-140BD6B427BA}"/>
              </a:ext>
            </a:extLst>
          </p:cNvPr>
          <p:cNvSpPr/>
          <p:nvPr/>
        </p:nvSpPr>
        <p:spPr>
          <a:xfrm>
            <a:off x="5323840" y="4058554"/>
            <a:ext cx="1849120" cy="767446"/>
          </a:xfrm>
          <a:prstGeom prst="roundRect">
            <a:avLst/>
          </a:prstGeom>
          <a:no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PE" sz="1600" b="1" i="0" u="none" strike="noStrike" kern="1200" cap="none" spc="0" normalizeH="0" baseline="0" noProof="0" dirty="0">
                <a:ln>
                  <a:noFill/>
                </a:ln>
                <a:solidFill>
                  <a:schemeClr val="accent6">
                    <a:lumMod val="50000"/>
                  </a:schemeClr>
                </a:solidFill>
                <a:effectLst/>
                <a:uLnTx/>
                <a:uFillTx/>
                <a:latin typeface="Calibri" panose="020F0502020204030204"/>
                <a:ea typeface="+mn-ea"/>
                <a:cs typeface="+mn-cs"/>
              </a:rPr>
              <a:t>Monitoreo del Progreso – “</a:t>
            </a:r>
            <a:r>
              <a:rPr kumimoji="0" lang="es-PE" sz="1600" b="1" i="0" u="none" strike="noStrike" kern="1200" cap="none" spc="0" normalizeH="0" baseline="0" noProof="0" dirty="0" err="1">
                <a:ln>
                  <a:noFill/>
                </a:ln>
                <a:solidFill>
                  <a:schemeClr val="accent6">
                    <a:lumMod val="50000"/>
                  </a:schemeClr>
                </a:solidFill>
                <a:effectLst/>
                <a:uLnTx/>
                <a:uFillTx/>
                <a:latin typeface="Calibri" panose="020F0502020204030204"/>
                <a:ea typeface="+mn-ea"/>
                <a:cs typeface="+mn-cs"/>
              </a:rPr>
              <a:t>TaRL</a:t>
            </a:r>
            <a:r>
              <a:rPr kumimoji="0" lang="es-PE" sz="1600" b="1" i="0" u="none" strike="noStrike" kern="1200" cap="none" spc="0" normalizeH="0" baseline="0" noProof="0" dirty="0">
                <a:ln>
                  <a:noFill/>
                </a:ln>
                <a:solidFill>
                  <a:schemeClr val="accent6">
                    <a:lumMod val="50000"/>
                  </a:schemeClr>
                </a:solidFill>
                <a:effectLst/>
                <a:uLnTx/>
                <a:uFillTx/>
                <a:latin typeface="Calibri" panose="020F0502020204030204"/>
                <a:ea typeface="+mn-ea"/>
                <a:cs typeface="+mn-cs"/>
              </a:rPr>
              <a:t>”</a:t>
            </a:r>
            <a:endParaRPr kumimoji="0" lang="en-CA" sz="1600" b="1" i="0" u="none" strike="noStrike" kern="1200" cap="none" spc="0" normalizeH="0" baseline="0" noProof="0" dirty="0">
              <a:ln>
                <a:noFill/>
              </a:ln>
              <a:solidFill>
                <a:schemeClr val="accent6">
                  <a:lumMod val="50000"/>
                </a:schemeClr>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CDBAC063-12AF-48D3-82D5-15B8CA99AA9C}"/>
              </a:ext>
            </a:extLst>
          </p:cNvPr>
          <p:cNvSpPr/>
          <p:nvPr/>
        </p:nvSpPr>
        <p:spPr>
          <a:xfrm>
            <a:off x="383386" y="2361307"/>
            <a:ext cx="4341014" cy="610136"/>
          </a:xfrm>
          <a:prstGeom prst="rect">
            <a:avLst/>
          </a:prstGeom>
          <a:solidFill>
            <a:schemeClr val="bg1">
              <a:lumMod val="65000"/>
            </a:schemeClr>
          </a:solidFill>
          <a:ln>
            <a:solidFill>
              <a:schemeClr val="bg1">
                <a:lumMod val="6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b="1" dirty="0">
                <a:latin typeface="Calibri" panose="020F0502020204030204" pitchFamily="34" charset="0"/>
                <a:cs typeface="Calibri" panose="020F0502020204030204" pitchFamily="34" charset="0"/>
              </a:rPr>
              <a:t>Estrategias de refuerzo en curso</a:t>
            </a:r>
            <a:endParaRPr lang="en-CA" b="1" dirty="0">
              <a:latin typeface="Calibri" panose="020F0502020204030204" pitchFamily="34" charset="0"/>
              <a:cs typeface="Calibri" panose="020F0502020204030204" pitchFamily="34" charset="0"/>
            </a:endParaRPr>
          </a:p>
        </p:txBody>
      </p:sp>
      <p:sp>
        <p:nvSpPr>
          <p:cNvPr id="12" name="Rectangle 11">
            <a:extLst>
              <a:ext uri="{FF2B5EF4-FFF2-40B4-BE49-F238E27FC236}">
                <a16:creationId xmlns:a16="http://schemas.microsoft.com/office/drawing/2014/main" id="{D3D53AF4-AE0D-46E9-BBD5-92F6348CC841}"/>
              </a:ext>
            </a:extLst>
          </p:cNvPr>
          <p:cNvSpPr/>
          <p:nvPr/>
        </p:nvSpPr>
        <p:spPr>
          <a:xfrm>
            <a:off x="393546" y="3253322"/>
            <a:ext cx="4341014" cy="572753"/>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PE" sz="1800" b="1" i="0" u="none" strike="noStrike" kern="1200" cap="none" spc="0" normalizeH="0" baseline="0" noProof="0" dirty="0">
                <a:ln>
                  <a:noFill/>
                </a:ln>
                <a:solidFill>
                  <a:prstClr val="white"/>
                </a:solidFill>
                <a:effectLst/>
                <a:uLnTx/>
                <a:uFillTx/>
                <a:latin typeface="Calibri" panose="020F0502020204030204"/>
                <a:ea typeface="+mn-ea"/>
                <a:cs typeface="+mn-cs"/>
              </a:rPr>
              <a:t>Primaria</a:t>
            </a:r>
            <a:endParaRPr kumimoji="0" lang="en-CA" sz="18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3" name="Rectangle: Rounded Corners 12">
            <a:extLst>
              <a:ext uri="{FF2B5EF4-FFF2-40B4-BE49-F238E27FC236}">
                <a16:creationId xmlns:a16="http://schemas.microsoft.com/office/drawing/2014/main" id="{E58B7A0B-A77F-4AB3-96CF-52D0A7FFD18A}"/>
              </a:ext>
            </a:extLst>
          </p:cNvPr>
          <p:cNvSpPr/>
          <p:nvPr/>
        </p:nvSpPr>
        <p:spPr>
          <a:xfrm>
            <a:off x="393546" y="4058554"/>
            <a:ext cx="2001883" cy="767446"/>
          </a:xfrm>
          <a:prstGeom prst="roundRect">
            <a:avLst/>
          </a:prstGeom>
          <a:noFill/>
          <a:ln w="190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PE" sz="1600" b="1" i="0" u="none" strike="noStrike" kern="1200" cap="none" spc="0" normalizeH="0" baseline="0" noProof="0" dirty="0" err="1">
                <a:ln>
                  <a:noFill/>
                </a:ln>
                <a:solidFill>
                  <a:schemeClr val="accent6">
                    <a:lumMod val="50000"/>
                  </a:schemeClr>
                </a:solidFill>
                <a:effectLst/>
                <a:uLnTx/>
                <a:uFillTx/>
                <a:latin typeface="Calibri" panose="020F0502020204030204"/>
                <a:ea typeface="+mn-ea"/>
                <a:cs typeface="+mn-cs"/>
              </a:rPr>
              <a:t>AcompañaTIC</a:t>
            </a:r>
            <a:endParaRPr kumimoji="0" lang="en-CA" sz="1600" b="1" i="0" u="none" strike="noStrike" kern="1200" cap="none" spc="0" normalizeH="0" baseline="0" noProof="0" dirty="0">
              <a:ln>
                <a:noFill/>
              </a:ln>
              <a:solidFill>
                <a:schemeClr val="accent6">
                  <a:lumMod val="50000"/>
                </a:schemeClr>
              </a:solidFill>
              <a:effectLst/>
              <a:uLnTx/>
              <a:uFillTx/>
              <a:latin typeface="Calibri" panose="020F0502020204030204"/>
              <a:ea typeface="+mn-ea"/>
              <a:cs typeface="+mn-cs"/>
            </a:endParaRPr>
          </a:p>
        </p:txBody>
      </p:sp>
      <p:sp>
        <p:nvSpPr>
          <p:cNvPr id="14" name="Rectangle: Rounded Corners 13">
            <a:extLst>
              <a:ext uri="{FF2B5EF4-FFF2-40B4-BE49-F238E27FC236}">
                <a16:creationId xmlns:a16="http://schemas.microsoft.com/office/drawing/2014/main" id="{3FAA917C-0BDA-4D0B-A0A2-C95269870372}"/>
              </a:ext>
            </a:extLst>
          </p:cNvPr>
          <p:cNvSpPr/>
          <p:nvPr/>
        </p:nvSpPr>
        <p:spPr>
          <a:xfrm>
            <a:off x="2732677" y="4058554"/>
            <a:ext cx="2001883" cy="764505"/>
          </a:xfrm>
          <a:prstGeom prst="roundRect">
            <a:avLst/>
          </a:prstGeom>
          <a:noFill/>
          <a:ln w="190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PE" sz="1600" b="1" i="0" u="none" strike="noStrike" kern="1200" cap="none" spc="0" normalizeH="0" baseline="0" noProof="0" dirty="0">
                <a:ln>
                  <a:noFill/>
                </a:ln>
                <a:solidFill>
                  <a:schemeClr val="accent6">
                    <a:lumMod val="50000"/>
                  </a:schemeClr>
                </a:solidFill>
                <a:effectLst/>
                <a:uLnTx/>
                <a:uFillTx/>
                <a:latin typeface="Calibri" panose="020F0502020204030204"/>
                <a:ea typeface="+mn-ea"/>
                <a:cs typeface="+mn-cs"/>
              </a:rPr>
              <a:t>Acompañamiento pedagógico</a:t>
            </a:r>
            <a:endParaRPr kumimoji="0" lang="en-CA" sz="1600" b="1" i="0" u="none" strike="noStrike" kern="1200" cap="none" spc="0" normalizeH="0" baseline="0" noProof="0" dirty="0">
              <a:ln>
                <a:noFill/>
              </a:ln>
              <a:solidFill>
                <a:schemeClr val="accent6">
                  <a:lumMod val="50000"/>
                </a:schemeClr>
              </a:solidFill>
              <a:effectLst/>
              <a:uLnTx/>
              <a:uFillTx/>
              <a:latin typeface="Calibri" panose="020F0502020204030204"/>
              <a:ea typeface="+mn-ea"/>
              <a:cs typeface="+mn-cs"/>
            </a:endParaRPr>
          </a:p>
        </p:txBody>
      </p:sp>
      <p:sp>
        <p:nvSpPr>
          <p:cNvPr id="15" name="TextBox 14">
            <a:extLst>
              <a:ext uri="{FF2B5EF4-FFF2-40B4-BE49-F238E27FC236}">
                <a16:creationId xmlns:a16="http://schemas.microsoft.com/office/drawing/2014/main" id="{E399B6A3-2078-4FD3-9A9E-2B421A13543E}"/>
              </a:ext>
            </a:extLst>
          </p:cNvPr>
          <p:cNvSpPr txBox="1"/>
          <p:nvPr/>
        </p:nvSpPr>
        <p:spPr>
          <a:xfrm>
            <a:off x="285980" y="236180"/>
            <a:ext cx="8303114" cy="954107"/>
          </a:xfrm>
          <a:prstGeom prst="rect">
            <a:avLst/>
          </a:prstGeom>
          <a:noFill/>
        </p:spPr>
        <p:txBody>
          <a:bodyPr wrap="square" rtlCol="0">
            <a:spAutoFit/>
          </a:bodyPr>
          <a:lstStyle/>
          <a:p>
            <a:pPr algn="just"/>
            <a:r>
              <a:rPr lang="es-PE" sz="1400" b="1" dirty="0">
                <a:solidFill>
                  <a:schemeClr val="tx2"/>
                </a:solidFill>
              </a:rPr>
              <a:t>La pandemia ha traído severos rezagos en logros de aprendizajes, especialmente en aquellos estudiantes que ya se encontraban en niveles bajos de aprendizaje. Para ello, se requieren estrategias fortalecidas y diseñadas para desarrollar competencias habilitadoras en estudiantes rezagados afectados por las consecuencias de la crisis sanitaria.</a:t>
            </a:r>
            <a:endParaRPr lang="en-CA" sz="1400" b="1" dirty="0">
              <a:solidFill>
                <a:schemeClr val="tx2"/>
              </a:solidFill>
            </a:endParaRPr>
          </a:p>
        </p:txBody>
      </p:sp>
      <p:sp>
        <p:nvSpPr>
          <p:cNvPr id="17" name="TextBox 16">
            <a:extLst>
              <a:ext uri="{FF2B5EF4-FFF2-40B4-BE49-F238E27FC236}">
                <a16:creationId xmlns:a16="http://schemas.microsoft.com/office/drawing/2014/main" id="{CECD5DF8-4233-4E89-9E4F-C0BA5122C423}"/>
              </a:ext>
            </a:extLst>
          </p:cNvPr>
          <p:cNvSpPr txBox="1"/>
          <p:nvPr/>
        </p:nvSpPr>
        <p:spPr>
          <a:xfrm>
            <a:off x="5318474" y="5375697"/>
            <a:ext cx="4882166" cy="1077218"/>
          </a:xfrm>
          <a:prstGeom prst="rect">
            <a:avLst/>
          </a:prstGeom>
          <a:noFill/>
        </p:spPr>
        <p:txBody>
          <a:bodyPr wrap="square" rtlCol="0">
            <a:spAutoFit/>
          </a:bodyPr>
          <a:lstStyle/>
          <a:p>
            <a:r>
              <a:rPr lang="es-PE" sz="1600" b="1" dirty="0">
                <a:solidFill>
                  <a:schemeClr val="tx2"/>
                </a:solidFill>
              </a:rPr>
              <a:t>Inicialmente:</a:t>
            </a:r>
          </a:p>
          <a:p>
            <a:pPr marL="171450" indent="-171450" algn="just">
              <a:buFont typeface="Arial" panose="020B0604020202020204" pitchFamily="34" charset="0"/>
              <a:buChar char="•"/>
            </a:pPr>
            <a:r>
              <a:rPr lang="es-PE" sz="1200" dirty="0">
                <a:solidFill>
                  <a:schemeClr val="tx2"/>
                </a:solidFill>
              </a:rPr>
              <a:t>Se priorizan las IIEE con mayor necesidad de atención → IIEE históricamente con bajo desempeño en la ECE y alto porcentaje de promoción guiada.</a:t>
            </a:r>
          </a:p>
          <a:p>
            <a:pPr marL="171450" indent="-171450" algn="just">
              <a:buFont typeface="Arial" panose="020B0604020202020204" pitchFamily="34" charset="0"/>
              <a:buChar char="•"/>
            </a:pPr>
            <a:r>
              <a:rPr lang="es-PE" sz="1200" b="1" dirty="0">
                <a:solidFill>
                  <a:schemeClr val="tx2"/>
                </a:solidFill>
              </a:rPr>
              <a:t>No se consideran IIEE EIB.</a:t>
            </a:r>
          </a:p>
        </p:txBody>
      </p:sp>
      <p:sp>
        <p:nvSpPr>
          <p:cNvPr id="18" name="Rectangle 17">
            <a:extLst>
              <a:ext uri="{FF2B5EF4-FFF2-40B4-BE49-F238E27FC236}">
                <a16:creationId xmlns:a16="http://schemas.microsoft.com/office/drawing/2014/main" id="{E11911AE-8793-436F-91EF-6211038E4615}"/>
              </a:ext>
            </a:extLst>
          </p:cNvPr>
          <p:cNvSpPr/>
          <p:nvPr/>
        </p:nvSpPr>
        <p:spPr>
          <a:xfrm>
            <a:off x="383386" y="1482303"/>
            <a:ext cx="10518294" cy="465044"/>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b="1" dirty="0">
                <a:solidFill>
                  <a:schemeClr val="tx2"/>
                </a:solidFill>
              </a:rPr>
              <a:t>Estrategias de refuerzo 2022 </a:t>
            </a:r>
            <a:endParaRPr lang="en-CA" b="1" dirty="0">
              <a:solidFill>
                <a:schemeClr val="tx2"/>
              </a:solidFill>
            </a:endParaRPr>
          </a:p>
        </p:txBody>
      </p:sp>
      <p:sp>
        <p:nvSpPr>
          <p:cNvPr id="16" name="Rectangle: Rounded Corners 15">
            <a:extLst>
              <a:ext uri="{FF2B5EF4-FFF2-40B4-BE49-F238E27FC236}">
                <a16:creationId xmlns:a16="http://schemas.microsoft.com/office/drawing/2014/main" id="{E5B60B68-B0C7-45EB-9C61-AAE299C80FB4}"/>
              </a:ext>
            </a:extLst>
          </p:cNvPr>
          <p:cNvSpPr/>
          <p:nvPr/>
        </p:nvSpPr>
        <p:spPr>
          <a:xfrm>
            <a:off x="7335520" y="4055613"/>
            <a:ext cx="2313305" cy="764505"/>
          </a:xfrm>
          <a:prstGeom prst="roundRect">
            <a:avLst/>
          </a:prstGeom>
          <a:no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PE" sz="1600" b="1" i="0" u="none" strike="noStrike" kern="1200" cap="none" spc="0" normalizeH="0" baseline="0" noProof="0" dirty="0">
                <a:ln>
                  <a:noFill/>
                </a:ln>
                <a:solidFill>
                  <a:schemeClr val="accent6">
                    <a:lumMod val="50000"/>
                  </a:schemeClr>
                </a:solidFill>
                <a:effectLst/>
                <a:uLnTx/>
                <a:uFillTx/>
                <a:latin typeface="Calibri" panose="020F0502020204030204"/>
                <a:ea typeface="+mn-ea"/>
                <a:cs typeface="+mn-cs"/>
              </a:rPr>
              <a:t>Modelo de Tutoría con componente digital – </a:t>
            </a:r>
            <a:r>
              <a:rPr kumimoji="0" lang="es-PE" sz="1600" b="1" i="0" u="none" strike="noStrike" kern="1200" cap="none" spc="0" normalizeH="0" baseline="0" noProof="0" dirty="0" err="1">
                <a:ln>
                  <a:noFill/>
                </a:ln>
                <a:solidFill>
                  <a:schemeClr val="accent6">
                    <a:lumMod val="50000"/>
                  </a:schemeClr>
                </a:solidFill>
                <a:effectLst/>
                <a:uLnTx/>
                <a:uFillTx/>
                <a:latin typeface="Calibri" panose="020F0502020204030204"/>
                <a:ea typeface="+mn-ea"/>
                <a:cs typeface="+mn-cs"/>
              </a:rPr>
              <a:t>ConectaIdeas</a:t>
            </a:r>
            <a:endParaRPr kumimoji="0" lang="en-CA" sz="1600" b="1" i="0" u="none" strike="noStrike" kern="1200" cap="none" spc="0" normalizeH="0" baseline="0" noProof="0" dirty="0">
              <a:ln>
                <a:noFill/>
              </a:ln>
              <a:solidFill>
                <a:schemeClr val="accent6">
                  <a:lumMod val="50000"/>
                </a:scheme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247567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BC8C37A-A153-45E0-A458-5703738D092E}"/>
              </a:ext>
            </a:extLst>
          </p:cNvPr>
          <p:cNvSpPr txBox="1"/>
          <p:nvPr/>
        </p:nvSpPr>
        <p:spPr>
          <a:xfrm flipH="1">
            <a:off x="174571" y="304800"/>
            <a:ext cx="7699429" cy="584775"/>
          </a:xfrm>
          <a:prstGeom prst="rect">
            <a:avLst/>
          </a:prstGeom>
          <a:noFill/>
        </p:spPr>
        <p:txBody>
          <a:bodyPr wrap="square" rtlCol="0">
            <a:spAutoFit/>
          </a:bodyPr>
          <a:lstStyle/>
          <a:p>
            <a:r>
              <a:rPr lang="es-PE" sz="3200" b="1" dirty="0">
                <a:solidFill>
                  <a:schemeClr val="tx2"/>
                </a:solidFill>
              </a:rPr>
              <a:t>Educación remedial para EBR</a:t>
            </a:r>
            <a:endParaRPr lang="en-CA" sz="3200" b="1" dirty="0">
              <a:solidFill>
                <a:schemeClr val="tx2"/>
              </a:solidFill>
            </a:endParaRPr>
          </a:p>
        </p:txBody>
      </p:sp>
      <p:sp>
        <p:nvSpPr>
          <p:cNvPr id="5" name="Arrow: Right 4">
            <a:extLst>
              <a:ext uri="{FF2B5EF4-FFF2-40B4-BE49-F238E27FC236}">
                <a16:creationId xmlns:a16="http://schemas.microsoft.com/office/drawing/2014/main" id="{E3F1CC57-FB33-4329-A953-CAF3191407B4}"/>
              </a:ext>
            </a:extLst>
          </p:cNvPr>
          <p:cNvSpPr/>
          <p:nvPr/>
        </p:nvSpPr>
        <p:spPr>
          <a:xfrm>
            <a:off x="367862" y="797967"/>
            <a:ext cx="10983309" cy="1225899"/>
          </a:xfrm>
          <a:prstGeom prst="rightArrow">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PE" sz="1800" b="1" i="0" u="none" strike="noStrike" kern="1200" cap="none" spc="0" normalizeH="0" baseline="0" noProof="0" dirty="0">
                <a:ln>
                  <a:noFill/>
                </a:ln>
                <a:solidFill>
                  <a:prstClr val="white"/>
                </a:solidFill>
                <a:effectLst/>
                <a:uLnTx/>
                <a:uFillTx/>
                <a:ea typeface="+mn-ea"/>
                <a:cs typeface="+mn-cs"/>
              </a:rPr>
              <a:t>Educación Remedial 2022:  </a:t>
            </a:r>
            <a:r>
              <a:rPr lang="en-US" sz="1800" b="1" dirty="0">
                <a:solidFill>
                  <a:schemeClr val="bg1"/>
                </a:solidFill>
              </a:rPr>
              <a:t>S/ </a:t>
            </a:r>
            <a:r>
              <a:rPr lang="en-US" b="1" dirty="0">
                <a:solidFill>
                  <a:schemeClr val="bg1"/>
                </a:solidFill>
              </a:rPr>
              <a:t>16</a:t>
            </a:r>
            <a:r>
              <a:rPr lang="en-US" sz="1800" b="1" dirty="0">
                <a:solidFill>
                  <a:schemeClr val="bg1"/>
                </a:solidFill>
              </a:rPr>
              <a:t>7 MM</a:t>
            </a:r>
            <a:endParaRPr kumimoji="0" lang="en-CA" sz="1800" b="1" i="0" u="none" strike="noStrike" kern="1200" cap="none" spc="0" normalizeH="0" baseline="0" noProof="0" dirty="0">
              <a:ln>
                <a:noFill/>
              </a:ln>
              <a:solidFill>
                <a:schemeClr val="bg1"/>
              </a:solidFill>
              <a:effectLst/>
              <a:uLnTx/>
              <a:uFillTx/>
              <a:ea typeface="+mn-ea"/>
              <a:cs typeface="+mn-cs"/>
            </a:endParaRPr>
          </a:p>
        </p:txBody>
      </p:sp>
      <p:sp>
        <p:nvSpPr>
          <p:cNvPr id="6" name="Rectangle 5">
            <a:extLst>
              <a:ext uri="{FF2B5EF4-FFF2-40B4-BE49-F238E27FC236}">
                <a16:creationId xmlns:a16="http://schemas.microsoft.com/office/drawing/2014/main" id="{0FE8623F-FE7B-4907-B9CE-3F8E3375A8E1}"/>
              </a:ext>
            </a:extLst>
          </p:cNvPr>
          <p:cNvSpPr/>
          <p:nvPr/>
        </p:nvSpPr>
        <p:spPr>
          <a:xfrm>
            <a:off x="367863" y="1983324"/>
            <a:ext cx="5311577" cy="572753"/>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PE" sz="1800" b="0" i="0" u="none" strike="noStrike" kern="1200" cap="none" spc="0" normalizeH="0" baseline="0" noProof="0" dirty="0">
                <a:ln>
                  <a:noFill/>
                </a:ln>
                <a:solidFill>
                  <a:prstClr val="white"/>
                </a:solidFill>
                <a:effectLst/>
                <a:uLnTx/>
                <a:uFillTx/>
                <a:latin typeface="Calibri" panose="020F0502020204030204"/>
                <a:ea typeface="+mn-ea"/>
                <a:cs typeface="+mn-cs"/>
              </a:rPr>
              <a:t>Primaria</a:t>
            </a:r>
            <a:endParaRPr kumimoji="0" lang="en-CA"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 name="Rectangle 6">
            <a:extLst>
              <a:ext uri="{FF2B5EF4-FFF2-40B4-BE49-F238E27FC236}">
                <a16:creationId xmlns:a16="http://schemas.microsoft.com/office/drawing/2014/main" id="{D01CC6D3-F26B-4085-AB38-3F5B8280B571}"/>
              </a:ext>
            </a:extLst>
          </p:cNvPr>
          <p:cNvSpPr/>
          <p:nvPr/>
        </p:nvSpPr>
        <p:spPr>
          <a:xfrm>
            <a:off x="5942923" y="1983324"/>
            <a:ext cx="4567422" cy="572753"/>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PE" sz="1800" b="0" i="0" u="none" strike="noStrike" kern="1200" cap="none" spc="0" normalizeH="0" baseline="0" noProof="0" dirty="0">
                <a:ln>
                  <a:noFill/>
                </a:ln>
                <a:solidFill>
                  <a:prstClr val="white"/>
                </a:solidFill>
                <a:effectLst/>
                <a:uLnTx/>
                <a:uFillTx/>
                <a:latin typeface="Calibri" panose="020F0502020204030204"/>
                <a:ea typeface="+mn-ea"/>
                <a:cs typeface="+mn-cs"/>
              </a:rPr>
              <a:t>Secundaria</a:t>
            </a:r>
            <a:endParaRPr kumimoji="0" lang="en-CA"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Rectangle 1">
            <a:extLst>
              <a:ext uri="{FF2B5EF4-FFF2-40B4-BE49-F238E27FC236}">
                <a16:creationId xmlns:a16="http://schemas.microsoft.com/office/drawing/2014/main" id="{9399D3FB-834A-43BF-BB88-684A9559C9B7}"/>
              </a:ext>
            </a:extLst>
          </p:cNvPr>
          <p:cNvSpPr/>
          <p:nvPr/>
        </p:nvSpPr>
        <p:spPr>
          <a:xfrm>
            <a:off x="399393" y="2808551"/>
            <a:ext cx="666346" cy="572753"/>
          </a:xfrm>
          <a:prstGeom prst="rect">
            <a:avLst/>
          </a:prstGeom>
          <a:solidFill>
            <a:schemeClr val="accent3">
              <a:lumMod val="40000"/>
              <a:lumOff val="60000"/>
            </a:schemeClr>
          </a:solidFill>
          <a:ln>
            <a:solidFill>
              <a:schemeClr val="accent3">
                <a:lumMod val="40000"/>
                <a:lumOff val="60000"/>
              </a:schemeClr>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PE" b="1" dirty="0">
                <a:solidFill>
                  <a:schemeClr val="tx1"/>
                </a:solidFill>
              </a:rPr>
              <a:t>1</a:t>
            </a:r>
            <a:endParaRPr lang="en-CA" b="1" dirty="0">
              <a:solidFill>
                <a:schemeClr val="tx1"/>
              </a:solidFill>
            </a:endParaRPr>
          </a:p>
        </p:txBody>
      </p:sp>
      <p:sp>
        <p:nvSpPr>
          <p:cNvPr id="14" name="Rectangle 13">
            <a:extLst>
              <a:ext uri="{FF2B5EF4-FFF2-40B4-BE49-F238E27FC236}">
                <a16:creationId xmlns:a16="http://schemas.microsoft.com/office/drawing/2014/main" id="{9849B2B2-788A-437D-8DE4-EC8A8DF20D1E}"/>
              </a:ext>
            </a:extLst>
          </p:cNvPr>
          <p:cNvSpPr/>
          <p:nvPr/>
        </p:nvSpPr>
        <p:spPr>
          <a:xfrm>
            <a:off x="5977869" y="2801710"/>
            <a:ext cx="666346" cy="572753"/>
          </a:xfrm>
          <a:prstGeom prst="rect">
            <a:avLst/>
          </a:prstGeom>
          <a:solidFill>
            <a:schemeClr val="accent3">
              <a:lumMod val="40000"/>
              <a:lumOff val="60000"/>
            </a:schemeClr>
          </a:solidFill>
          <a:ln>
            <a:solidFill>
              <a:schemeClr val="accent3">
                <a:lumMod val="40000"/>
                <a:lumOff val="60000"/>
              </a:schemeClr>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PE" b="1" dirty="0">
                <a:solidFill>
                  <a:schemeClr val="tx1"/>
                </a:solidFill>
              </a:rPr>
              <a:t>1</a:t>
            </a:r>
            <a:endParaRPr lang="en-CA" b="1" dirty="0">
              <a:solidFill>
                <a:schemeClr val="tx1"/>
              </a:solidFill>
            </a:endParaRPr>
          </a:p>
        </p:txBody>
      </p:sp>
      <p:sp>
        <p:nvSpPr>
          <p:cNvPr id="15" name="Rectangle 14">
            <a:extLst>
              <a:ext uri="{FF2B5EF4-FFF2-40B4-BE49-F238E27FC236}">
                <a16:creationId xmlns:a16="http://schemas.microsoft.com/office/drawing/2014/main" id="{CFB72582-2330-4647-B944-D725255868FD}"/>
              </a:ext>
            </a:extLst>
          </p:cNvPr>
          <p:cNvSpPr/>
          <p:nvPr/>
        </p:nvSpPr>
        <p:spPr>
          <a:xfrm>
            <a:off x="6977209" y="2801710"/>
            <a:ext cx="666346" cy="572753"/>
          </a:xfrm>
          <a:prstGeom prst="rect">
            <a:avLst/>
          </a:prstGeom>
          <a:solidFill>
            <a:schemeClr val="accent3">
              <a:lumMod val="40000"/>
              <a:lumOff val="60000"/>
            </a:schemeClr>
          </a:solidFill>
          <a:ln>
            <a:solidFill>
              <a:schemeClr val="accent3">
                <a:lumMod val="40000"/>
                <a:lumOff val="60000"/>
              </a:schemeClr>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PE" b="1" dirty="0">
                <a:solidFill>
                  <a:schemeClr val="tx1"/>
                </a:solidFill>
              </a:rPr>
              <a:t>2</a:t>
            </a:r>
            <a:endParaRPr lang="en-CA" b="1" dirty="0">
              <a:solidFill>
                <a:schemeClr val="tx1"/>
              </a:solidFill>
            </a:endParaRPr>
          </a:p>
        </p:txBody>
      </p:sp>
      <p:sp>
        <p:nvSpPr>
          <p:cNvPr id="16" name="Rectangle 15">
            <a:extLst>
              <a:ext uri="{FF2B5EF4-FFF2-40B4-BE49-F238E27FC236}">
                <a16:creationId xmlns:a16="http://schemas.microsoft.com/office/drawing/2014/main" id="{EB35F191-8B2B-4AF8-B0DF-364377980446}"/>
              </a:ext>
            </a:extLst>
          </p:cNvPr>
          <p:cNvSpPr/>
          <p:nvPr/>
        </p:nvSpPr>
        <p:spPr>
          <a:xfrm>
            <a:off x="7914182" y="2807140"/>
            <a:ext cx="666346" cy="572753"/>
          </a:xfrm>
          <a:prstGeom prst="rect">
            <a:avLst/>
          </a:prstGeom>
          <a:noFill/>
          <a:ln>
            <a:solidFill>
              <a:srgbClr val="C00000"/>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PE" b="1" dirty="0">
                <a:solidFill>
                  <a:schemeClr val="tx1"/>
                </a:solidFill>
              </a:rPr>
              <a:t>3</a:t>
            </a:r>
            <a:endParaRPr lang="en-CA" b="1" dirty="0">
              <a:solidFill>
                <a:schemeClr val="tx1"/>
              </a:solidFill>
            </a:endParaRPr>
          </a:p>
        </p:txBody>
      </p:sp>
      <p:sp>
        <p:nvSpPr>
          <p:cNvPr id="17" name="Rectangle 16">
            <a:extLst>
              <a:ext uri="{FF2B5EF4-FFF2-40B4-BE49-F238E27FC236}">
                <a16:creationId xmlns:a16="http://schemas.microsoft.com/office/drawing/2014/main" id="{32FC56C1-E115-43CE-A5A8-2FC57E6891DD}"/>
              </a:ext>
            </a:extLst>
          </p:cNvPr>
          <p:cNvSpPr/>
          <p:nvPr/>
        </p:nvSpPr>
        <p:spPr>
          <a:xfrm>
            <a:off x="8892849" y="2796630"/>
            <a:ext cx="666346" cy="572752"/>
          </a:xfrm>
          <a:prstGeom prst="rect">
            <a:avLst/>
          </a:prstGeom>
          <a:noFill/>
          <a:ln>
            <a:solidFill>
              <a:srgbClr val="C00000"/>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PE" b="1" dirty="0">
                <a:solidFill>
                  <a:schemeClr val="tx1"/>
                </a:solidFill>
              </a:rPr>
              <a:t>4</a:t>
            </a:r>
            <a:endParaRPr lang="en-CA" b="1" dirty="0">
              <a:solidFill>
                <a:schemeClr val="tx1"/>
              </a:solidFill>
            </a:endParaRPr>
          </a:p>
        </p:txBody>
      </p:sp>
      <p:sp>
        <p:nvSpPr>
          <p:cNvPr id="18" name="Rectangle 17">
            <a:extLst>
              <a:ext uri="{FF2B5EF4-FFF2-40B4-BE49-F238E27FC236}">
                <a16:creationId xmlns:a16="http://schemas.microsoft.com/office/drawing/2014/main" id="{5288FC65-D7F5-4CA1-8B4C-A1C13846BBE8}"/>
              </a:ext>
            </a:extLst>
          </p:cNvPr>
          <p:cNvSpPr/>
          <p:nvPr/>
        </p:nvSpPr>
        <p:spPr>
          <a:xfrm>
            <a:off x="9850494" y="2797188"/>
            <a:ext cx="666346" cy="572753"/>
          </a:xfrm>
          <a:prstGeom prst="rect">
            <a:avLst/>
          </a:prstGeom>
          <a:noFill/>
          <a:ln>
            <a:solidFill>
              <a:srgbClr val="C00000"/>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PE" b="1" dirty="0">
                <a:solidFill>
                  <a:schemeClr val="tx1"/>
                </a:solidFill>
              </a:rPr>
              <a:t>5</a:t>
            </a:r>
            <a:endParaRPr lang="en-CA" b="1" dirty="0">
              <a:solidFill>
                <a:schemeClr val="tx1"/>
              </a:solidFill>
            </a:endParaRPr>
          </a:p>
        </p:txBody>
      </p:sp>
      <p:sp>
        <p:nvSpPr>
          <p:cNvPr id="3" name="Rectangle 2">
            <a:extLst>
              <a:ext uri="{FF2B5EF4-FFF2-40B4-BE49-F238E27FC236}">
                <a16:creationId xmlns:a16="http://schemas.microsoft.com/office/drawing/2014/main" id="{1AF35AEB-0A1F-4D25-B22C-6F0659226C12}"/>
              </a:ext>
            </a:extLst>
          </p:cNvPr>
          <p:cNvSpPr/>
          <p:nvPr/>
        </p:nvSpPr>
        <p:spPr>
          <a:xfrm>
            <a:off x="367864" y="4236720"/>
            <a:ext cx="2526675" cy="1962280"/>
          </a:xfrm>
          <a:prstGeom prst="rect">
            <a:avLst/>
          </a:prstGeom>
          <a:solidFill>
            <a:schemeClr val="bg1"/>
          </a:solid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marR="0" lvl="0" indent="-171450" algn="just"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s-PE" sz="1200" b="0" i="0" u="none" strike="noStrike" kern="1200" cap="none" spc="0" normalizeH="0" baseline="0" noProof="0" dirty="0">
                <a:ln>
                  <a:noFill/>
                </a:ln>
                <a:solidFill>
                  <a:srgbClr val="5E5E5E">
                    <a:lumMod val="75000"/>
                  </a:srgbClr>
                </a:solidFill>
                <a:effectLst/>
                <a:uLnTx/>
                <a:uFillTx/>
                <a:latin typeface="Calibri" panose="020F0502020204030204"/>
                <a:ea typeface="+mn-ea"/>
                <a:cs typeface="+mn-cs"/>
              </a:rPr>
              <a:t>Provee mucha flexibilidad en implementación, contenidos y asignación de capital humano.</a:t>
            </a:r>
          </a:p>
          <a:p>
            <a:pPr marL="171450" marR="0" lvl="0" indent="-171450" algn="just"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s-PE" sz="1200" b="0" i="0" u="none" strike="noStrike" kern="1200" cap="none" spc="0" normalizeH="0" baseline="0" noProof="0" dirty="0">
                <a:ln>
                  <a:noFill/>
                </a:ln>
                <a:solidFill>
                  <a:srgbClr val="5E5E5E">
                    <a:lumMod val="75000"/>
                  </a:srgbClr>
                </a:solidFill>
                <a:effectLst/>
                <a:uLnTx/>
                <a:uFillTx/>
                <a:latin typeface="Calibri" panose="020F0502020204030204"/>
                <a:ea typeface="+mn-ea"/>
                <a:cs typeface="+mn-cs"/>
              </a:rPr>
              <a:t>Evidencia vasta en contextos de países en desarrollo.</a:t>
            </a:r>
          </a:p>
          <a:p>
            <a:pPr marL="171450" marR="0" lvl="0" indent="-171450" algn="just"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s-PE" sz="1200" b="0" i="0" u="none" strike="noStrike" kern="1200" cap="none" spc="0" normalizeH="0" baseline="0" noProof="0" dirty="0">
                <a:ln>
                  <a:noFill/>
                </a:ln>
                <a:solidFill>
                  <a:srgbClr val="5E5E5E">
                    <a:lumMod val="75000"/>
                  </a:srgbClr>
                </a:solidFill>
                <a:effectLst/>
                <a:uLnTx/>
                <a:uFillTx/>
                <a:latin typeface="Calibri" panose="020F0502020204030204"/>
                <a:ea typeface="+mn-ea"/>
                <a:cs typeface="+mn-cs"/>
              </a:rPr>
              <a:t>Evidencia sugiere efectos positivos en estudiantes </a:t>
            </a:r>
            <a:r>
              <a:rPr kumimoji="0" lang="es-PE" sz="1200" b="1" i="0" u="none" strike="noStrike" kern="1200" cap="none" spc="0" normalizeH="0" baseline="0" noProof="0" dirty="0">
                <a:ln>
                  <a:noFill/>
                </a:ln>
                <a:solidFill>
                  <a:srgbClr val="5E5E5E">
                    <a:lumMod val="75000"/>
                  </a:srgbClr>
                </a:solidFill>
                <a:effectLst/>
                <a:uLnTx/>
                <a:uFillTx/>
                <a:latin typeface="Calibri" panose="020F0502020204030204"/>
                <a:ea typeface="+mn-ea"/>
                <a:cs typeface="+mn-cs"/>
              </a:rPr>
              <a:t>entre 5 – 11 años que cuenten con rendimiento bajo en lectura y matemática.</a:t>
            </a:r>
          </a:p>
        </p:txBody>
      </p:sp>
      <p:sp>
        <p:nvSpPr>
          <p:cNvPr id="20" name="Rectangle 19">
            <a:extLst>
              <a:ext uri="{FF2B5EF4-FFF2-40B4-BE49-F238E27FC236}">
                <a16:creationId xmlns:a16="http://schemas.microsoft.com/office/drawing/2014/main" id="{C72A31EF-EA70-4311-A4FD-3C63F4A6B552}"/>
              </a:ext>
            </a:extLst>
          </p:cNvPr>
          <p:cNvSpPr/>
          <p:nvPr/>
        </p:nvSpPr>
        <p:spPr>
          <a:xfrm>
            <a:off x="3142593" y="4236720"/>
            <a:ext cx="4500962" cy="1962280"/>
          </a:xfrm>
          <a:prstGeom prst="rect">
            <a:avLst/>
          </a:prstGeom>
          <a:solidFill>
            <a:schemeClr val="bg1"/>
          </a:solid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s-PE" sz="1400" b="0" i="0" u="none" strike="noStrike" kern="1200" cap="none" spc="0" normalizeH="0" baseline="0" noProof="0" dirty="0">
                <a:ln>
                  <a:noFill/>
                </a:ln>
                <a:solidFill>
                  <a:srgbClr val="5E5E5E">
                    <a:lumMod val="75000"/>
                  </a:srgbClr>
                </a:solidFill>
                <a:effectLst/>
                <a:uLnTx/>
                <a:uFillTx/>
                <a:latin typeface="Calibri" panose="020F0502020204030204"/>
                <a:ea typeface="+mn-ea"/>
                <a:cs typeface="+mn-cs"/>
              </a:rPr>
              <a:t>Adaptabilidad en el contenido al nivel del estudiante incluyendo el desarrollo de capacidades digitales.</a:t>
            </a:r>
          </a:p>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s-PE" sz="1400" b="0" i="0" u="none" strike="noStrike" kern="1200" cap="none" spc="0" normalizeH="0" baseline="0" noProof="0" dirty="0">
                <a:ln>
                  <a:noFill/>
                </a:ln>
                <a:solidFill>
                  <a:srgbClr val="5E5E5E">
                    <a:lumMod val="75000"/>
                  </a:srgbClr>
                </a:solidFill>
                <a:effectLst/>
                <a:uLnTx/>
                <a:uFillTx/>
                <a:latin typeface="Calibri" panose="020F0502020204030204"/>
                <a:ea typeface="+mn-ea"/>
                <a:cs typeface="+mn-cs"/>
              </a:rPr>
              <a:t>Permite el desarrollo de capacidades cognitivas complejas.</a:t>
            </a:r>
          </a:p>
        </p:txBody>
      </p:sp>
      <p:sp>
        <p:nvSpPr>
          <p:cNvPr id="21" name="Rectangle 20">
            <a:extLst>
              <a:ext uri="{FF2B5EF4-FFF2-40B4-BE49-F238E27FC236}">
                <a16:creationId xmlns:a16="http://schemas.microsoft.com/office/drawing/2014/main" id="{8DE9B0B4-94E7-427F-8058-1CE1E1A432E1}"/>
              </a:ext>
            </a:extLst>
          </p:cNvPr>
          <p:cNvSpPr/>
          <p:nvPr/>
        </p:nvSpPr>
        <p:spPr>
          <a:xfrm>
            <a:off x="1313793" y="2806212"/>
            <a:ext cx="666346" cy="572753"/>
          </a:xfrm>
          <a:prstGeom prst="rect">
            <a:avLst/>
          </a:prstGeom>
          <a:solidFill>
            <a:schemeClr val="accent3">
              <a:lumMod val="40000"/>
              <a:lumOff val="60000"/>
            </a:schemeClr>
          </a:solidFill>
          <a:ln>
            <a:solidFill>
              <a:schemeClr val="accent3">
                <a:lumMod val="40000"/>
                <a:lumOff val="60000"/>
              </a:schemeClr>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PE" b="1" dirty="0">
                <a:solidFill>
                  <a:schemeClr val="tx1"/>
                </a:solidFill>
              </a:rPr>
              <a:t>2</a:t>
            </a:r>
            <a:endParaRPr lang="en-CA" b="1" dirty="0">
              <a:solidFill>
                <a:schemeClr val="tx1"/>
              </a:solidFill>
            </a:endParaRPr>
          </a:p>
        </p:txBody>
      </p:sp>
      <p:sp>
        <p:nvSpPr>
          <p:cNvPr id="24" name="Rectangle 23">
            <a:extLst>
              <a:ext uri="{FF2B5EF4-FFF2-40B4-BE49-F238E27FC236}">
                <a16:creationId xmlns:a16="http://schemas.microsoft.com/office/drawing/2014/main" id="{2EEFE047-5DC9-47E3-BE3D-40F834123D38}"/>
              </a:ext>
            </a:extLst>
          </p:cNvPr>
          <p:cNvSpPr/>
          <p:nvPr/>
        </p:nvSpPr>
        <p:spPr>
          <a:xfrm>
            <a:off x="2228193" y="2812353"/>
            <a:ext cx="666346" cy="572753"/>
          </a:xfrm>
          <a:prstGeom prst="rect">
            <a:avLst/>
          </a:prstGeom>
          <a:solidFill>
            <a:schemeClr val="accent3">
              <a:lumMod val="40000"/>
              <a:lumOff val="60000"/>
            </a:schemeClr>
          </a:solidFill>
          <a:ln>
            <a:solidFill>
              <a:schemeClr val="accent3">
                <a:lumMod val="40000"/>
                <a:lumOff val="60000"/>
              </a:schemeClr>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PE" b="1" dirty="0">
                <a:solidFill>
                  <a:schemeClr val="tx1"/>
                </a:solidFill>
              </a:rPr>
              <a:t>3</a:t>
            </a:r>
            <a:endParaRPr lang="en-CA" b="1" dirty="0">
              <a:solidFill>
                <a:schemeClr val="tx1"/>
              </a:solidFill>
            </a:endParaRPr>
          </a:p>
        </p:txBody>
      </p:sp>
      <p:sp>
        <p:nvSpPr>
          <p:cNvPr id="25" name="Rectangle 24">
            <a:extLst>
              <a:ext uri="{FF2B5EF4-FFF2-40B4-BE49-F238E27FC236}">
                <a16:creationId xmlns:a16="http://schemas.microsoft.com/office/drawing/2014/main" id="{FDFB5AD4-D34D-4198-9CCA-515C22F73E90}"/>
              </a:ext>
            </a:extLst>
          </p:cNvPr>
          <p:cNvSpPr/>
          <p:nvPr/>
        </p:nvSpPr>
        <p:spPr>
          <a:xfrm>
            <a:off x="3142593" y="2806212"/>
            <a:ext cx="666346" cy="572753"/>
          </a:xfrm>
          <a:prstGeom prst="rect">
            <a:avLst/>
          </a:prstGeom>
          <a:solidFill>
            <a:schemeClr val="accent3">
              <a:lumMod val="40000"/>
              <a:lumOff val="60000"/>
            </a:schemeClr>
          </a:solidFill>
          <a:ln>
            <a:solidFill>
              <a:schemeClr val="accent3">
                <a:lumMod val="40000"/>
                <a:lumOff val="60000"/>
              </a:schemeClr>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PE" b="1" dirty="0">
                <a:solidFill>
                  <a:schemeClr val="tx1"/>
                </a:solidFill>
              </a:rPr>
              <a:t>4</a:t>
            </a:r>
            <a:endParaRPr lang="en-CA" b="1" dirty="0">
              <a:solidFill>
                <a:schemeClr val="tx1"/>
              </a:solidFill>
            </a:endParaRPr>
          </a:p>
        </p:txBody>
      </p:sp>
      <p:sp>
        <p:nvSpPr>
          <p:cNvPr id="26" name="Rectangle 25">
            <a:extLst>
              <a:ext uri="{FF2B5EF4-FFF2-40B4-BE49-F238E27FC236}">
                <a16:creationId xmlns:a16="http://schemas.microsoft.com/office/drawing/2014/main" id="{54263205-5DB7-45A8-BB30-CA045CDA0F80}"/>
              </a:ext>
            </a:extLst>
          </p:cNvPr>
          <p:cNvSpPr/>
          <p:nvPr/>
        </p:nvSpPr>
        <p:spPr>
          <a:xfrm>
            <a:off x="4056993" y="2806212"/>
            <a:ext cx="666346" cy="572753"/>
          </a:xfrm>
          <a:prstGeom prst="rect">
            <a:avLst/>
          </a:prstGeom>
          <a:solidFill>
            <a:schemeClr val="accent3">
              <a:lumMod val="40000"/>
              <a:lumOff val="60000"/>
            </a:schemeClr>
          </a:solidFill>
          <a:ln>
            <a:solidFill>
              <a:schemeClr val="accent3">
                <a:lumMod val="40000"/>
                <a:lumOff val="60000"/>
              </a:schemeClr>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PE" b="1" dirty="0">
                <a:solidFill>
                  <a:schemeClr val="tx1"/>
                </a:solidFill>
              </a:rPr>
              <a:t>5</a:t>
            </a:r>
            <a:endParaRPr lang="en-CA" b="1" dirty="0">
              <a:solidFill>
                <a:schemeClr val="tx1"/>
              </a:solidFill>
            </a:endParaRPr>
          </a:p>
        </p:txBody>
      </p:sp>
      <p:sp>
        <p:nvSpPr>
          <p:cNvPr id="27" name="Rectangle 26">
            <a:extLst>
              <a:ext uri="{FF2B5EF4-FFF2-40B4-BE49-F238E27FC236}">
                <a16:creationId xmlns:a16="http://schemas.microsoft.com/office/drawing/2014/main" id="{480726A8-1038-44FA-A21E-6254B81D1455}"/>
              </a:ext>
            </a:extLst>
          </p:cNvPr>
          <p:cNvSpPr/>
          <p:nvPr/>
        </p:nvSpPr>
        <p:spPr>
          <a:xfrm>
            <a:off x="4971393" y="2797597"/>
            <a:ext cx="666346" cy="572753"/>
          </a:xfrm>
          <a:prstGeom prst="rect">
            <a:avLst/>
          </a:prstGeom>
          <a:solidFill>
            <a:schemeClr val="accent3">
              <a:lumMod val="40000"/>
              <a:lumOff val="60000"/>
            </a:schemeClr>
          </a:solidFill>
          <a:ln>
            <a:solidFill>
              <a:schemeClr val="accent3">
                <a:lumMod val="40000"/>
                <a:lumOff val="60000"/>
              </a:schemeClr>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PE" b="1" dirty="0">
                <a:solidFill>
                  <a:schemeClr val="tx1"/>
                </a:solidFill>
              </a:rPr>
              <a:t>6</a:t>
            </a:r>
            <a:endParaRPr lang="en-CA" b="1" dirty="0">
              <a:solidFill>
                <a:schemeClr val="tx1"/>
              </a:solidFill>
            </a:endParaRPr>
          </a:p>
        </p:txBody>
      </p:sp>
      <p:sp>
        <p:nvSpPr>
          <p:cNvPr id="8" name="Rectangle 7">
            <a:extLst>
              <a:ext uri="{FF2B5EF4-FFF2-40B4-BE49-F238E27FC236}">
                <a16:creationId xmlns:a16="http://schemas.microsoft.com/office/drawing/2014/main" id="{3847D203-844E-40C9-996B-4321DB201D6A}"/>
              </a:ext>
            </a:extLst>
          </p:cNvPr>
          <p:cNvSpPr/>
          <p:nvPr/>
        </p:nvSpPr>
        <p:spPr>
          <a:xfrm>
            <a:off x="367862" y="3552825"/>
            <a:ext cx="2526677" cy="480695"/>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0" lang="es-PE" sz="1500" b="1" i="0" u="none" strike="noStrike" kern="1200" cap="none" spc="0" normalizeH="0" baseline="0" noProof="0" dirty="0">
                <a:ln>
                  <a:noFill/>
                </a:ln>
                <a:solidFill>
                  <a:schemeClr val="bg1"/>
                </a:solidFill>
                <a:effectLst/>
                <a:uLnTx/>
                <a:uFillTx/>
                <a:latin typeface="Calibri" panose="020F0502020204030204"/>
                <a:ea typeface="+mn-ea"/>
                <a:cs typeface="+mn-cs"/>
              </a:rPr>
              <a:t>Enseñar al nivel adecuado </a:t>
            </a:r>
          </a:p>
          <a:p>
            <a:pPr algn="ctr"/>
            <a:r>
              <a:rPr kumimoji="0" lang="es-PE" sz="1500" b="1" i="0" u="none" strike="noStrike" kern="1200" cap="none" spc="0" normalizeH="0" baseline="0" noProof="0" dirty="0">
                <a:ln>
                  <a:noFill/>
                </a:ln>
                <a:solidFill>
                  <a:schemeClr val="bg1"/>
                </a:solidFill>
                <a:effectLst/>
                <a:uLnTx/>
                <a:uFillTx/>
                <a:latin typeface="Calibri" panose="020F0502020204030204"/>
                <a:ea typeface="+mn-ea"/>
                <a:cs typeface="+mn-cs"/>
              </a:rPr>
              <a:t>S/ </a:t>
            </a:r>
            <a:r>
              <a:rPr lang="es-PE" sz="1500" b="1" dirty="0">
                <a:solidFill>
                  <a:schemeClr val="bg1"/>
                </a:solidFill>
                <a:latin typeface="Calibri" panose="020F0502020204030204"/>
              </a:rPr>
              <a:t>90</a:t>
            </a:r>
            <a:r>
              <a:rPr kumimoji="0" lang="es-PE" sz="1500" b="1" i="0" u="none" strike="noStrike" kern="1200" cap="none" spc="0" normalizeH="0" baseline="0" noProof="0" dirty="0">
                <a:ln>
                  <a:noFill/>
                </a:ln>
                <a:solidFill>
                  <a:schemeClr val="bg1"/>
                </a:solidFill>
                <a:effectLst/>
                <a:uLnTx/>
                <a:uFillTx/>
                <a:latin typeface="Calibri" panose="020F0502020204030204"/>
                <a:ea typeface="+mn-ea"/>
                <a:cs typeface="+mn-cs"/>
              </a:rPr>
              <a:t> MM</a:t>
            </a:r>
          </a:p>
        </p:txBody>
      </p:sp>
      <p:sp>
        <p:nvSpPr>
          <p:cNvPr id="22" name="Rectangle 21">
            <a:extLst>
              <a:ext uri="{FF2B5EF4-FFF2-40B4-BE49-F238E27FC236}">
                <a16:creationId xmlns:a16="http://schemas.microsoft.com/office/drawing/2014/main" id="{143D12FA-74C8-4997-AD93-3DB28792E80E}"/>
              </a:ext>
            </a:extLst>
          </p:cNvPr>
          <p:cNvSpPr/>
          <p:nvPr/>
        </p:nvSpPr>
        <p:spPr>
          <a:xfrm>
            <a:off x="3142593" y="3552825"/>
            <a:ext cx="4500962" cy="480695"/>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algn="ctr" defTabSz="914400" rtl="0" eaLnBrk="1" fontAlgn="auto" latinLnBrk="0" hangingPunct="1">
              <a:lnSpc>
                <a:spcPct val="100000"/>
              </a:lnSpc>
              <a:spcBef>
                <a:spcPts val="0"/>
              </a:spcBef>
              <a:spcAft>
                <a:spcPts val="0"/>
              </a:spcAft>
              <a:buClrTx/>
              <a:buSzTx/>
              <a:tabLst/>
              <a:defRPr/>
            </a:pPr>
            <a:r>
              <a:rPr kumimoji="0" lang="es-PE" sz="1500" b="1" i="0" u="none" strike="noStrike" kern="1200" cap="none" spc="0" normalizeH="0" baseline="0" noProof="0" dirty="0">
                <a:ln>
                  <a:noFill/>
                </a:ln>
                <a:solidFill>
                  <a:schemeClr val="bg1"/>
                </a:solidFill>
                <a:effectLst/>
                <a:uLnTx/>
                <a:uFillTx/>
                <a:latin typeface="Calibri" panose="020F0502020204030204"/>
                <a:ea typeface="+mn-ea"/>
                <a:cs typeface="+mn-cs"/>
              </a:rPr>
              <a:t>Modelo de Tutoría con Componente Digital</a:t>
            </a:r>
          </a:p>
          <a:p>
            <a:pPr marR="0" lvl="0" algn="ctr" defTabSz="914400" rtl="0" eaLnBrk="1" fontAlgn="auto" latinLnBrk="0" hangingPunct="1">
              <a:lnSpc>
                <a:spcPct val="100000"/>
              </a:lnSpc>
              <a:spcBef>
                <a:spcPts val="0"/>
              </a:spcBef>
              <a:spcAft>
                <a:spcPts val="0"/>
              </a:spcAft>
              <a:buClrTx/>
              <a:buSzTx/>
              <a:tabLst/>
              <a:defRPr/>
            </a:pPr>
            <a:r>
              <a:rPr lang="es-PE" sz="1500" b="1" dirty="0">
                <a:solidFill>
                  <a:schemeClr val="bg1"/>
                </a:solidFill>
                <a:latin typeface="Calibri" panose="020F0502020204030204"/>
              </a:rPr>
              <a:t>S/</a:t>
            </a:r>
            <a:r>
              <a:rPr kumimoji="0" lang="es-PE" sz="1500" b="1" i="0" u="none" strike="noStrike" kern="1200" cap="none" spc="0" normalizeH="0" baseline="0" noProof="0" dirty="0">
                <a:ln>
                  <a:noFill/>
                </a:ln>
                <a:solidFill>
                  <a:schemeClr val="bg1"/>
                </a:solidFill>
                <a:effectLst/>
                <a:uLnTx/>
                <a:uFillTx/>
                <a:latin typeface="Calibri" panose="020F0502020204030204"/>
                <a:ea typeface="+mn-ea"/>
                <a:cs typeface="+mn-cs"/>
              </a:rPr>
              <a:t> </a:t>
            </a:r>
            <a:r>
              <a:rPr lang="es-PE" sz="1500" b="1" dirty="0">
                <a:solidFill>
                  <a:schemeClr val="bg1"/>
                </a:solidFill>
                <a:latin typeface="Calibri" panose="020F0502020204030204"/>
              </a:rPr>
              <a:t>77</a:t>
            </a:r>
            <a:r>
              <a:rPr kumimoji="0" lang="es-PE" sz="1500" b="1" i="0" u="none" strike="noStrike" kern="1200" cap="none" spc="0" normalizeH="0" baseline="0" noProof="0" dirty="0">
                <a:ln>
                  <a:noFill/>
                </a:ln>
                <a:solidFill>
                  <a:schemeClr val="bg1"/>
                </a:solidFill>
                <a:effectLst/>
                <a:uLnTx/>
                <a:uFillTx/>
                <a:latin typeface="Calibri" panose="020F0502020204030204"/>
                <a:ea typeface="+mn-ea"/>
                <a:cs typeface="+mn-cs"/>
              </a:rPr>
              <a:t> MM</a:t>
            </a:r>
          </a:p>
        </p:txBody>
      </p:sp>
      <p:sp>
        <p:nvSpPr>
          <p:cNvPr id="9" name="Rectangle 8">
            <a:extLst>
              <a:ext uri="{FF2B5EF4-FFF2-40B4-BE49-F238E27FC236}">
                <a16:creationId xmlns:a16="http://schemas.microsoft.com/office/drawing/2014/main" id="{97C7A598-959B-44F6-8508-B2499CEA2F6A}"/>
              </a:ext>
            </a:extLst>
          </p:cNvPr>
          <p:cNvSpPr/>
          <p:nvPr/>
        </p:nvSpPr>
        <p:spPr>
          <a:xfrm>
            <a:off x="367862" y="6302103"/>
            <a:ext cx="7275693" cy="371960"/>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b="1" dirty="0"/>
              <a:t>Propuesta de priorización 2022</a:t>
            </a:r>
            <a:endParaRPr lang="en-CA" b="1" dirty="0"/>
          </a:p>
        </p:txBody>
      </p:sp>
    </p:spTree>
    <p:extLst>
      <p:ext uri="{BB962C8B-B14F-4D97-AF65-F5344CB8AC3E}">
        <p14:creationId xmlns:p14="http://schemas.microsoft.com/office/powerpoint/2010/main" val="15793684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Diagonal Corners Rounded 6">
            <a:extLst>
              <a:ext uri="{FF2B5EF4-FFF2-40B4-BE49-F238E27FC236}">
                <a16:creationId xmlns:a16="http://schemas.microsoft.com/office/drawing/2014/main" id="{5DC549E6-0B6C-450B-922D-0F58D2924A72}"/>
              </a:ext>
            </a:extLst>
          </p:cNvPr>
          <p:cNvSpPr/>
          <p:nvPr/>
        </p:nvSpPr>
        <p:spPr>
          <a:xfrm>
            <a:off x="429623" y="1048649"/>
            <a:ext cx="11267440" cy="721517"/>
          </a:xfrm>
          <a:prstGeom prst="round2DiagRect">
            <a:avLst/>
          </a:prstGeom>
          <a:solidFill>
            <a:srgbClr val="C00000"/>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solidFill>
                <a:schemeClr val="bg1"/>
              </a:solidFill>
            </a:endParaRPr>
          </a:p>
        </p:txBody>
      </p:sp>
      <p:sp>
        <p:nvSpPr>
          <p:cNvPr id="2" name="Title 1">
            <a:extLst>
              <a:ext uri="{FF2B5EF4-FFF2-40B4-BE49-F238E27FC236}">
                <a16:creationId xmlns:a16="http://schemas.microsoft.com/office/drawing/2014/main" id="{16C18CE1-72D9-4719-A2FF-5C93A7E96E39}"/>
              </a:ext>
            </a:extLst>
          </p:cNvPr>
          <p:cNvSpPr>
            <a:spLocks noGrp="1"/>
          </p:cNvSpPr>
          <p:nvPr>
            <p:ph type="title"/>
          </p:nvPr>
        </p:nvSpPr>
        <p:spPr/>
        <p:txBody>
          <a:bodyPr/>
          <a:lstStyle/>
          <a:p>
            <a:r>
              <a:rPr lang="es-PE" sz="4000" dirty="0"/>
              <a:t>AGENDA</a:t>
            </a:r>
            <a:endParaRPr lang="en-CA" sz="4000" dirty="0"/>
          </a:p>
        </p:txBody>
      </p:sp>
      <p:sp>
        <p:nvSpPr>
          <p:cNvPr id="3" name="Slide Number Placeholder 2">
            <a:extLst>
              <a:ext uri="{FF2B5EF4-FFF2-40B4-BE49-F238E27FC236}">
                <a16:creationId xmlns:a16="http://schemas.microsoft.com/office/drawing/2014/main" id="{0DFD7E46-D5CE-48DD-96F3-51002A57C15D}"/>
              </a:ext>
            </a:extLst>
          </p:cNvPr>
          <p:cNvSpPr>
            <a:spLocks noGrp="1"/>
          </p:cNvSpPr>
          <p:nvPr>
            <p:ph type="sldNum" sz="quarter" idx="12"/>
          </p:nvPr>
        </p:nvSpPr>
        <p:spPr/>
        <p:txBody>
          <a:bodyPr/>
          <a:lstStyle/>
          <a:p>
            <a:fld id="{DAF31D20-51B2-49A6-91FA-1FC48A60B42D}" type="slidenum">
              <a:rPr lang="es-PE" smtClean="0"/>
              <a:t>12</a:t>
            </a:fld>
            <a:endParaRPr lang="es-PE"/>
          </a:p>
        </p:txBody>
      </p:sp>
      <p:sp>
        <p:nvSpPr>
          <p:cNvPr id="5" name="TextBox 4">
            <a:extLst>
              <a:ext uri="{FF2B5EF4-FFF2-40B4-BE49-F238E27FC236}">
                <a16:creationId xmlns:a16="http://schemas.microsoft.com/office/drawing/2014/main" id="{17CB7C5A-6404-4218-A2FD-BE386960A332}"/>
              </a:ext>
            </a:extLst>
          </p:cNvPr>
          <p:cNvSpPr txBox="1"/>
          <p:nvPr/>
        </p:nvSpPr>
        <p:spPr>
          <a:xfrm>
            <a:off x="494937" y="1249444"/>
            <a:ext cx="10739120" cy="369332"/>
          </a:xfrm>
          <a:prstGeom prst="rect">
            <a:avLst/>
          </a:prstGeom>
          <a:noFill/>
        </p:spPr>
        <p:txBody>
          <a:bodyPr wrap="square" rtlCol="0">
            <a:spAutoFit/>
          </a:bodyPr>
          <a:lstStyle/>
          <a:p>
            <a:r>
              <a:rPr lang="es-PE" b="1" dirty="0">
                <a:solidFill>
                  <a:schemeClr val="bg1"/>
                </a:solidFill>
              </a:rPr>
              <a:t>2.  Propuesta de estrategia de Educación Remedial </a:t>
            </a:r>
            <a:endParaRPr lang="en-CA" b="1" dirty="0">
              <a:solidFill>
                <a:schemeClr val="bg1"/>
              </a:solidFill>
            </a:endParaRPr>
          </a:p>
        </p:txBody>
      </p:sp>
      <p:sp>
        <p:nvSpPr>
          <p:cNvPr id="11" name="Rectangle 10">
            <a:extLst>
              <a:ext uri="{FF2B5EF4-FFF2-40B4-BE49-F238E27FC236}">
                <a16:creationId xmlns:a16="http://schemas.microsoft.com/office/drawing/2014/main" id="{73ED18D7-638E-4BF8-8DFC-833E74760777}"/>
              </a:ext>
            </a:extLst>
          </p:cNvPr>
          <p:cNvSpPr/>
          <p:nvPr/>
        </p:nvSpPr>
        <p:spPr>
          <a:xfrm>
            <a:off x="866770" y="1964956"/>
            <a:ext cx="10753725" cy="381602"/>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00050" indent="-400050">
              <a:buFont typeface="+mj-lt"/>
              <a:buAutoNum type="romanUcPeriod"/>
            </a:pPr>
            <a:r>
              <a:rPr lang="es-PE" b="1" dirty="0">
                <a:solidFill>
                  <a:schemeClr val="tx2"/>
                </a:solidFill>
              </a:rPr>
              <a:t>Información general de estrategias</a:t>
            </a:r>
            <a:endParaRPr lang="en-CA" b="1" dirty="0">
              <a:solidFill>
                <a:schemeClr val="tx2"/>
              </a:solidFill>
            </a:endParaRPr>
          </a:p>
        </p:txBody>
      </p:sp>
      <p:sp>
        <p:nvSpPr>
          <p:cNvPr id="13" name="Rectangle 12">
            <a:extLst>
              <a:ext uri="{FF2B5EF4-FFF2-40B4-BE49-F238E27FC236}">
                <a16:creationId xmlns:a16="http://schemas.microsoft.com/office/drawing/2014/main" id="{BF24706C-635F-48B8-86E0-9354C25A8312}"/>
              </a:ext>
            </a:extLst>
          </p:cNvPr>
          <p:cNvSpPr/>
          <p:nvPr/>
        </p:nvSpPr>
        <p:spPr>
          <a:xfrm>
            <a:off x="866770" y="2559386"/>
            <a:ext cx="10753725" cy="381602"/>
          </a:xfrm>
          <a:prstGeom prst="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00050" indent="-400050">
              <a:buFont typeface="+mj-lt"/>
              <a:buAutoNum type="romanUcPeriod" startAt="2"/>
            </a:pPr>
            <a:r>
              <a:rPr lang="es-PE" b="1" dirty="0">
                <a:solidFill>
                  <a:schemeClr val="bg1"/>
                </a:solidFill>
              </a:rPr>
              <a:t>Modelo 1: Enseñanza al nivel adecuado (</a:t>
            </a:r>
            <a:r>
              <a:rPr lang="es-PE" b="1" dirty="0" err="1">
                <a:solidFill>
                  <a:schemeClr val="bg1"/>
                </a:solidFill>
              </a:rPr>
              <a:t>TaRL</a:t>
            </a:r>
            <a:r>
              <a:rPr lang="es-PE" b="1" dirty="0">
                <a:solidFill>
                  <a:schemeClr val="bg1"/>
                </a:solidFill>
              </a:rPr>
              <a:t>)</a:t>
            </a:r>
            <a:endParaRPr lang="en-CA" b="1" dirty="0">
              <a:solidFill>
                <a:schemeClr val="bg1"/>
              </a:solidFill>
            </a:endParaRPr>
          </a:p>
        </p:txBody>
      </p:sp>
      <p:sp>
        <p:nvSpPr>
          <p:cNvPr id="15" name="Rectangle 14">
            <a:extLst>
              <a:ext uri="{FF2B5EF4-FFF2-40B4-BE49-F238E27FC236}">
                <a16:creationId xmlns:a16="http://schemas.microsoft.com/office/drawing/2014/main" id="{6D048FC1-72B2-4921-BF07-AC34182DA451}"/>
              </a:ext>
            </a:extLst>
          </p:cNvPr>
          <p:cNvSpPr/>
          <p:nvPr/>
        </p:nvSpPr>
        <p:spPr>
          <a:xfrm>
            <a:off x="866770" y="4598728"/>
            <a:ext cx="10753725" cy="381602"/>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00050" indent="-400050">
              <a:buFont typeface="+mj-lt"/>
              <a:buAutoNum type="romanUcPeriod" startAt="3"/>
            </a:pPr>
            <a:r>
              <a:rPr lang="es-PE" b="1" dirty="0">
                <a:solidFill>
                  <a:schemeClr val="tx2"/>
                </a:solidFill>
              </a:rPr>
              <a:t>Modelo 2: Tutoría con componente digital</a:t>
            </a:r>
            <a:endParaRPr lang="en-CA" b="1" dirty="0">
              <a:solidFill>
                <a:schemeClr val="tx2"/>
              </a:solidFill>
            </a:endParaRPr>
          </a:p>
        </p:txBody>
      </p:sp>
      <p:sp>
        <p:nvSpPr>
          <p:cNvPr id="18" name="TextBox 17">
            <a:extLst>
              <a:ext uri="{FF2B5EF4-FFF2-40B4-BE49-F238E27FC236}">
                <a16:creationId xmlns:a16="http://schemas.microsoft.com/office/drawing/2014/main" id="{1472411D-B88F-4453-A39D-EDA418DB8DC9}"/>
              </a:ext>
            </a:extLst>
          </p:cNvPr>
          <p:cNvSpPr txBox="1"/>
          <p:nvPr/>
        </p:nvSpPr>
        <p:spPr>
          <a:xfrm>
            <a:off x="1104894" y="2959666"/>
            <a:ext cx="10277475" cy="1754326"/>
          </a:xfrm>
          <a:prstGeom prst="rect">
            <a:avLst/>
          </a:prstGeom>
          <a:noFill/>
        </p:spPr>
        <p:txBody>
          <a:bodyPr wrap="square" rtlCol="0">
            <a:spAutoFit/>
          </a:bodyPr>
          <a:lstStyle/>
          <a:p>
            <a:pPr marL="285750" indent="-285750">
              <a:buFont typeface="Wingdings" panose="05000000000000000000" pitchFamily="2" charset="2"/>
              <a:buChar char="§"/>
            </a:pPr>
            <a:r>
              <a:rPr lang="es-PE" sz="1200" b="1" dirty="0">
                <a:solidFill>
                  <a:schemeClr val="tx2"/>
                </a:solidFill>
              </a:rPr>
              <a:t>Antecedentes</a:t>
            </a:r>
          </a:p>
          <a:p>
            <a:pPr marL="285750" indent="-285750">
              <a:buFont typeface="Wingdings" panose="05000000000000000000" pitchFamily="2" charset="2"/>
              <a:buChar char="§"/>
            </a:pPr>
            <a:r>
              <a:rPr lang="es-PE" sz="1200" dirty="0">
                <a:solidFill>
                  <a:schemeClr val="bg1">
                    <a:lumMod val="65000"/>
                  </a:schemeClr>
                </a:solidFill>
              </a:rPr>
              <a:t>El Modelo</a:t>
            </a:r>
          </a:p>
          <a:p>
            <a:pPr marL="285750" indent="-285750">
              <a:buFont typeface="Wingdings" panose="05000000000000000000" pitchFamily="2" charset="2"/>
              <a:buChar char="§"/>
            </a:pPr>
            <a:r>
              <a:rPr lang="es-PE" sz="1200" dirty="0">
                <a:solidFill>
                  <a:schemeClr val="bg1">
                    <a:lumMod val="65000"/>
                  </a:schemeClr>
                </a:solidFill>
              </a:rPr>
              <a:t>Componentes de la estrategia</a:t>
            </a:r>
          </a:p>
          <a:p>
            <a:pPr marL="285750" indent="-285750">
              <a:buFont typeface="Wingdings" panose="05000000000000000000" pitchFamily="2" charset="2"/>
              <a:buChar char="§"/>
            </a:pPr>
            <a:r>
              <a:rPr lang="es-PE" sz="1200" dirty="0">
                <a:solidFill>
                  <a:schemeClr val="bg1">
                    <a:lumMod val="65000"/>
                  </a:schemeClr>
                </a:solidFill>
              </a:rPr>
              <a:t>Focalización</a:t>
            </a:r>
          </a:p>
          <a:p>
            <a:pPr marL="285750" indent="-285750">
              <a:buFont typeface="Wingdings" panose="05000000000000000000" pitchFamily="2" charset="2"/>
              <a:buChar char="§"/>
            </a:pPr>
            <a:r>
              <a:rPr lang="es-PE" sz="1200" dirty="0">
                <a:solidFill>
                  <a:schemeClr val="bg1">
                    <a:lumMod val="65000"/>
                  </a:schemeClr>
                </a:solidFill>
              </a:rPr>
              <a:t>Cobertura</a:t>
            </a:r>
          </a:p>
          <a:p>
            <a:pPr marL="285750" indent="-285750">
              <a:buFont typeface="Wingdings" panose="05000000000000000000" pitchFamily="2" charset="2"/>
              <a:buChar char="§"/>
            </a:pPr>
            <a:r>
              <a:rPr lang="es-PE" sz="1200" dirty="0">
                <a:solidFill>
                  <a:schemeClr val="bg1">
                    <a:lumMod val="65000"/>
                  </a:schemeClr>
                </a:solidFill>
              </a:rPr>
              <a:t>Estimación de Costos</a:t>
            </a:r>
          </a:p>
          <a:p>
            <a:pPr marL="285750" indent="-285750">
              <a:buFont typeface="Wingdings" panose="05000000000000000000" pitchFamily="2" charset="2"/>
              <a:buChar char="§"/>
            </a:pPr>
            <a:r>
              <a:rPr lang="es-PE" sz="1200" dirty="0">
                <a:solidFill>
                  <a:schemeClr val="bg1">
                    <a:lumMod val="65000"/>
                  </a:schemeClr>
                </a:solidFill>
              </a:rPr>
              <a:t>Cronograma</a:t>
            </a:r>
          </a:p>
          <a:p>
            <a:pPr marL="285750" indent="-285750">
              <a:buFont typeface="Wingdings" panose="05000000000000000000" pitchFamily="2" charset="2"/>
              <a:buChar char="§"/>
            </a:pPr>
            <a:r>
              <a:rPr lang="es-PE" sz="1200" dirty="0">
                <a:solidFill>
                  <a:schemeClr val="bg1">
                    <a:lumMod val="65000"/>
                  </a:schemeClr>
                </a:solidFill>
              </a:rPr>
              <a:t>Complementariedad con otras estrategias y recomendaciones</a:t>
            </a:r>
          </a:p>
          <a:p>
            <a:pPr marL="285750" indent="-285750">
              <a:buFont typeface="Wingdings" panose="05000000000000000000" pitchFamily="2" charset="2"/>
              <a:buChar char="§"/>
            </a:pPr>
            <a:endParaRPr lang="es-PE" sz="1200" dirty="0">
              <a:solidFill>
                <a:schemeClr val="tx2"/>
              </a:solidFill>
            </a:endParaRPr>
          </a:p>
        </p:txBody>
      </p:sp>
      <p:sp>
        <p:nvSpPr>
          <p:cNvPr id="19" name="TextBox 18">
            <a:extLst>
              <a:ext uri="{FF2B5EF4-FFF2-40B4-BE49-F238E27FC236}">
                <a16:creationId xmlns:a16="http://schemas.microsoft.com/office/drawing/2014/main" id="{5947BA55-15C3-4040-9B5B-8EAC7B3B3343}"/>
              </a:ext>
            </a:extLst>
          </p:cNvPr>
          <p:cNvSpPr txBox="1"/>
          <p:nvPr/>
        </p:nvSpPr>
        <p:spPr>
          <a:xfrm>
            <a:off x="1104893" y="4989837"/>
            <a:ext cx="10277475" cy="1754326"/>
          </a:xfrm>
          <a:prstGeom prst="rect">
            <a:avLst/>
          </a:prstGeom>
          <a:noFill/>
        </p:spPr>
        <p:txBody>
          <a:bodyPr wrap="square" rtlCol="0">
            <a:spAutoFit/>
          </a:bodyPr>
          <a:lstStyle/>
          <a:p>
            <a:pPr marL="285750" indent="-285750">
              <a:buFont typeface="Wingdings" panose="05000000000000000000" pitchFamily="2" charset="2"/>
              <a:buChar char="§"/>
            </a:pPr>
            <a:r>
              <a:rPr lang="es-PE" sz="1200" dirty="0">
                <a:solidFill>
                  <a:schemeClr val="bg1">
                    <a:lumMod val="65000"/>
                  </a:schemeClr>
                </a:solidFill>
              </a:rPr>
              <a:t>Antecedentes</a:t>
            </a:r>
          </a:p>
          <a:p>
            <a:pPr marL="285750" indent="-285750">
              <a:buFont typeface="Wingdings" panose="05000000000000000000" pitchFamily="2" charset="2"/>
              <a:buChar char="§"/>
            </a:pPr>
            <a:r>
              <a:rPr lang="es-PE" sz="1200" dirty="0">
                <a:solidFill>
                  <a:schemeClr val="bg1">
                    <a:lumMod val="65000"/>
                  </a:schemeClr>
                </a:solidFill>
              </a:rPr>
              <a:t>Oportunidades</a:t>
            </a:r>
          </a:p>
          <a:p>
            <a:pPr marL="285750" indent="-285750">
              <a:buFont typeface="Wingdings" panose="05000000000000000000" pitchFamily="2" charset="2"/>
              <a:buChar char="§"/>
            </a:pPr>
            <a:r>
              <a:rPr lang="es-PE" sz="1200" dirty="0">
                <a:solidFill>
                  <a:schemeClr val="bg1">
                    <a:lumMod val="65000"/>
                  </a:schemeClr>
                </a:solidFill>
              </a:rPr>
              <a:t>El Modelo</a:t>
            </a:r>
          </a:p>
          <a:p>
            <a:pPr marL="285750" indent="-285750">
              <a:buFont typeface="Wingdings" panose="05000000000000000000" pitchFamily="2" charset="2"/>
              <a:buChar char="§"/>
            </a:pPr>
            <a:r>
              <a:rPr lang="es-PE" sz="1200" dirty="0">
                <a:solidFill>
                  <a:schemeClr val="bg1">
                    <a:lumMod val="65000"/>
                  </a:schemeClr>
                </a:solidFill>
              </a:rPr>
              <a:t>Componentes de la estrategia</a:t>
            </a:r>
          </a:p>
          <a:p>
            <a:pPr marL="285750" indent="-285750">
              <a:buFont typeface="Wingdings" panose="05000000000000000000" pitchFamily="2" charset="2"/>
              <a:buChar char="§"/>
            </a:pPr>
            <a:r>
              <a:rPr lang="es-PE" sz="1200" dirty="0">
                <a:solidFill>
                  <a:schemeClr val="bg1">
                    <a:lumMod val="65000"/>
                  </a:schemeClr>
                </a:solidFill>
              </a:rPr>
              <a:t>Focalización</a:t>
            </a:r>
          </a:p>
          <a:p>
            <a:pPr marL="285750" indent="-285750">
              <a:buFont typeface="Wingdings" panose="05000000000000000000" pitchFamily="2" charset="2"/>
              <a:buChar char="§"/>
            </a:pPr>
            <a:r>
              <a:rPr lang="es-PE" sz="1200" dirty="0">
                <a:solidFill>
                  <a:schemeClr val="bg1">
                    <a:lumMod val="65000"/>
                  </a:schemeClr>
                </a:solidFill>
              </a:rPr>
              <a:t>Cobertura</a:t>
            </a:r>
          </a:p>
          <a:p>
            <a:pPr marL="285750" indent="-285750">
              <a:buFont typeface="Wingdings" panose="05000000000000000000" pitchFamily="2" charset="2"/>
              <a:buChar char="§"/>
            </a:pPr>
            <a:r>
              <a:rPr lang="es-PE" sz="1200" dirty="0">
                <a:solidFill>
                  <a:schemeClr val="bg1">
                    <a:lumMod val="65000"/>
                  </a:schemeClr>
                </a:solidFill>
              </a:rPr>
              <a:t>Estimación de Costos</a:t>
            </a:r>
          </a:p>
          <a:p>
            <a:pPr marL="285750" indent="-285750">
              <a:buFont typeface="Wingdings" panose="05000000000000000000" pitchFamily="2" charset="2"/>
              <a:buChar char="§"/>
            </a:pPr>
            <a:r>
              <a:rPr lang="es-PE" sz="1200" dirty="0">
                <a:solidFill>
                  <a:schemeClr val="bg1">
                    <a:lumMod val="65000"/>
                  </a:schemeClr>
                </a:solidFill>
              </a:rPr>
              <a:t>Cronograma</a:t>
            </a:r>
          </a:p>
          <a:p>
            <a:pPr marL="285750" indent="-285750">
              <a:buFont typeface="Wingdings" panose="05000000000000000000" pitchFamily="2" charset="2"/>
              <a:buChar char="§"/>
            </a:pPr>
            <a:r>
              <a:rPr lang="es-PE" sz="1200" dirty="0">
                <a:solidFill>
                  <a:schemeClr val="bg1">
                    <a:lumMod val="65000"/>
                  </a:schemeClr>
                </a:solidFill>
              </a:rPr>
              <a:t>Complementariedad con otras estrategias y recomendaciones</a:t>
            </a:r>
          </a:p>
        </p:txBody>
      </p:sp>
    </p:spTree>
    <p:extLst>
      <p:ext uri="{BB962C8B-B14F-4D97-AF65-F5344CB8AC3E}">
        <p14:creationId xmlns:p14="http://schemas.microsoft.com/office/powerpoint/2010/main" val="10998784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34F100-A7EC-4671-A397-E2CE2F99E0D8}"/>
              </a:ext>
            </a:extLst>
          </p:cNvPr>
          <p:cNvSpPr>
            <a:spLocks noGrp="1"/>
          </p:cNvSpPr>
          <p:nvPr>
            <p:ph type="title"/>
          </p:nvPr>
        </p:nvSpPr>
        <p:spPr/>
        <p:txBody>
          <a:bodyPr/>
          <a:lstStyle/>
          <a:p>
            <a:r>
              <a:rPr lang="es-PE" dirty="0"/>
              <a:t>Antecedentes</a:t>
            </a:r>
            <a:endParaRPr lang="en-CA" dirty="0"/>
          </a:p>
        </p:txBody>
      </p:sp>
      <p:sp>
        <p:nvSpPr>
          <p:cNvPr id="3" name="Slide Number Placeholder 2">
            <a:extLst>
              <a:ext uri="{FF2B5EF4-FFF2-40B4-BE49-F238E27FC236}">
                <a16:creationId xmlns:a16="http://schemas.microsoft.com/office/drawing/2014/main" id="{77C825E1-0A6F-44C6-86EC-8EF429330626}"/>
              </a:ext>
            </a:extLst>
          </p:cNvPr>
          <p:cNvSpPr>
            <a:spLocks noGrp="1"/>
          </p:cNvSpPr>
          <p:nvPr>
            <p:ph type="sldNum" sz="quarter" idx="12"/>
          </p:nvPr>
        </p:nvSpPr>
        <p:spPr/>
        <p:txBody>
          <a:bodyPr/>
          <a:lstStyle/>
          <a:p>
            <a:fld id="{DAF31D20-51B2-49A6-91FA-1FC48A60B42D}" type="slidenum">
              <a:rPr lang="es-PE" smtClean="0"/>
              <a:t>13</a:t>
            </a:fld>
            <a:endParaRPr lang="es-PE"/>
          </a:p>
        </p:txBody>
      </p:sp>
      <p:sp>
        <p:nvSpPr>
          <p:cNvPr id="4" name="TextBox 3">
            <a:extLst>
              <a:ext uri="{FF2B5EF4-FFF2-40B4-BE49-F238E27FC236}">
                <a16:creationId xmlns:a16="http://schemas.microsoft.com/office/drawing/2014/main" id="{A21ECCC2-754B-44B6-922F-FEF644DD2EFA}"/>
              </a:ext>
            </a:extLst>
          </p:cNvPr>
          <p:cNvSpPr txBox="1"/>
          <p:nvPr/>
        </p:nvSpPr>
        <p:spPr>
          <a:xfrm>
            <a:off x="374469" y="3528871"/>
            <a:ext cx="5162729" cy="2308324"/>
          </a:xfrm>
          <a:prstGeom prst="rect">
            <a:avLst/>
          </a:prstGeom>
          <a:noFill/>
        </p:spPr>
        <p:txBody>
          <a:bodyPr wrap="square" rtlCol="0">
            <a:spAutoFit/>
          </a:bodyPr>
          <a:lstStyle/>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1800" b="1" i="0" u="none" strike="noStrike" kern="1200" cap="none" spc="0" normalizeH="0" baseline="0" noProof="0" dirty="0">
                <a:ln>
                  <a:noFill/>
                </a:ln>
                <a:solidFill>
                  <a:schemeClr val="tx2"/>
                </a:solidFill>
                <a:effectLst/>
                <a:uLnTx/>
                <a:uFillTx/>
                <a:latin typeface="Calibri" panose="020F0502020204030204"/>
                <a:ea typeface="+mn-ea"/>
                <a:cs typeface="+mn-cs"/>
              </a:rPr>
              <a:t>30 escuelas rurales </a:t>
            </a:r>
            <a:r>
              <a:rPr kumimoji="0" lang="es-ES" sz="1800" b="0" i="0" u="none" strike="noStrike" kern="1200" cap="none" spc="0" normalizeH="0" baseline="0" noProof="0" dirty="0">
                <a:ln>
                  <a:noFill/>
                </a:ln>
                <a:solidFill>
                  <a:schemeClr val="tx2"/>
                </a:solidFill>
                <a:effectLst/>
                <a:uLnTx/>
                <a:uFillTx/>
                <a:latin typeface="Calibri" panose="020F0502020204030204"/>
                <a:ea typeface="+mn-ea"/>
                <a:cs typeface="+mn-cs"/>
              </a:rPr>
              <a:t>multigrado (3 ° - 6 °). 600+ niños de Cajamarca.</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1800" b="0" i="0" u="none" strike="noStrike" kern="1200" cap="none" spc="0" normalizeH="0" baseline="0" noProof="0" dirty="0">
                <a:ln>
                  <a:noFill/>
                </a:ln>
                <a:solidFill>
                  <a:schemeClr val="tx2"/>
                </a:solidFill>
                <a:effectLst/>
                <a:uLnTx/>
                <a:uFillTx/>
                <a:latin typeface="Calibri" panose="020F0502020204030204"/>
                <a:ea typeface="+mn-ea"/>
                <a:cs typeface="+mn-cs"/>
              </a:rPr>
              <a:t>2 o 3 semanas de actividades por escuela. 1 hora de matemáticas y 1 hora de lectura al día.</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1800" b="0" i="0" u="none" strike="noStrike" kern="1200" cap="none" spc="0" normalizeH="0" baseline="0" noProof="0" dirty="0">
                <a:ln>
                  <a:noFill/>
                </a:ln>
                <a:solidFill>
                  <a:schemeClr val="tx2"/>
                </a:solidFill>
                <a:effectLst/>
                <a:uLnTx/>
                <a:uFillTx/>
                <a:latin typeface="Calibri" panose="020F0502020204030204"/>
                <a:ea typeface="+mn-ea"/>
                <a:cs typeface="+mn-cs"/>
              </a:rPr>
              <a:t>Sesiones dirigidas por instructores contratados por Minedu específicamente para el piloto.</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1800" b="0" i="0" u="none" strike="noStrike" kern="1200" cap="none" spc="0" normalizeH="0" baseline="0" noProof="0" dirty="0">
                <a:ln>
                  <a:noFill/>
                </a:ln>
                <a:solidFill>
                  <a:schemeClr val="tx2"/>
                </a:solidFill>
                <a:effectLst/>
                <a:uLnTx/>
                <a:uFillTx/>
                <a:latin typeface="Calibri" panose="020F0502020204030204"/>
                <a:ea typeface="+mn-ea"/>
                <a:cs typeface="+mn-cs"/>
              </a:rPr>
              <a:t>Los maestros observaron y / o participaron en las actividades.</a:t>
            </a:r>
            <a:endParaRPr kumimoji="0" lang="en-CA" sz="1800" b="0" i="0" u="none" strike="noStrike" kern="1200" cap="none" spc="0" normalizeH="0" baseline="0" noProof="0" dirty="0">
              <a:ln>
                <a:noFill/>
              </a:ln>
              <a:solidFill>
                <a:schemeClr val="tx2"/>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C90B8BB9-E282-4951-B52B-7F7E4285487A}"/>
              </a:ext>
            </a:extLst>
          </p:cNvPr>
          <p:cNvSpPr txBox="1"/>
          <p:nvPr/>
        </p:nvSpPr>
        <p:spPr>
          <a:xfrm>
            <a:off x="273749" y="1754664"/>
            <a:ext cx="5263450" cy="1200329"/>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s-PE" sz="1800" b="0" i="0" u="none" strike="noStrike" kern="1200" cap="none" spc="0" normalizeH="0" baseline="0" noProof="0" dirty="0">
                <a:ln>
                  <a:noFill/>
                </a:ln>
                <a:solidFill>
                  <a:schemeClr val="tx2"/>
                </a:solidFill>
                <a:effectLst/>
                <a:uLnTx/>
                <a:uFillTx/>
                <a:latin typeface="Calibri" panose="020F0502020204030204"/>
                <a:ea typeface="+mn-ea"/>
                <a:cs typeface="+mn-cs"/>
              </a:rPr>
              <a:t>En el 2018, la Dirección General de Calidad de la Gestión Escolar, realizó un Piloto del modelo de </a:t>
            </a:r>
            <a:r>
              <a:rPr kumimoji="0" lang="es-PE" sz="1800" b="0" i="1" u="none" strike="noStrike" kern="1200" cap="none" spc="0" normalizeH="0" baseline="0" noProof="0" dirty="0" err="1">
                <a:ln>
                  <a:noFill/>
                </a:ln>
                <a:solidFill>
                  <a:schemeClr val="tx2"/>
                </a:solidFill>
                <a:effectLst/>
                <a:uLnTx/>
                <a:uFillTx/>
                <a:latin typeface="Calibri" panose="020F0502020204030204"/>
                <a:ea typeface="+mn-ea"/>
                <a:cs typeface="+mn-cs"/>
              </a:rPr>
              <a:t>Teaching</a:t>
            </a:r>
            <a:r>
              <a:rPr kumimoji="0" lang="es-PE" sz="1800" b="0" i="1" u="none" strike="noStrike" kern="1200" cap="none" spc="0" normalizeH="0" baseline="0" noProof="0" dirty="0">
                <a:ln>
                  <a:noFill/>
                </a:ln>
                <a:solidFill>
                  <a:schemeClr val="tx2"/>
                </a:solidFill>
                <a:effectLst/>
                <a:uLnTx/>
                <a:uFillTx/>
                <a:latin typeface="Calibri" panose="020F0502020204030204"/>
                <a:ea typeface="+mn-ea"/>
                <a:cs typeface="+mn-cs"/>
              </a:rPr>
              <a:t> at </a:t>
            </a:r>
            <a:r>
              <a:rPr kumimoji="0" lang="es-PE" sz="1800" b="0" i="1" u="none" strike="noStrike" kern="1200" cap="none" spc="0" normalizeH="0" baseline="0" noProof="0" dirty="0" err="1">
                <a:ln>
                  <a:noFill/>
                </a:ln>
                <a:solidFill>
                  <a:schemeClr val="tx2"/>
                </a:solidFill>
                <a:effectLst/>
                <a:uLnTx/>
                <a:uFillTx/>
                <a:latin typeface="Calibri" panose="020F0502020204030204"/>
                <a:ea typeface="+mn-ea"/>
                <a:cs typeface="+mn-cs"/>
              </a:rPr>
              <a:t>the</a:t>
            </a:r>
            <a:r>
              <a:rPr kumimoji="0" lang="es-PE" sz="1800" b="0" i="1" u="none" strike="noStrike" kern="1200" cap="none" spc="0" normalizeH="0" baseline="0" noProof="0" dirty="0">
                <a:ln>
                  <a:noFill/>
                </a:ln>
                <a:solidFill>
                  <a:schemeClr val="tx2"/>
                </a:solidFill>
                <a:effectLst/>
                <a:uLnTx/>
                <a:uFillTx/>
                <a:latin typeface="Calibri" panose="020F0502020204030204"/>
                <a:ea typeface="+mn-ea"/>
                <a:cs typeface="+mn-cs"/>
              </a:rPr>
              <a:t> </a:t>
            </a:r>
            <a:r>
              <a:rPr kumimoji="0" lang="es-PE" sz="1800" b="0" i="1" u="none" strike="noStrike" kern="1200" cap="none" spc="0" normalizeH="0" baseline="0" noProof="0" dirty="0" err="1">
                <a:ln>
                  <a:noFill/>
                </a:ln>
                <a:solidFill>
                  <a:schemeClr val="tx2"/>
                </a:solidFill>
                <a:effectLst/>
                <a:uLnTx/>
                <a:uFillTx/>
                <a:latin typeface="Calibri" panose="020F0502020204030204"/>
                <a:ea typeface="+mn-ea"/>
                <a:cs typeface="+mn-cs"/>
              </a:rPr>
              <a:t>Right</a:t>
            </a:r>
            <a:r>
              <a:rPr kumimoji="0" lang="es-PE" sz="1800" b="0" i="1" u="none" strike="noStrike" kern="1200" cap="none" spc="0" normalizeH="0" baseline="0" noProof="0" dirty="0">
                <a:ln>
                  <a:noFill/>
                </a:ln>
                <a:solidFill>
                  <a:schemeClr val="tx2"/>
                </a:solidFill>
                <a:effectLst/>
                <a:uLnTx/>
                <a:uFillTx/>
                <a:latin typeface="Calibri" panose="020F0502020204030204"/>
                <a:ea typeface="+mn-ea"/>
                <a:cs typeface="+mn-cs"/>
              </a:rPr>
              <a:t> </a:t>
            </a:r>
            <a:r>
              <a:rPr kumimoji="0" lang="es-PE" sz="1800" b="0" i="1" u="none" strike="noStrike" kern="1200" cap="none" spc="0" normalizeH="0" baseline="0" noProof="0" dirty="0" err="1">
                <a:ln>
                  <a:noFill/>
                </a:ln>
                <a:solidFill>
                  <a:schemeClr val="tx2"/>
                </a:solidFill>
                <a:effectLst/>
                <a:uLnTx/>
                <a:uFillTx/>
                <a:latin typeface="Calibri" panose="020F0502020204030204"/>
                <a:ea typeface="+mn-ea"/>
                <a:cs typeface="+mn-cs"/>
              </a:rPr>
              <a:t>Level</a:t>
            </a:r>
            <a:r>
              <a:rPr kumimoji="0" lang="es-PE" sz="1800" b="0" i="0" u="none" strike="noStrike" kern="1200" cap="none" spc="0" normalizeH="0" baseline="0" noProof="0" dirty="0">
                <a:ln>
                  <a:noFill/>
                </a:ln>
                <a:solidFill>
                  <a:schemeClr val="tx2"/>
                </a:solidFill>
                <a:effectLst/>
                <a:uLnTx/>
                <a:uFillTx/>
                <a:latin typeface="Calibri" panose="020F0502020204030204"/>
                <a:ea typeface="+mn-ea"/>
                <a:cs typeface="+mn-cs"/>
              </a:rPr>
              <a:t>. Las consideraciones fueron las siguientes</a:t>
            </a:r>
            <a:endParaRPr kumimoji="0" lang="en-CA" sz="1800" b="0" i="0" u="none" strike="noStrike" kern="1200" cap="none" spc="0" normalizeH="0" baseline="0" noProof="0" dirty="0">
              <a:ln>
                <a:noFill/>
              </a:ln>
              <a:solidFill>
                <a:schemeClr val="tx2"/>
              </a:solidFill>
              <a:effectLst/>
              <a:uLnTx/>
              <a:uFillTx/>
              <a:latin typeface="Calibri" panose="020F0502020204030204"/>
              <a:ea typeface="+mn-ea"/>
              <a:cs typeface="+mn-cs"/>
            </a:endParaRPr>
          </a:p>
        </p:txBody>
      </p:sp>
      <p:cxnSp>
        <p:nvCxnSpPr>
          <p:cNvPr id="6" name="Straight Connector 5">
            <a:extLst>
              <a:ext uri="{FF2B5EF4-FFF2-40B4-BE49-F238E27FC236}">
                <a16:creationId xmlns:a16="http://schemas.microsoft.com/office/drawing/2014/main" id="{98C4EB4B-7F43-479B-A279-208CAAAE589E}"/>
              </a:ext>
            </a:extLst>
          </p:cNvPr>
          <p:cNvCxnSpPr>
            <a:cxnSpLocks/>
          </p:cNvCxnSpPr>
          <p:nvPr/>
        </p:nvCxnSpPr>
        <p:spPr>
          <a:xfrm>
            <a:off x="6011705" y="1754664"/>
            <a:ext cx="0" cy="4219416"/>
          </a:xfrm>
          <a:prstGeom prst="line">
            <a:avLst/>
          </a:prstGeom>
          <a:ln w="28575">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D05DAB1C-655B-4D10-8653-20A1E801D52E}"/>
              </a:ext>
            </a:extLst>
          </p:cNvPr>
          <p:cNvSpPr txBox="1"/>
          <p:nvPr/>
        </p:nvSpPr>
        <p:spPr>
          <a:xfrm>
            <a:off x="6486212" y="2354828"/>
            <a:ext cx="5296601" cy="286232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PE" sz="2400" b="1" i="0" u="none" strike="noStrike" kern="1200" cap="none" spc="0" normalizeH="0" baseline="0" noProof="0" dirty="0">
                <a:ln>
                  <a:noFill/>
                </a:ln>
                <a:solidFill>
                  <a:srgbClr val="00B050"/>
                </a:solidFill>
                <a:effectLst/>
                <a:uLnTx/>
                <a:uFillTx/>
                <a:latin typeface="Calibri" panose="020F0502020204030204"/>
                <a:ea typeface="+mn-ea"/>
                <a:cs typeface="+mn-cs"/>
              </a:rPr>
              <a:t>Resultados: Positivos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PE" sz="2400" b="1"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PE" sz="1800" b="1" i="0" u="none" strike="noStrike" kern="1200" cap="none" spc="0" normalizeH="0" baseline="0" noProof="0" dirty="0">
                <a:ln>
                  <a:noFill/>
                </a:ln>
                <a:solidFill>
                  <a:schemeClr val="tx2"/>
                </a:solidFill>
                <a:effectLst/>
                <a:uLnTx/>
                <a:uFillTx/>
                <a:latin typeface="Calibri" panose="020F0502020204030204"/>
                <a:ea typeface="+mn-ea"/>
                <a:cs typeface="+mn-cs"/>
              </a:rPr>
              <a:t>Lectura: </a:t>
            </a:r>
            <a:r>
              <a:rPr kumimoji="0" lang="es-PE" sz="1800" b="0" i="0" u="none" strike="noStrike" kern="1200" cap="none" spc="0" normalizeH="0" baseline="0" noProof="0" dirty="0">
                <a:ln>
                  <a:noFill/>
                </a:ln>
                <a:solidFill>
                  <a:schemeClr val="tx2"/>
                </a:solidFill>
                <a:effectLst/>
                <a:uLnTx/>
                <a:uFillTx/>
                <a:latin typeface="Calibri" panose="020F0502020204030204"/>
                <a:ea typeface="+mn-ea"/>
                <a:cs typeface="+mn-cs"/>
              </a:rPr>
              <a:t>Estudiantes que leían historias incrementaron en </a:t>
            </a:r>
            <a:r>
              <a:rPr kumimoji="0" lang="es-PE" sz="1800" b="1" i="0" u="sng" strike="noStrike" kern="1200" cap="none" spc="0" normalizeH="0" baseline="0" noProof="0" dirty="0">
                <a:ln>
                  <a:noFill/>
                </a:ln>
                <a:solidFill>
                  <a:schemeClr val="tx2"/>
                </a:solidFill>
                <a:effectLst/>
                <a:uLnTx/>
                <a:uFillTx/>
                <a:latin typeface="Calibri" panose="020F0502020204030204"/>
                <a:ea typeface="+mn-ea"/>
                <a:cs typeface="+mn-cs"/>
              </a:rPr>
              <a:t>20%</a:t>
            </a:r>
            <a:r>
              <a:rPr kumimoji="0" lang="es-PE" sz="1800" b="1" i="0" u="none" strike="noStrike" kern="1200" cap="none" spc="0" normalizeH="0" baseline="0" noProof="0" dirty="0">
                <a:ln>
                  <a:noFill/>
                </a:ln>
                <a:solidFill>
                  <a:schemeClr val="tx2"/>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PE" sz="1800" b="0" i="0" u="none" strike="noStrike" kern="1200" cap="none" spc="0" normalizeH="0" baseline="0" noProof="0" dirty="0">
              <a:ln>
                <a:noFill/>
              </a:ln>
              <a:solidFill>
                <a:schemeClr val="tx2"/>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PE" sz="1800" b="1" i="0" u="none" strike="noStrike" kern="1200" cap="none" spc="0" normalizeH="0" baseline="0" noProof="0" dirty="0">
                <a:ln>
                  <a:noFill/>
                </a:ln>
                <a:solidFill>
                  <a:schemeClr val="tx2"/>
                </a:solidFill>
                <a:effectLst/>
                <a:uLnTx/>
                <a:uFillTx/>
                <a:latin typeface="Calibri" panose="020F0502020204030204"/>
                <a:ea typeface="+mn-ea"/>
                <a:cs typeface="+mn-cs"/>
              </a:rPr>
              <a:t>Matemática: </a:t>
            </a:r>
            <a:r>
              <a:rPr kumimoji="0" lang="es-PE" sz="1800" b="0" i="0" u="none" strike="noStrike" kern="1200" cap="none" spc="0" normalizeH="0" baseline="0" noProof="0" dirty="0">
                <a:ln>
                  <a:noFill/>
                </a:ln>
                <a:solidFill>
                  <a:schemeClr val="tx2"/>
                </a:solidFill>
                <a:effectLst/>
                <a:uLnTx/>
                <a:uFillTx/>
                <a:latin typeface="Calibri" panose="020F0502020204030204"/>
                <a:ea typeface="+mn-ea"/>
                <a:cs typeface="+mn-cs"/>
              </a:rPr>
              <a:t>Los estudiantes tuvieron una mejora en el desempeño de las </a:t>
            </a:r>
            <a:r>
              <a:rPr kumimoji="0" lang="es-PE" sz="1800" b="1" i="0" u="sng" strike="noStrike" kern="1200" cap="none" spc="0" normalizeH="0" baseline="0" noProof="0" dirty="0">
                <a:ln>
                  <a:noFill/>
                </a:ln>
                <a:solidFill>
                  <a:schemeClr val="tx2"/>
                </a:solidFill>
                <a:effectLst/>
                <a:uLnTx/>
                <a:uFillTx/>
                <a:latin typeface="Calibri" panose="020F0502020204030204"/>
                <a:ea typeface="+mn-ea"/>
                <a:cs typeface="+mn-cs"/>
              </a:rPr>
              <a:t>4 operaciones matemáticas</a:t>
            </a:r>
            <a:r>
              <a:rPr kumimoji="0" lang="es-PE" sz="1800" b="1" i="0" u="none" strike="noStrike" kern="1200" cap="none" spc="0" normalizeH="0" baseline="0" noProof="0" dirty="0">
                <a:ln>
                  <a:noFill/>
                </a:ln>
                <a:solidFill>
                  <a:schemeClr val="tx2"/>
                </a:solidFill>
                <a:effectLst/>
                <a:uLnTx/>
                <a:uFillTx/>
                <a:latin typeface="Calibri" panose="020F0502020204030204"/>
                <a:ea typeface="+mn-ea"/>
                <a:cs typeface="+mn-cs"/>
              </a:rPr>
              <a:t>.</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CA" sz="2400" b="1"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375563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Diagonal Corners Rounded 6">
            <a:extLst>
              <a:ext uri="{FF2B5EF4-FFF2-40B4-BE49-F238E27FC236}">
                <a16:creationId xmlns:a16="http://schemas.microsoft.com/office/drawing/2014/main" id="{5DC549E6-0B6C-450B-922D-0F58D2924A72}"/>
              </a:ext>
            </a:extLst>
          </p:cNvPr>
          <p:cNvSpPr/>
          <p:nvPr/>
        </p:nvSpPr>
        <p:spPr>
          <a:xfrm>
            <a:off x="429623" y="1048649"/>
            <a:ext cx="11267440" cy="721517"/>
          </a:xfrm>
          <a:prstGeom prst="round2DiagRect">
            <a:avLst/>
          </a:prstGeom>
          <a:solidFill>
            <a:srgbClr val="C00000"/>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solidFill>
                <a:schemeClr val="bg1"/>
              </a:solidFill>
            </a:endParaRPr>
          </a:p>
        </p:txBody>
      </p:sp>
      <p:sp>
        <p:nvSpPr>
          <p:cNvPr id="2" name="Title 1">
            <a:extLst>
              <a:ext uri="{FF2B5EF4-FFF2-40B4-BE49-F238E27FC236}">
                <a16:creationId xmlns:a16="http://schemas.microsoft.com/office/drawing/2014/main" id="{16C18CE1-72D9-4719-A2FF-5C93A7E96E39}"/>
              </a:ext>
            </a:extLst>
          </p:cNvPr>
          <p:cNvSpPr>
            <a:spLocks noGrp="1"/>
          </p:cNvSpPr>
          <p:nvPr>
            <p:ph type="title"/>
          </p:nvPr>
        </p:nvSpPr>
        <p:spPr/>
        <p:txBody>
          <a:bodyPr/>
          <a:lstStyle/>
          <a:p>
            <a:r>
              <a:rPr lang="es-PE" sz="4000" dirty="0"/>
              <a:t>AGENDA</a:t>
            </a:r>
            <a:endParaRPr lang="en-CA" sz="4000" dirty="0"/>
          </a:p>
        </p:txBody>
      </p:sp>
      <p:sp>
        <p:nvSpPr>
          <p:cNvPr id="3" name="Slide Number Placeholder 2">
            <a:extLst>
              <a:ext uri="{FF2B5EF4-FFF2-40B4-BE49-F238E27FC236}">
                <a16:creationId xmlns:a16="http://schemas.microsoft.com/office/drawing/2014/main" id="{0DFD7E46-D5CE-48DD-96F3-51002A57C15D}"/>
              </a:ext>
            </a:extLst>
          </p:cNvPr>
          <p:cNvSpPr>
            <a:spLocks noGrp="1"/>
          </p:cNvSpPr>
          <p:nvPr>
            <p:ph type="sldNum" sz="quarter" idx="12"/>
          </p:nvPr>
        </p:nvSpPr>
        <p:spPr/>
        <p:txBody>
          <a:bodyPr/>
          <a:lstStyle/>
          <a:p>
            <a:fld id="{DAF31D20-51B2-49A6-91FA-1FC48A60B42D}" type="slidenum">
              <a:rPr lang="es-PE" smtClean="0"/>
              <a:t>14</a:t>
            </a:fld>
            <a:endParaRPr lang="es-PE"/>
          </a:p>
        </p:txBody>
      </p:sp>
      <p:sp>
        <p:nvSpPr>
          <p:cNvPr id="5" name="TextBox 4">
            <a:extLst>
              <a:ext uri="{FF2B5EF4-FFF2-40B4-BE49-F238E27FC236}">
                <a16:creationId xmlns:a16="http://schemas.microsoft.com/office/drawing/2014/main" id="{17CB7C5A-6404-4218-A2FD-BE386960A332}"/>
              </a:ext>
            </a:extLst>
          </p:cNvPr>
          <p:cNvSpPr txBox="1"/>
          <p:nvPr/>
        </p:nvSpPr>
        <p:spPr>
          <a:xfrm>
            <a:off x="494937" y="1249444"/>
            <a:ext cx="10739120" cy="369332"/>
          </a:xfrm>
          <a:prstGeom prst="rect">
            <a:avLst/>
          </a:prstGeom>
          <a:noFill/>
        </p:spPr>
        <p:txBody>
          <a:bodyPr wrap="square" rtlCol="0">
            <a:spAutoFit/>
          </a:bodyPr>
          <a:lstStyle/>
          <a:p>
            <a:r>
              <a:rPr lang="es-PE" b="1" dirty="0">
                <a:solidFill>
                  <a:schemeClr val="bg1"/>
                </a:solidFill>
              </a:rPr>
              <a:t>2.  Propuesta de estrategia de Educación Remedial </a:t>
            </a:r>
            <a:endParaRPr lang="en-CA" b="1" dirty="0">
              <a:solidFill>
                <a:schemeClr val="bg1"/>
              </a:solidFill>
            </a:endParaRPr>
          </a:p>
        </p:txBody>
      </p:sp>
      <p:sp>
        <p:nvSpPr>
          <p:cNvPr id="11" name="Rectangle 10">
            <a:extLst>
              <a:ext uri="{FF2B5EF4-FFF2-40B4-BE49-F238E27FC236}">
                <a16:creationId xmlns:a16="http://schemas.microsoft.com/office/drawing/2014/main" id="{73ED18D7-638E-4BF8-8DFC-833E74760777}"/>
              </a:ext>
            </a:extLst>
          </p:cNvPr>
          <p:cNvSpPr/>
          <p:nvPr/>
        </p:nvSpPr>
        <p:spPr>
          <a:xfrm>
            <a:off x="866770" y="1964956"/>
            <a:ext cx="10753725" cy="381602"/>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00050" indent="-400050">
              <a:buFont typeface="+mj-lt"/>
              <a:buAutoNum type="romanUcPeriod"/>
            </a:pPr>
            <a:r>
              <a:rPr lang="es-PE" b="1" dirty="0">
                <a:solidFill>
                  <a:schemeClr val="tx2"/>
                </a:solidFill>
              </a:rPr>
              <a:t>Información general de estrategias</a:t>
            </a:r>
            <a:endParaRPr lang="en-CA" b="1" dirty="0">
              <a:solidFill>
                <a:schemeClr val="tx2"/>
              </a:solidFill>
            </a:endParaRPr>
          </a:p>
        </p:txBody>
      </p:sp>
      <p:sp>
        <p:nvSpPr>
          <p:cNvPr id="13" name="Rectangle 12">
            <a:extLst>
              <a:ext uri="{FF2B5EF4-FFF2-40B4-BE49-F238E27FC236}">
                <a16:creationId xmlns:a16="http://schemas.microsoft.com/office/drawing/2014/main" id="{BF24706C-635F-48B8-86E0-9354C25A8312}"/>
              </a:ext>
            </a:extLst>
          </p:cNvPr>
          <p:cNvSpPr/>
          <p:nvPr/>
        </p:nvSpPr>
        <p:spPr>
          <a:xfrm>
            <a:off x="866770" y="2559386"/>
            <a:ext cx="10753725" cy="381602"/>
          </a:xfrm>
          <a:prstGeom prst="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00050" indent="-400050">
              <a:buFont typeface="+mj-lt"/>
              <a:buAutoNum type="romanUcPeriod" startAt="2"/>
            </a:pPr>
            <a:r>
              <a:rPr lang="es-PE" b="1" dirty="0">
                <a:solidFill>
                  <a:schemeClr val="bg1"/>
                </a:solidFill>
              </a:rPr>
              <a:t>Modelo 1: Enseñanza al nivel adecuado (</a:t>
            </a:r>
            <a:r>
              <a:rPr lang="es-PE" b="1" dirty="0" err="1">
                <a:solidFill>
                  <a:schemeClr val="bg1"/>
                </a:solidFill>
              </a:rPr>
              <a:t>TaRL</a:t>
            </a:r>
            <a:r>
              <a:rPr lang="es-PE" b="1" dirty="0">
                <a:solidFill>
                  <a:schemeClr val="bg1"/>
                </a:solidFill>
              </a:rPr>
              <a:t>)</a:t>
            </a:r>
            <a:endParaRPr lang="en-CA" b="1" dirty="0">
              <a:solidFill>
                <a:schemeClr val="bg1"/>
              </a:solidFill>
            </a:endParaRPr>
          </a:p>
        </p:txBody>
      </p:sp>
      <p:sp>
        <p:nvSpPr>
          <p:cNvPr id="15" name="Rectangle 14">
            <a:extLst>
              <a:ext uri="{FF2B5EF4-FFF2-40B4-BE49-F238E27FC236}">
                <a16:creationId xmlns:a16="http://schemas.microsoft.com/office/drawing/2014/main" id="{6D048FC1-72B2-4921-BF07-AC34182DA451}"/>
              </a:ext>
            </a:extLst>
          </p:cNvPr>
          <p:cNvSpPr/>
          <p:nvPr/>
        </p:nvSpPr>
        <p:spPr>
          <a:xfrm>
            <a:off x="866770" y="4598728"/>
            <a:ext cx="10753725" cy="381602"/>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00050" indent="-400050">
              <a:buFont typeface="+mj-lt"/>
              <a:buAutoNum type="romanUcPeriod" startAt="3"/>
            </a:pPr>
            <a:r>
              <a:rPr lang="es-PE" b="1" dirty="0">
                <a:solidFill>
                  <a:schemeClr val="tx2"/>
                </a:solidFill>
              </a:rPr>
              <a:t>Modelo 2: Tutoría con componente digital</a:t>
            </a:r>
            <a:endParaRPr lang="en-CA" b="1" dirty="0">
              <a:solidFill>
                <a:schemeClr val="tx2"/>
              </a:solidFill>
            </a:endParaRPr>
          </a:p>
        </p:txBody>
      </p:sp>
      <p:sp>
        <p:nvSpPr>
          <p:cNvPr id="18" name="TextBox 17">
            <a:extLst>
              <a:ext uri="{FF2B5EF4-FFF2-40B4-BE49-F238E27FC236}">
                <a16:creationId xmlns:a16="http://schemas.microsoft.com/office/drawing/2014/main" id="{1472411D-B88F-4453-A39D-EDA418DB8DC9}"/>
              </a:ext>
            </a:extLst>
          </p:cNvPr>
          <p:cNvSpPr txBox="1"/>
          <p:nvPr/>
        </p:nvSpPr>
        <p:spPr>
          <a:xfrm>
            <a:off x="1104894" y="2959666"/>
            <a:ext cx="10277475" cy="1754326"/>
          </a:xfrm>
          <a:prstGeom prst="rect">
            <a:avLst/>
          </a:prstGeom>
          <a:noFill/>
        </p:spPr>
        <p:txBody>
          <a:bodyPr wrap="square" rtlCol="0">
            <a:spAutoFit/>
          </a:bodyPr>
          <a:lstStyle/>
          <a:p>
            <a:pPr marL="285750" indent="-285750">
              <a:buFont typeface="Wingdings" panose="05000000000000000000" pitchFamily="2" charset="2"/>
              <a:buChar char="§"/>
            </a:pPr>
            <a:r>
              <a:rPr lang="es-PE" sz="1200" dirty="0">
                <a:solidFill>
                  <a:schemeClr val="bg1">
                    <a:lumMod val="65000"/>
                  </a:schemeClr>
                </a:solidFill>
              </a:rPr>
              <a:t>Antecedentes</a:t>
            </a:r>
          </a:p>
          <a:p>
            <a:pPr marL="285750" indent="-285750">
              <a:buFont typeface="Wingdings" panose="05000000000000000000" pitchFamily="2" charset="2"/>
              <a:buChar char="§"/>
            </a:pPr>
            <a:r>
              <a:rPr lang="es-PE" sz="1200" b="1" dirty="0">
                <a:solidFill>
                  <a:schemeClr val="tx2"/>
                </a:solidFill>
              </a:rPr>
              <a:t>El Modelo</a:t>
            </a:r>
          </a:p>
          <a:p>
            <a:pPr marL="285750" indent="-285750">
              <a:buFont typeface="Wingdings" panose="05000000000000000000" pitchFamily="2" charset="2"/>
              <a:buChar char="§"/>
            </a:pPr>
            <a:r>
              <a:rPr lang="es-PE" sz="1200" dirty="0">
                <a:solidFill>
                  <a:schemeClr val="bg1">
                    <a:lumMod val="65000"/>
                  </a:schemeClr>
                </a:solidFill>
              </a:rPr>
              <a:t>Componentes de la estrategia</a:t>
            </a:r>
          </a:p>
          <a:p>
            <a:pPr marL="285750" indent="-285750">
              <a:buFont typeface="Wingdings" panose="05000000000000000000" pitchFamily="2" charset="2"/>
              <a:buChar char="§"/>
            </a:pPr>
            <a:r>
              <a:rPr lang="es-PE" sz="1200" dirty="0">
                <a:solidFill>
                  <a:schemeClr val="bg1">
                    <a:lumMod val="65000"/>
                  </a:schemeClr>
                </a:solidFill>
              </a:rPr>
              <a:t>Focalización</a:t>
            </a:r>
          </a:p>
          <a:p>
            <a:pPr marL="285750" indent="-285750">
              <a:buFont typeface="Wingdings" panose="05000000000000000000" pitchFamily="2" charset="2"/>
              <a:buChar char="§"/>
            </a:pPr>
            <a:r>
              <a:rPr lang="es-PE" sz="1200" dirty="0">
                <a:solidFill>
                  <a:schemeClr val="bg1">
                    <a:lumMod val="65000"/>
                  </a:schemeClr>
                </a:solidFill>
              </a:rPr>
              <a:t>Cobertura</a:t>
            </a:r>
          </a:p>
          <a:p>
            <a:pPr marL="285750" indent="-285750">
              <a:buFont typeface="Wingdings" panose="05000000000000000000" pitchFamily="2" charset="2"/>
              <a:buChar char="§"/>
            </a:pPr>
            <a:r>
              <a:rPr lang="es-PE" sz="1200" dirty="0">
                <a:solidFill>
                  <a:schemeClr val="bg1">
                    <a:lumMod val="65000"/>
                  </a:schemeClr>
                </a:solidFill>
              </a:rPr>
              <a:t>Estimación de Costos</a:t>
            </a:r>
          </a:p>
          <a:p>
            <a:pPr marL="285750" indent="-285750">
              <a:buFont typeface="Wingdings" panose="05000000000000000000" pitchFamily="2" charset="2"/>
              <a:buChar char="§"/>
            </a:pPr>
            <a:r>
              <a:rPr lang="es-PE" sz="1200" dirty="0">
                <a:solidFill>
                  <a:schemeClr val="bg1">
                    <a:lumMod val="65000"/>
                  </a:schemeClr>
                </a:solidFill>
              </a:rPr>
              <a:t>Cronograma</a:t>
            </a:r>
          </a:p>
          <a:p>
            <a:pPr marL="285750" indent="-285750">
              <a:buFont typeface="Wingdings" panose="05000000000000000000" pitchFamily="2" charset="2"/>
              <a:buChar char="§"/>
            </a:pPr>
            <a:r>
              <a:rPr lang="es-PE" sz="1200" dirty="0">
                <a:solidFill>
                  <a:schemeClr val="bg1">
                    <a:lumMod val="65000"/>
                  </a:schemeClr>
                </a:solidFill>
              </a:rPr>
              <a:t>Complementariedad con otras estrategias y recomendaciones</a:t>
            </a:r>
          </a:p>
          <a:p>
            <a:pPr marL="285750" indent="-285750">
              <a:buFont typeface="Wingdings" panose="05000000000000000000" pitchFamily="2" charset="2"/>
              <a:buChar char="§"/>
            </a:pPr>
            <a:endParaRPr lang="es-PE" sz="1200" dirty="0">
              <a:solidFill>
                <a:schemeClr val="tx2"/>
              </a:solidFill>
            </a:endParaRPr>
          </a:p>
        </p:txBody>
      </p:sp>
      <p:sp>
        <p:nvSpPr>
          <p:cNvPr id="19" name="TextBox 18">
            <a:extLst>
              <a:ext uri="{FF2B5EF4-FFF2-40B4-BE49-F238E27FC236}">
                <a16:creationId xmlns:a16="http://schemas.microsoft.com/office/drawing/2014/main" id="{5947BA55-15C3-4040-9B5B-8EAC7B3B3343}"/>
              </a:ext>
            </a:extLst>
          </p:cNvPr>
          <p:cNvSpPr txBox="1"/>
          <p:nvPr/>
        </p:nvSpPr>
        <p:spPr>
          <a:xfrm>
            <a:off x="1104893" y="4989837"/>
            <a:ext cx="10277475" cy="1754326"/>
          </a:xfrm>
          <a:prstGeom prst="rect">
            <a:avLst/>
          </a:prstGeom>
          <a:noFill/>
        </p:spPr>
        <p:txBody>
          <a:bodyPr wrap="square" rtlCol="0">
            <a:spAutoFit/>
          </a:bodyPr>
          <a:lstStyle/>
          <a:p>
            <a:pPr marL="285750" indent="-285750">
              <a:buFont typeface="Wingdings" panose="05000000000000000000" pitchFamily="2" charset="2"/>
              <a:buChar char="§"/>
            </a:pPr>
            <a:r>
              <a:rPr lang="es-PE" sz="1200" dirty="0">
                <a:solidFill>
                  <a:schemeClr val="bg1">
                    <a:lumMod val="65000"/>
                  </a:schemeClr>
                </a:solidFill>
              </a:rPr>
              <a:t>Antecedentes</a:t>
            </a:r>
          </a:p>
          <a:p>
            <a:pPr marL="285750" indent="-285750">
              <a:buFont typeface="Wingdings" panose="05000000000000000000" pitchFamily="2" charset="2"/>
              <a:buChar char="§"/>
            </a:pPr>
            <a:r>
              <a:rPr lang="es-PE" sz="1200" dirty="0">
                <a:solidFill>
                  <a:schemeClr val="bg1">
                    <a:lumMod val="65000"/>
                  </a:schemeClr>
                </a:solidFill>
              </a:rPr>
              <a:t>Oportunidades</a:t>
            </a:r>
          </a:p>
          <a:p>
            <a:pPr marL="285750" indent="-285750">
              <a:buFont typeface="Wingdings" panose="05000000000000000000" pitchFamily="2" charset="2"/>
              <a:buChar char="§"/>
            </a:pPr>
            <a:r>
              <a:rPr lang="es-PE" sz="1200" dirty="0">
                <a:solidFill>
                  <a:schemeClr val="bg1">
                    <a:lumMod val="65000"/>
                  </a:schemeClr>
                </a:solidFill>
              </a:rPr>
              <a:t>El Modelo</a:t>
            </a:r>
          </a:p>
          <a:p>
            <a:pPr marL="285750" indent="-285750">
              <a:buFont typeface="Wingdings" panose="05000000000000000000" pitchFamily="2" charset="2"/>
              <a:buChar char="§"/>
            </a:pPr>
            <a:r>
              <a:rPr lang="es-PE" sz="1200" dirty="0">
                <a:solidFill>
                  <a:schemeClr val="bg1">
                    <a:lumMod val="65000"/>
                  </a:schemeClr>
                </a:solidFill>
              </a:rPr>
              <a:t>Componentes de la estrategia</a:t>
            </a:r>
          </a:p>
          <a:p>
            <a:pPr marL="285750" indent="-285750">
              <a:buFont typeface="Wingdings" panose="05000000000000000000" pitchFamily="2" charset="2"/>
              <a:buChar char="§"/>
            </a:pPr>
            <a:r>
              <a:rPr lang="es-PE" sz="1200" dirty="0">
                <a:solidFill>
                  <a:schemeClr val="bg1">
                    <a:lumMod val="65000"/>
                  </a:schemeClr>
                </a:solidFill>
              </a:rPr>
              <a:t>Focalización</a:t>
            </a:r>
          </a:p>
          <a:p>
            <a:pPr marL="285750" indent="-285750">
              <a:buFont typeface="Wingdings" panose="05000000000000000000" pitchFamily="2" charset="2"/>
              <a:buChar char="§"/>
            </a:pPr>
            <a:r>
              <a:rPr lang="es-PE" sz="1200" dirty="0">
                <a:solidFill>
                  <a:schemeClr val="bg1">
                    <a:lumMod val="65000"/>
                  </a:schemeClr>
                </a:solidFill>
              </a:rPr>
              <a:t>Cobertura</a:t>
            </a:r>
          </a:p>
          <a:p>
            <a:pPr marL="285750" indent="-285750">
              <a:buFont typeface="Wingdings" panose="05000000000000000000" pitchFamily="2" charset="2"/>
              <a:buChar char="§"/>
            </a:pPr>
            <a:r>
              <a:rPr lang="es-PE" sz="1200" dirty="0">
                <a:solidFill>
                  <a:schemeClr val="bg1">
                    <a:lumMod val="65000"/>
                  </a:schemeClr>
                </a:solidFill>
              </a:rPr>
              <a:t>Estimación de Costos</a:t>
            </a:r>
          </a:p>
          <a:p>
            <a:pPr marL="285750" indent="-285750">
              <a:buFont typeface="Wingdings" panose="05000000000000000000" pitchFamily="2" charset="2"/>
              <a:buChar char="§"/>
            </a:pPr>
            <a:r>
              <a:rPr lang="es-PE" sz="1200" dirty="0">
                <a:solidFill>
                  <a:schemeClr val="bg1">
                    <a:lumMod val="65000"/>
                  </a:schemeClr>
                </a:solidFill>
              </a:rPr>
              <a:t>Cronograma</a:t>
            </a:r>
          </a:p>
          <a:p>
            <a:pPr marL="285750" indent="-285750">
              <a:buFont typeface="Wingdings" panose="05000000000000000000" pitchFamily="2" charset="2"/>
              <a:buChar char="§"/>
            </a:pPr>
            <a:r>
              <a:rPr lang="es-PE" sz="1200" dirty="0">
                <a:solidFill>
                  <a:schemeClr val="bg1">
                    <a:lumMod val="65000"/>
                  </a:schemeClr>
                </a:solidFill>
              </a:rPr>
              <a:t>Complementariedad con otras estrategias y recomendaciones</a:t>
            </a:r>
          </a:p>
        </p:txBody>
      </p:sp>
    </p:spTree>
    <p:extLst>
      <p:ext uri="{BB962C8B-B14F-4D97-AF65-F5344CB8AC3E}">
        <p14:creationId xmlns:p14="http://schemas.microsoft.com/office/powerpoint/2010/main" val="37262709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F9EFD6-FB14-458A-BE54-EDAA3B452B4E}"/>
              </a:ext>
            </a:extLst>
          </p:cNvPr>
          <p:cNvSpPr>
            <a:spLocks noGrp="1"/>
          </p:cNvSpPr>
          <p:nvPr>
            <p:ph type="title"/>
          </p:nvPr>
        </p:nvSpPr>
        <p:spPr/>
        <p:txBody>
          <a:bodyPr/>
          <a:lstStyle/>
          <a:p>
            <a:r>
              <a:rPr lang="es-PE" dirty="0"/>
              <a:t>El Modelo “</a:t>
            </a:r>
            <a:r>
              <a:rPr lang="es-PE" i="1" dirty="0" err="1"/>
              <a:t>Teaching</a:t>
            </a:r>
            <a:r>
              <a:rPr lang="es-PE" i="1" dirty="0"/>
              <a:t> at </a:t>
            </a:r>
            <a:r>
              <a:rPr lang="es-PE" i="1" dirty="0" err="1"/>
              <a:t>the</a:t>
            </a:r>
            <a:r>
              <a:rPr lang="es-PE" i="1" dirty="0"/>
              <a:t> </a:t>
            </a:r>
            <a:r>
              <a:rPr lang="es-PE" i="1" dirty="0" err="1"/>
              <a:t>Right</a:t>
            </a:r>
            <a:r>
              <a:rPr lang="es-PE" i="1" dirty="0"/>
              <a:t> </a:t>
            </a:r>
            <a:r>
              <a:rPr lang="es-PE" i="1" dirty="0" err="1"/>
              <a:t>Level</a:t>
            </a:r>
            <a:r>
              <a:rPr lang="es-PE" dirty="0"/>
              <a:t>”</a:t>
            </a:r>
            <a:endParaRPr lang="en-CA" dirty="0"/>
          </a:p>
        </p:txBody>
      </p:sp>
      <p:sp>
        <p:nvSpPr>
          <p:cNvPr id="3" name="Slide Number Placeholder 2">
            <a:extLst>
              <a:ext uri="{FF2B5EF4-FFF2-40B4-BE49-F238E27FC236}">
                <a16:creationId xmlns:a16="http://schemas.microsoft.com/office/drawing/2014/main" id="{11DDDD02-A690-46B6-8B58-7CF4C70969B7}"/>
              </a:ext>
            </a:extLst>
          </p:cNvPr>
          <p:cNvSpPr>
            <a:spLocks noGrp="1"/>
          </p:cNvSpPr>
          <p:nvPr>
            <p:ph type="sldNum" sz="quarter" idx="12"/>
          </p:nvPr>
        </p:nvSpPr>
        <p:spPr/>
        <p:txBody>
          <a:bodyPr/>
          <a:lstStyle/>
          <a:p>
            <a:fld id="{DAF31D20-51B2-49A6-91FA-1FC48A60B42D}" type="slidenum">
              <a:rPr lang="es-PE" smtClean="0"/>
              <a:t>15</a:t>
            </a:fld>
            <a:endParaRPr lang="es-PE"/>
          </a:p>
        </p:txBody>
      </p:sp>
      <p:sp>
        <p:nvSpPr>
          <p:cNvPr id="12" name="Arrow: Right 11">
            <a:extLst>
              <a:ext uri="{FF2B5EF4-FFF2-40B4-BE49-F238E27FC236}">
                <a16:creationId xmlns:a16="http://schemas.microsoft.com/office/drawing/2014/main" id="{FF02C9C8-F29D-4A8B-A990-AB6A45DF6C15}"/>
              </a:ext>
            </a:extLst>
          </p:cNvPr>
          <p:cNvSpPr/>
          <p:nvPr/>
        </p:nvSpPr>
        <p:spPr>
          <a:xfrm>
            <a:off x="457200" y="2261511"/>
            <a:ext cx="8046720" cy="3759321"/>
          </a:xfrm>
          <a:prstGeom prst="rightArrow">
            <a:avLst>
              <a:gd name="adj1" fmla="val 50000"/>
              <a:gd name="adj2" fmla="val 31121"/>
            </a:avLst>
          </a:prstGeom>
          <a:solidFill>
            <a:srgbClr val="FFC000"/>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 name="TextBox 12">
            <a:extLst>
              <a:ext uri="{FF2B5EF4-FFF2-40B4-BE49-F238E27FC236}">
                <a16:creationId xmlns:a16="http://schemas.microsoft.com/office/drawing/2014/main" id="{52979994-8913-40CD-B2AD-106D3AF58147}"/>
              </a:ext>
            </a:extLst>
          </p:cNvPr>
          <p:cNvSpPr txBox="1"/>
          <p:nvPr/>
        </p:nvSpPr>
        <p:spPr>
          <a:xfrm>
            <a:off x="2103897" y="2501948"/>
            <a:ext cx="3774712" cy="400110"/>
          </a:xfrm>
          <a:prstGeom prst="rect">
            <a:avLst/>
          </a:prstGeom>
          <a:noFill/>
        </p:spPr>
        <p:txBody>
          <a:bodyPr wrap="square" rtlCol="0">
            <a:spAutoFit/>
          </a:bodyPr>
          <a:lstStyle/>
          <a:p>
            <a:r>
              <a:rPr lang="es-PE" sz="2000" b="1" dirty="0">
                <a:solidFill>
                  <a:schemeClr val="accent6">
                    <a:lumMod val="50000"/>
                  </a:schemeClr>
                </a:solidFill>
              </a:rPr>
              <a:t>En clase con el enfoque </a:t>
            </a:r>
            <a:r>
              <a:rPr lang="es-PE" sz="2000" b="1" dirty="0" err="1">
                <a:solidFill>
                  <a:schemeClr val="accent6">
                    <a:lumMod val="50000"/>
                  </a:schemeClr>
                </a:solidFill>
              </a:rPr>
              <a:t>TaRL</a:t>
            </a:r>
            <a:endParaRPr lang="en-CA" sz="2000" b="1" dirty="0">
              <a:solidFill>
                <a:schemeClr val="accent6">
                  <a:lumMod val="50000"/>
                </a:schemeClr>
              </a:solidFill>
            </a:endParaRPr>
          </a:p>
        </p:txBody>
      </p:sp>
      <p:sp>
        <p:nvSpPr>
          <p:cNvPr id="14" name="TextBox 13">
            <a:extLst>
              <a:ext uri="{FF2B5EF4-FFF2-40B4-BE49-F238E27FC236}">
                <a16:creationId xmlns:a16="http://schemas.microsoft.com/office/drawing/2014/main" id="{E9192CC1-A29E-4000-93B6-336F80661FFC}"/>
              </a:ext>
            </a:extLst>
          </p:cNvPr>
          <p:cNvSpPr txBox="1"/>
          <p:nvPr/>
        </p:nvSpPr>
        <p:spPr>
          <a:xfrm>
            <a:off x="709297" y="5412720"/>
            <a:ext cx="6401925" cy="523220"/>
          </a:xfrm>
          <a:prstGeom prst="rect">
            <a:avLst/>
          </a:prstGeom>
          <a:noFill/>
        </p:spPr>
        <p:txBody>
          <a:bodyPr wrap="square" rtlCol="0">
            <a:spAutoFit/>
          </a:bodyPr>
          <a:lstStyle/>
          <a:p>
            <a:r>
              <a:rPr lang="es-PE" sz="1400" b="1" dirty="0">
                <a:solidFill>
                  <a:schemeClr val="accent6">
                    <a:lumMod val="50000"/>
                  </a:schemeClr>
                </a:solidFill>
              </a:rPr>
              <a:t>Estudiantes son evaluados constantemente y situados de acuerdo a su nivel a medida que tienen progreso en su rendimiento académico</a:t>
            </a:r>
            <a:endParaRPr lang="en-CA" sz="1400" b="1" dirty="0">
              <a:solidFill>
                <a:schemeClr val="accent6">
                  <a:lumMod val="50000"/>
                </a:schemeClr>
              </a:solidFill>
            </a:endParaRPr>
          </a:p>
        </p:txBody>
      </p:sp>
      <p:sp>
        <p:nvSpPr>
          <p:cNvPr id="15" name="TextBox 14">
            <a:extLst>
              <a:ext uri="{FF2B5EF4-FFF2-40B4-BE49-F238E27FC236}">
                <a16:creationId xmlns:a16="http://schemas.microsoft.com/office/drawing/2014/main" id="{DFF35F16-11B5-4BD1-B4C8-CAA942654707}"/>
              </a:ext>
            </a:extLst>
          </p:cNvPr>
          <p:cNvSpPr txBox="1"/>
          <p:nvPr/>
        </p:nvSpPr>
        <p:spPr>
          <a:xfrm>
            <a:off x="9401748" y="3573584"/>
            <a:ext cx="1703492" cy="923330"/>
          </a:xfrm>
          <a:prstGeom prst="rect">
            <a:avLst/>
          </a:prstGeom>
          <a:noFill/>
        </p:spPr>
        <p:txBody>
          <a:bodyPr wrap="square" rtlCol="0">
            <a:spAutoFit/>
          </a:bodyPr>
          <a:lstStyle/>
          <a:p>
            <a:r>
              <a:rPr lang="es-PE" b="1" dirty="0">
                <a:solidFill>
                  <a:schemeClr val="accent6">
                    <a:lumMod val="50000"/>
                  </a:schemeClr>
                </a:solidFill>
              </a:rPr>
              <a:t>Mejora de resultados de aprendizaje</a:t>
            </a:r>
            <a:endParaRPr lang="en-CA" b="1" dirty="0">
              <a:solidFill>
                <a:schemeClr val="accent6">
                  <a:lumMod val="50000"/>
                </a:schemeClr>
              </a:solidFill>
            </a:endParaRPr>
          </a:p>
        </p:txBody>
      </p:sp>
      <p:sp>
        <p:nvSpPr>
          <p:cNvPr id="16" name="TextBox 15">
            <a:extLst>
              <a:ext uri="{FF2B5EF4-FFF2-40B4-BE49-F238E27FC236}">
                <a16:creationId xmlns:a16="http://schemas.microsoft.com/office/drawing/2014/main" id="{26C78ECE-4A3F-4349-8C1C-9667F1C4EF64}"/>
              </a:ext>
            </a:extLst>
          </p:cNvPr>
          <p:cNvSpPr txBox="1"/>
          <p:nvPr/>
        </p:nvSpPr>
        <p:spPr>
          <a:xfrm>
            <a:off x="1018713" y="3633944"/>
            <a:ext cx="1907367" cy="369332"/>
          </a:xfrm>
          <a:prstGeom prst="rect">
            <a:avLst/>
          </a:prstGeom>
          <a:noFill/>
        </p:spPr>
        <p:txBody>
          <a:bodyPr wrap="square" rtlCol="0">
            <a:spAutoFit/>
          </a:bodyPr>
          <a:lstStyle/>
          <a:p>
            <a:endParaRPr lang="en-CA" dirty="0">
              <a:solidFill>
                <a:schemeClr val="tx2"/>
              </a:solidFill>
            </a:endParaRPr>
          </a:p>
        </p:txBody>
      </p:sp>
      <p:sp>
        <p:nvSpPr>
          <p:cNvPr id="17" name="TextBox 16">
            <a:extLst>
              <a:ext uri="{FF2B5EF4-FFF2-40B4-BE49-F238E27FC236}">
                <a16:creationId xmlns:a16="http://schemas.microsoft.com/office/drawing/2014/main" id="{5CEB0B0B-A218-459C-8B22-A757DDE66091}"/>
              </a:ext>
            </a:extLst>
          </p:cNvPr>
          <p:cNvSpPr txBox="1"/>
          <p:nvPr/>
        </p:nvSpPr>
        <p:spPr>
          <a:xfrm>
            <a:off x="709297" y="3543704"/>
            <a:ext cx="2047447" cy="1107996"/>
          </a:xfrm>
          <a:prstGeom prst="rect">
            <a:avLst/>
          </a:prstGeom>
          <a:noFill/>
        </p:spPr>
        <p:txBody>
          <a:bodyPr wrap="square" rtlCol="0">
            <a:spAutoFit/>
          </a:bodyPr>
          <a:lstStyle/>
          <a:p>
            <a:pPr marL="342900" indent="-342900">
              <a:buAutoNum type="arabicPeriod"/>
            </a:pPr>
            <a:r>
              <a:rPr lang="es-PE" b="1" dirty="0">
                <a:solidFill>
                  <a:schemeClr val="tx2"/>
                </a:solidFill>
              </a:rPr>
              <a:t>Evaluación</a:t>
            </a:r>
          </a:p>
          <a:p>
            <a:r>
              <a:rPr lang="es-PE" sz="1200" dirty="0">
                <a:solidFill>
                  <a:schemeClr val="tx2"/>
                </a:solidFill>
              </a:rPr>
              <a:t>Evaluación a estudiantes en consideraciones básicas utilizando herramientas básicas</a:t>
            </a:r>
            <a:endParaRPr lang="en-CA" sz="1200" dirty="0">
              <a:solidFill>
                <a:schemeClr val="tx2"/>
              </a:solidFill>
            </a:endParaRPr>
          </a:p>
        </p:txBody>
      </p:sp>
      <p:sp>
        <p:nvSpPr>
          <p:cNvPr id="18" name="TextBox 17">
            <a:extLst>
              <a:ext uri="{FF2B5EF4-FFF2-40B4-BE49-F238E27FC236}">
                <a16:creationId xmlns:a16="http://schemas.microsoft.com/office/drawing/2014/main" id="{C0DCFD62-64F4-4520-A987-2333CDF8659A}"/>
              </a:ext>
            </a:extLst>
          </p:cNvPr>
          <p:cNvSpPr txBox="1"/>
          <p:nvPr/>
        </p:nvSpPr>
        <p:spPr>
          <a:xfrm>
            <a:off x="2951538" y="3551168"/>
            <a:ext cx="1907366" cy="923330"/>
          </a:xfrm>
          <a:prstGeom prst="rect">
            <a:avLst/>
          </a:prstGeom>
          <a:noFill/>
        </p:spPr>
        <p:txBody>
          <a:bodyPr wrap="square" rtlCol="0">
            <a:spAutoFit/>
          </a:bodyPr>
          <a:lstStyle/>
          <a:p>
            <a:r>
              <a:rPr lang="es-PE" b="1" dirty="0">
                <a:solidFill>
                  <a:schemeClr val="tx2"/>
                </a:solidFill>
              </a:rPr>
              <a:t>2. Agrupación</a:t>
            </a:r>
          </a:p>
          <a:p>
            <a:r>
              <a:rPr lang="es-PE" sz="1200" dirty="0">
                <a:solidFill>
                  <a:schemeClr val="tx2"/>
                </a:solidFill>
              </a:rPr>
              <a:t>Crear grupos homogéneos en términos de aprendizaje</a:t>
            </a:r>
          </a:p>
        </p:txBody>
      </p:sp>
      <p:sp>
        <p:nvSpPr>
          <p:cNvPr id="19" name="TextBox 18">
            <a:extLst>
              <a:ext uri="{FF2B5EF4-FFF2-40B4-BE49-F238E27FC236}">
                <a16:creationId xmlns:a16="http://schemas.microsoft.com/office/drawing/2014/main" id="{C03EE764-ABBF-430F-9420-1FDAEE930377}"/>
              </a:ext>
            </a:extLst>
          </p:cNvPr>
          <p:cNvSpPr txBox="1"/>
          <p:nvPr/>
        </p:nvSpPr>
        <p:spPr>
          <a:xfrm>
            <a:off x="5096288" y="3515758"/>
            <a:ext cx="2350991" cy="1200329"/>
          </a:xfrm>
          <a:prstGeom prst="rect">
            <a:avLst/>
          </a:prstGeom>
          <a:noFill/>
        </p:spPr>
        <p:txBody>
          <a:bodyPr wrap="square" rtlCol="0">
            <a:spAutoFit/>
          </a:bodyPr>
          <a:lstStyle/>
          <a:p>
            <a:r>
              <a:rPr lang="es-PE" b="1" dirty="0">
                <a:solidFill>
                  <a:schemeClr val="tx2"/>
                </a:solidFill>
              </a:rPr>
              <a:t>3. Habilidades Fundamentales</a:t>
            </a:r>
          </a:p>
          <a:p>
            <a:r>
              <a:rPr lang="es-PE" sz="1200" dirty="0">
                <a:solidFill>
                  <a:schemeClr val="tx2"/>
                </a:solidFill>
              </a:rPr>
              <a:t>Enfoque del desarrollo de habilidades básicas en un período de tiempo determinado</a:t>
            </a:r>
          </a:p>
        </p:txBody>
      </p:sp>
      <p:cxnSp>
        <p:nvCxnSpPr>
          <p:cNvPr id="20" name="Straight Connector 19">
            <a:extLst>
              <a:ext uri="{FF2B5EF4-FFF2-40B4-BE49-F238E27FC236}">
                <a16:creationId xmlns:a16="http://schemas.microsoft.com/office/drawing/2014/main" id="{C2DD122E-6150-499A-A71A-94762600C69E}"/>
              </a:ext>
            </a:extLst>
          </p:cNvPr>
          <p:cNvCxnSpPr>
            <a:cxnSpLocks/>
          </p:cNvCxnSpPr>
          <p:nvPr/>
        </p:nvCxnSpPr>
        <p:spPr>
          <a:xfrm>
            <a:off x="2841412" y="3185147"/>
            <a:ext cx="0" cy="1861553"/>
          </a:xfrm>
          <a:prstGeom prst="line">
            <a:avLst/>
          </a:prstGeom>
          <a:ln>
            <a:solidFill>
              <a:schemeClr val="bg1"/>
            </a:solidFill>
          </a:ln>
        </p:spPr>
        <p:style>
          <a:lnRef idx="3">
            <a:schemeClr val="accent3"/>
          </a:lnRef>
          <a:fillRef idx="0">
            <a:schemeClr val="accent3"/>
          </a:fillRef>
          <a:effectRef idx="2">
            <a:schemeClr val="accent3"/>
          </a:effectRef>
          <a:fontRef idx="minor">
            <a:schemeClr val="tx1"/>
          </a:fontRef>
        </p:style>
      </p:cxnSp>
      <p:cxnSp>
        <p:nvCxnSpPr>
          <p:cNvPr id="21" name="Straight Connector 20">
            <a:extLst>
              <a:ext uri="{FF2B5EF4-FFF2-40B4-BE49-F238E27FC236}">
                <a16:creationId xmlns:a16="http://schemas.microsoft.com/office/drawing/2014/main" id="{669BB7F4-798B-4858-99B8-A84ACF7A499D}"/>
              </a:ext>
            </a:extLst>
          </p:cNvPr>
          <p:cNvCxnSpPr>
            <a:cxnSpLocks/>
          </p:cNvCxnSpPr>
          <p:nvPr/>
        </p:nvCxnSpPr>
        <p:spPr>
          <a:xfrm>
            <a:off x="4829381" y="3185148"/>
            <a:ext cx="0" cy="1861553"/>
          </a:xfrm>
          <a:prstGeom prst="line">
            <a:avLst/>
          </a:prstGeom>
          <a:ln>
            <a:solidFill>
              <a:schemeClr val="bg1"/>
            </a:solidFill>
          </a:ln>
        </p:spPr>
        <p:style>
          <a:lnRef idx="3">
            <a:schemeClr val="accent3"/>
          </a:lnRef>
          <a:fillRef idx="0">
            <a:schemeClr val="accent3"/>
          </a:fillRef>
          <a:effectRef idx="2">
            <a:schemeClr val="accent3"/>
          </a:effectRef>
          <a:fontRef idx="minor">
            <a:schemeClr val="tx1"/>
          </a:fontRef>
        </p:style>
      </p:cxnSp>
      <p:sp>
        <p:nvSpPr>
          <p:cNvPr id="24" name="TextBox 23">
            <a:extLst>
              <a:ext uri="{FF2B5EF4-FFF2-40B4-BE49-F238E27FC236}">
                <a16:creationId xmlns:a16="http://schemas.microsoft.com/office/drawing/2014/main" id="{BF77E61D-7E5E-46A2-9120-A15D7FACE1FE}"/>
              </a:ext>
            </a:extLst>
          </p:cNvPr>
          <p:cNvSpPr txBox="1"/>
          <p:nvPr/>
        </p:nvSpPr>
        <p:spPr>
          <a:xfrm>
            <a:off x="256592" y="1088996"/>
            <a:ext cx="11552022" cy="646331"/>
          </a:xfrm>
          <a:prstGeom prst="rect">
            <a:avLst/>
          </a:prstGeom>
          <a:noFill/>
        </p:spPr>
        <p:txBody>
          <a:bodyPr wrap="square">
            <a:spAutoFit/>
          </a:bodyPr>
          <a:lstStyle/>
          <a:p>
            <a:pPr algn="just"/>
            <a:r>
              <a:rPr lang="es-ES" dirty="0">
                <a:solidFill>
                  <a:schemeClr val="tx2"/>
                </a:solidFill>
              </a:rPr>
              <a:t>Enfoque holístico que trabaja en el contexto del estudiante para mejorar las habilidades fundamentales, y </a:t>
            </a:r>
            <a:r>
              <a:rPr lang="es-ES" b="1" dirty="0">
                <a:solidFill>
                  <a:schemeClr val="tx2"/>
                </a:solidFill>
              </a:rPr>
              <a:t>reforzar desempeños que empujen el desarrollo de competencias que faciliten el aprendizaje futuro</a:t>
            </a:r>
            <a:r>
              <a:rPr lang="es-ES" dirty="0">
                <a:solidFill>
                  <a:schemeClr val="tx2"/>
                </a:solidFill>
              </a:rPr>
              <a:t>.</a:t>
            </a:r>
            <a:endParaRPr lang="en-CA" dirty="0">
              <a:solidFill>
                <a:schemeClr val="tx2"/>
              </a:solidFill>
            </a:endParaRPr>
          </a:p>
        </p:txBody>
      </p:sp>
      <p:sp>
        <p:nvSpPr>
          <p:cNvPr id="25" name="Rectangle 24">
            <a:extLst>
              <a:ext uri="{FF2B5EF4-FFF2-40B4-BE49-F238E27FC236}">
                <a16:creationId xmlns:a16="http://schemas.microsoft.com/office/drawing/2014/main" id="{48720F29-D185-462D-BD30-237CC7D50A14}"/>
              </a:ext>
            </a:extLst>
          </p:cNvPr>
          <p:cNvSpPr/>
          <p:nvPr/>
        </p:nvSpPr>
        <p:spPr>
          <a:xfrm>
            <a:off x="8978727" y="3006161"/>
            <a:ext cx="1274767" cy="3459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dirty="0"/>
              <a:t>Meta:</a:t>
            </a:r>
            <a:endParaRPr lang="en-CA" dirty="0"/>
          </a:p>
        </p:txBody>
      </p:sp>
      <p:sp>
        <p:nvSpPr>
          <p:cNvPr id="27" name="Rectangle: Diagonal Corners Rounded 26">
            <a:extLst>
              <a:ext uri="{FF2B5EF4-FFF2-40B4-BE49-F238E27FC236}">
                <a16:creationId xmlns:a16="http://schemas.microsoft.com/office/drawing/2014/main" id="{71D8E19F-F616-4ADE-9AF6-62D492B791ED}"/>
              </a:ext>
            </a:extLst>
          </p:cNvPr>
          <p:cNvSpPr/>
          <p:nvPr/>
        </p:nvSpPr>
        <p:spPr>
          <a:xfrm rot="5400000">
            <a:off x="9552706" y="2788341"/>
            <a:ext cx="1366178" cy="2493816"/>
          </a:xfrm>
          <a:prstGeom prst="round2Diag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320133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FFEC852-390E-4A3D-91FE-3B7AA9E173AF}"/>
              </a:ext>
            </a:extLst>
          </p:cNvPr>
          <p:cNvSpPr/>
          <p:nvPr/>
        </p:nvSpPr>
        <p:spPr>
          <a:xfrm>
            <a:off x="332175" y="1035602"/>
            <a:ext cx="11412847" cy="685640"/>
          </a:xfrm>
          <a:prstGeom prst="rect">
            <a:avLst/>
          </a:prstGeom>
          <a:solidFill>
            <a:schemeClr val="bg2"/>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 name="Title 1">
            <a:extLst>
              <a:ext uri="{FF2B5EF4-FFF2-40B4-BE49-F238E27FC236}">
                <a16:creationId xmlns:a16="http://schemas.microsoft.com/office/drawing/2014/main" id="{68F9EFD6-FB14-458A-BE54-EDAA3B452B4E}"/>
              </a:ext>
            </a:extLst>
          </p:cNvPr>
          <p:cNvSpPr>
            <a:spLocks noGrp="1"/>
          </p:cNvSpPr>
          <p:nvPr>
            <p:ph type="title"/>
          </p:nvPr>
        </p:nvSpPr>
        <p:spPr/>
        <p:txBody>
          <a:bodyPr/>
          <a:lstStyle/>
          <a:p>
            <a:r>
              <a:rPr lang="es-PE" dirty="0"/>
              <a:t>El Modelo “</a:t>
            </a:r>
            <a:r>
              <a:rPr lang="es-PE" i="1" dirty="0" err="1"/>
              <a:t>Teaching</a:t>
            </a:r>
            <a:r>
              <a:rPr lang="es-PE" i="1" dirty="0"/>
              <a:t> at </a:t>
            </a:r>
            <a:r>
              <a:rPr lang="es-PE" i="1" dirty="0" err="1"/>
              <a:t>the</a:t>
            </a:r>
            <a:r>
              <a:rPr lang="es-PE" i="1" dirty="0"/>
              <a:t> </a:t>
            </a:r>
            <a:r>
              <a:rPr lang="es-PE" i="1" dirty="0" err="1"/>
              <a:t>Right</a:t>
            </a:r>
            <a:r>
              <a:rPr lang="es-PE" i="1" dirty="0"/>
              <a:t> </a:t>
            </a:r>
            <a:r>
              <a:rPr lang="es-PE" i="1" dirty="0" err="1"/>
              <a:t>Level</a:t>
            </a:r>
            <a:r>
              <a:rPr lang="es-PE" dirty="0"/>
              <a:t>”</a:t>
            </a:r>
            <a:endParaRPr lang="en-CA" dirty="0"/>
          </a:p>
        </p:txBody>
      </p:sp>
      <p:sp>
        <p:nvSpPr>
          <p:cNvPr id="22" name="TextBox 21">
            <a:extLst>
              <a:ext uri="{FF2B5EF4-FFF2-40B4-BE49-F238E27FC236}">
                <a16:creationId xmlns:a16="http://schemas.microsoft.com/office/drawing/2014/main" id="{BC0E6A3A-5A0A-4E06-99FB-B007BE1862D2}"/>
              </a:ext>
            </a:extLst>
          </p:cNvPr>
          <p:cNvSpPr txBox="1"/>
          <p:nvPr/>
        </p:nvSpPr>
        <p:spPr>
          <a:xfrm>
            <a:off x="423553" y="1066982"/>
            <a:ext cx="11344894" cy="584775"/>
          </a:xfrm>
          <a:prstGeom prst="rect">
            <a:avLst/>
          </a:prstGeom>
          <a:noFill/>
        </p:spPr>
        <p:txBody>
          <a:bodyPr wrap="square" rtlCol="0">
            <a:spAutoFit/>
          </a:bodyPr>
          <a:lstStyle/>
          <a:p>
            <a:pPr algn="just"/>
            <a:r>
              <a:rPr lang="en-US" sz="1600" b="1" dirty="0">
                <a:solidFill>
                  <a:schemeClr val="tx2"/>
                </a:solidFill>
                <a:latin typeface="+mj-lt"/>
              </a:rPr>
              <a:t>El </a:t>
            </a:r>
            <a:r>
              <a:rPr lang="en-US" sz="1600" b="1" dirty="0" err="1">
                <a:solidFill>
                  <a:schemeClr val="tx2"/>
                </a:solidFill>
                <a:latin typeface="+mj-lt"/>
              </a:rPr>
              <a:t>docente</a:t>
            </a:r>
            <a:r>
              <a:rPr lang="en-US" sz="1600" b="1" dirty="0">
                <a:solidFill>
                  <a:schemeClr val="tx2"/>
                </a:solidFill>
                <a:latin typeface="+mj-lt"/>
              </a:rPr>
              <a:t> </a:t>
            </a:r>
            <a:r>
              <a:rPr lang="en-US" sz="1600" b="1" dirty="0" err="1">
                <a:solidFill>
                  <a:schemeClr val="tx2"/>
                </a:solidFill>
                <a:latin typeface="+mj-lt"/>
              </a:rPr>
              <a:t>dedica</a:t>
            </a:r>
            <a:r>
              <a:rPr lang="en-US" sz="1600" b="1" dirty="0">
                <a:solidFill>
                  <a:schemeClr val="tx2"/>
                </a:solidFill>
                <a:latin typeface="+mj-lt"/>
              </a:rPr>
              <a:t> 1-2 horas </a:t>
            </a:r>
            <a:r>
              <a:rPr lang="en-US" sz="1600" b="1" dirty="0" err="1">
                <a:solidFill>
                  <a:schemeClr val="tx2"/>
                </a:solidFill>
                <a:latin typeface="+mj-lt"/>
              </a:rPr>
              <a:t>académicas</a:t>
            </a:r>
            <a:r>
              <a:rPr lang="en-US" sz="1600" b="1" dirty="0">
                <a:solidFill>
                  <a:schemeClr val="tx2"/>
                </a:solidFill>
                <a:latin typeface="+mj-lt"/>
              </a:rPr>
              <a:t> de </a:t>
            </a:r>
            <a:r>
              <a:rPr lang="en-US" sz="1600" b="1" dirty="0" err="1">
                <a:solidFill>
                  <a:schemeClr val="tx2"/>
                </a:solidFill>
                <a:latin typeface="+mj-lt"/>
              </a:rPr>
              <a:t>refuerzo</a:t>
            </a:r>
            <a:r>
              <a:rPr lang="en-US" sz="1600" b="1" dirty="0">
                <a:solidFill>
                  <a:schemeClr val="tx2"/>
                </a:solidFill>
                <a:latin typeface="+mj-lt"/>
              </a:rPr>
              <a:t> </a:t>
            </a:r>
            <a:r>
              <a:rPr lang="en-US" sz="1600" b="1" dirty="0" err="1">
                <a:solidFill>
                  <a:schemeClr val="tx2"/>
                </a:solidFill>
                <a:latin typeface="+mj-lt"/>
              </a:rPr>
              <a:t>luego</a:t>
            </a:r>
            <a:r>
              <a:rPr lang="en-US" sz="1600" b="1" dirty="0">
                <a:solidFill>
                  <a:schemeClr val="tx2"/>
                </a:solidFill>
                <a:latin typeface="+mj-lt"/>
              </a:rPr>
              <a:t> de la </a:t>
            </a:r>
            <a:r>
              <a:rPr lang="en-US" sz="1600" b="1" dirty="0" err="1">
                <a:solidFill>
                  <a:schemeClr val="tx2"/>
                </a:solidFill>
                <a:latin typeface="+mj-lt"/>
              </a:rPr>
              <a:t>escuela</a:t>
            </a:r>
            <a:r>
              <a:rPr lang="en-US" sz="1600" b="1" dirty="0">
                <a:solidFill>
                  <a:schemeClr val="tx2"/>
                </a:solidFill>
                <a:latin typeface="+mj-lt"/>
              </a:rPr>
              <a:t> </a:t>
            </a:r>
            <a:r>
              <a:rPr lang="en-US" sz="1600" b="1" dirty="0" err="1">
                <a:solidFill>
                  <a:schemeClr val="tx2"/>
                </a:solidFill>
                <a:latin typeface="+mj-lt"/>
              </a:rPr>
              <a:t>en</a:t>
            </a:r>
            <a:r>
              <a:rPr lang="en-US" sz="1600" b="1" dirty="0">
                <a:solidFill>
                  <a:schemeClr val="tx2"/>
                </a:solidFill>
                <a:latin typeface="+mj-lt"/>
              </a:rPr>
              <a:t> </a:t>
            </a:r>
            <a:r>
              <a:rPr lang="en-US" sz="1600" b="1" dirty="0" err="1">
                <a:solidFill>
                  <a:schemeClr val="tx2"/>
                </a:solidFill>
                <a:latin typeface="+mj-lt"/>
              </a:rPr>
              <a:t>conceptos</a:t>
            </a:r>
            <a:r>
              <a:rPr lang="en-US" sz="1600" b="1" dirty="0">
                <a:solidFill>
                  <a:schemeClr val="tx2"/>
                </a:solidFill>
                <a:latin typeface="+mj-lt"/>
              </a:rPr>
              <a:t> </a:t>
            </a:r>
            <a:r>
              <a:rPr lang="en-US" sz="1600" b="1" dirty="0" err="1">
                <a:solidFill>
                  <a:schemeClr val="tx2"/>
                </a:solidFill>
                <a:latin typeface="+mj-lt"/>
              </a:rPr>
              <a:t>especificos</a:t>
            </a:r>
            <a:r>
              <a:rPr lang="en-US" sz="1600" b="1" dirty="0">
                <a:solidFill>
                  <a:schemeClr val="tx2"/>
                </a:solidFill>
                <a:latin typeface="+mj-lt"/>
              </a:rPr>
              <a:t>. </a:t>
            </a:r>
            <a:r>
              <a:rPr lang="en-US" sz="1600" b="1" dirty="0" err="1">
                <a:solidFill>
                  <a:schemeClr val="tx2"/>
                </a:solidFill>
                <a:latin typeface="+mj-lt"/>
              </a:rPr>
              <a:t>Dirigido</a:t>
            </a:r>
            <a:r>
              <a:rPr lang="en-US" sz="1600" b="1" dirty="0">
                <a:solidFill>
                  <a:schemeClr val="tx2"/>
                </a:solidFill>
                <a:latin typeface="+mj-lt"/>
              </a:rPr>
              <a:t> a </a:t>
            </a:r>
            <a:r>
              <a:rPr lang="en-US" sz="1600" b="1" dirty="0" err="1">
                <a:solidFill>
                  <a:schemeClr val="tx2"/>
                </a:solidFill>
                <a:latin typeface="+mj-lt"/>
              </a:rPr>
              <a:t>estudiantes</a:t>
            </a:r>
            <a:r>
              <a:rPr lang="en-US" sz="1600" b="1" dirty="0">
                <a:solidFill>
                  <a:schemeClr val="tx2"/>
                </a:solidFill>
                <a:latin typeface="+mj-lt"/>
              </a:rPr>
              <a:t> de bajo </a:t>
            </a:r>
            <a:r>
              <a:rPr lang="en-US" sz="1600" b="1" dirty="0" err="1">
                <a:solidFill>
                  <a:schemeClr val="tx2"/>
                </a:solidFill>
                <a:latin typeface="+mj-lt"/>
              </a:rPr>
              <a:t>rendimiento</a:t>
            </a:r>
            <a:r>
              <a:rPr lang="en-US" sz="1600" b="1" dirty="0">
                <a:solidFill>
                  <a:schemeClr val="tx2"/>
                </a:solidFill>
                <a:latin typeface="+mj-lt"/>
              </a:rPr>
              <a:t> </a:t>
            </a:r>
            <a:r>
              <a:rPr lang="en-US" sz="1600" b="1" dirty="0" err="1">
                <a:solidFill>
                  <a:schemeClr val="tx2"/>
                </a:solidFill>
                <a:latin typeface="+mj-lt"/>
              </a:rPr>
              <a:t>en</a:t>
            </a:r>
            <a:r>
              <a:rPr lang="en-US" sz="1600" b="1" dirty="0">
                <a:solidFill>
                  <a:schemeClr val="tx2"/>
                </a:solidFill>
                <a:latin typeface="+mj-lt"/>
              </a:rPr>
              <a:t> </a:t>
            </a:r>
            <a:r>
              <a:rPr lang="en-US" sz="1600" b="1" dirty="0" err="1">
                <a:solidFill>
                  <a:schemeClr val="tx2"/>
                </a:solidFill>
                <a:latin typeface="+mj-lt"/>
              </a:rPr>
              <a:t>distintos</a:t>
            </a:r>
            <a:r>
              <a:rPr lang="en-US" sz="1600" b="1" dirty="0">
                <a:solidFill>
                  <a:schemeClr val="tx2"/>
                </a:solidFill>
                <a:latin typeface="+mj-lt"/>
              </a:rPr>
              <a:t> </a:t>
            </a:r>
            <a:r>
              <a:rPr lang="en-US" sz="1600" b="1" dirty="0" err="1">
                <a:solidFill>
                  <a:schemeClr val="tx2"/>
                </a:solidFill>
                <a:latin typeface="+mj-lt"/>
              </a:rPr>
              <a:t>grados</a:t>
            </a:r>
            <a:r>
              <a:rPr lang="en-US" sz="1600" b="1" dirty="0">
                <a:solidFill>
                  <a:schemeClr val="tx2"/>
                </a:solidFill>
                <a:latin typeface="+mj-lt"/>
              </a:rPr>
              <a:t>, </a:t>
            </a:r>
            <a:r>
              <a:rPr lang="en-US" sz="1600" b="1" dirty="0" err="1">
                <a:solidFill>
                  <a:schemeClr val="tx2"/>
                </a:solidFill>
                <a:latin typeface="+mj-lt"/>
              </a:rPr>
              <a:t>agrupados</a:t>
            </a:r>
            <a:r>
              <a:rPr lang="en-US" sz="1600" b="1" dirty="0">
                <a:solidFill>
                  <a:schemeClr val="tx2"/>
                </a:solidFill>
                <a:latin typeface="+mj-lt"/>
              </a:rPr>
              <a:t> </a:t>
            </a:r>
            <a:r>
              <a:rPr lang="en-US" sz="1600" b="1" dirty="0" err="1">
                <a:solidFill>
                  <a:schemeClr val="tx2"/>
                </a:solidFill>
                <a:latin typeface="+mj-lt"/>
              </a:rPr>
              <a:t>segun</a:t>
            </a:r>
            <a:r>
              <a:rPr lang="en-US" sz="1600" b="1" dirty="0">
                <a:solidFill>
                  <a:schemeClr val="tx2"/>
                </a:solidFill>
                <a:latin typeface="+mj-lt"/>
              </a:rPr>
              <a:t> </a:t>
            </a:r>
            <a:r>
              <a:rPr lang="en-US" sz="1600" b="1" dirty="0" err="1">
                <a:solidFill>
                  <a:schemeClr val="tx2"/>
                </a:solidFill>
                <a:latin typeface="+mj-lt"/>
              </a:rPr>
              <a:t>su</a:t>
            </a:r>
            <a:r>
              <a:rPr lang="en-US" sz="1600" b="1" dirty="0">
                <a:solidFill>
                  <a:schemeClr val="tx2"/>
                </a:solidFill>
                <a:latin typeface="+mj-lt"/>
              </a:rPr>
              <a:t> </a:t>
            </a:r>
            <a:r>
              <a:rPr lang="en-US" sz="1600" b="1" dirty="0" err="1">
                <a:solidFill>
                  <a:schemeClr val="tx2"/>
                </a:solidFill>
                <a:latin typeface="+mj-lt"/>
              </a:rPr>
              <a:t>nivel</a:t>
            </a:r>
            <a:r>
              <a:rPr lang="en-US" sz="1600" b="1" dirty="0">
                <a:solidFill>
                  <a:schemeClr val="tx2"/>
                </a:solidFill>
                <a:latin typeface="+mj-lt"/>
              </a:rPr>
              <a:t>  de </a:t>
            </a:r>
            <a:r>
              <a:rPr lang="en-US" sz="1600" b="1" dirty="0" err="1">
                <a:solidFill>
                  <a:schemeClr val="tx2"/>
                </a:solidFill>
                <a:latin typeface="+mj-lt"/>
              </a:rPr>
              <a:t>aprendizaje</a:t>
            </a:r>
            <a:r>
              <a:rPr lang="en-US" sz="1600" b="1" dirty="0">
                <a:solidFill>
                  <a:schemeClr val="tx2"/>
                </a:solidFill>
                <a:latin typeface="+mj-lt"/>
              </a:rPr>
              <a:t>.</a:t>
            </a:r>
            <a:endParaRPr lang="en-CA" sz="1600" b="1" dirty="0">
              <a:solidFill>
                <a:schemeClr val="tx2"/>
              </a:solidFill>
              <a:latin typeface="+mj-lt"/>
            </a:endParaRPr>
          </a:p>
        </p:txBody>
      </p:sp>
      <p:sp>
        <p:nvSpPr>
          <p:cNvPr id="4" name="Rectangle: Diagonal Corners Rounded 3">
            <a:extLst>
              <a:ext uri="{FF2B5EF4-FFF2-40B4-BE49-F238E27FC236}">
                <a16:creationId xmlns:a16="http://schemas.microsoft.com/office/drawing/2014/main" id="{5A5973A6-DE8D-445A-BADA-742F820935E6}"/>
              </a:ext>
            </a:extLst>
          </p:cNvPr>
          <p:cNvSpPr/>
          <p:nvPr/>
        </p:nvSpPr>
        <p:spPr>
          <a:xfrm>
            <a:off x="1151902" y="2892991"/>
            <a:ext cx="4453246" cy="717251"/>
          </a:xfrm>
          <a:prstGeom prst="round2Diag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1600" b="1" u="sng" dirty="0"/>
              <a:t>Opción 1</a:t>
            </a:r>
            <a:r>
              <a:rPr lang="es-PE" sz="1600" b="1" dirty="0"/>
              <a:t>: 2 horas en un solo día a la semana</a:t>
            </a:r>
            <a:endParaRPr lang="en-CA" sz="1600" b="1" dirty="0"/>
          </a:p>
        </p:txBody>
      </p:sp>
      <p:sp>
        <p:nvSpPr>
          <p:cNvPr id="23" name="Rectangle: Diagonal Corners Rounded 22">
            <a:extLst>
              <a:ext uri="{FF2B5EF4-FFF2-40B4-BE49-F238E27FC236}">
                <a16:creationId xmlns:a16="http://schemas.microsoft.com/office/drawing/2014/main" id="{F991CBF7-84C2-4367-93FB-EEAB3A510CF6}"/>
              </a:ext>
            </a:extLst>
          </p:cNvPr>
          <p:cNvSpPr/>
          <p:nvPr/>
        </p:nvSpPr>
        <p:spPr>
          <a:xfrm>
            <a:off x="6375069" y="2892990"/>
            <a:ext cx="4453246" cy="717251"/>
          </a:xfrm>
          <a:prstGeom prst="round2Diag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1600" b="1" u="sng" dirty="0"/>
              <a:t>Opción 2</a:t>
            </a:r>
            <a:r>
              <a:rPr lang="es-PE" sz="1600" b="1" dirty="0"/>
              <a:t>: 1 hora diaria dos veces a la semana</a:t>
            </a:r>
            <a:endParaRPr lang="en-CA" sz="1600" b="1" dirty="0"/>
          </a:p>
        </p:txBody>
      </p:sp>
      <p:sp>
        <p:nvSpPr>
          <p:cNvPr id="6" name="Rectangle 5">
            <a:extLst>
              <a:ext uri="{FF2B5EF4-FFF2-40B4-BE49-F238E27FC236}">
                <a16:creationId xmlns:a16="http://schemas.microsoft.com/office/drawing/2014/main" id="{AB2D67F4-F7C1-4246-B484-525ECA796D8A}"/>
              </a:ext>
            </a:extLst>
          </p:cNvPr>
          <p:cNvSpPr/>
          <p:nvPr/>
        </p:nvSpPr>
        <p:spPr>
          <a:xfrm>
            <a:off x="1151902" y="3610241"/>
            <a:ext cx="4453246" cy="2048105"/>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just">
              <a:buFont typeface="Arial" panose="020B0604020202020204" pitchFamily="34" charset="0"/>
              <a:buChar char="•"/>
            </a:pPr>
            <a:r>
              <a:rPr lang="es-PE" sz="1600" dirty="0">
                <a:solidFill>
                  <a:schemeClr val="tx2"/>
                </a:solidFill>
              </a:rPr>
              <a:t>Dos horas semanales  de refuerzo en conceptos definidos de Lectura durante los </a:t>
            </a:r>
            <a:r>
              <a:rPr lang="es-PE" sz="1600" b="1" dirty="0">
                <a:solidFill>
                  <a:schemeClr val="tx2"/>
                </a:solidFill>
              </a:rPr>
              <a:t>primeros 4 meses del año escolar.</a:t>
            </a:r>
          </a:p>
          <a:p>
            <a:pPr algn="ctr"/>
            <a:r>
              <a:rPr lang="es-PE" sz="1600" b="1" dirty="0">
                <a:solidFill>
                  <a:schemeClr val="tx2"/>
                </a:solidFill>
              </a:rPr>
              <a:t>+</a:t>
            </a:r>
          </a:p>
          <a:p>
            <a:pPr marL="285750" indent="-285750" algn="just">
              <a:buFont typeface="Arial" panose="020B0604020202020204" pitchFamily="34" charset="0"/>
              <a:buChar char="•"/>
            </a:pPr>
            <a:r>
              <a:rPr lang="es-PE" sz="1600" dirty="0">
                <a:solidFill>
                  <a:schemeClr val="tx2"/>
                </a:solidFill>
              </a:rPr>
              <a:t>Dos horas semanales de refuerzo en conceptos definidos de matemática durante los </a:t>
            </a:r>
            <a:r>
              <a:rPr lang="es-PE" sz="1600" b="1" dirty="0">
                <a:solidFill>
                  <a:schemeClr val="tx2"/>
                </a:solidFill>
              </a:rPr>
              <a:t>últimos 4 meses del año escolar.</a:t>
            </a:r>
            <a:endParaRPr lang="en-CA" sz="1600" b="1" dirty="0">
              <a:solidFill>
                <a:schemeClr val="tx2"/>
              </a:solidFill>
            </a:endParaRPr>
          </a:p>
        </p:txBody>
      </p:sp>
      <p:sp>
        <p:nvSpPr>
          <p:cNvPr id="26" name="Rectangle 25">
            <a:extLst>
              <a:ext uri="{FF2B5EF4-FFF2-40B4-BE49-F238E27FC236}">
                <a16:creationId xmlns:a16="http://schemas.microsoft.com/office/drawing/2014/main" id="{91E5217D-1F95-48F0-B36E-295FBE2D257D}"/>
              </a:ext>
            </a:extLst>
          </p:cNvPr>
          <p:cNvSpPr/>
          <p:nvPr/>
        </p:nvSpPr>
        <p:spPr>
          <a:xfrm>
            <a:off x="6375069" y="3610240"/>
            <a:ext cx="4453246" cy="2048105"/>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just">
              <a:buFont typeface="Arial" panose="020B0604020202020204" pitchFamily="34" charset="0"/>
              <a:buChar char="•"/>
            </a:pPr>
            <a:r>
              <a:rPr lang="es-PE" dirty="0">
                <a:solidFill>
                  <a:schemeClr val="tx2"/>
                </a:solidFill>
              </a:rPr>
              <a:t>Una hora de lectura un día a la semana</a:t>
            </a:r>
          </a:p>
          <a:p>
            <a:pPr algn="ctr"/>
            <a:r>
              <a:rPr lang="es-PE" b="1" dirty="0">
                <a:solidFill>
                  <a:schemeClr val="tx2"/>
                </a:solidFill>
              </a:rPr>
              <a:t>+</a:t>
            </a:r>
          </a:p>
          <a:p>
            <a:pPr marL="285750" indent="-285750" algn="just">
              <a:buFont typeface="Arial" panose="020B0604020202020204" pitchFamily="34" charset="0"/>
              <a:buChar char="•"/>
            </a:pPr>
            <a:r>
              <a:rPr lang="es-PE" dirty="0">
                <a:solidFill>
                  <a:schemeClr val="tx2"/>
                </a:solidFill>
              </a:rPr>
              <a:t>Una hora de matemática en otro día de la semana</a:t>
            </a:r>
            <a:endParaRPr lang="en-CA" dirty="0">
              <a:solidFill>
                <a:schemeClr val="tx2"/>
              </a:solidFill>
            </a:endParaRPr>
          </a:p>
        </p:txBody>
      </p:sp>
      <p:sp>
        <p:nvSpPr>
          <p:cNvPr id="7" name="Rectangle 6">
            <a:extLst>
              <a:ext uri="{FF2B5EF4-FFF2-40B4-BE49-F238E27FC236}">
                <a16:creationId xmlns:a16="http://schemas.microsoft.com/office/drawing/2014/main" id="{44C8AA4D-7C8C-4FD1-8EF7-9259876A0001}"/>
              </a:ext>
            </a:extLst>
          </p:cNvPr>
          <p:cNvSpPr/>
          <p:nvPr/>
        </p:nvSpPr>
        <p:spPr>
          <a:xfrm>
            <a:off x="1151902" y="5822398"/>
            <a:ext cx="9676413" cy="685640"/>
          </a:xfrm>
          <a:prstGeom prst="rect">
            <a:avLst/>
          </a:prstGeom>
          <a:solidFill>
            <a:schemeClr val="tx2"/>
          </a:solidFill>
          <a:ln>
            <a:solidFill>
              <a:schemeClr val="tx2"/>
            </a:solid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es-PE" sz="1600" dirty="0"/>
              <a:t>El docente se utiliza un par de horas a la semana para repasar el contenido de las guías y la retroalimentación del mentor.</a:t>
            </a:r>
            <a:endParaRPr lang="en-CA" sz="1600" dirty="0"/>
          </a:p>
        </p:txBody>
      </p:sp>
      <p:sp>
        <p:nvSpPr>
          <p:cNvPr id="11" name="Rectangle 10">
            <a:extLst>
              <a:ext uri="{FF2B5EF4-FFF2-40B4-BE49-F238E27FC236}">
                <a16:creationId xmlns:a16="http://schemas.microsoft.com/office/drawing/2014/main" id="{2C1012FC-3214-4002-A74A-F148F147E486}"/>
              </a:ext>
            </a:extLst>
          </p:cNvPr>
          <p:cNvSpPr/>
          <p:nvPr/>
        </p:nvSpPr>
        <p:spPr>
          <a:xfrm>
            <a:off x="1054918" y="1962737"/>
            <a:ext cx="9773397" cy="685640"/>
          </a:xfrm>
          <a:prstGeom prst="rect">
            <a:avLst/>
          </a:prstGeom>
          <a:solidFill>
            <a:schemeClr val="tx2"/>
          </a:solidFill>
          <a:ln>
            <a:solidFill>
              <a:schemeClr val="tx2"/>
            </a:solid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es-PE" sz="1600" dirty="0"/>
              <a:t>Los alumnos son agrupados según su nivel en grupos de 20 alumnos máximo. </a:t>
            </a:r>
          </a:p>
          <a:p>
            <a:pPr algn="ctr"/>
            <a:r>
              <a:rPr lang="es-PE" sz="1600" dirty="0" err="1"/>
              <a:t>Máx</a:t>
            </a:r>
            <a:r>
              <a:rPr lang="es-PE" sz="1600" dirty="0"/>
              <a:t> ratio docente alumno: 1 docente por cada 20 alumnos.</a:t>
            </a:r>
            <a:endParaRPr lang="en-CA" sz="1600" dirty="0"/>
          </a:p>
        </p:txBody>
      </p:sp>
    </p:spTree>
    <p:extLst>
      <p:ext uri="{BB962C8B-B14F-4D97-AF65-F5344CB8AC3E}">
        <p14:creationId xmlns:p14="http://schemas.microsoft.com/office/powerpoint/2010/main" val="28497056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Diagonal Corners Rounded 6">
            <a:extLst>
              <a:ext uri="{FF2B5EF4-FFF2-40B4-BE49-F238E27FC236}">
                <a16:creationId xmlns:a16="http://schemas.microsoft.com/office/drawing/2014/main" id="{5DC549E6-0B6C-450B-922D-0F58D2924A72}"/>
              </a:ext>
            </a:extLst>
          </p:cNvPr>
          <p:cNvSpPr/>
          <p:nvPr/>
        </p:nvSpPr>
        <p:spPr>
          <a:xfrm>
            <a:off x="429623" y="1048649"/>
            <a:ext cx="11267440" cy="721517"/>
          </a:xfrm>
          <a:prstGeom prst="round2DiagRect">
            <a:avLst/>
          </a:prstGeom>
          <a:solidFill>
            <a:srgbClr val="C00000"/>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solidFill>
                <a:schemeClr val="bg1"/>
              </a:solidFill>
            </a:endParaRPr>
          </a:p>
        </p:txBody>
      </p:sp>
      <p:sp>
        <p:nvSpPr>
          <p:cNvPr id="2" name="Title 1">
            <a:extLst>
              <a:ext uri="{FF2B5EF4-FFF2-40B4-BE49-F238E27FC236}">
                <a16:creationId xmlns:a16="http://schemas.microsoft.com/office/drawing/2014/main" id="{16C18CE1-72D9-4719-A2FF-5C93A7E96E39}"/>
              </a:ext>
            </a:extLst>
          </p:cNvPr>
          <p:cNvSpPr>
            <a:spLocks noGrp="1"/>
          </p:cNvSpPr>
          <p:nvPr>
            <p:ph type="title"/>
          </p:nvPr>
        </p:nvSpPr>
        <p:spPr/>
        <p:txBody>
          <a:bodyPr/>
          <a:lstStyle/>
          <a:p>
            <a:r>
              <a:rPr lang="es-PE" sz="4000" dirty="0"/>
              <a:t>AGENDA</a:t>
            </a:r>
            <a:endParaRPr lang="en-CA" sz="4000" dirty="0"/>
          </a:p>
        </p:txBody>
      </p:sp>
      <p:sp>
        <p:nvSpPr>
          <p:cNvPr id="3" name="Slide Number Placeholder 2">
            <a:extLst>
              <a:ext uri="{FF2B5EF4-FFF2-40B4-BE49-F238E27FC236}">
                <a16:creationId xmlns:a16="http://schemas.microsoft.com/office/drawing/2014/main" id="{0DFD7E46-D5CE-48DD-96F3-51002A57C15D}"/>
              </a:ext>
            </a:extLst>
          </p:cNvPr>
          <p:cNvSpPr>
            <a:spLocks noGrp="1"/>
          </p:cNvSpPr>
          <p:nvPr>
            <p:ph type="sldNum" sz="quarter" idx="12"/>
          </p:nvPr>
        </p:nvSpPr>
        <p:spPr/>
        <p:txBody>
          <a:bodyPr/>
          <a:lstStyle/>
          <a:p>
            <a:fld id="{DAF31D20-51B2-49A6-91FA-1FC48A60B42D}" type="slidenum">
              <a:rPr lang="es-PE" smtClean="0"/>
              <a:t>17</a:t>
            </a:fld>
            <a:endParaRPr lang="es-PE"/>
          </a:p>
        </p:txBody>
      </p:sp>
      <p:sp>
        <p:nvSpPr>
          <p:cNvPr id="5" name="TextBox 4">
            <a:extLst>
              <a:ext uri="{FF2B5EF4-FFF2-40B4-BE49-F238E27FC236}">
                <a16:creationId xmlns:a16="http://schemas.microsoft.com/office/drawing/2014/main" id="{17CB7C5A-6404-4218-A2FD-BE386960A332}"/>
              </a:ext>
            </a:extLst>
          </p:cNvPr>
          <p:cNvSpPr txBox="1"/>
          <p:nvPr/>
        </p:nvSpPr>
        <p:spPr>
          <a:xfrm>
            <a:off x="494937" y="1249444"/>
            <a:ext cx="10739120" cy="369332"/>
          </a:xfrm>
          <a:prstGeom prst="rect">
            <a:avLst/>
          </a:prstGeom>
          <a:noFill/>
        </p:spPr>
        <p:txBody>
          <a:bodyPr wrap="square" rtlCol="0">
            <a:spAutoFit/>
          </a:bodyPr>
          <a:lstStyle/>
          <a:p>
            <a:r>
              <a:rPr lang="es-PE" b="1" dirty="0">
                <a:solidFill>
                  <a:schemeClr val="bg1"/>
                </a:solidFill>
              </a:rPr>
              <a:t>2.  Propuesta de estrategia de Educación Remedial </a:t>
            </a:r>
            <a:endParaRPr lang="en-CA" b="1" dirty="0">
              <a:solidFill>
                <a:schemeClr val="bg1"/>
              </a:solidFill>
            </a:endParaRPr>
          </a:p>
        </p:txBody>
      </p:sp>
      <p:sp>
        <p:nvSpPr>
          <p:cNvPr id="11" name="Rectangle 10">
            <a:extLst>
              <a:ext uri="{FF2B5EF4-FFF2-40B4-BE49-F238E27FC236}">
                <a16:creationId xmlns:a16="http://schemas.microsoft.com/office/drawing/2014/main" id="{73ED18D7-638E-4BF8-8DFC-833E74760777}"/>
              </a:ext>
            </a:extLst>
          </p:cNvPr>
          <p:cNvSpPr/>
          <p:nvPr/>
        </p:nvSpPr>
        <p:spPr>
          <a:xfrm>
            <a:off x="866770" y="1964956"/>
            <a:ext cx="10753725" cy="381602"/>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00050" indent="-400050">
              <a:buFont typeface="+mj-lt"/>
              <a:buAutoNum type="romanUcPeriod"/>
            </a:pPr>
            <a:r>
              <a:rPr lang="es-PE" b="1" dirty="0">
                <a:solidFill>
                  <a:schemeClr val="tx2"/>
                </a:solidFill>
              </a:rPr>
              <a:t>Información general de estrategias</a:t>
            </a:r>
            <a:endParaRPr lang="en-CA" b="1" dirty="0">
              <a:solidFill>
                <a:schemeClr val="tx2"/>
              </a:solidFill>
            </a:endParaRPr>
          </a:p>
        </p:txBody>
      </p:sp>
      <p:sp>
        <p:nvSpPr>
          <p:cNvPr id="13" name="Rectangle 12">
            <a:extLst>
              <a:ext uri="{FF2B5EF4-FFF2-40B4-BE49-F238E27FC236}">
                <a16:creationId xmlns:a16="http://schemas.microsoft.com/office/drawing/2014/main" id="{BF24706C-635F-48B8-86E0-9354C25A8312}"/>
              </a:ext>
            </a:extLst>
          </p:cNvPr>
          <p:cNvSpPr/>
          <p:nvPr/>
        </p:nvSpPr>
        <p:spPr>
          <a:xfrm>
            <a:off x="866770" y="2559386"/>
            <a:ext cx="10753725" cy="381602"/>
          </a:xfrm>
          <a:prstGeom prst="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00050" indent="-400050">
              <a:buFont typeface="+mj-lt"/>
              <a:buAutoNum type="romanUcPeriod" startAt="2"/>
            </a:pPr>
            <a:r>
              <a:rPr lang="es-PE" b="1" dirty="0">
                <a:solidFill>
                  <a:schemeClr val="bg1"/>
                </a:solidFill>
              </a:rPr>
              <a:t>Modelo 1: Enseñanza al nivel adecuado (</a:t>
            </a:r>
            <a:r>
              <a:rPr lang="es-PE" b="1" dirty="0" err="1">
                <a:solidFill>
                  <a:schemeClr val="bg1"/>
                </a:solidFill>
              </a:rPr>
              <a:t>TaRL</a:t>
            </a:r>
            <a:r>
              <a:rPr lang="es-PE" b="1" dirty="0">
                <a:solidFill>
                  <a:schemeClr val="bg1"/>
                </a:solidFill>
              </a:rPr>
              <a:t>)</a:t>
            </a:r>
            <a:endParaRPr lang="en-CA" b="1" dirty="0">
              <a:solidFill>
                <a:schemeClr val="bg1"/>
              </a:solidFill>
            </a:endParaRPr>
          </a:p>
        </p:txBody>
      </p:sp>
      <p:sp>
        <p:nvSpPr>
          <p:cNvPr id="15" name="Rectangle 14">
            <a:extLst>
              <a:ext uri="{FF2B5EF4-FFF2-40B4-BE49-F238E27FC236}">
                <a16:creationId xmlns:a16="http://schemas.microsoft.com/office/drawing/2014/main" id="{6D048FC1-72B2-4921-BF07-AC34182DA451}"/>
              </a:ext>
            </a:extLst>
          </p:cNvPr>
          <p:cNvSpPr/>
          <p:nvPr/>
        </p:nvSpPr>
        <p:spPr>
          <a:xfrm>
            <a:off x="866770" y="4598728"/>
            <a:ext cx="10753725" cy="381602"/>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00050" indent="-400050">
              <a:buFont typeface="+mj-lt"/>
              <a:buAutoNum type="romanUcPeriod" startAt="3"/>
            </a:pPr>
            <a:r>
              <a:rPr lang="es-PE" b="1" dirty="0">
                <a:solidFill>
                  <a:schemeClr val="tx2"/>
                </a:solidFill>
              </a:rPr>
              <a:t>Modelo 2: Tutoría con componente digital</a:t>
            </a:r>
            <a:endParaRPr lang="en-CA" b="1" dirty="0">
              <a:solidFill>
                <a:schemeClr val="tx2"/>
              </a:solidFill>
            </a:endParaRPr>
          </a:p>
        </p:txBody>
      </p:sp>
      <p:sp>
        <p:nvSpPr>
          <p:cNvPr id="18" name="TextBox 17">
            <a:extLst>
              <a:ext uri="{FF2B5EF4-FFF2-40B4-BE49-F238E27FC236}">
                <a16:creationId xmlns:a16="http://schemas.microsoft.com/office/drawing/2014/main" id="{1472411D-B88F-4453-A39D-EDA418DB8DC9}"/>
              </a:ext>
            </a:extLst>
          </p:cNvPr>
          <p:cNvSpPr txBox="1"/>
          <p:nvPr/>
        </p:nvSpPr>
        <p:spPr>
          <a:xfrm>
            <a:off x="1104894" y="2959666"/>
            <a:ext cx="10277475" cy="1754326"/>
          </a:xfrm>
          <a:prstGeom prst="rect">
            <a:avLst/>
          </a:prstGeom>
          <a:noFill/>
        </p:spPr>
        <p:txBody>
          <a:bodyPr wrap="square" rtlCol="0">
            <a:spAutoFit/>
          </a:bodyPr>
          <a:lstStyle/>
          <a:p>
            <a:pPr marL="285750" indent="-285750">
              <a:buFont typeface="Wingdings" panose="05000000000000000000" pitchFamily="2" charset="2"/>
              <a:buChar char="§"/>
            </a:pPr>
            <a:r>
              <a:rPr lang="es-PE" sz="1200" dirty="0">
                <a:solidFill>
                  <a:schemeClr val="bg1">
                    <a:lumMod val="65000"/>
                  </a:schemeClr>
                </a:solidFill>
              </a:rPr>
              <a:t>Antecedentes</a:t>
            </a:r>
          </a:p>
          <a:p>
            <a:pPr marL="285750" indent="-285750">
              <a:buFont typeface="Wingdings" panose="05000000000000000000" pitchFamily="2" charset="2"/>
              <a:buChar char="§"/>
            </a:pPr>
            <a:r>
              <a:rPr lang="es-PE" sz="1200" dirty="0">
                <a:solidFill>
                  <a:schemeClr val="bg1">
                    <a:lumMod val="65000"/>
                  </a:schemeClr>
                </a:solidFill>
              </a:rPr>
              <a:t>El Modelo</a:t>
            </a:r>
          </a:p>
          <a:p>
            <a:pPr marL="285750" indent="-285750">
              <a:buFont typeface="Wingdings" panose="05000000000000000000" pitchFamily="2" charset="2"/>
              <a:buChar char="§"/>
            </a:pPr>
            <a:r>
              <a:rPr lang="es-PE" sz="1200" b="1" dirty="0">
                <a:solidFill>
                  <a:schemeClr val="tx2"/>
                </a:solidFill>
              </a:rPr>
              <a:t>Componentes de la estrategia</a:t>
            </a:r>
          </a:p>
          <a:p>
            <a:pPr marL="285750" indent="-285750">
              <a:buFont typeface="Wingdings" panose="05000000000000000000" pitchFamily="2" charset="2"/>
              <a:buChar char="§"/>
            </a:pPr>
            <a:r>
              <a:rPr lang="es-PE" sz="1200" dirty="0">
                <a:solidFill>
                  <a:schemeClr val="bg1">
                    <a:lumMod val="65000"/>
                  </a:schemeClr>
                </a:solidFill>
              </a:rPr>
              <a:t>Focalización</a:t>
            </a:r>
          </a:p>
          <a:p>
            <a:pPr marL="285750" indent="-285750">
              <a:buFont typeface="Wingdings" panose="05000000000000000000" pitchFamily="2" charset="2"/>
              <a:buChar char="§"/>
            </a:pPr>
            <a:r>
              <a:rPr lang="es-PE" sz="1200" dirty="0">
                <a:solidFill>
                  <a:schemeClr val="bg1">
                    <a:lumMod val="65000"/>
                  </a:schemeClr>
                </a:solidFill>
              </a:rPr>
              <a:t>Cobertura</a:t>
            </a:r>
          </a:p>
          <a:p>
            <a:pPr marL="285750" indent="-285750">
              <a:buFont typeface="Wingdings" panose="05000000000000000000" pitchFamily="2" charset="2"/>
              <a:buChar char="§"/>
            </a:pPr>
            <a:r>
              <a:rPr lang="es-PE" sz="1200" dirty="0">
                <a:solidFill>
                  <a:schemeClr val="bg1">
                    <a:lumMod val="65000"/>
                  </a:schemeClr>
                </a:solidFill>
              </a:rPr>
              <a:t>Estimación de Costos</a:t>
            </a:r>
          </a:p>
          <a:p>
            <a:pPr marL="285750" indent="-285750">
              <a:buFont typeface="Wingdings" panose="05000000000000000000" pitchFamily="2" charset="2"/>
              <a:buChar char="§"/>
            </a:pPr>
            <a:r>
              <a:rPr lang="es-PE" sz="1200" dirty="0">
                <a:solidFill>
                  <a:schemeClr val="bg1">
                    <a:lumMod val="65000"/>
                  </a:schemeClr>
                </a:solidFill>
              </a:rPr>
              <a:t>Cronograma</a:t>
            </a:r>
          </a:p>
          <a:p>
            <a:pPr marL="285750" indent="-285750">
              <a:buFont typeface="Wingdings" panose="05000000000000000000" pitchFamily="2" charset="2"/>
              <a:buChar char="§"/>
            </a:pPr>
            <a:r>
              <a:rPr lang="es-PE" sz="1200" dirty="0">
                <a:solidFill>
                  <a:schemeClr val="bg1">
                    <a:lumMod val="65000"/>
                  </a:schemeClr>
                </a:solidFill>
              </a:rPr>
              <a:t>Complementariedad con otras estrategias y recomendaciones</a:t>
            </a:r>
          </a:p>
          <a:p>
            <a:pPr marL="285750" indent="-285750">
              <a:buFont typeface="Wingdings" panose="05000000000000000000" pitchFamily="2" charset="2"/>
              <a:buChar char="§"/>
            </a:pPr>
            <a:endParaRPr lang="es-PE" sz="1200" dirty="0">
              <a:solidFill>
                <a:schemeClr val="tx2"/>
              </a:solidFill>
            </a:endParaRPr>
          </a:p>
        </p:txBody>
      </p:sp>
      <p:sp>
        <p:nvSpPr>
          <p:cNvPr id="19" name="TextBox 18">
            <a:extLst>
              <a:ext uri="{FF2B5EF4-FFF2-40B4-BE49-F238E27FC236}">
                <a16:creationId xmlns:a16="http://schemas.microsoft.com/office/drawing/2014/main" id="{5947BA55-15C3-4040-9B5B-8EAC7B3B3343}"/>
              </a:ext>
            </a:extLst>
          </p:cNvPr>
          <p:cNvSpPr txBox="1"/>
          <p:nvPr/>
        </p:nvSpPr>
        <p:spPr>
          <a:xfrm>
            <a:off x="1104893" y="4989837"/>
            <a:ext cx="10277475" cy="1754326"/>
          </a:xfrm>
          <a:prstGeom prst="rect">
            <a:avLst/>
          </a:prstGeom>
          <a:noFill/>
        </p:spPr>
        <p:txBody>
          <a:bodyPr wrap="square" rtlCol="0">
            <a:spAutoFit/>
          </a:bodyPr>
          <a:lstStyle/>
          <a:p>
            <a:pPr marL="285750" indent="-285750">
              <a:buFont typeface="Wingdings" panose="05000000000000000000" pitchFamily="2" charset="2"/>
              <a:buChar char="§"/>
            </a:pPr>
            <a:r>
              <a:rPr lang="es-PE" sz="1200" dirty="0">
                <a:solidFill>
                  <a:schemeClr val="bg1">
                    <a:lumMod val="65000"/>
                  </a:schemeClr>
                </a:solidFill>
              </a:rPr>
              <a:t>Antecedentes</a:t>
            </a:r>
          </a:p>
          <a:p>
            <a:pPr marL="285750" indent="-285750">
              <a:buFont typeface="Wingdings" panose="05000000000000000000" pitchFamily="2" charset="2"/>
              <a:buChar char="§"/>
            </a:pPr>
            <a:r>
              <a:rPr lang="es-PE" sz="1200" dirty="0">
                <a:solidFill>
                  <a:schemeClr val="bg1">
                    <a:lumMod val="65000"/>
                  </a:schemeClr>
                </a:solidFill>
              </a:rPr>
              <a:t>Oportunidades</a:t>
            </a:r>
          </a:p>
          <a:p>
            <a:pPr marL="285750" indent="-285750">
              <a:buFont typeface="Wingdings" panose="05000000000000000000" pitchFamily="2" charset="2"/>
              <a:buChar char="§"/>
            </a:pPr>
            <a:r>
              <a:rPr lang="es-PE" sz="1200" dirty="0">
                <a:solidFill>
                  <a:schemeClr val="bg1">
                    <a:lumMod val="65000"/>
                  </a:schemeClr>
                </a:solidFill>
              </a:rPr>
              <a:t>El Modelo</a:t>
            </a:r>
          </a:p>
          <a:p>
            <a:pPr marL="285750" indent="-285750">
              <a:buFont typeface="Wingdings" panose="05000000000000000000" pitchFamily="2" charset="2"/>
              <a:buChar char="§"/>
            </a:pPr>
            <a:r>
              <a:rPr lang="es-PE" sz="1200" dirty="0">
                <a:solidFill>
                  <a:schemeClr val="bg1">
                    <a:lumMod val="65000"/>
                  </a:schemeClr>
                </a:solidFill>
              </a:rPr>
              <a:t>Componentes de la estrategia</a:t>
            </a:r>
          </a:p>
          <a:p>
            <a:pPr marL="285750" indent="-285750">
              <a:buFont typeface="Wingdings" panose="05000000000000000000" pitchFamily="2" charset="2"/>
              <a:buChar char="§"/>
            </a:pPr>
            <a:r>
              <a:rPr lang="es-PE" sz="1200" dirty="0">
                <a:solidFill>
                  <a:schemeClr val="bg1">
                    <a:lumMod val="65000"/>
                  </a:schemeClr>
                </a:solidFill>
              </a:rPr>
              <a:t>Focalización</a:t>
            </a:r>
          </a:p>
          <a:p>
            <a:pPr marL="285750" indent="-285750">
              <a:buFont typeface="Wingdings" panose="05000000000000000000" pitchFamily="2" charset="2"/>
              <a:buChar char="§"/>
            </a:pPr>
            <a:r>
              <a:rPr lang="es-PE" sz="1200" dirty="0">
                <a:solidFill>
                  <a:schemeClr val="bg1">
                    <a:lumMod val="65000"/>
                  </a:schemeClr>
                </a:solidFill>
              </a:rPr>
              <a:t>Cobertura</a:t>
            </a:r>
          </a:p>
          <a:p>
            <a:pPr marL="285750" indent="-285750">
              <a:buFont typeface="Wingdings" panose="05000000000000000000" pitchFamily="2" charset="2"/>
              <a:buChar char="§"/>
            </a:pPr>
            <a:r>
              <a:rPr lang="es-PE" sz="1200" dirty="0">
                <a:solidFill>
                  <a:schemeClr val="bg1">
                    <a:lumMod val="65000"/>
                  </a:schemeClr>
                </a:solidFill>
              </a:rPr>
              <a:t>Estimación de Costos</a:t>
            </a:r>
          </a:p>
          <a:p>
            <a:pPr marL="285750" indent="-285750">
              <a:buFont typeface="Wingdings" panose="05000000000000000000" pitchFamily="2" charset="2"/>
              <a:buChar char="§"/>
            </a:pPr>
            <a:r>
              <a:rPr lang="es-PE" sz="1200" dirty="0">
                <a:solidFill>
                  <a:schemeClr val="bg1">
                    <a:lumMod val="65000"/>
                  </a:schemeClr>
                </a:solidFill>
              </a:rPr>
              <a:t>Cronograma</a:t>
            </a:r>
          </a:p>
          <a:p>
            <a:pPr marL="285750" indent="-285750">
              <a:buFont typeface="Wingdings" panose="05000000000000000000" pitchFamily="2" charset="2"/>
              <a:buChar char="§"/>
            </a:pPr>
            <a:r>
              <a:rPr lang="es-PE" sz="1200" dirty="0">
                <a:solidFill>
                  <a:schemeClr val="bg1">
                    <a:lumMod val="65000"/>
                  </a:schemeClr>
                </a:solidFill>
              </a:rPr>
              <a:t>Complementariedad con otras estrategias y recomendaciones</a:t>
            </a:r>
          </a:p>
        </p:txBody>
      </p:sp>
    </p:spTree>
    <p:extLst>
      <p:ext uri="{BB962C8B-B14F-4D97-AF65-F5344CB8AC3E}">
        <p14:creationId xmlns:p14="http://schemas.microsoft.com/office/powerpoint/2010/main" val="35682728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F9EFD6-FB14-458A-BE54-EDAA3B452B4E}"/>
              </a:ext>
            </a:extLst>
          </p:cNvPr>
          <p:cNvSpPr>
            <a:spLocks noGrp="1"/>
          </p:cNvSpPr>
          <p:nvPr>
            <p:ph type="title"/>
          </p:nvPr>
        </p:nvSpPr>
        <p:spPr/>
        <p:txBody>
          <a:bodyPr/>
          <a:lstStyle/>
          <a:p>
            <a:r>
              <a:rPr lang="es-PE" dirty="0"/>
              <a:t>Componentes de la estrategia</a:t>
            </a:r>
            <a:endParaRPr lang="en-CA" dirty="0"/>
          </a:p>
        </p:txBody>
      </p:sp>
      <p:sp>
        <p:nvSpPr>
          <p:cNvPr id="3" name="Slide Number Placeholder 2">
            <a:extLst>
              <a:ext uri="{FF2B5EF4-FFF2-40B4-BE49-F238E27FC236}">
                <a16:creationId xmlns:a16="http://schemas.microsoft.com/office/drawing/2014/main" id="{11DDDD02-A690-46B6-8B58-7CF4C70969B7}"/>
              </a:ext>
            </a:extLst>
          </p:cNvPr>
          <p:cNvSpPr>
            <a:spLocks noGrp="1"/>
          </p:cNvSpPr>
          <p:nvPr>
            <p:ph type="sldNum" sz="quarter" idx="12"/>
          </p:nvPr>
        </p:nvSpPr>
        <p:spPr/>
        <p:txBody>
          <a:bodyPr/>
          <a:lstStyle/>
          <a:p>
            <a:fld id="{DAF31D20-51B2-49A6-91FA-1FC48A60B42D}" type="slidenum">
              <a:rPr lang="es-PE" smtClean="0"/>
              <a:t>18</a:t>
            </a:fld>
            <a:endParaRPr lang="es-PE"/>
          </a:p>
        </p:txBody>
      </p:sp>
      <p:sp>
        <p:nvSpPr>
          <p:cNvPr id="6" name="Rectangle: Diagonal Corners Rounded 5">
            <a:extLst>
              <a:ext uri="{FF2B5EF4-FFF2-40B4-BE49-F238E27FC236}">
                <a16:creationId xmlns:a16="http://schemas.microsoft.com/office/drawing/2014/main" id="{38B65CA3-A656-4097-A41D-5FADC0B375EB}"/>
              </a:ext>
            </a:extLst>
          </p:cNvPr>
          <p:cNvSpPr/>
          <p:nvPr/>
        </p:nvSpPr>
        <p:spPr>
          <a:xfrm>
            <a:off x="558800" y="1483517"/>
            <a:ext cx="1249680" cy="523086"/>
          </a:xfrm>
          <a:prstGeom prst="round2Diag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b="1" dirty="0"/>
              <a:t>1</a:t>
            </a:r>
            <a:endParaRPr lang="en-CA" b="1" dirty="0"/>
          </a:p>
        </p:txBody>
      </p:sp>
      <p:sp>
        <p:nvSpPr>
          <p:cNvPr id="7" name="Rectangle: Diagonal Corners Rounded 6">
            <a:extLst>
              <a:ext uri="{FF2B5EF4-FFF2-40B4-BE49-F238E27FC236}">
                <a16:creationId xmlns:a16="http://schemas.microsoft.com/office/drawing/2014/main" id="{15155352-7C2E-4A74-9067-0166E9B3FCB1}"/>
              </a:ext>
            </a:extLst>
          </p:cNvPr>
          <p:cNvSpPr/>
          <p:nvPr/>
        </p:nvSpPr>
        <p:spPr>
          <a:xfrm>
            <a:off x="558800" y="2697636"/>
            <a:ext cx="1249680" cy="523086"/>
          </a:xfrm>
          <a:prstGeom prst="round2Diag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b="1" dirty="0"/>
              <a:t>2</a:t>
            </a:r>
            <a:endParaRPr lang="en-CA" b="1" dirty="0"/>
          </a:p>
        </p:txBody>
      </p:sp>
      <p:sp>
        <p:nvSpPr>
          <p:cNvPr id="8" name="Rectangle: Diagonal Corners Rounded 7">
            <a:extLst>
              <a:ext uri="{FF2B5EF4-FFF2-40B4-BE49-F238E27FC236}">
                <a16:creationId xmlns:a16="http://schemas.microsoft.com/office/drawing/2014/main" id="{856626EA-6F0D-40E1-97A0-340401C7945F}"/>
              </a:ext>
            </a:extLst>
          </p:cNvPr>
          <p:cNvSpPr/>
          <p:nvPr/>
        </p:nvSpPr>
        <p:spPr>
          <a:xfrm>
            <a:off x="543560" y="3911755"/>
            <a:ext cx="1249680" cy="523086"/>
          </a:xfrm>
          <a:prstGeom prst="round2Diag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b="1" dirty="0"/>
              <a:t>3</a:t>
            </a:r>
            <a:endParaRPr lang="en-CA" b="1" dirty="0"/>
          </a:p>
        </p:txBody>
      </p:sp>
      <p:sp>
        <p:nvSpPr>
          <p:cNvPr id="9" name="Rectangle: Diagonal Corners Rounded 8">
            <a:extLst>
              <a:ext uri="{FF2B5EF4-FFF2-40B4-BE49-F238E27FC236}">
                <a16:creationId xmlns:a16="http://schemas.microsoft.com/office/drawing/2014/main" id="{D4DA7230-B678-4664-97A5-0AEC2F1F8AED}"/>
              </a:ext>
            </a:extLst>
          </p:cNvPr>
          <p:cNvSpPr/>
          <p:nvPr/>
        </p:nvSpPr>
        <p:spPr>
          <a:xfrm>
            <a:off x="543560" y="5125874"/>
            <a:ext cx="1249680" cy="523086"/>
          </a:xfrm>
          <a:prstGeom prst="round2Diag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b="1" dirty="0"/>
              <a:t>4</a:t>
            </a:r>
            <a:endParaRPr lang="en-CA" b="1" dirty="0"/>
          </a:p>
        </p:txBody>
      </p:sp>
      <p:sp>
        <p:nvSpPr>
          <p:cNvPr id="10" name="TextBox 9">
            <a:extLst>
              <a:ext uri="{FF2B5EF4-FFF2-40B4-BE49-F238E27FC236}">
                <a16:creationId xmlns:a16="http://schemas.microsoft.com/office/drawing/2014/main" id="{959560DC-9F71-4392-A18D-B75DDE47CD76}"/>
              </a:ext>
            </a:extLst>
          </p:cNvPr>
          <p:cNvSpPr txBox="1"/>
          <p:nvPr/>
        </p:nvSpPr>
        <p:spPr>
          <a:xfrm>
            <a:off x="2153920" y="1560394"/>
            <a:ext cx="8067040" cy="461665"/>
          </a:xfrm>
          <a:prstGeom prst="rect">
            <a:avLst/>
          </a:prstGeom>
          <a:noFill/>
        </p:spPr>
        <p:txBody>
          <a:bodyPr wrap="square" rtlCol="0">
            <a:spAutoFit/>
          </a:bodyPr>
          <a:lstStyle/>
          <a:p>
            <a:r>
              <a:rPr lang="es-PE" sz="2400" b="1" dirty="0">
                <a:solidFill>
                  <a:schemeClr val="tx2"/>
                </a:solidFill>
              </a:rPr>
              <a:t>Equipos de implementación</a:t>
            </a:r>
            <a:endParaRPr lang="en-CA" sz="2400" b="1" dirty="0">
              <a:solidFill>
                <a:schemeClr val="tx2"/>
              </a:solidFill>
            </a:endParaRPr>
          </a:p>
        </p:txBody>
      </p:sp>
      <p:sp>
        <p:nvSpPr>
          <p:cNvPr id="11" name="TextBox 10">
            <a:extLst>
              <a:ext uri="{FF2B5EF4-FFF2-40B4-BE49-F238E27FC236}">
                <a16:creationId xmlns:a16="http://schemas.microsoft.com/office/drawing/2014/main" id="{A55A6A5E-5408-400E-89B1-19391875960E}"/>
              </a:ext>
            </a:extLst>
          </p:cNvPr>
          <p:cNvSpPr txBox="1"/>
          <p:nvPr/>
        </p:nvSpPr>
        <p:spPr>
          <a:xfrm>
            <a:off x="2153920" y="2773832"/>
            <a:ext cx="8067040" cy="461665"/>
          </a:xfrm>
          <a:prstGeom prst="rect">
            <a:avLst/>
          </a:prstGeom>
          <a:noFill/>
        </p:spPr>
        <p:txBody>
          <a:bodyPr wrap="square" rtlCol="0">
            <a:spAutoFit/>
          </a:bodyPr>
          <a:lstStyle/>
          <a:p>
            <a:r>
              <a:rPr lang="es-PE" sz="2400" b="1" dirty="0">
                <a:solidFill>
                  <a:schemeClr val="tx2"/>
                </a:solidFill>
              </a:rPr>
              <a:t>Evaluación de estudiantes</a:t>
            </a:r>
            <a:endParaRPr lang="en-CA" sz="2400" b="1" dirty="0">
              <a:solidFill>
                <a:schemeClr val="tx2"/>
              </a:solidFill>
            </a:endParaRPr>
          </a:p>
        </p:txBody>
      </p:sp>
      <p:sp>
        <p:nvSpPr>
          <p:cNvPr id="12" name="TextBox 11">
            <a:extLst>
              <a:ext uri="{FF2B5EF4-FFF2-40B4-BE49-F238E27FC236}">
                <a16:creationId xmlns:a16="http://schemas.microsoft.com/office/drawing/2014/main" id="{21ECFBD0-AC31-4135-BE90-7786EB59AEE4}"/>
              </a:ext>
            </a:extLst>
          </p:cNvPr>
          <p:cNvSpPr txBox="1"/>
          <p:nvPr/>
        </p:nvSpPr>
        <p:spPr>
          <a:xfrm>
            <a:off x="2153920" y="3967635"/>
            <a:ext cx="8067040" cy="461665"/>
          </a:xfrm>
          <a:prstGeom prst="rect">
            <a:avLst/>
          </a:prstGeom>
          <a:noFill/>
        </p:spPr>
        <p:txBody>
          <a:bodyPr wrap="square" rtlCol="0">
            <a:spAutoFit/>
          </a:bodyPr>
          <a:lstStyle/>
          <a:p>
            <a:r>
              <a:rPr lang="es-PE" sz="2400" b="1" dirty="0">
                <a:solidFill>
                  <a:schemeClr val="tx2"/>
                </a:solidFill>
              </a:rPr>
              <a:t>Metodología en clase</a:t>
            </a:r>
            <a:endParaRPr lang="en-CA" sz="2400" b="1" dirty="0">
              <a:solidFill>
                <a:schemeClr val="tx2"/>
              </a:solidFill>
            </a:endParaRPr>
          </a:p>
        </p:txBody>
      </p:sp>
      <p:sp>
        <p:nvSpPr>
          <p:cNvPr id="13" name="TextBox 12">
            <a:extLst>
              <a:ext uri="{FF2B5EF4-FFF2-40B4-BE49-F238E27FC236}">
                <a16:creationId xmlns:a16="http://schemas.microsoft.com/office/drawing/2014/main" id="{CA6E6E7F-37B1-4A97-9982-0EA472FB0D44}"/>
              </a:ext>
            </a:extLst>
          </p:cNvPr>
          <p:cNvSpPr txBox="1"/>
          <p:nvPr/>
        </p:nvSpPr>
        <p:spPr>
          <a:xfrm>
            <a:off x="2153920" y="5125874"/>
            <a:ext cx="8067040" cy="461665"/>
          </a:xfrm>
          <a:prstGeom prst="rect">
            <a:avLst/>
          </a:prstGeom>
          <a:noFill/>
        </p:spPr>
        <p:txBody>
          <a:bodyPr wrap="square" rtlCol="0">
            <a:spAutoFit/>
          </a:bodyPr>
          <a:lstStyle/>
          <a:p>
            <a:r>
              <a:rPr lang="es-PE" sz="2400" b="1" dirty="0">
                <a:solidFill>
                  <a:schemeClr val="tx2"/>
                </a:solidFill>
              </a:rPr>
              <a:t>Monitoreo</a:t>
            </a:r>
            <a:endParaRPr lang="en-CA" sz="2400" b="1" dirty="0">
              <a:solidFill>
                <a:schemeClr val="tx2"/>
              </a:solidFill>
            </a:endParaRPr>
          </a:p>
        </p:txBody>
      </p:sp>
    </p:spTree>
    <p:extLst>
      <p:ext uri="{BB962C8B-B14F-4D97-AF65-F5344CB8AC3E}">
        <p14:creationId xmlns:p14="http://schemas.microsoft.com/office/powerpoint/2010/main" val="32937693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DADB20-4773-4F0F-905F-8ECF4DF9722E}"/>
              </a:ext>
            </a:extLst>
          </p:cNvPr>
          <p:cNvSpPr>
            <a:spLocks noGrp="1"/>
          </p:cNvSpPr>
          <p:nvPr>
            <p:ph type="title"/>
          </p:nvPr>
        </p:nvSpPr>
        <p:spPr>
          <a:xfrm>
            <a:off x="1879600" y="108902"/>
            <a:ext cx="7112000" cy="1001078"/>
          </a:xfrm>
        </p:spPr>
        <p:txBody>
          <a:bodyPr/>
          <a:lstStyle/>
          <a:p>
            <a:r>
              <a:rPr lang="es-PE" dirty="0"/>
              <a:t>Equipos de Implementación</a:t>
            </a:r>
            <a:endParaRPr lang="en-CA" dirty="0"/>
          </a:p>
        </p:txBody>
      </p:sp>
      <p:sp>
        <p:nvSpPr>
          <p:cNvPr id="3" name="Slide Number Placeholder 2">
            <a:extLst>
              <a:ext uri="{FF2B5EF4-FFF2-40B4-BE49-F238E27FC236}">
                <a16:creationId xmlns:a16="http://schemas.microsoft.com/office/drawing/2014/main" id="{A108E1FB-E0E6-4C7E-B80E-1ABBE8595331}"/>
              </a:ext>
            </a:extLst>
          </p:cNvPr>
          <p:cNvSpPr>
            <a:spLocks noGrp="1"/>
          </p:cNvSpPr>
          <p:nvPr>
            <p:ph type="sldNum" sz="quarter" idx="12"/>
          </p:nvPr>
        </p:nvSpPr>
        <p:spPr>
          <a:xfrm>
            <a:off x="11531829" y="6595217"/>
            <a:ext cx="432000" cy="161977"/>
          </a:xfrm>
        </p:spPr>
        <p:txBody>
          <a:bodyPr/>
          <a:lstStyle/>
          <a:p>
            <a:fld id="{DAF31D20-51B2-49A6-91FA-1FC48A60B42D}" type="slidenum">
              <a:rPr lang="es-PE" sz="1600" smtClean="0">
                <a:solidFill>
                  <a:schemeClr val="tx2"/>
                </a:solidFill>
              </a:rPr>
              <a:t>19</a:t>
            </a:fld>
            <a:endParaRPr lang="es-PE" sz="1600">
              <a:solidFill>
                <a:schemeClr val="tx2"/>
              </a:solidFill>
            </a:endParaRPr>
          </a:p>
        </p:txBody>
      </p:sp>
      <p:sp>
        <p:nvSpPr>
          <p:cNvPr id="5" name="Rectangle: Diagonal Corners Rounded 4">
            <a:extLst>
              <a:ext uri="{FF2B5EF4-FFF2-40B4-BE49-F238E27FC236}">
                <a16:creationId xmlns:a16="http://schemas.microsoft.com/office/drawing/2014/main" id="{54C0C4F6-4D58-4E5A-97E4-0E0E024B462F}"/>
              </a:ext>
            </a:extLst>
          </p:cNvPr>
          <p:cNvSpPr/>
          <p:nvPr/>
        </p:nvSpPr>
        <p:spPr>
          <a:xfrm>
            <a:off x="203200" y="325277"/>
            <a:ext cx="1249680" cy="523086"/>
          </a:xfrm>
          <a:prstGeom prst="round2Diag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b="1" dirty="0"/>
              <a:t>1</a:t>
            </a:r>
            <a:endParaRPr lang="en-CA" b="1" dirty="0"/>
          </a:p>
        </p:txBody>
      </p:sp>
      <p:pic>
        <p:nvPicPr>
          <p:cNvPr id="6" name="Picture 5" descr="Icon&#10;&#10;Description automatically generated">
            <a:extLst>
              <a:ext uri="{FF2B5EF4-FFF2-40B4-BE49-F238E27FC236}">
                <a16:creationId xmlns:a16="http://schemas.microsoft.com/office/drawing/2014/main" id="{2C017008-1BA0-4491-A01D-ACEF0B71D8C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2579" y="2593740"/>
            <a:ext cx="1460535" cy="1460535"/>
          </a:xfrm>
          <a:prstGeom prst="rect">
            <a:avLst/>
          </a:prstGeom>
        </p:spPr>
      </p:pic>
      <p:pic>
        <p:nvPicPr>
          <p:cNvPr id="7" name="Picture 6" descr="Icon&#10;&#10;Description automatically generated">
            <a:extLst>
              <a:ext uri="{FF2B5EF4-FFF2-40B4-BE49-F238E27FC236}">
                <a16:creationId xmlns:a16="http://schemas.microsoft.com/office/drawing/2014/main" id="{E2E24C6E-7DE4-435F-AFF9-E9685AC4253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64263" y="2593740"/>
            <a:ext cx="1460535" cy="1460535"/>
          </a:xfrm>
          <a:prstGeom prst="rect">
            <a:avLst/>
          </a:prstGeom>
        </p:spPr>
      </p:pic>
      <p:pic>
        <p:nvPicPr>
          <p:cNvPr id="8" name="Picture 7" descr="Icon&#10;&#10;Description automatically generated">
            <a:extLst>
              <a:ext uri="{FF2B5EF4-FFF2-40B4-BE49-F238E27FC236}">
                <a16:creationId xmlns:a16="http://schemas.microsoft.com/office/drawing/2014/main" id="{21253DA4-B7D2-414B-B172-6512C2554E1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570129" y="2593739"/>
            <a:ext cx="1460535" cy="1460535"/>
          </a:xfrm>
          <a:prstGeom prst="rect">
            <a:avLst/>
          </a:prstGeom>
        </p:spPr>
      </p:pic>
      <p:sp>
        <p:nvSpPr>
          <p:cNvPr id="9" name="TextBox 8">
            <a:extLst>
              <a:ext uri="{FF2B5EF4-FFF2-40B4-BE49-F238E27FC236}">
                <a16:creationId xmlns:a16="http://schemas.microsoft.com/office/drawing/2014/main" id="{86DA3D1F-58E6-4CA6-82FD-03CCA02D62A7}"/>
              </a:ext>
            </a:extLst>
          </p:cNvPr>
          <p:cNvSpPr txBox="1"/>
          <p:nvPr/>
        </p:nvSpPr>
        <p:spPr>
          <a:xfrm>
            <a:off x="115253" y="1685393"/>
            <a:ext cx="3081867" cy="584775"/>
          </a:xfrm>
          <a:prstGeom prst="rect">
            <a:avLst/>
          </a:prstGeom>
          <a:noFill/>
        </p:spPr>
        <p:txBody>
          <a:bodyPr wrap="square" rtlCol="0">
            <a:spAutoFit/>
          </a:bodyPr>
          <a:lstStyle/>
          <a:p>
            <a:pPr algn="ctr"/>
            <a:r>
              <a:rPr lang="es-PE" sz="1600" b="1" dirty="0">
                <a:solidFill>
                  <a:schemeClr val="tx2"/>
                </a:solidFill>
              </a:rPr>
              <a:t>Equipo de diseño de la estrategia</a:t>
            </a:r>
            <a:endParaRPr lang="en-CA" sz="1600" b="1" dirty="0">
              <a:solidFill>
                <a:schemeClr val="tx2"/>
              </a:solidFill>
            </a:endParaRPr>
          </a:p>
        </p:txBody>
      </p:sp>
      <p:sp>
        <p:nvSpPr>
          <p:cNvPr id="10" name="TextBox 9">
            <a:extLst>
              <a:ext uri="{FF2B5EF4-FFF2-40B4-BE49-F238E27FC236}">
                <a16:creationId xmlns:a16="http://schemas.microsoft.com/office/drawing/2014/main" id="{6F6E90DC-5D43-4907-8ABC-3149259208EA}"/>
              </a:ext>
            </a:extLst>
          </p:cNvPr>
          <p:cNvSpPr txBox="1"/>
          <p:nvPr/>
        </p:nvSpPr>
        <p:spPr>
          <a:xfrm>
            <a:off x="4238261" y="1808503"/>
            <a:ext cx="3081867" cy="338554"/>
          </a:xfrm>
          <a:prstGeom prst="rect">
            <a:avLst/>
          </a:prstGeom>
          <a:noFill/>
        </p:spPr>
        <p:txBody>
          <a:bodyPr wrap="square" rtlCol="0">
            <a:spAutoFit/>
          </a:bodyPr>
          <a:lstStyle/>
          <a:p>
            <a:pPr algn="ctr"/>
            <a:r>
              <a:rPr lang="es-PE" sz="1600" b="1" dirty="0">
                <a:solidFill>
                  <a:schemeClr val="tx2"/>
                </a:solidFill>
              </a:rPr>
              <a:t>Equipo de mentores</a:t>
            </a:r>
            <a:endParaRPr lang="en-CA" sz="1600" b="1" dirty="0">
              <a:solidFill>
                <a:schemeClr val="tx2"/>
              </a:solidFill>
            </a:endParaRPr>
          </a:p>
        </p:txBody>
      </p:sp>
      <p:sp>
        <p:nvSpPr>
          <p:cNvPr id="11" name="TextBox 10">
            <a:extLst>
              <a:ext uri="{FF2B5EF4-FFF2-40B4-BE49-F238E27FC236}">
                <a16:creationId xmlns:a16="http://schemas.microsoft.com/office/drawing/2014/main" id="{5670A200-E034-486C-AE96-7F4C77C02825}"/>
              </a:ext>
            </a:extLst>
          </p:cNvPr>
          <p:cNvSpPr txBox="1"/>
          <p:nvPr/>
        </p:nvSpPr>
        <p:spPr>
          <a:xfrm>
            <a:off x="8665962" y="1808503"/>
            <a:ext cx="3081867" cy="338554"/>
          </a:xfrm>
          <a:prstGeom prst="rect">
            <a:avLst/>
          </a:prstGeom>
          <a:noFill/>
        </p:spPr>
        <p:txBody>
          <a:bodyPr wrap="square" rtlCol="0">
            <a:spAutoFit/>
          </a:bodyPr>
          <a:lstStyle/>
          <a:p>
            <a:pPr algn="ctr"/>
            <a:r>
              <a:rPr lang="es-PE" sz="1600" b="1" dirty="0">
                <a:solidFill>
                  <a:schemeClr val="tx2"/>
                </a:solidFill>
              </a:rPr>
              <a:t>Instructores</a:t>
            </a:r>
            <a:endParaRPr lang="en-CA" sz="1600" b="1" dirty="0">
              <a:solidFill>
                <a:schemeClr val="tx2"/>
              </a:solidFill>
            </a:endParaRPr>
          </a:p>
        </p:txBody>
      </p:sp>
      <p:sp>
        <p:nvSpPr>
          <p:cNvPr id="12" name="TextBox 11">
            <a:extLst>
              <a:ext uri="{FF2B5EF4-FFF2-40B4-BE49-F238E27FC236}">
                <a16:creationId xmlns:a16="http://schemas.microsoft.com/office/drawing/2014/main" id="{BE4FBCD4-A172-4677-AAE5-97E08D562E33}"/>
              </a:ext>
            </a:extLst>
          </p:cNvPr>
          <p:cNvSpPr txBox="1"/>
          <p:nvPr/>
        </p:nvSpPr>
        <p:spPr>
          <a:xfrm>
            <a:off x="155778" y="4297835"/>
            <a:ext cx="3251503" cy="1569660"/>
          </a:xfrm>
          <a:prstGeom prst="rect">
            <a:avLst/>
          </a:prstGeom>
          <a:noFill/>
        </p:spPr>
        <p:txBody>
          <a:bodyPr wrap="square" rtlCol="0">
            <a:spAutoFit/>
          </a:bodyPr>
          <a:lstStyle/>
          <a:p>
            <a:pPr algn="just"/>
            <a:r>
              <a:rPr lang="es-PE" sz="1600" dirty="0">
                <a:solidFill>
                  <a:schemeClr val="tx2"/>
                </a:solidFill>
              </a:rPr>
              <a:t>Compuesto de especialistas en implementación y pedagógicos. Se encargan de supervisar la implementación y seleccionar el contenido de la estrategia de refuerzo. </a:t>
            </a:r>
            <a:endParaRPr lang="en-CA" sz="1600" dirty="0">
              <a:solidFill>
                <a:schemeClr val="tx2"/>
              </a:solidFill>
            </a:endParaRPr>
          </a:p>
        </p:txBody>
      </p:sp>
      <p:sp>
        <p:nvSpPr>
          <p:cNvPr id="13" name="TextBox 12">
            <a:extLst>
              <a:ext uri="{FF2B5EF4-FFF2-40B4-BE49-F238E27FC236}">
                <a16:creationId xmlns:a16="http://schemas.microsoft.com/office/drawing/2014/main" id="{189F7EBB-AAF7-4FAE-8DC7-3510667B5754}"/>
              </a:ext>
            </a:extLst>
          </p:cNvPr>
          <p:cNvSpPr txBox="1"/>
          <p:nvPr/>
        </p:nvSpPr>
        <p:spPr>
          <a:xfrm>
            <a:off x="3996885" y="4297835"/>
            <a:ext cx="3564620" cy="1323439"/>
          </a:xfrm>
          <a:prstGeom prst="rect">
            <a:avLst/>
          </a:prstGeom>
          <a:noFill/>
        </p:spPr>
        <p:txBody>
          <a:bodyPr wrap="square" rtlCol="0">
            <a:spAutoFit/>
          </a:bodyPr>
          <a:lstStyle/>
          <a:p>
            <a:pPr algn="just"/>
            <a:r>
              <a:rPr lang="es-ES" sz="1600" dirty="0">
                <a:solidFill>
                  <a:schemeClr val="tx2"/>
                </a:solidFill>
              </a:rPr>
              <a:t>Capacitan a instructores alrededor de la metodología </a:t>
            </a:r>
            <a:r>
              <a:rPr lang="es-ES" sz="1600" dirty="0" err="1">
                <a:solidFill>
                  <a:schemeClr val="tx2"/>
                </a:solidFill>
              </a:rPr>
              <a:t>TaRL</a:t>
            </a:r>
            <a:r>
              <a:rPr lang="es-ES" sz="1600" dirty="0">
                <a:solidFill>
                  <a:schemeClr val="tx2"/>
                </a:solidFill>
              </a:rPr>
              <a:t>, supervisan el proceso de evaluación en el aula y brindan orientación continua durante la implementación.</a:t>
            </a:r>
            <a:endParaRPr lang="en-CA" sz="1600" dirty="0">
              <a:solidFill>
                <a:schemeClr val="tx2"/>
              </a:solidFill>
            </a:endParaRPr>
          </a:p>
        </p:txBody>
      </p:sp>
      <p:sp>
        <p:nvSpPr>
          <p:cNvPr id="14" name="TextBox 13">
            <a:extLst>
              <a:ext uri="{FF2B5EF4-FFF2-40B4-BE49-F238E27FC236}">
                <a16:creationId xmlns:a16="http://schemas.microsoft.com/office/drawing/2014/main" id="{8CEA050C-47A3-407C-876A-0D845387014C}"/>
              </a:ext>
            </a:extLst>
          </p:cNvPr>
          <p:cNvSpPr txBox="1"/>
          <p:nvPr/>
        </p:nvSpPr>
        <p:spPr>
          <a:xfrm>
            <a:off x="8333401" y="4297835"/>
            <a:ext cx="3564620" cy="1323439"/>
          </a:xfrm>
          <a:prstGeom prst="rect">
            <a:avLst/>
          </a:prstGeom>
          <a:noFill/>
        </p:spPr>
        <p:txBody>
          <a:bodyPr wrap="square" rtlCol="0">
            <a:spAutoFit/>
          </a:bodyPr>
          <a:lstStyle/>
          <a:p>
            <a:pPr algn="just"/>
            <a:r>
              <a:rPr lang="es-ES" sz="1600" dirty="0">
                <a:solidFill>
                  <a:schemeClr val="tx2"/>
                </a:solidFill>
              </a:rPr>
              <a:t>Evalúan a los estudiantes y utilizan actividades de </a:t>
            </a:r>
            <a:r>
              <a:rPr lang="es-ES" sz="1600" dirty="0" err="1">
                <a:solidFill>
                  <a:schemeClr val="tx2"/>
                </a:solidFill>
              </a:rPr>
              <a:t>TaRL</a:t>
            </a:r>
            <a:r>
              <a:rPr lang="es-ES" sz="1600" dirty="0">
                <a:solidFill>
                  <a:schemeClr val="tx2"/>
                </a:solidFill>
              </a:rPr>
              <a:t> para enseñar a los niños de acuerdo con su nivel de aprendizaje y ayudarlos a dominar las habilidades básicas.</a:t>
            </a:r>
          </a:p>
        </p:txBody>
      </p:sp>
    </p:spTree>
    <p:extLst>
      <p:ext uri="{BB962C8B-B14F-4D97-AF65-F5344CB8AC3E}">
        <p14:creationId xmlns:p14="http://schemas.microsoft.com/office/powerpoint/2010/main" val="27574536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DADB20-4773-4F0F-905F-8ECF4DF9722E}"/>
              </a:ext>
            </a:extLst>
          </p:cNvPr>
          <p:cNvSpPr>
            <a:spLocks noGrp="1"/>
          </p:cNvSpPr>
          <p:nvPr>
            <p:ph type="title"/>
          </p:nvPr>
        </p:nvSpPr>
        <p:spPr>
          <a:xfrm>
            <a:off x="1879600" y="180022"/>
            <a:ext cx="7112000" cy="1001078"/>
          </a:xfrm>
        </p:spPr>
        <p:txBody>
          <a:bodyPr/>
          <a:lstStyle/>
          <a:p>
            <a:r>
              <a:rPr lang="es-PE" dirty="0"/>
              <a:t>Evaluación de Estudiantes</a:t>
            </a:r>
            <a:endParaRPr lang="en-CA" dirty="0"/>
          </a:p>
        </p:txBody>
      </p:sp>
      <p:sp>
        <p:nvSpPr>
          <p:cNvPr id="3" name="Slide Number Placeholder 2">
            <a:extLst>
              <a:ext uri="{FF2B5EF4-FFF2-40B4-BE49-F238E27FC236}">
                <a16:creationId xmlns:a16="http://schemas.microsoft.com/office/drawing/2014/main" id="{A108E1FB-E0E6-4C7E-B80E-1ABBE8595331}"/>
              </a:ext>
            </a:extLst>
          </p:cNvPr>
          <p:cNvSpPr>
            <a:spLocks noGrp="1"/>
          </p:cNvSpPr>
          <p:nvPr>
            <p:ph type="sldNum" sz="quarter" idx="12"/>
          </p:nvPr>
        </p:nvSpPr>
        <p:spPr/>
        <p:txBody>
          <a:bodyPr/>
          <a:lstStyle/>
          <a:p>
            <a:fld id="{DAF31D20-51B2-49A6-91FA-1FC48A60B42D}" type="slidenum">
              <a:rPr lang="es-PE" smtClean="0"/>
              <a:t>20</a:t>
            </a:fld>
            <a:endParaRPr lang="es-PE"/>
          </a:p>
        </p:txBody>
      </p:sp>
      <p:sp>
        <p:nvSpPr>
          <p:cNvPr id="5" name="Rectangle: Diagonal Corners Rounded 4">
            <a:extLst>
              <a:ext uri="{FF2B5EF4-FFF2-40B4-BE49-F238E27FC236}">
                <a16:creationId xmlns:a16="http://schemas.microsoft.com/office/drawing/2014/main" id="{54C0C4F6-4D58-4E5A-97E4-0E0E024B462F}"/>
              </a:ext>
            </a:extLst>
          </p:cNvPr>
          <p:cNvSpPr/>
          <p:nvPr/>
        </p:nvSpPr>
        <p:spPr>
          <a:xfrm>
            <a:off x="203200" y="325277"/>
            <a:ext cx="1249680" cy="523086"/>
          </a:xfrm>
          <a:prstGeom prst="round2Diag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b="1" dirty="0"/>
              <a:t>2</a:t>
            </a:r>
            <a:endParaRPr lang="en-CA" b="1" dirty="0"/>
          </a:p>
        </p:txBody>
      </p:sp>
      <p:sp>
        <p:nvSpPr>
          <p:cNvPr id="8" name="Rectangle: Diagonal Corners Rounded 7">
            <a:extLst>
              <a:ext uri="{FF2B5EF4-FFF2-40B4-BE49-F238E27FC236}">
                <a16:creationId xmlns:a16="http://schemas.microsoft.com/office/drawing/2014/main" id="{692823F3-0357-44E4-A542-BE949D532B65}"/>
              </a:ext>
            </a:extLst>
          </p:cNvPr>
          <p:cNvSpPr/>
          <p:nvPr/>
        </p:nvSpPr>
        <p:spPr>
          <a:xfrm>
            <a:off x="6842760" y="2181176"/>
            <a:ext cx="4399280" cy="477520"/>
          </a:xfrm>
          <a:prstGeom prst="round2Diag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dirty="0"/>
              <a:t>Qué se evalúa?</a:t>
            </a:r>
            <a:endParaRPr lang="en-CA" dirty="0"/>
          </a:p>
        </p:txBody>
      </p:sp>
      <p:sp>
        <p:nvSpPr>
          <p:cNvPr id="9" name="Rectangle 8">
            <a:extLst>
              <a:ext uri="{FF2B5EF4-FFF2-40B4-BE49-F238E27FC236}">
                <a16:creationId xmlns:a16="http://schemas.microsoft.com/office/drawing/2014/main" id="{6FFC4DC6-08C0-402A-B7F6-A3A493107131}"/>
              </a:ext>
            </a:extLst>
          </p:cNvPr>
          <p:cNvSpPr/>
          <p:nvPr/>
        </p:nvSpPr>
        <p:spPr>
          <a:xfrm>
            <a:off x="6842760" y="2658696"/>
            <a:ext cx="4399280" cy="228223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kumimoji="0" lang="es-ES" altLang="en-US" sz="1200" b="0" i="0" u="none" strike="noStrike" cap="none" normalizeH="0" baseline="0" dirty="0">
                <a:ln>
                  <a:noFill/>
                </a:ln>
                <a:solidFill>
                  <a:schemeClr val="tx2"/>
                </a:solidFill>
                <a:effectLst/>
                <a:latin typeface="Arial Unicode MS"/>
              </a:rPr>
              <a:t>Se evalúa las </a:t>
            </a:r>
            <a:r>
              <a:rPr kumimoji="0" lang="es-ES" altLang="en-US" sz="1200" b="1" i="0" u="none" strike="noStrike" cap="none" normalizeH="0" baseline="0" dirty="0">
                <a:ln>
                  <a:noFill/>
                </a:ln>
                <a:solidFill>
                  <a:schemeClr val="tx2"/>
                </a:solidFill>
                <a:effectLst/>
                <a:latin typeface="Arial Unicode MS"/>
              </a:rPr>
              <a:t>habilidades básicas de lectura y matemáticas </a:t>
            </a:r>
            <a:r>
              <a:rPr kumimoji="0" lang="es-ES" altLang="en-US" sz="1200" b="0" i="0" u="none" strike="noStrike" cap="none" normalizeH="0" baseline="0" dirty="0">
                <a:ln>
                  <a:noFill/>
                </a:ln>
                <a:solidFill>
                  <a:schemeClr val="tx2"/>
                </a:solidFill>
                <a:effectLst/>
                <a:latin typeface="Arial Unicode MS"/>
              </a:rPr>
              <a:t>(reconocimiento de números y operaciones básicas: suma, resta, multiplicación y división). </a:t>
            </a:r>
          </a:p>
          <a:p>
            <a:pPr algn="just"/>
            <a:endParaRPr lang="es-ES" altLang="en-US" sz="1200" dirty="0">
              <a:solidFill>
                <a:schemeClr val="tx2"/>
              </a:solidFill>
              <a:latin typeface="Arial Unicode MS"/>
            </a:endParaRPr>
          </a:p>
          <a:p>
            <a:pPr algn="just"/>
            <a:r>
              <a:rPr kumimoji="0" lang="es-ES" altLang="en-US" sz="1200" b="0" i="0" u="none" strike="noStrike" cap="none" normalizeH="0" baseline="0" dirty="0">
                <a:ln>
                  <a:noFill/>
                </a:ln>
                <a:solidFill>
                  <a:schemeClr val="tx2"/>
                </a:solidFill>
                <a:effectLst/>
                <a:latin typeface="Arial Unicode MS"/>
              </a:rPr>
              <a:t>Hay 4 principios implementadores al crear una herramienta de evaluación bajo el enfoque </a:t>
            </a:r>
            <a:r>
              <a:rPr kumimoji="0" lang="es-ES" altLang="en-US" sz="1200" b="0" i="0" u="none" strike="noStrike" cap="none" normalizeH="0" baseline="0" dirty="0" err="1">
                <a:ln>
                  <a:noFill/>
                </a:ln>
                <a:solidFill>
                  <a:schemeClr val="tx2"/>
                </a:solidFill>
                <a:effectLst/>
                <a:latin typeface="Arial Unicode MS"/>
              </a:rPr>
              <a:t>TaRL</a:t>
            </a:r>
            <a:r>
              <a:rPr kumimoji="0" lang="es-ES" altLang="en-US" sz="1200" b="0" i="0" u="none" strike="noStrike" cap="none" normalizeH="0" baseline="0" dirty="0">
                <a:ln>
                  <a:noFill/>
                </a:ln>
                <a:solidFill>
                  <a:schemeClr val="tx2"/>
                </a:solidFill>
                <a:effectLst/>
                <a:latin typeface="Arial Unicode MS"/>
              </a:rPr>
              <a:t>:</a:t>
            </a:r>
          </a:p>
          <a:p>
            <a:pPr algn="just"/>
            <a:endParaRPr kumimoji="0" lang="es-ES" altLang="en-US" sz="1200" b="0" i="0" u="none" strike="noStrike" cap="none" normalizeH="0" baseline="0" dirty="0">
              <a:ln>
                <a:noFill/>
              </a:ln>
              <a:solidFill>
                <a:schemeClr val="tx2"/>
              </a:solidFill>
              <a:effectLst/>
              <a:latin typeface="Arial Unicode MS"/>
            </a:endParaRPr>
          </a:p>
          <a:p>
            <a:pPr marL="228600" indent="-228600" algn="just">
              <a:buAutoNum type="arabicPeriod"/>
            </a:pPr>
            <a:r>
              <a:rPr lang="es-ES" altLang="en-US" sz="1200" b="1" dirty="0">
                <a:solidFill>
                  <a:schemeClr val="tx2"/>
                </a:solidFill>
                <a:latin typeface="Arial Unicode MS"/>
              </a:rPr>
              <a:t>Metas</a:t>
            </a:r>
            <a:r>
              <a:rPr kumimoji="0" lang="es-ES" altLang="en-US" sz="1200" b="1" i="0" u="none" strike="noStrike" cap="none" normalizeH="0" baseline="0" dirty="0">
                <a:ln>
                  <a:noFill/>
                </a:ln>
                <a:solidFill>
                  <a:schemeClr val="tx2"/>
                </a:solidFill>
                <a:effectLst/>
                <a:latin typeface="Arial Unicode MS"/>
              </a:rPr>
              <a:t> de aprendizaje alcanzables </a:t>
            </a:r>
          </a:p>
          <a:p>
            <a:pPr marL="228600" indent="-228600" algn="just">
              <a:buAutoNum type="arabicPeriod"/>
            </a:pPr>
            <a:r>
              <a:rPr kumimoji="0" lang="es-ES" altLang="en-US" sz="1200" b="1" i="0" u="none" strike="noStrike" cap="none" normalizeH="0" baseline="0" dirty="0">
                <a:ln>
                  <a:noFill/>
                </a:ln>
                <a:solidFill>
                  <a:schemeClr val="tx2"/>
                </a:solidFill>
                <a:effectLst/>
                <a:latin typeface="Arial Unicode MS"/>
              </a:rPr>
              <a:t>Simplicidad </a:t>
            </a:r>
          </a:p>
          <a:p>
            <a:pPr marL="228600" indent="-228600" algn="just">
              <a:buAutoNum type="arabicPeriod"/>
            </a:pPr>
            <a:r>
              <a:rPr kumimoji="0" lang="es-ES" altLang="en-US" sz="1200" b="1" i="0" u="none" strike="noStrike" cap="none" normalizeH="0" baseline="0" dirty="0">
                <a:ln>
                  <a:noFill/>
                </a:ln>
                <a:solidFill>
                  <a:schemeClr val="tx2"/>
                </a:solidFill>
                <a:effectLst/>
                <a:latin typeface="Arial Unicode MS"/>
              </a:rPr>
              <a:t>Velocidad </a:t>
            </a:r>
          </a:p>
          <a:p>
            <a:pPr marL="228600" indent="-228600" algn="just">
              <a:buAutoNum type="arabicPeriod"/>
            </a:pPr>
            <a:r>
              <a:rPr kumimoji="0" lang="es-ES" altLang="en-US" sz="1200" b="1" i="0" u="none" strike="noStrike" cap="none" normalizeH="0" baseline="0" dirty="0">
                <a:ln>
                  <a:noFill/>
                </a:ln>
                <a:solidFill>
                  <a:schemeClr val="tx2"/>
                </a:solidFill>
                <a:effectLst/>
                <a:latin typeface="Arial Unicode MS"/>
              </a:rPr>
              <a:t>Realidad contextual</a:t>
            </a:r>
            <a:endParaRPr kumimoji="0" lang="es-ES" altLang="en-US" sz="1200" b="1" i="0" u="none" strike="noStrike" cap="none" normalizeH="0" baseline="0" dirty="0">
              <a:ln>
                <a:noFill/>
              </a:ln>
              <a:solidFill>
                <a:schemeClr val="tx2"/>
              </a:solidFill>
              <a:effectLst/>
            </a:endParaRPr>
          </a:p>
        </p:txBody>
      </p:sp>
      <p:sp>
        <p:nvSpPr>
          <p:cNvPr id="11" name="TextBox 10">
            <a:extLst>
              <a:ext uri="{FF2B5EF4-FFF2-40B4-BE49-F238E27FC236}">
                <a16:creationId xmlns:a16="http://schemas.microsoft.com/office/drawing/2014/main" id="{B7F1F014-EC34-4142-846F-C369CC23F60F}"/>
              </a:ext>
            </a:extLst>
          </p:cNvPr>
          <p:cNvSpPr txBox="1"/>
          <p:nvPr/>
        </p:nvSpPr>
        <p:spPr>
          <a:xfrm>
            <a:off x="411480" y="1086336"/>
            <a:ext cx="11369040" cy="646331"/>
          </a:xfrm>
          <a:prstGeom prst="rect">
            <a:avLst/>
          </a:prstGeom>
          <a:noFill/>
        </p:spPr>
        <p:txBody>
          <a:bodyPr wrap="square">
            <a:spAutoFit/>
          </a:bodyPr>
          <a:lstStyle/>
          <a:p>
            <a:r>
              <a:rPr kumimoji="0" lang="es-ES" altLang="en-US" sz="1800" b="0" i="0" u="none" strike="noStrike" cap="none" normalizeH="0" baseline="0" dirty="0">
                <a:ln>
                  <a:noFill/>
                </a:ln>
                <a:solidFill>
                  <a:schemeClr val="tx2"/>
                </a:solidFill>
                <a:effectLst/>
                <a:latin typeface="Arial Unicode MS"/>
              </a:rPr>
              <a:t>La evaluación es la columna vertebral del enfoque </a:t>
            </a:r>
            <a:r>
              <a:rPr kumimoji="0" lang="es-ES" altLang="en-US" sz="1800" b="0" i="0" u="none" strike="noStrike" cap="none" normalizeH="0" baseline="0" dirty="0" err="1">
                <a:ln>
                  <a:noFill/>
                </a:ln>
                <a:solidFill>
                  <a:schemeClr val="tx2"/>
                </a:solidFill>
                <a:effectLst/>
                <a:latin typeface="Arial Unicode MS"/>
              </a:rPr>
              <a:t>TaRL</a:t>
            </a:r>
            <a:r>
              <a:rPr kumimoji="0" lang="es-ES" altLang="en-US" sz="1800" b="0" i="0" u="none" strike="noStrike" cap="none" normalizeH="0" baseline="0" dirty="0">
                <a:ln>
                  <a:noFill/>
                </a:ln>
                <a:solidFill>
                  <a:schemeClr val="tx2"/>
                </a:solidFill>
                <a:effectLst/>
                <a:latin typeface="Arial Unicode MS"/>
              </a:rPr>
              <a:t>. Garantiza que todo el sistema se centre en mejorar los resultados del aprendizaje de cada niño.</a:t>
            </a:r>
            <a:endParaRPr lang="en-CA" dirty="0">
              <a:solidFill>
                <a:schemeClr val="tx2"/>
              </a:solidFill>
            </a:endParaRPr>
          </a:p>
        </p:txBody>
      </p:sp>
      <p:sp>
        <p:nvSpPr>
          <p:cNvPr id="12" name="Rectangle: Diagonal Corners Rounded 11">
            <a:extLst>
              <a:ext uri="{FF2B5EF4-FFF2-40B4-BE49-F238E27FC236}">
                <a16:creationId xmlns:a16="http://schemas.microsoft.com/office/drawing/2014/main" id="{FCC079B4-ABD2-4AE4-BA46-82F02C17F7CA}"/>
              </a:ext>
            </a:extLst>
          </p:cNvPr>
          <p:cNvSpPr/>
          <p:nvPr/>
        </p:nvSpPr>
        <p:spPr>
          <a:xfrm>
            <a:off x="553720" y="2181177"/>
            <a:ext cx="5440680" cy="477520"/>
          </a:xfrm>
          <a:prstGeom prst="round2Diag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dirty="0"/>
              <a:t>Por qué es importante?</a:t>
            </a:r>
            <a:endParaRPr lang="en-CA" dirty="0"/>
          </a:p>
        </p:txBody>
      </p:sp>
      <p:sp>
        <p:nvSpPr>
          <p:cNvPr id="13" name="Rectangle 12">
            <a:extLst>
              <a:ext uri="{FF2B5EF4-FFF2-40B4-BE49-F238E27FC236}">
                <a16:creationId xmlns:a16="http://schemas.microsoft.com/office/drawing/2014/main" id="{D280F686-2460-4625-AB08-2A70E296079A}"/>
              </a:ext>
            </a:extLst>
          </p:cNvPr>
          <p:cNvSpPr/>
          <p:nvPr/>
        </p:nvSpPr>
        <p:spPr>
          <a:xfrm>
            <a:off x="553720" y="2657422"/>
            <a:ext cx="5440680" cy="373777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28600" indent="-228600" algn="just">
              <a:buAutoNum type="alphaLcPeriod"/>
            </a:pPr>
            <a:r>
              <a:rPr lang="es-ES" altLang="en-US" sz="1100" b="1" dirty="0">
                <a:solidFill>
                  <a:schemeClr val="tx2"/>
                </a:solidFill>
              </a:rPr>
              <a:t>Permite actuar sobre los datos:</a:t>
            </a:r>
            <a:r>
              <a:rPr kumimoji="0" lang="es-ES" altLang="en-US" sz="1100" b="0" i="0" u="none" strike="noStrike" kern="1200" cap="none" spc="0" normalizeH="0" baseline="0" noProof="0" dirty="0">
                <a:ln>
                  <a:noFill/>
                </a:ln>
                <a:solidFill>
                  <a:schemeClr val="tx2"/>
                </a:solidFill>
                <a:effectLst/>
                <a:uLnTx/>
                <a:uFillTx/>
                <a:ea typeface="+mn-ea"/>
                <a:cs typeface="+mn-cs"/>
              </a:rPr>
              <a:t> se actúa inmediatamente sobre los datos de la evaluación para crear grupos de niveles de aprendizaje homogéneos.</a:t>
            </a:r>
            <a:r>
              <a:rPr lang="es-ES" altLang="en-US" sz="1100" b="1" dirty="0">
                <a:solidFill>
                  <a:schemeClr val="tx2"/>
                </a:solidFill>
              </a:rPr>
              <a:t> </a:t>
            </a:r>
          </a:p>
          <a:p>
            <a:pPr marL="228600" indent="-228600" algn="just">
              <a:buAutoNum type="alphaLcPeriod"/>
            </a:pPr>
            <a:r>
              <a:rPr kumimoji="0" lang="es-ES" altLang="en-US" sz="1100" b="1" i="0" u="none" strike="noStrike" cap="none" normalizeH="0" baseline="0" dirty="0">
                <a:ln>
                  <a:noFill/>
                </a:ln>
                <a:solidFill>
                  <a:schemeClr val="tx2"/>
                </a:solidFill>
                <a:effectLst/>
              </a:rPr>
              <a:t>Define metas alcanzables: </a:t>
            </a:r>
            <a:r>
              <a:rPr kumimoji="0" lang="es-ES" altLang="en-US" sz="1100" b="0" i="0" u="none" strike="noStrike" kern="1200" cap="none" spc="0" normalizeH="0" baseline="0" noProof="0" dirty="0">
                <a:ln>
                  <a:noFill/>
                </a:ln>
                <a:solidFill>
                  <a:schemeClr val="tx2"/>
                </a:solidFill>
                <a:effectLst/>
                <a:uLnTx/>
                <a:uFillTx/>
                <a:ea typeface="+mn-ea"/>
                <a:cs typeface="+mn-cs"/>
              </a:rPr>
              <a:t>la herramienta de evaluación simple está diseñada en base a metas de aprendizaje alcanzables pero ambiciosas establecidas por los implementadores. Todos comprenden estas metas y la herramienta de prueba ayuda a rastrear el progreso hacia esta meta. </a:t>
            </a:r>
            <a:endParaRPr kumimoji="0" lang="es-ES" altLang="en-US" sz="1100" b="1" i="0" u="none" strike="noStrike" cap="none" normalizeH="0" baseline="0" dirty="0">
              <a:ln>
                <a:noFill/>
              </a:ln>
              <a:solidFill>
                <a:schemeClr val="tx2"/>
              </a:solidFill>
              <a:effectLst/>
            </a:endParaRPr>
          </a:p>
          <a:p>
            <a:pPr marL="228600" indent="-228600" algn="just">
              <a:buAutoNum type="alphaLcPeriod"/>
            </a:pPr>
            <a:r>
              <a:rPr lang="es-ES" altLang="en-US" sz="1100" b="1" dirty="0">
                <a:solidFill>
                  <a:schemeClr val="tx2"/>
                </a:solidFill>
              </a:rPr>
              <a:t>Evalúa los conceptos básicos:</a:t>
            </a:r>
            <a:r>
              <a:rPr kumimoji="0" lang="es-ES" altLang="en-US" sz="1100" b="0" i="0" u="none" strike="noStrike" kern="1200" cap="none" spc="0" normalizeH="0" baseline="0" noProof="0" dirty="0">
                <a:ln>
                  <a:noFill/>
                </a:ln>
                <a:solidFill>
                  <a:schemeClr val="tx2"/>
                </a:solidFill>
                <a:effectLst/>
                <a:uLnTx/>
                <a:uFillTx/>
                <a:ea typeface="+mn-ea"/>
                <a:cs typeface="+mn-cs"/>
              </a:rPr>
              <a:t> la herramienta se centra en los conceptos básicos, lo que indica a la comunidad escolar que las habilidades fundamentales son importantes. </a:t>
            </a:r>
            <a:endParaRPr lang="es-ES" altLang="en-US" sz="1100" b="1" dirty="0">
              <a:solidFill>
                <a:schemeClr val="tx2"/>
              </a:solidFill>
            </a:endParaRPr>
          </a:p>
          <a:p>
            <a:pPr marL="228600" indent="-228600" algn="just">
              <a:buAutoNum type="alphaLcPeriod"/>
            </a:pPr>
            <a:r>
              <a:rPr kumimoji="0" lang="es-ES" altLang="en-US" sz="1100" b="1" i="0" u="none" strike="noStrike" cap="none" normalizeH="0" baseline="0" dirty="0">
                <a:ln>
                  <a:noFill/>
                </a:ln>
                <a:solidFill>
                  <a:schemeClr val="tx2"/>
                </a:solidFill>
                <a:effectLst/>
              </a:rPr>
              <a:t>Evalúa 1 a 1:</a:t>
            </a:r>
            <a:r>
              <a:rPr kumimoji="0" lang="es-ES" altLang="en-US" sz="1100" b="0" i="0" u="none" strike="noStrike" kern="1200" cap="none" spc="0" normalizeH="0" baseline="0" noProof="0" dirty="0">
                <a:ln>
                  <a:noFill/>
                </a:ln>
                <a:solidFill>
                  <a:schemeClr val="tx2"/>
                </a:solidFill>
                <a:effectLst/>
                <a:uLnTx/>
                <a:uFillTx/>
                <a:ea typeface="+mn-ea"/>
                <a:cs typeface="+mn-cs"/>
              </a:rPr>
              <a:t> : la técnica de evaluación oral uno a uno conecta a los instructores con las necesidades individuales de aprendizaje de los niños y los motiva cuando los niños mejoran. </a:t>
            </a:r>
            <a:endParaRPr kumimoji="0" lang="es-ES" altLang="en-US" sz="1100" b="1" i="0" u="none" strike="noStrike" cap="none" normalizeH="0" baseline="0" dirty="0">
              <a:ln>
                <a:noFill/>
              </a:ln>
              <a:solidFill>
                <a:schemeClr val="tx2"/>
              </a:solidFill>
              <a:effectLst/>
            </a:endParaRPr>
          </a:p>
          <a:p>
            <a:pPr marL="228600" indent="-228600" algn="just">
              <a:buAutoNum type="alphaLcPeriod"/>
            </a:pPr>
            <a:r>
              <a:rPr lang="es-ES" altLang="en-US" sz="1100" b="1" dirty="0">
                <a:solidFill>
                  <a:schemeClr val="tx2"/>
                </a:solidFill>
              </a:rPr>
              <a:t>Seguimiento del aprendizaje: </a:t>
            </a:r>
            <a:r>
              <a:rPr kumimoji="0" lang="es-ES" altLang="en-US" sz="1100" b="0" i="0" u="none" strike="noStrike" kern="1200" cap="none" spc="0" normalizeH="0" baseline="0" noProof="0" dirty="0">
                <a:ln>
                  <a:noFill/>
                </a:ln>
                <a:solidFill>
                  <a:schemeClr val="tx2"/>
                </a:solidFill>
                <a:effectLst/>
                <a:uLnTx/>
                <a:uFillTx/>
                <a:ea typeface="+mn-ea"/>
                <a:cs typeface="+mn-cs"/>
              </a:rPr>
              <a:t>se evalúa a los niños con regularidad para garantizar que la atención se mantenga en mejorar sus resultados de aprendizaje. </a:t>
            </a:r>
            <a:endParaRPr lang="es-ES" altLang="en-US" sz="1100" b="1" dirty="0">
              <a:solidFill>
                <a:schemeClr val="tx2"/>
              </a:solidFill>
            </a:endParaRPr>
          </a:p>
          <a:p>
            <a:pPr marL="228600" indent="-228600" algn="just">
              <a:buAutoNum type="alphaLcPeriod"/>
            </a:pPr>
            <a:r>
              <a:rPr kumimoji="0" lang="es-ES" altLang="en-US" sz="1100" b="1" i="0" u="none" strike="noStrike" cap="none" normalizeH="0" baseline="0" dirty="0">
                <a:ln>
                  <a:noFill/>
                </a:ln>
                <a:solidFill>
                  <a:schemeClr val="tx2"/>
                </a:solidFill>
                <a:effectLst/>
              </a:rPr>
              <a:t>Agregar y Analizar</a:t>
            </a:r>
            <a:r>
              <a:rPr lang="es-ES" altLang="en-US" sz="1100" b="1" dirty="0">
                <a:solidFill>
                  <a:schemeClr val="tx2"/>
                </a:solidFill>
              </a:rPr>
              <a:t>:</a:t>
            </a:r>
            <a:r>
              <a:rPr kumimoji="0" lang="es-ES" altLang="en-US" sz="1100" b="0" i="0" u="none" strike="noStrike" kern="1200" cap="none" spc="0" normalizeH="0" baseline="0" noProof="0" dirty="0">
                <a:ln>
                  <a:noFill/>
                </a:ln>
                <a:solidFill>
                  <a:schemeClr val="tx2"/>
                </a:solidFill>
                <a:effectLst/>
                <a:uLnTx/>
                <a:uFillTx/>
                <a:ea typeface="+mn-ea"/>
                <a:cs typeface="+mn-cs"/>
              </a:rPr>
              <a:t> : los equipos de implementación agregan y analizan los datos del nivel de aprendizaje para brindar apoyo directo a las escuelas y los instructores que lo necesiten. </a:t>
            </a:r>
            <a:endParaRPr kumimoji="0" lang="es-ES" altLang="en-US" sz="1100" b="1" i="0" u="none" strike="noStrike" cap="none" normalizeH="0" baseline="0" dirty="0">
              <a:ln>
                <a:noFill/>
              </a:ln>
              <a:solidFill>
                <a:schemeClr val="tx2"/>
              </a:solidFill>
              <a:effectLst/>
            </a:endParaRPr>
          </a:p>
        </p:txBody>
      </p:sp>
    </p:spTree>
    <p:extLst>
      <p:ext uri="{BB962C8B-B14F-4D97-AF65-F5344CB8AC3E}">
        <p14:creationId xmlns:p14="http://schemas.microsoft.com/office/powerpoint/2010/main" val="15882203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DADB20-4773-4F0F-905F-8ECF4DF9722E}"/>
              </a:ext>
            </a:extLst>
          </p:cNvPr>
          <p:cNvSpPr>
            <a:spLocks noGrp="1"/>
          </p:cNvSpPr>
          <p:nvPr>
            <p:ph type="title"/>
          </p:nvPr>
        </p:nvSpPr>
        <p:spPr>
          <a:xfrm>
            <a:off x="1879600" y="180022"/>
            <a:ext cx="7112000" cy="1001078"/>
          </a:xfrm>
        </p:spPr>
        <p:txBody>
          <a:bodyPr/>
          <a:lstStyle/>
          <a:p>
            <a:r>
              <a:rPr lang="es-PE" dirty="0"/>
              <a:t>Metodología en clase</a:t>
            </a:r>
            <a:endParaRPr lang="en-CA" dirty="0"/>
          </a:p>
        </p:txBody>
      </p:sp>
      <p:sp>
        <p:nvSpPr>
          <p:cNvPr id="3" name="Slide Number Placeholder 2">
            <a:extLst>
              <a:ext uri="{FF2B5EF4-FFF2-40B4-BE49-F238E27FC236}">
                <a16:creationId xmlns:a16="http://schemas.microsoft.com/office/drawing/2014/main" id="{A108E1FB-E0E6-4C7E-B80E-1ABBE8595331}"/>
              </a:ext>
            </a:extLst>
          </p:cNvPr>
          <p:cNvSpPr>
            <a:spLocks noGrp="1"/>
          </p:cNvSpPr>
          <p:nvPr>
            <p:ph type="sldNum" sz="quarter" idx="12"/>
          </p:nvPr>
        </p:nvSpPr>
        <p:spPr/>
        <p:txBody>
          <a:bodyPr/>
          <a:lstStyle/>
          <a:p>
            <a:fld id="{DAF31D20-51B2-49A6-91FA-1FC48A60B42D}" type="slidenum">
              <a:rPr lang="es-PE" smtClean="0"/>
              <a:t>21</a:t>
            </a:fld>
            <a:endParaRPr lang="es-PE"/>
          </a:p>
        </p:txBody>
      </p:sp>
      <p:sp>
        <p:nvSpPr>
          <p:cNvPr id="5" name="Rectangle: Diagonal Corners Rounded 4">
            <a:extLst>
              <a:ext uri="{FF2B5EF4-FFF2-40B4-BE49-F238E27FC236}">
                <a16:creationId xmlns:a16="http://schemas.microsoft.com/office/drawing/2014/main" id="{54C0C4F6-4D58-4E5A-97E4-0E0E024B462F}"/>
              </a:ext>
            </a:extLst>
          </p:cNvPr>
          <p:cNvSpPr/>
          <p:nvPr/>
        </p:nvSpPr>
        <p:spPr>
          <a:xfrm>
            <a:off x="203200" y="325277"/>
            <a:ext cx="1249680" cy="523086"/>
          </a:xfrm>
          <a:prstGeom prst="round2Diag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b="1" dirty="0"/>
              <a:t>3</a:t>
            </a:r>
            <a:endParaRPr lang="en-CA" b="1" dirty="0"/>
          </a:p>
        </p:txBody>
      </p:sp>
      <p:sp>
        <p:nvSpPr>
          <p:cNvPr id="6" name="Rectangle 2">
            <a:extLst>
              <a:ext uri="{FF2B5EF4-FFF2-40B4-BE49-F238E27FC236}">
                <a16:creationId xmlns:a16="http://schemas.microsoft.com/office/drawing/2014/main" id="{619345B7-176F-4A37-A101-1E2CEF661F69}"/>
              </a:ext>
            </a:extLst>
          </p:cNvPr>
          <p:cNvSpPr>
            <a:spLocks noChangeArrowheads="1"/>
          </p:cNvSpPr>
          <p:nvPr/>
        </p:nvSpPr>
        <p:spPr bwMode="auto">
          <a:xfrm>
            <a:off x="320842" y="3505095"/>
            <a:ext cx="4922252" cy="2739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s-ES" altLang="en-US" sz="1400" b="0" i="0" u="none" strike="noStrike" cap="none" normalizeH="0" baseline="0" dirty="0">
                <a:ln>
                  <a:noFill/>
                </a:ln>
                <a:solidFill>
                  <a:schemeClr val="tx2"/>
                </a:solidFill>
                <a:effectLst/>
                <a:latin typeface="Arial Unicode MS"/>
              </a:rPr>
              <a:t>Las clases de </a:t>
            </a:r>
            <a:r>
              <a:rPr kumimoji="0" lang="es-ES" altLang="en-US" sz="1400" b="0" i="0" u="none" strike="noStrike" cap="none" normalizeH="0" baseline="0" dirty="0" err="1">
                <a:ln>
                  <a:noFill/>
                </a:ln>
                <a:solidFill>
                  <a:schemeClr val="tx2"/>
                </a:solidFill>
                <a:effectLst/>
                <a:latin typeface="Arial Unicode MS"/>
              </a:rPr>
              <a:t>TaRL</a:t>
            </a:r>
            <a:r>
              <a:rPr kumimoji="0" lang="es-ES" altLang="en-US" sz="1400" b="0" i="0" u="none" strike="noStrike" cap="none" normalizeH="0" baseline="0" dirty="0">
                <a:ln>
                  <a:noFill/>
                </a:ln>
                <a:solidFill>
                  <a:schemeClr val="tx2"/>
                </a:solidFill>
                <a:effectLst/>
                <a:latin typeface="Arial Unicode MS"/>
              </a:rPr>
              <a:t> se liberan de las prácticas de "tiza y habla" que se encuentran comúnmente en el aula de la escuela primaria en todo el mundo al fomentar el uso de actividades atractivas, divertidas y creativas centradas en desarrollar habilidades fundamentales de lectura y matemáticas.</a:t>
            </a:r>
          </a:p>
          <a:p>
            <a:pPr marL="0" marR="0" lvl="0" indent="0" algn="just" defTabSz="914400" rtl="0" eaLnBrk="0" fontAlgn="base" latinLnBrk="0" hangingPunct="0">
              <a:lnSpc>
                <a:spcPct val="100000"/>
              </a:lnSpc>
              <a:spcBef>
                <a:spcPct val="0"/>
              </a:spcBef>
              <a:spcAft>
                <a:spcPct val="0"/>
              </a:spcAft>
              <a:buClrTx/>
              <a:buSzTx/>
              <a:buFontTx/>
              <a:buNone/>
              <a:tabLst/>
            </a:pPr>
            <a:endParaRPr lang="es-ES" altLang="en-US" sz="1400" dirty="0">
              <a:solidFill>
                <a:schemeClr val="tx2"/>
              </a:solidFill>
              <a:latin typeface="Arial Unicode MS"/>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s-ES" altLang="en-US" sz="1400" b="0" i="0" u="none" strike="noStrike" cap="none" normalizeH="0" baseline="0" dirty="0">
                <a:ln>
                  <a:noFill/>
                </a:ln>
                <a:solidFill>
                  <a:schemeClr val="tx2"/>
                </a:solidFill>
                <a:effectLst/>
                <a:latin typeface="Arial Unicode MS"/>
              </a:rPr>
              <a:t> Las clases de </a:t>
            </a:r>
            <a:r>
              <a:rPr kumimoji="0" lang="es-ES" altLang="en-US" sz="1400" b="0" i="0" u="none" strike="noStrike" cap="none" normalizeH="0" baseline="0" dirty="0" err="1">
                <a:ln>
                  <a:noFill/>
                </a:ln>
                <a:solidFill>
                  <a:schemeClr val="tx2"/>
                </a:solidFill>
                <a:effectLst/>
                <a:latin typeface="Arial Unicode MS"/>
              </a:rPr>
              <a:t>TaRL</a:t>
            </a:r>
            <a:r>
              <a:rPr kumimoji="0" lang="es-ES" altLang="en-US" sz="1400" b="0" i="0" u="none" strike="noStrike" cap="none" normalizeH="0" baseline="0" dirty="0">
                <a:ln>
                  <a:noFill/>
                </a:ln>
                <a:solidFill>
                  <a:schemeClr val="tx2"/>
                </a:solidFill>
                <a:effectLst/>
                <a:latin typeface="Arial Unicode MS"/>
              </a:rPr>
              <a:t> son: </a:t>
            </a:r>
            <a:r>
              <a:rPr kumimoji="0" lang="es-ES" altLang="en-US" sz="1400" b="1" i="0" u="none" strike="noStrike" cap="none" normalizeH="0" baseline="0" dirty="0">
                <a:ln>
                  <a:noFill/>
                </a:ln>
                <a:solidFill>
                  <a:schemeClr val="tx2"/>
                </a:solidFill>
                <a:effectLst/>
                <a:latin typeface="Arial Unicode MS"/>
              </a:rPr>
              <a:t>1. Responsivas. 2. Centradas en las habilidades fundamentales. 3. Centradas en el niño. 4. Multifacéticas. 5. Animadas 6. Contextualizadas</a:t>
            </a:r>
            <a:r>
              <a:rPr kumimoji="0" lang="es-ES" altLang="en-US" sz="1400" b="1" i="0" u="none" strike="noStrike" cap="none" normalizeH="0" dirty="0">
                <a:ln>
                  <a:noFill/>
                </a:ln>
                <a:solidFill>
                  <a:schemeClr val="tx2"/>
                </a:solidFill>
                <a:effectLst/>
                <a:latin typeface="Arial Unicode MS"/>
              </a:rPr>
              <a:t> </a:t>
            </a:r>
            <a:r>
              <a:rPr kumimoji="0" lang="es-ES" altLang="en-US" sz="1400" b="1" i="0" u="none" strike="noStrike" cap="none" normalizeH="0" baseline="0" dirty="0">
                <a:ln>
                  <a:noFill/>
                </a:ln>
                <a:solidFill>
                  <a:schemeClr val="tx2"/>
                </a:solidFill>
                <a:effectLst/>
                <a:latin typeface="Arial Unicode MS"/>
              </a:rPr>
              <a:t>7. Fomentan de la confianza</a:t>
            </a:r>
            <a:endParaRPr kumimoji="0" lang="es-ES" altLang="en-US" sz="1400" b="1" i="0" u="none" strike="noStrike" cap="none" normalizeH="0" baseline="0" dirty="0">
              <a:ln>
                <a:noFill/>
              </a:ln>
              <a:solidFill>
                <a:schemeClr val="tx2"/>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s-ES" alt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3">
            <a:extLst>
              <a:ext uri="{FF2B5EF4-FFF2-40B4-BE49-F238E27FC236}">
                <a16:creationId xmlns:a16="http://schemas.microsoft.com/office/drawing/2014/main" id="{AA7F0893-BA25-481D-893E-F58C3CABBCB7}"/>
              </a:ext>
            </a:extLst>
          </p:cNvPr>
          <p:cNvSpPr>
            <a:spLocks noChangeArrowheads="1"/>
          </p:cNvSpPr>
          <p:nvPr/>
        </p:nvSpPr>
        <p:spPr bwMode="auto">
          <a:xfrm>
            <a:off x="6096000" y="1644042"/>
            <a:ext cx="5605875" cy="2893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eaLnBrk="0" fontAlgn="base" hangingPunct="0">
              <a:spcBef>
                <a:spcPct val="0"/>
              </a:spcBef>
              <a:spcAft>
                <a:spcPct val="0"/>
              </a:spcAft>
            </a:pPr>
            <a:r>
              <a:rPr kumimoji="0" lang="es-ES" altLang="en-US" sz="1400" b="0" i="0" u="none" strike="noStrike" cap="none" normalizeH="0" baseline="0" dirty="0">
                <a:ln>
                  <a:noFill/>
                </a:ln>
                <a:solidFill>
                  <a:schemeClr val="tx2"/>
                </a:solidFill>
                <a:effectLst/>
                <a:latin typeface="Arial Unicode MS"/>
              </a:rPr>
              <a:t>Luego</a:t>
            </a:r>
            <a:r>
              <a:rPr kumimoji="0" lang="es-ES" altLang="en-US" sz="1400" b="0" i="0" u="none" strike="noStrike" cap="none" normalizeH="0" dirty="0">
                <a:ln>
                  <a:noFill/>
                </a:ln>
                <a:solidFill>
                  <a:schemeClr val="tx2"/>
                </a:solidFill>
                <a:effectLst/>
                <a:latin typeface="Arial Unicode MS"/>
              </a:rPr>
              <a:t> </a:t>
            </a:r>
            <a:r>
              <a:rPr kumimoji="0" lang="es-ES" altLang="en-US" sz="1400" b="0" i="0" u="none" strike="noStrike" cap="none" normalizeH="0" baseline="0" dirty="0">
                <a:ln>
                  <a:noFill/>
                </a:ln>
                <a:solidFill>
                  <a:schemeClr val="tx2"/>
                </a:solidFill>
                <a:effectLst/>
                <a:latin typeface="Arial Unicode MS"/>
              </a:rPr>
              <a:t>de la evaluación inicial y la agrupación por niveles, los instructores reconocen lo que los niños hacen y lo que no entienden. Con este reconocimiento, los instructores elaboran actividades y clases en torno al nivel actual de su grupo. </a:t>
            </a:r>
          </a:p>
          <a:p>
            <a:pPr lvl="0" algn="just" eaLnBrk="0" fontAlgn="base" hangingPunct="0">
              <a:spcBef>
                <a:spcPct val="0"/>
              </a:spcBef>
              <a:spcAft>
                <a:spcPct val="0"/>
              </a:spcAft>
            </a:pPr>
            <a:endParaRPr lang="es-ES" altLang="en-US" sz="1400" dirty="0">
              <a:solidFill>
                <a:schemeClr val="tx2"/>
              </a:solidFill>
              <a:latin typeface="Arial Unicode MS"/>
            </a:endParaRPr>
          </a:p>
          <a:p>
            <a:pPr lvl="0" algn="just" eaLnBrk="0" fontAlgn="base" hangingPunct="0">
              <a:spcBef>
                <a:spcPct val="0"/>
              </a:spcBef>
              <a:spcAft>
                <a:spcPct val="0"/>
              </a:spcAft>
            </a:pPr>
            <a:r>
              <a:rPr kumimoji="0" lang="es-ES" altLang="en-US" sz="1400" b="0" i="0" u="none" strike="noStrike" cap="none" normalizeH="0" baseline="0" dirty="0">
                <a:ln>
                  <a:noFill/>
                </a:ln>
                <a:solidFill>
                  <a:schemeClr val="tx2"/>
                </a:solidFill>
                <a:effectLst/>
                <a:latin typeface="Arial Unicode MS"/>
              </a:rPr>
              <a:t>La capacitación, la práctica y el apoyo de mentores equipan a los instructores de </a:t>
            </a:r>
            <a:r>
              <a:rPr kumimoji="0" lang="es-ES" altLang="en-US" sz="1400" b="0" i="0" u="none" strike="noStrike" cap="none" normalizeH="0" baseline="0" dirty="0" err="1">
                <a:ln>
                  <a:noFill/>
                </a:ln>
                <a:solidFill>
                  <a:schemeClr val="tx2"/>
                </a:solidFill>
                <a:effectLst/>
                <a:latin typeface="Arial Unicode MS"/>
              </a:rPr>
              <a:t>TaRL</a:t>
            </a:r>
            <a:r>
              <a:rPr kumimoji="0" lang="es-ES" altLang="en-US" sz="1400" b="0" i="0" u="none" strike="noStrike" cap="none" normalizeH="0" baseline="0" dirty="0">
                <a:ln>
                  <a:noFill/>
                </a:ln>
                <a:solidFill>
                  <a:schemeClr val="tx2"/>
                </a:solidFill>
                <a:effectLst/>
                <a:latin typeface="Arial Unicode MS"/>
              </a:rPr>
              <a:t> para crear clases atractivas dirigidas al nivel del niño. Los instructores tienen cuidado de notar cuando los niños en su clase progresan. Regularmente reevalúan a los niños y los mueven al siguiente grupo cuando progresan más rápido que sus compañeros. Esto asegura que los niños puedan acelerar a través de los grupos de nivel de aprendizaje, además de garantizar que los grupos sigan siendo homogéneos y manejables para los instructores</a:t>
            </a:r>
            <a:endParaRPr kumimoji="0" lang="es-ES" altLang="en-US" sz="1400" b="0" i="0" u="none" strike="noStrike" cap="none" normalizeH="0" baseline="0" dirty="0">
              <a:ln>
                <a:noFill/>
              </a:ln>
              <a:solidFill>
                <a:schemeClr val="tx2"/>
              </a:solidFill>
              <a:effectLst/>
              <a:latin typeface="Arial" panose="020B0604020202020204" pitchFamily="34" charset="0"/>
            </a:endParaRPr>
          </a:p>
        </p:txBody>
      </p:sp>
      <p:sp>
        <p:nvSpPr>
          <p:cNvPr id="8" name="Arrow: Pentagon 7">
            <a:extLst>
              <a:ext uri="{FF2B5EF4-FFF2-40B4-BE49-F238E27FC236}">
                <a16:creationId xmlns:a16="http://schemas.microsoft.com/office/drawing/2014/main" id="{0A6FF0DF-4EAE-4FDD-AB6A-555EC683D881}"/>
              </a:ext>
            </a:extLst>
          </p:cNvPr>
          <p:cNvSpPr/>
          <p:nvPr/>
        </p:nvSpPr>
        <p:spPr>
          <a:xfrm>
            <a:off x="6096000" y="1181100"/>
            <a:ext cx="5710149" cy="432066"/>
          </a:xfrm>
          <a:prstGeom prst="homePlat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dirty="0"/>
              <a:t>¿Cómo elegir las actividades adecuadas en el aula</a:t>
            </a:r>
            <a:endParaRPr lang="en-CA" dirty="0"/>
          </a:p>
        </p:txBody>
      </p:sp>
      <p:sp>
        <p:nvSpPr>
          <p:cNvPr id="9" name="Arrow: Pentagon 8">
            <a:extLst>
              <a:ext uri="{FF2B5EF4-FFF2-40B4-BE49-F238E27FC236}">
                <a16:creationId xmlns:a16="http://schemas.microsoft.com/office/drawing/2014/main" id="{356665CE-0538-40DA-BE59-B5FE0C7AB223}"/>
              </a:ext>
            </a:extLst>
          </p:cNvPr>
          <p:cNvSpPr/>
          <p:nvPr/>
        </p:nvSpPr>
        <p:spPr>
          <a:xfrm>
            <a:off x="320842" y="2765872"/>
            <a:ext cx="4720390" cy="458591"/>
          </a:xfrm>
          <a:prstGeom prst="homePlat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dirty="0"/>
              <a:t>Principios básicos del aula </a:t>
            </a:r>
            <a:r>
              <a:rPr lang="es-PE" dirty="0" err="1"/>
              <a:t>TaRL</a:t>
            </a:r>
            <a:endParaRPr lang="en-CA" dirty="0"/>
          </a:p>
        </p:txBody>
      </p:sp>
      <p:sp>
        <p:nvSpPr>
          <p:cNvPr id="10" name="Rectangle 9">
            <a:extLst>
              <a:ext uri="{FF2B5EF4-FFF2-40B4-BE49-F238E27FC236}">
                <a16:creationId xmlns:a16="http://schemas.microsoft.com/office/drawing/2014/main" id="{A4435508-E9E1-41DE-B72F-5097B46B6B06}"/>
              </a:ext>
            </a:extLst>
          </p:cNvPr>
          <p:cNvSpPr/>
          <p:nvPr/>
        </p:nvSpPr>
        <p:spPr>
          <a:xfrm>
            <a:off x="6096000" y="4874701"/>
            <a:ext cx="5605875" cy="1720516"/>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kumimoji="0" lang="es-ES" altLang="en-US" sz="1200" b="1" i="0" u="sng" strike="noStrike" cap="none" normalizeH="0" baseline="0" dirty="0">
                <a:ln>
                  <a:noFill/>
                </a:ln>
                <a:solidFill>
                  <a:schemeClr val="tx2"/>
                </a:solidFill>
                <a:effectLst/>
                <a:latin typeface="Arial Unicode MS"/>
              </a:rPr>
              <a:t>Manuales de instructor:</a:t>
            </a:r>
          </a:p>
          <a:p>
            <a:pPr algn="just"/>
            <a:endParaRPr kumimoji="0" lang="es-ES" altLang="en-US" sz="1200" b="0" i="0" u="none" strike="noStrike" cap="none" normalizeH="0" baseline="0" dirty="0">
              <a:ln>
                <a:noFill/>
              </a:ln>
              <a:solidFill>
                <a:schemeClr val="tx2"/>
              </a:solidFill>
              <a:effectLst/>
              <a:latin typeface="Arial Unicode MS"/>
            </a:endParaRPr>
          </a:p>
          <a:p>
            <a:pPr algn="just"/>
            <a:r>
              <a:rPr kumimoji="0" lang="es-ES" altLang="en-US" sz="1200" b="0" i="0" u="none" strike="noStrike" cap="none" normalizeH="0" baseline="0" dirty="0">
                <a:ln>
                  <a:noFill/>
                </a:ln>
                <a:solidFill>
                  <a:schemeClr val="tx2"/>
                </a:solidFill>
                <a:effectLst/>
                <a:latin typeface="Arial Unicode MS"/>
              </a:rPr>
              <a:t>Algunos programas proporcionan manuales breves para instructores que explican las actividades de </a:t>
            </a:r>
            <a:r>
              <a:rPr kumimoji="0" lang="es-ES" altLang="en-US" sz="1200" b="0" i="0" u="none" strike="noStrike" cap="none" normalizeH="0" baseline="0" dirty="0" err="1">
                <a:ln>
                  <a:noFill/>
                </a:ln>
                <a:solidFill>
                  <a:schemeClr val="tx2"/>
                </a:solidFill>
                <a:effectLst/>
                <a:latin typeface="Arial Unicode MS"/>
              </a:rPr>
              <a:t>TaRL</a:t>
            </a:r>
            <a:r>
              <a:rPr kumimoji="0" lang="es-ES" altLang="en-US" sz="1200" b="0" i="0" u="none" strike="noStrike" cap="none" normalizeH="0" baseline="0" dirty="0">
                <a:ln>
                  <a:noFill/>
                </a:ln>
                <a:solidFill>
                  <a:schemeClr val="tx2"/>
                </a:solidFill>
                <a:effectLst/>
                <a:latin typeface="Arial Unicode MS"/>
              </a:rPr>
              <a:t> y actúan como un recordatorio para los instructores. Los manuales evitan proporcionar instrucciones del día a día o indicar un orden particular para las clases de </a:t>
            </a:r>
            <a:r>
              <a:rPr kumimoji="0" lang="es-ES" altLang="en-US" sz="1200" b="0" i="0" u="none" strike="noStrike" cap="none" normalizeH="0" baseline="0" dirty="0" err="1">
                <a:ln>
                  <a:noFill/>
                </a:ln>
                <a:solidFill>
                  <a:schemeClr val="tx2"/>
                </a:solidFill>
                <a:effectLst/>
                <a:latin typeface="Arial Unicode MS"/>
              </a:rPr>
              <a:t>TaRL</a:t>
            </a:r>
            <a:r>
              <a:rPr kumimoji="0" lang="es-ES" altLang="en-US" sz="1200" b="0" i="0" u="none" strike="noStrike" cap="none" normalizeH="0" baseline="0" dirty="0">
                <a:ln>
                  <a:noFill/>
                </a:ln>
                <a:solidFill>
                  <a:schemeClr val="tx2"/>
                </a:solidFill>
                <a:effectLst/>
                <a:latin typeface="Arial Unicode MS"/>
              </a:rPr>
              <a:t>. En cambio, los instructores tienen la flexibilidad de crear actividades y clases para su grupo particular de niños.</a:t>
            </a:r>
            <a:endParaRPr kumimoji="0" lang="es-ES" altLang="en-US" sz="1200" b="0" i="0" u="none" strike="noStrike" cap="none" normalizeH="0" baseline="0" dirty="0">
              <a:ln>
                <a:noFill/>
              </a:ln>
              <a:solidFill>
                <a:schemeClr val="tx2"/>
              </a:solidFill>
              <a:effectLst/>
            </a:endParaRPr>
          </a:p>
        </p:txBody>
      </p:sp>
      <p:sp>
        <p:nvSpPr>
          <p:cNvPr id="12" name="TextBox 11">
            <a:extLst>
              <a:ext uri="{FF2B5EF4-FFF2-40B4-BE49-F238E27FC236}">
                <a16:creationId xmlns:a16="http://schemas.microsoft.com/office/drawing/2014/main" id="{E65B6314-C1E3-4263-A26F-4626C6CE73BC}"/>
              </a:ext>
            </a:extLst>
          </p:cNvPr>
          <p:cNvSpPr txBox="1"/>
          <p:nvPr/>
        </p:nvSpPr>
        <p:spPr>
          <a:xfrm>
            <a:off x="203200" y="1304776"/>
            <a:ext cx="4922253" cy="1323439"/>
          </a:xfrm>
          <a:prstGeom prst="rect">
            <a:avLst/>
          </a:prstGeom>
          <a:noFill/>
        </p:spPr>
        <p:txBody>
          <a:bodyPr wrap="square">
            <a:spAutoFit/>
          </a:bodyPr>
          <a:lstStyle/>
          <a:p>
            <a:pPr algn="just"/>
            <a:r>
              <a:rPr kumimoji="0" lang="es-ES" altLang="en-US" sz="1600" b="0" i="0" u="none" strike="noStrike" cap="none" normalizeH="0" baseline="0" dirty="0">
                <a:ln>
                  <a:noFill/>
                </a:ln>
                <a:solidFill>
                  <a:schemeClr val="tx2"/>
                </a:solidFill>
                <a:effectLst/>
                <a:latin typeface="Arial Unicode MS"/>
              </a:rPr>
              <a:t>El quid del enfoque es agrupar a los niños de acuerdo con sus niveles de aprendizaje, enfocándose en las habilidades fundamentales de lectura y matemáticas, y enfocando la instrucción al nivel actual del niño. </a:t>
            </a:r>
            <a:endParaRPr lang="en-CA" sz="1600" dirty="0">
              <a:solidFill>
                <a:schemeClr val="tx2"/>
              </a:solidFill>
            </a:endParaRPr>
          </a:p>
        </p:txBody>
      </p:sp>
    </p:spTree>
    <p:extLst>
      <p:ext uri="{BB962C8B-B14F-4D97-AF65-F5344CB8AC3E}">
        <p14:creationId xmlns:p14="http://schemas.microsoft.com/office/powerpoint/2010/main" val="21649591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DADB20-4773-4F0F-905F-8ECF4DF9722E}"/>
              </a:ext>
            </a:extLst>
          </p:cNvPr>
          <p:cNvSpPr>
            <a:spLocks noGrp="1"/>
          </p:cNvSpPr>
          <p:nvPr>
            <p:ph type="title"/>
          </p:nvPr>
        </p:nvSpPr>
        <p:spPr>
          <a:xfrm>
            <a:off x="1879600" y="180022"/>
            <a:ext cx="7112000" cy="1001078"/>
          </a:xfrm>
        </p:spPr>
        <p:txBody>
          <a:bodyPr/>
          <a:lstStyle/>
          <a:p>
            <a:r>
              <a:rPr lang="es-PE" dirty="0"/>
              <a:t>Monitoreo</a:t>
            </a:r>
            <a:endParaRPr lang="en-CA" dirty="0"/>
          </a:p>
        </p:txBody>
      </p:sp>
      <p:sp>
        <p:nvSpPr>
          <p:cNvPr id="3" name="Slide Number Placeholder 2">
            <a:extLst>
              <a:ext uri="{FF2B5EF4-FFF2-40B4-BE49-F238E27FC236}">
                <a16:creationId xmlns:a16="http://schemas.microsoft.com/office/drawing/2014/main" id="{A108E1FB-E0E6-4C7E-B80E-1ABBE8595331}"/>
              </a:ext>
            </a:extLst>
          </p:cNvPr>
          <p:cNvSpPr>
            <a:spLocks noGrp="1"/>
          </p:cNvSpPr>
          <p:nvPr>
            <p:ph type="sldNum" sz="quarter" idx="12"/>
          </p:nvPr>
        </p:nvSpPr>
        <p:spPr/>
        <p:txBody>
          <a:bodyPr/>
          <a:lstStyle/>
          <a:p>
            <a:fld id="{DAF31D20-51B2-49A6-91FA-1FC48A60B42D}" type="slidenum">
              <a:rPr lang="es-PE" smtClean="0"/>
              <a:t>22</a:t>
            </a:fld>
            <a:endParaRPr lang="es-PE"/>
          </a:p>
        </p:txBody>
      </p:sp>
      <p:sp>
        <p:nvSpPr>
          <p:cNvPr id="5" name="Rectangle: Diagonal Corners Rounded 4">
            <a:extLst>
              <a:ext uri="{FF2B5EF4-FFF2-40B4-BE49-F238E27FC236}">
                <a16:creationId xmlns:a16="http://schemas.microsoft.com/office/drawing/2014/main" id="{54C0C4F6-4D58-4E5A-97E4-0E0E024B462F}"/>
              </a:ext>
            </a:extLst>
          </p:cNvPr>
          <p:cNvSpPr/>
          <p:nvPr/>
        </p:nvSpPr>
        <p:spPr>
          <a:xfrm>
            <a:off x="203200" y="325277"/>
            <a:ext cx="1249680" cy="523086"/>
          </a:xfrm>
          <a:prstGeom prst="round2Diag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b="1" dirty="0"/>
              <a:t>4</a:t>
            </a:r>
            <a:endParaRPr lang="en-CA" b="1" dirty="0"/>
          </a:p>
        </p:txBody>
      </p:sp>
      <p:sp>
        <p:nvSpPr>
          <p:cNvPr id="4" name="Rectangle 1">
            <a:extLst>
              <a:ext uri="{FF2B5EF4-FFF2-40B4-BE49-F238E27FC236}">
                <a16:creationId xmlns:a16="http://schemas.microsoft.com/office/drawing/2014/main" id="{453D9253-0312-4D72-AF10-5055C6F66EB7}"/>
              </a:ext>
            </a:extLst>
          </p:cNvPr>
          <p:cNvSpPr>
            <a:spLocks noChangeArrowheads="1"/>
          </p:cNvSpPr>
          <p:nvPr/>
        </p:nvSpPr>
        <p:spPr bwMode="auto">
          <a:xfrm>
            <a:off x="203200" y="1064863"/>
            <a:ext cx="11731501"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s-ES" altLang="en-US" b="0" i="0" u="none" strike="noStrike" cap="none" normalizeH="0" baseline="0" dirty="0">
                <a:ln>
                  <a:noFill/>
                </a:ln>
                <a:solidFill>
                  <a:schemeClr val="tx2"/>
                </a:solidFill>
                <a:effectLst/>
                <a:latin typeface="Arial Unicode MS"/>
              </a:rPr>
              <a:t>La recopilación de información de monitoreo durante los programas </a:t>
            </a:r>
            <a:r>
              <a:rPr kumimoji="0" lang="es-ES" altLang="en-US" b="0" i="0" u="none" strike="noStrike" cap="none" normalizeH="0" baseline="0" dirty="0" err="1">
                <a:ln>
                  <a:noFill/>
                </a:ln>
                <a:solidFill>
                  <a:schemeClr val="tx2"/>
                </a:solidFill>
                <a:effectLst/>
                <a:latin typeface="Arial Unicode MS"/>
              </a:rPr>
              <a:t>TaRL</a:t>
            </a:r>
            <a:r>
              <a:rPr kumimoji="0" lang="es-ES" altLang="en-US" b="0" i="0" u="none" strike="noStrike" cap="none" normalizeH="0" baseline="0" dirty="0">
                <a:ln>
                  <a:noFill/>
                </a:ln>
                <a:solidFill>
                  <a:schemeClr val="tx2"/>
                </a:solidFill>
                <a:effectLst/>
                <a:latin typeface="Arial Unicode MS"/>
              </a:rPr>
              <a:t> es un ingrediente clave para el éxito porque se puede usar para comprender los niveles de aprendizaje, identificar los componentes del programa que necesitan mejoras y tomar decisiones estratégicas sobre cómo se gasta el esfuerzo y el tiempo.</a:t>
            </a:r>
            <a:endParaRPr kumimoji="0" lang="es-ES" altLang="en-US" b="0" i="0" u="none" strike="noStrike" cap="none" normalizeH="0" baseline="0" dirty="0">
              <a:ln>
                <a:noFill/>
              </a:ln>
              <a:solidFill>
                <a:schemeClr val="tx2"/>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s-ES" altLang="en-US" sz="1800" b="0" i="0" u="none" strike="noStrike" cap="none" normalizeH="0" baseline="0" dirty="0">
              <a:ln>
                <a:noFill/>
              </a:ln>
              <a:solidFill>
                <a:schemeClr val="tx2"/>
              </a:solidFill>
              <a:effectLst/>
              <a:latin typeface="Arial" panose="020B0604020202020204" pitchFamily="34" charset="0"/>
            </a:endParaRPr>
          </a:p>
        </p:txBody>
      </p:sp>
      <p:sp>
        <p:nvSpPr>
          <p:cNvPr id="9" name="Rectangle: Diagonal Corners Rounded 8">
            <a:extLst>
              <a:ext uri="{FF2B5EF4-FFF2-40B4-BE49-F238E27FC236}">
                <a16:creationId xmlns:a16="http://schemas.microsoft.com/office/drawing/2014/main" id="{966B2E99-B878-4775-8EE2-23B9B0446E39}"/>
              </a:ext>
            </a:extLst>
          </p:cNvPr>
          <p:cNvSpPr/>
          <p:nvPr/>
        </p:nvSpPr>
        <p:spPr>
          <a:xfrm>
            <a:off x="411414" y="3051958"/>
            <a:ext cx="3376815" cy="534390"/>
          </a:xfrm>
          <a:prstGeom prst="round2Diag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dirty="0"/>
              <a:t>¿Quién recopila información?</a:t>
            </a:r>
            <a:endParaRPr lang="en-CA" dirty="0"/>
          </a:p>
        </p:txBody>
      </p:sp>
      <p:sp>
        <p:nvSpPr>
          <p:cNvPr id="10" name="Rectangle: Diagonal Corners Rounded 9">
            <a:extLst>
              <a:ext uri="{FF2B5EF4-FFF2-40B4-BE49-F238E27FC236}">
                <a16:creationId xmlns:a16="http://schemas.microsoft.com/office/drawing/2014/main" id="{736AA0BE-D37F-4BFF-B9F4-D815306F865F}"/>
              </a:ext>
            </a:extLst>
          </p:cNvPr>
          <p:cNvSpPr/>
          <p:nvPr/>
        </p:nvSpPr>
        <p:spPr>
          <a:xfrm>
            <a:off x="4380542" y="2351118"/>
            <a:ext cx="7425607" cy="534390"/>
          </a:xfrm>
          <a:prstGeom prst="round2Diag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dirty="0"/>
              <a:t>¿Cómo se utiliza la información?</a:t>
            </a:r>
            <a:endParaRPr lang="en-CA" dirty="0"/>
          </a:p>
        </p:txBody>
      </p:sp>
      <p:sp>
        <p:nvSpPr>
          <p:cNvPr id="12" name="Rectangle 11">
            <a:extLst>
              <a:ext uri="{FF2B5EF4-FFF2-40B4-BE49-F238E27FC236}">
                <a16:creationId xmlns:a16="http://schemas.microsoft.com/office/drawing/2014/main" id="{E052C7B1-1A80-43F7-91A0-C0DC7150D2C1}"/>
              </a:ext>
            </a:extLst>
          </p:cNvPr>
          <p:cNvSpPr/>
          <p:nvPr/>
        </p:nvSpPr>
        <p:spPr>
          <a:xfrm>
            <a:off x="411414" y="3586152"/>
            <a:ext cx="3376815" cy="226838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kumimoji="0" lang="es-ES" altLang="en-US" sz="1400" b="0" i="0" u="none" strike="noStrike" kern="1200" cap="none" spc="0" normalizeH="0" baseline="0" noProof="0" dirty="0">
                <a:ln>
                  <a:noFill/>
                </a:ln>
                <a:solidFill>
                  <a:schemeClr val="tx2"/>
                </a:solidFill>
                <a:effectLst/>
                <a:uLnTx/>
                <a:uFillTx/>
                <a:latin typeface="Arial Unicode MS"/>
                <a:ea typeface="+mn-ea"/>
                <a:cs typeface="+mn-cs"/>
              </a:rPr>
              <a:t>Los monitores mentores están cuidadosamente capacitados en la recopilación de datos y su uso y se les da práctica con las herramientas de recopilación de datos antes de salir al campo.</a:t>
            </a:r>
            <a:endParaRPr kumimoji="0" lang="es-ES" altLang="en-US" sz="1400" b="0" i="0" u="none" strike="noStrike" kern="1200" cap="none" spc="0" normalizeH="0" baseline="0" noProof="0" dirty="0">
              <a:ln>
                <a:noFill/>
              </a:ln>
              <a:solidFill>
                <a:schemeClr val="tx2"/>
              </a:solidFill>
              <a:effectLst/>
              <a:uLnTx/>
              <a:uFillTx/>
              <a:latin typeface="Arial"/>
              <a:ea typeface="+mn-ea"/>
              <a:cs typeface="+mn-cs"/>
            </a:endParaRPr>
          </a:p>
          <a:p>
            <a:pPr algn="ctr"/>
            <a:endParaRPr lang="en-CA" dirty="0">
              <a:solidFill>
                <a:schemeClr val="tx2"/>
              </a:solidFill>
            </a:endParaRPr>
          </a:p>
        </p:txBody>
      </p:sp>
      <p:sp>
        <p:nvSpPr>
          <p:cNvPr id="15" name="Rectangle 14">
            <a:extLst>
              <a:ext uri="{FF2B5EF4-FFF2-40B4-BE49-F238E27FC236}">
                <a16:creationId xmlns:a16="http://schemas.microsoft.com/office/drawing/2014/main" id="{019D8CB6-F9E6-499B-B871-F35F38AE6D82}"/>
              </a:ext>
            </a:extLst>
          </p:cNvPr>
          <p:cNvSpPr/>
          <p:nvPr/>
        </p:nvSpPr>
        <p:spPr>
          <a:xfrm>
            <a:off x="4380542" y="2888089"/>
            <a:ext cx="7425606" cy="335017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kumimoji="0" lang="es-ES" altLang="en-US" sz="1400" b="0" i="0" u="none" strike="noStrike" cap="none" normalizeH="0" baseline="0" dirty="0">
                <a:ln>
                  <a:noFill/>
                </a:ln>
                <a:solidFill>
                  <a:schemeClr val="tx2"/>
                </a:solidFill>
                <a:effectLst/>
                <a:latin typeface="Arial Unicode MS"/>
              </a:rPr>
              <a:t>Los implementadores de </a:t>
            </a:r>
            <a:r>
              <a:rPr kumimoji="0" lang="es-ES" altLang="en-US" sz="1400" b="0" i="0" u="none" strike="noStrike" cap="none" normalizeH="0" baseline="0" dirty="0" err="1">
                <a:ln>
                  <a:noFill/>
                </a:ln>
                <a:solidFill>
                  <a:schemeClr val="tx2"/>
                </a:solidFill>
                <a:effectLst/>
                <a:latin typeface="Arial Unicode MS"/>
              </a:rPr>
              <a:t>TaRL</a:t>
            </a:r>
            <a:r>
              <a:rPr kumimoji="0" lang="es-ES" altLang="en-US" sz="1400" b="0" i="0" u="none" strike="noStrike" cap="none" normalizeH="0" baseline="0" dirty="0">
                <a:ln>
                  <a:noFill/>
                </a:ln>
                <a:solidFill>
                  <a:schemeClr val="tx2"/>
                </a:solidFill>
                <a:effectLst/>
                <a:latin typeface="Arial Unicode MS"/>
              </a:rPr>
              <a:t> usan los datos de manera diferente según sus roles.</a:t>
            </a:r>
          </a:p>
          <a:p>
            <a:pPr algn="just"/>
            <a:endParaRPr kumimoji="0" lang="es-ES" altLang="en-US" sz="1400" b="0" i="0" u="none" strike="noStrike" cap="none" normalizeH="0" baseline="0" dirty="0">
              <a:ln>
                <a:noFill/>
              </a:ln>
              <a:solidFill>
                <a:schemeClr val="tx2"/>
              </a:solidFill>
              <a:effectLst/>
              <a:latin typeface="Arial Unicode MS"/>
            </a:endParaRPr>
          </a:p>
          <a:p>
            <a:pPr marL="285750" indent="-285750" algn="just">
              <a:buFont typeface="Arial" panose="020B0604020202020204" pitchFamily="34" charset="0"/>
              <a:buChar char="•"/>
            </a:pPr>
            <a:r>
              <a:rPr kumimoji="0" lang="es-ES" altLang="en-US" sz="1400" b="1" i="0" u="none" strike="noStrike" cap="none" normalizeH="0" baseline="0" dirty="0">
                <a:ln>
                  <a:noFill/>
                </a:ln>
                <a:solidFill>
                  <a:schemeClr val="tx2"/>
                </a:solidFill>
                <a:effectLst/>
                <a:latin typeface="Arial Unicode MS"/>
              </a:rPr>
              <a:t>Instructores: </a:t>
            </a:r>
            <a:r>
              <a:rPr kumimoji="0" lang="es-ES" altLang="en-US" sz="1400" b="0" i="0" u="none" strike="noStrike" cap="none" normalizeH="0" baseline="0" dirty="0">
                <a:ln>
                  <a:noFill/>
                </a:ln>
                <a:solidFill>
                  <a:schemeClr val="tx2"/>
                </a:solidFill>
                <a:effectLst/>
                <a:latin typeface="Arial Unicode MS"/>
              </a:rPr>
              <a:t>Utilizan los datos de la evaluación para agrupar a los niños en grupos de niveles de aprendizaje. El proceso de pasar de la evaluación a la agrupación inmediata por nivel facilita la instrucción basada en datos en el aula. La información recopilada a través de la evaluación oral uno a uno también conecta al instructor con los problemas que enfrenta cada niño (porque pueden ver cuándo y cómo los niños cometen errores durante la prueba).</a:t>
            </a:r>
          </a:p>
          <a:p>
            <a:pPr algn="just"/>
            <a:endParaRPr kumimoji="0" lang="es-ES" altLang="en-US" sz="1400" b="0" i="0" u="none" strike="noStrike" cap="none" normalizeH="0" baseline="0" dirty="0">
              <a:ln>
                <a:noFill/>
              </a:ln>
              <a:solidFill>
                <a:schemeClr val="tx2"/>
              </a:solidFill>
              <a:effectLst/>
              <a:latin typeface="Arial Unicode MS"/>
            </a:endParaRPr>
          </a:p>
          <a:p>
            <a:pPr marL="285750" indent="-285750" algn="just">
              <a:buFont typeface="Arial" panose="020B0604020202020204" pitchFamily="34" charset="0"/>
              <a:buChar char="•"/>
            </a:pPr>
            <a:r>
              <a:rPr lang="es-ES" sz="1400" b="1" dirty="0">
                <a:solidFill>
                  <a:schemeClr val="tx2"/>
                </a:solidFill>
                <a:latin typeface="Arial Unicode MS"/>
              </a:rPr>
              <a:t>Mentores:</a:t>
            </a:r>
            <a:r>
              <a:rPr kumimoji="0" lang="es-ES" altLang="en-US" sz="1400" b="1" i="0" u="none" strike="noStrike" kern="1200" cap="none" spc="0" normalizeH="0" baseline="0" noProof="0" dirty="0">
                <a:ln>
                  <a:noFill/>
                </a:ln>
                <a:solidFill>
                  <a:schemeClr val="tx2"/>
                </a:solidFill>
                <a:effectLst/>
                <a:uLnTx/>
                <a:uFillTx/>
                <a:latin typeface="Arial Unicode MS"/>
                <a:ea typeface="+mn-ea"/>
                <a:cs typeface="+mn-cs"/>
              </a:rPr>
              <a:t> </a:t>
            </a:r>
            <a:r>
              <a:rPr kumimoji="0" lang="es-ES" altLang="en-US" sz="1400" b="0" i="0" u="none" strike="noStrike" kern="1200" cap="none" spc="0" normalizeH="0" baseline="0" noProof="0" dirty="0">
                <a:ln>
                  <a:noFill/>
                </a:ln>
                <a:solidFill>
                  <a:schemeClr val="tx2"/>
                </a:solidFill>
                <a:effectLst/>
                <a:uLnTx/>
                <a:uFillTx/>
                <a:latin typeface="Arial Unicode MS"/>
                <a:ea typeface="+mn-ea"/>
                <a:cs typeface="+mn-cs"/>
              </a:rPr>
              <a:t>Brindan retroalimentación inmediata a los instructores después de cada visita de seguimiento y tutoría. Además, realizan seguimiento del progreso de la escuela y del instructor durante la implementación. Los mentores utilizan la evaluación y los datos de observación en el aula para identificar áreas problemáticas y determinar el apoyo que necesitan los instructores. </a:t>
            </a:r>
            <a:endParaRPr lang="en-CA" sz="1400" dirty="0">
              <a:solidFill>
                <a:schemeClr val="tx2"/>
              </a:solidFill>
            </a:endParaRPr>
          </a:p>
        </p:txBody>
      </p:sp>
    </p:spTree>
    <p:extLst>
      <p:ext uri="{BB962C8B-B14F-4D97-AF65-F5344CB8AC3E}">
        <p14:creationId xmlns:p14="http://schemas.microsoft.com/office/powerpoint/2010/main" val="34951220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Diagonal Corners Rounded 6">
            <a:extLst>
              <a:ext uri="{FF2B5EF4-FFF2-40B4-BE49-F238E27FC236}">
                <a16:creationId xmlns:a16="http://schemas.microsoft.com/office/drawing/2014/main" id="{5DC549E6-0B6C-450B-922D-0F58D2924A72}"/>
              </a:ext>
            </a:extLst>
          </p:cNvPr>
          <p:cNvSpPr/>
          <p:nvPr/>
        </p:nvSpPr>
        <p:spPr>
          <a:xfrm>
            <a:off x="429623" y="1048649"/>
            <a:ext cx="11267440" cy="721517"/>
          </a:xfrm>
          <a:prstGeom prst="round2DiagRect">
            <a:avLst/>
          </a:prstGeom>
          <a:solidFill>
            <a:srgbClr val="C00000"/>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solidFill>
                <a:schemeClr val="bg1"/>
              </a:solidFill>
            </a:endParaRPr>
          </a:p>
        </p:txBody>
      </p:sp>
      <p:sp>
        <p:nvSpPr>
          <p:cNvPr id="2" name="Title 1">
            <a:extLst>
              <a:ext uri="{FF2B5EF4-FFF2-40B4-BE49-F238E27FC236}">
                <a16:creationId xmlns:a16="http://schemas.microsoft.com/office/drawing/2014/main" id="{16C18CE1-72D9-4719-A2FF-5C93A7E96E39}"/>
              </a:ext>
            </a:extLst>
          </p:cNvPr>
          <p:cNvSpPr>
            <a:spLocks noGrp="1"/>
          </p:cNvSpPr>
          <p:nvPr>
            <p:ph type="title"/>
          </p:nvPr>
        </p:nvSpPr>
        <p:spPr/>
        <p:txBody>
          <a:bodyPr/>
          <a:lstStyle/>
          <a:p>
            <a:r>
              <a:rPr lang="es-PE" sz="4000" dirty="0"/>
              <a:t>AGENDA</a:t>
            </a:r>
            <a:endParaRPr lang="en-CA" sz="4000" dirty="0"/>
          </a:p>
        </p:txBody>
      </p:sp>
      <p:sp>
        <p:nvSpPr>
          <p:cNvPr id="3" name="Slide Number Placeholder 2">
            <a:extLst>
              <a:ext uri="{FF2B5EF4-FFF2-40B4-BE49-F238E27FC236}">
                <a16:creationId xmlns:a16="http://schemas.microsoft.com/office/drawing/2014/main" id="{0DFD7E46-D5CE-48DD-96F3-51002A57C15D}"/>
              </a:ext>
            </a:extLst>
          </p:cNvPr>
          <p:cNvSpPr>
            <a:spLocks noGrp="1"/>
          </p:cNvSpPr>
          <p:nvPr>
            <p:ph type="sldNum" sz="quarter" idx="12"/>
          </p:nvPr>
        </p:nvSpPr>
        <p:spPr/>
        <p:txBody>
          <a:bodyPr/>
          <a:lstStyle/>
          <a:p>
            <a:fld id="{DAF31D20-51B2-49A6-91FA-1FC48A60B42D}" type="slidenum">
              <a:rPr lang="es-PE" smtClean="0"/>
              <a:t>23</a:t>
            </a:fld>
            <a:endParaRPr lang="es-PE"/>
          </a:p>
        </p:txBody>
      </p:sp>
      <p:sp>
        <p:nvSpPr>
          <p:cNvPr id="5" name="TextBox 4">
            <a:extLst>
              <a:ext uri="{FF2B5EF4-FFF2-40B4-BE49-F238E27FC236}">
                <a16:creationId xmlns:a16="http://schemas.microsoft.com/office/drawing/2014/main" id="{17CB7C5A-6404-4218-A2FD-BE386960A332}"/>
              </a:ext>
            </a:extLst>
          </p:cNvPr>
          <p:cNvSpPr txBox="1"/>
          <p:nvPr/>
        </p:nvSpPr>
        <p:spPr>
          <a:xfrm>
            <a:off x="494937" y="1249444"/>
            <a:ext cx="10739120" cy="369332"/>
          </a:xfrm>
          <a:prstGeom prst="rect">
            <a:avLst/>
          </a:prstGeom>
          <a:noFill/>
        </p:spPr>
        <p:txBody>
          <a:bodyPr wrap="square" rtlCol="0">
            <a:spAutoFit/>
          </a:bodyPr>
          <a:lstStyle/>
          <a:p>
            <a:r>
              <a:rPr lang="es-PE" b="1" dirty="0">
                <a:solidFill>
                  <a:schemeClr val="bg1"/>
                </a:solidFill>
              </a:rPr>
              <a:t>2.  Propuesta de estrategia de Educación Remedial </a:t>
            </a:r>
            <a:endParaRPr lang="en-CA" b="1" dirty="0">
              <a:solidFill>
                <a:schemeClr val="bg1"/>
              </a:solidFill>
            </a:endParaRPr>
          </a:p>
        </p:txBody>
      </p:sp>
      <p:sp>
        <p:nvSpPr>
          <p:cNvPr id="11" name="Rectangle 10">
            <a:extLst>
              <a:ext uri="{FF2B5EF4-FFF2-40B4-BE49-F238E27FC236}">
                <a16:creationId xmlns:a16="http://schemas.microsoft.com/office/drawing/2014/main" id="{73ED18D7-638E-4BF8-8DFC-833E74760777}"/>
              </a:ext>
            </a:extLst>
          </p:cNvPr>
          <p:cNvSpPr/>
          <p:nvPr/>
        </p:nvSpPr>
        <p:spPr>
          <a:xfrm>
            <a:off x="866770" y="1964956"/>
            <a:ext cx="10753725" cy="381602"/>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00050" indent="-400050">
              <a:buFont typeface="+mj-lt"/>
              <a:buAutoNum type="romanUcPeriod"/>
            </a:pPr>
            <a:r>
              <a:rPr lang="es-PE" b="1" dirty="0">
                <a:solidFill>
                  <a:schemeClr val="tx2"/>
                </a:solidFill>
              </a:rPr>
              <a:t>Información general de estrategias</a:t>
            </a:r>
            <a:endParaRPr lang="en-CA" b="1" dirty="0">
              <a:solidFill>
                <a:schemeClr val="tx2"/>
              </a:solidFill>
            </a:endParaRPr>
          </a:p>
        </p:txBody>
      </p:sp>
      <p:sp>
        <p:nvSpPr>
          <p:cNvPr id="13" name="Rectangle 12">
            <a:extLst>
              <a:ext uri="{FF2B5EF4-FFF2-40B4-BE49-F238E27FC236}">
                <a16:creationId xmlns:a16="http://schemas.microsoft.com/office/drawing/2014/main" id="{BF24706C-635F-48B8-86E0-9354C25A8312}"/>
              </a:ext>
            </a:extLst>
          </p:cNvPr>
          <p:cNvSpPr/>
          <p:nvPr/>
        </p:nvSpPr>
        <p:spPr>
          <a:xfrm>
            <a:off x="866770" y="2559386"/>
            <a:ext cx="10753725" cy="381602"/>
          </a:xfrm>
          <a:prstGeom prst="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00050" indent="-400050">
              <a:buFont typeface="+mj-lt"/>
              <a:buAutoNum type="romanUcPeriod" startAt="2"/>
            </a:pPr>
            <a:r>
              <a:rPr lang="es-PE" b="1" dirty="0">
                <a:solidFill>
                  <a:schemeClr val="bg1"/>
                </a:solidFill>
              </a:rPr>
              <a:t>Modelo 1: Enseñanza al nivel adecuado (</a:t>
            </a:r>
            <a:r>
              <a:rPr lang="es-PE" b="1" dirty="0" err="1">
                <a:solidFill>
                  <a:schemeClr val="bg1"/>
                </a:solidFill>
              </a:rPr>
              <a:t>TaRL</a:t>
            </a:r>
            <a:r>
              <a:rPr lang="es-PE" b="1" dirty="0">
                <a:solidFill>
                  <a:schemeClr val="bg1"/>
                </a:solidFill>
              </a:rPr>
              <a:t>)</a:t>
            </a:r>
            <a:endParaRPr lang="en-CA" b="1" dirty="0">
              <a:solidFill>
                <a:schemeClr val="bg1"/>
              </a:solidFill>
            </a:endParaRPr>
          </a:p>
        </p:txBody>
      </p:sp>
      <p:sp>
        <p:nvSpPr>
          <p:cNvPr id="15" name="Rectangle 14">
            <a:extLst>
              <a:ext uri="{FF2B5EF4-FFF2-40B4-BE49-F238E27FC236}">
                <a16:creationId xmlns:a16="http://schemas.microsoft.com/office/drawing/2014/main" id="{6D048FC1-72B2-4921-BF07-AC34182DA451}"/>
              </a:ext>
            </a:extLst>
          </p:cNvPr>
          <p:cNvSpPr/>
          <p:nvPr/>
        </p:nvSpPr>
        <p:spPr>
          <a:xfrm>
            <a:off x="866770" y="4598728"/>
            <a:ext cx="10753725" cy="381602"/>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00050" indent="-400050">
              <a:buFont typeface="+mj-lt"/>
              <a:buAutoNum type="romanUcPeriod" startAt="3"/>
            </a:pPr>
            <a:r>
              <a:rPr lang="es-PE" b="1" dirty="0">
                <a:solidFill>
                  <a:schemeClr val="tx2"/>
                </a:solidFill>
              </a:rPr>
              <a:t>Modelo 2: Tutoría con componente digital</a:t>
            </a:r>
            <a:endParaRPr lang="en-CA" b="1" dirty="0">
              <a:solidFill>
                <a:schemeClr val="tx2"/>
              </a:solidFill>
            </a:endParaRPr>
          </a:p>
        </p:txBody>
      </p:sp>
      <p:sp>
        <p:nvSpPr>
          <p:cNvPr id="18" name="TextBox 17">
            <a:extLst>
              <a:ext uri="{FF2B5EF4-FFF2-40B4-BE49-F238E27FC236}">
                <a16:creationId xmlns:a16="http://schemas.microsoft.com/office/drawing/2014/main" id="{1472411D-B88F-4453-A39D-EDA418DB8DC9}"/>
              </a:ext>
            </a:extLst>
          </p:cNvPr>
          <p:cNvSpPr txBox="1"/>
          <p:nvPr/>
        </p:nvSpPr>
        <p:spPr>
          <a:xfrm>
            <a:off x="1104894" y="2959666"/>
            <a:ext cx="10277475" cy="1754326"/>
          </a:xfrm>
          <a:prstGeom prst="rect">
            <a:avLst/>
          </a:prstGeom>
          <a:noFill/>
        </p:spPr>
        <p:txBody>
          <a:bodyPr wrap="square" rtlCol="0">
            <a:spAutoFit/>
          </a:bodyPr>
          <a:lstStyle/>
          <a:p>
            <a:pPr marL="285750" indent="-285750">
              <a:buFont typeface="Wingdings" panose="05000000000000000000" pitchFamily="2" charset="2"/>
              <a:buChar char="§"/>
            </a:pPr>
            <a:r>
              <a:rPr lang="es-PE" sz="1200" dirty="0">
                <a:solidFill>
                  <a:schemeClr val="bg1">
                    <a:lumMod val="65000"/>
                  </a:schemeClr>
                </a:solidFill>
              </a:rPr>
              <a:t>Antecedentes</a:t>
            </a:r>
          </a:p>
          <a:p>
            <a:pPr marL="285750" indent="-285750">
              <a:buFont typeface="Wingdings" panose="05000000000000000000" pitchFamily="2" charset="2"/>
              <a:buChar char="§"/>
            </a:pPr>
            <a:r>
              <a:rPr lang="es-PE" sz="1200" dirty="0">
                <a:solidFill>
                  <a:schemeClr val="bg1">
                    <a:lumMod val="65000"/>
                  </a:schemeClr>
                </a:solidFill>
              </a:rPr>
              <a:t>El Modelo</a:t>
            </a:r>
          </a:p>
          <a:p>
            <a:pPr marL="285750" indent="-285750">
              <a:buFont typeface="Wingdings" panose="05000000000000000000" pitchFamily="2" charset="2"/>
              <a:buChar char="§"/>
            </a:pPr>
            <a:r>
              <a:rPr lang="es-PE" sz="1200" dirty="0">
                <a:solidFill>
                  <a:schemeClr val="bg1">
                    <a:lumMod val="65000"/>
                  </a:schemeClr>
                </a:solidFill>
              </a:rPr>
              <a:t>Componentes de la estrategia</a:t>
            </a:r>
          </a:p>
          <a:p>
            <a:pPr marL="285750" indent="-285750">
              <a:buFont typeface="Wingdings" panose="05000000000000000000" pitchFamily="2" charset="2"/>
              <a:buChar char="§"/>
            </a:pPr>
            <a:r>
              <a:rPr lang="es-PE" sz="1200" b="1" dirty="0">
                <a:solidFill>
                  <a:schemeClr val="tx2"/>
                </a:solidFill>
              </a:rPr>
              <a:t>Focalización</a:t>
            </a:r>
          </a:p>
          <a:p>
            <a:pPr marL="285750" indent="-285750">
              <a:buFont typeface="Wingdings" panose="05000000000000000000" pitchFamily="2" charset="2"/>
              <a:buChar char="§"/>
            </a:pPr>
            <a:r>
              <a:rPr lang="es-PE" sz="1200" dirty="0">
                <a:solidFill>
                  <a:schemeClr val="bg1">
                    <a:lumMod val="65000"/>
                  </a:schemeClr>
                </a:solidFill>
              </a:rPr>
              <a:t>Cobertura</a:t>
            </a:r>
          </a:p>
          <a:p>
            <a:pPr marL="285750" indent="-285750">
              <a:buFont typeface="Wingdings" panose="05000000000000000000" pitchFamily="2" charset="2"/>
              <a:buChar char="§"/>
            </a:pPr>
            <a:r>
              <a:rPr lang="es-PE" sz="1200" dirty="0">
                <a:solidFill>
                  <a:schemeClr val="bg1">
                    <a:lumMod val="65000"/>
                  </a:schemeClr>
                </a:solidFill>
              </a:rPr>
              <a:t>Estimación de Costos</a:t>
            </a:r>
          </a:p>
          <a:p>
            <a:pPr marL="285750" indent="-285750">
              <a:buFont typeface="Wingdings" panose="05000000000000000000" pitchFamily="2" charset="2"/>
              <a:buChar char="§"/>
            </a:pPr>
            <a:r>
              <a:rPr lang="es-PE" sz="1200" dirty="0">
                <a:solidFill>
                  <a:schemeClr val="bg1">
                    <a:lumMod val="65000"/>
                  </a:schemeClr>
                </a:solidFill>
              </a:rPr>
              <a:t>Cronograma</a:t>
            </a:r>
          </a:p>
          <a:p>
            <a:pPr marL="285750" indent="-285750">
              <a:buFont typeface="Wingdings" panose="05000000000000000000" pitchFamily="2" charset="2"/>
              <a:buChar char="§"/>
            </a:pPr>
            <a:r>
              <a:rPr lang="es-PE" sz="1200" dirty="0">
                <a:solidFill>
                  <a:schemeClr val="bg1">
                    <a:lumMod val="65000"/>
                  </a:schemeClr>
                </a:solidFill>
              </a:rPr>
              <a:t>Complementariedad con otras estrategias y recomendaciones</a:t>
            </a:r>
          </a:p>
          <a:p>
            <a:pPr marL="285750" indent="-285750">
              <a:buFont typeface="Wingdings" panose="05000000000000000000" pitchFamily="2" charset="2"/>
              <a:buChar char="§"/>
            </a:pPr>
            <a:endParaRPr lang="es-PE" sz="1200" dirty="0">
              <a:solidFill>
                <a:schemeClr val="tx2"/>
              </a:solidFill>
            </a:endParaRPr>
          </a:p>
        </p:txBody>
      </p:sp>
      <p:sp>
        <p:nvSpPr>
          <p:cNvPr id="19" name="TextBox 18">
            <a:extLst>
              <a:ext uri="{FF2B5EF4-FFF2-40B4-BE49-F238E27FC236}">
                <a16:creationId xmlns:a16="http://schemas.microsoft.com/office/drawing/2014/main" id="{5947BA55-15C3-4040-9B5B-8EAC7B3B3343}"/>
              </a:ext>
            </a:extLst>
          </p:cNvPr>
          <p:cNvSpPr txBox="1"/>
          <p:nvPr/>
        </p:nvSpPr>
        <p:spPr>
          <a:xfrm>
            <a:off x="1104894" y="5024521"/>
            <a:ext cx="10277475" cy="1754326"/>
          </a:xfrm>
          <a:prstGeom prst="rect">
            <a:avLst/>
          </a:prstGeom>
          <a:noFill/>
        </p:spPr>
        <p:txBody>
          <a:bodyPr wrap="square" rtlCol="0">
            <a:spAutoFit/>
          </a:bodyPr>
          <a:lstStyle/>
          <a:p>
            <a:pPr marL="285750" indent="-285750">
              <a:buFont typeface="Wingdings" panose="05000000000000000000" pitchFamily="2" charset="2"/>
              <a:buChar char="§"/>
            </a:pPr>
            <a:r>
              <a:rPr lang="es-PE" sz="1200" dirty="0">
                <a:solidFill>
                  <a:schemeClr val="bg1">
                    <a:lumMod val="65000"/>
                  </a:schemeClr>
                </a:solidFill>
              </a:rPr>
              <a:t>Antecedentes</a:t>
            </a:r>
          </a:p>
          <a:p>
            <a:pPr marL="285750" indent="-285750">
              <a:buFont typeface="Wingdings" panose="05000000000000000000" pitchFamily="2" charset="2"/>
              <a:buChar char="§"/>
            </a:pPr>
            <a:r>
              <a:rPr lang="es-PE" sz="1200" dirty="0">
                <a:solidFill>
                  <a:schemeClr val="bg1">
                    <a:lumMod val="65000"/>
                  </a:schemeClr>
                </a:solidFill>
              </a:rPr>
              <a:t>Oportunidades</a:t>
            </a:r>
          </a:p>
          <a:p>
            <a:pPr marL="285750" indent="-285750">
              <a:buFont typeface="Wingdings" panose="05000000000000000000" pitchFamily="2" charset="2"/>
              <a:buChar char="§"/>
            </a:pPr>
            <a:r>
              <a:rPr lang="es-PE" sz="1200" dirty="0">
                <a:solidFill>
                  <a:schemeClr val="bg1">
                    <a:lumMod val="65000"/>
                  </a:schemeClr>
                </a:solidFill>
              </a:rPr>
              <a:t>El Modelo</a:t>
            </a:r>
          </a:p>
          <a:p>
            <a:pPr marL="285750" indent="-285750">
              <a:buFont typeface="Wingdings" panose="05000000000000000000" pitchFamily="2" charset="2"/>
              <a:buChar char="§"/>
            </a:pPr>
            <a:r>
              <a:rPr lang="es-PE" sz="1200" dirty="0">
                <a:solidFill>
                  <a:schemeClr val="bg1">
                    <a:lumMod val="65000"/>
                  </a:schemeClr>
                </a:solidFill>
              </a:rPr>
              <a:t>Componentes de la estrategia</a:t>
            </a:r>
          </a:p>
          <a:p>
            <a:pPr marL="285750" indent="-285750">
              <a:buFont typeface="Wingdings" panose="05000000000000000000" pitchFamily="2" charset="2"/>
              <a:buChar char="§"/>
            </a:pPr>
            <a:r>
              <a:rPr lang="es-PE" sz="1200" dirty="0">
                <a:solidFill>
                  <a:schemeClr val="bg1">
                    <a:lumMod val="65000"/>
                  </a:schemeClr>
                </a:solidFill>
              </a:rPr>
              <a:t>Focalización</a:t>
            </a:r>
          </a:p>
          <a:p>
            <a:pPr marL="285750" indent="-285750">
              <a:buFont typeface="Wingdings" panose="05000000000000000000" pitchFamily="2" charset="2"/>
              <a:buChar char="§"/>
            </a:pPr>
            <a:r>
              <a:rPr lang="es-PE" sz="1200" dirty="0">
                <a:solidFill>
                  <a:schemeClr val="bg1">
                    <a:lumMod val="65000"/>
                  </a:schemeClr>
                </a:solidFill>
              </a:rPr>
              <a:t>Cobertura</a:t>
            </a:r>
          </a:p>
          <a:p>
            <a:pPr marL="285750" indent="-285750">
              <a:buFont typeface="Wingdings" panose="05000000000000000000" pitchFamily="2" charset="2"/>
              <a:buChar char="§"/>
            </a:pPr>
            <a:r>
              <a:rPr lang="es-PE" sz="1200" dirty="0">
                <a:solidFill>
                  <a:schemeClr val="bg1">
                    <a:lumMod val="65000"/>
                  </a:schemeClr>
                </a:solidFill>
              </a:rPr>
              <a:t>Estimación de Costos</a:t>
            </a:r>
          </a:p>
          <a:p>
            <a:pPr marL="285750" indent="-285750">
              <a:buFont typeface="Wingdings" panose="05000000000000000000" pitchFamily="2" charset="2"/>
              <a:buChar char="§"/>
            </a:pPr>
            <a:r>
              <a:rPr lang="es-PE" sz="1200" dirty="0">
                <a:solidFill>
                  <a:schemeClr val="bg1">
                    <a:lumMod val="65000"/>
                  </a:schemeClr>
                </a:solidFill>
              </a:rPr>
              <a:t>Cronograma</a:t>
            </a:r>
          </a:p>
          <a:p>
            <a:pPr marL="285750" indent="-285750">
              <a:buFont typeface="Wingdings" panose="05000000000000000000" pitchFamily="2" charset="2"/>
              <a:buChar char="§"/>
            </a:pPr>
            <a:r>
              <a:rPr lang="es-PE" sz="1200" dirty="0">
                <a:solidFill>
                  <a:schemeClr val="bg1">
                    <a:lumMod val="65000"/>
                  </a:schemeClr>
                </a:solidFill>
              </a:rPr>
              <a:t>Complementariedad con otras estrategias y recomendaciones</a:t>
            </a:r>
          </a:p>
        </p:txBody>
      </p:sp>
    </p:spTree>
    <p:extLst>
      <p:ext uri="{BB962C8B-B14F-4D97-AF65-F5344CB8AC3E}">
        <p14:creationId xmlns:p14="http://schemas.microsoft.com/office/powerpoint/2010/main" val="6511913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DADB20-4773-4F0F-905F-8ECF4DF9722E}"/>
              </a:ext>
            </a:extLst>
          </p:cNvPr>
          <p:cNvSpPr>
            <a:spLocks noGrp="1"/>
          </p:cNvSpPr>
          <p:nvPr>
            <p:ph type="title"/>
          </p:nvPr>
        </p:nvSpPr>
        <p:spPr>
          <a:xfrm>
            <a:off x="111760" y="89100"/>
            <a:ext cx="8483600" cy="1001078"/>
          </a:xfrm>
        </p:spPr>
        <p:txBody>
          <a:bodyPr/>
          <a:lstStyle/>
          <a:p>
            <a:r>
              <a:rPr lang="es-PE" dirty="0"/>
              <a:t>Focalización de IIEE y priorización</a:t>
            </a:r>
            <a:endParaRPr lang="en-CA" dirty="0"/>
          </a:p>
        </p:txBody>
      </p:sp>
      <p:sp>
        <p:nvSpPr>
          <p:cNvPr id="3" name="Slide Number Placeholder 2">
            <a:extLst>
              <a:ext uri="{FF2B5EF4-FFF2-40B4-BE49-F238E27FC236}">
                <a16:creationId xmlns:a16="http://schemas.microsoft.com/office/drawing/2014/main" id="{A108E1FB-E0E6-4C7E-B80E-1ABBE8595331}"/>
              </a:ext>
            </a:extLst>
          </p:cNvPr>
          <p:cNvSpPr>
            <a:spLocks noGrp="1"/>
          </p:cNvSpPr>
          <p:nvPr>
            <p:ph type="sldNum" sz="quarter" idx="12"/>
          </p:nvPr>
        </p:nvSpPr>
        <p:spPr>
          <a:xfrm>
            <a:off x="11806149" y="6442817"/>
            <a:ext cx="432000" cy="161977"/>
          </a:xfrm>
        </p:spPr>
        <p:txBody>
          <a:bodyPr/>
          <a:lstStyle/>
          <a:p>
            <a:fld id="{DAF31D20-51B2-49A6-91FA-1FC48A60B42D}" type="slidenum">
              <a:rPr lang="es-PE" smtClean="0"/>
              <a:t>24</a:t>
            </a:fld>
            <a:endParaRPr lang="es-PE"/>
          </a:p>
        </p:txBody>
      </p:sp>
      <p:pic>
        <p:nvPicPr>
          <p:cNvPr id="9" name="Imagen 7" descr="Logotipo, nombre de la empresa&#10;&#10;Descripción generada automáticamente">
            <a:extLst>
              <a:ext uri="{FF2B5EF4-FFF2-40B4-BE49-F238E27FC236}">
                <a16:creationId xmlns:a16="http://schemas.microsoft.com/office/drawing/2014/main" id="{3376C687-D220-4F7D-B185-B0A8AFC31CFE}"/>
              </a:ext>
            </a:extLst>
          </p:cNvPr>
          <p:cNvPicPr>
            <a:picLocks noChangeAspect="1"/>
          </p:cNvPicPr>
          <p:nvPr/>
        </p:nvPicPr>
        <p:blipFill rotWithShape="1">
          <a:blip r:embed="rId2"/>
          <a:srcRect l="20297" t="13287" r="25000" b="8042"/>
          <a:stretch/>
        </p:blipFill>
        <p:spPr>
          <a:xfrm>
            <a:off x="2000604" y="2173548"/>
            <a:ext cx="908242" cy="989668"/>
          </a:xfrm>
          <a:prstGeom prst="rect">
            <a:avLst/>
          </a:prstGeom>
        </p:spPr>
      </p:pic>
      <p:pic>
        <p:nvPicPr>
          <p:cNvPr id="10" name="Imagen 10" descr="Logotipo&#10;&#10;Descripción generada automáticamente">
            <a:extLst>
              <a:ext uri="{FF2B5EF4-FFF2-40B4-BE49-F238E27FC236}">
                <a16:creationId xmlns:a16="http://schemas.microsoft.com/office/drawing/2014/main" id="{6EB7AF49-16BD-4BB5-ADC7-7EE0B12BD54A}"/>
              </a:ext>
            </a:extLst>
          </p:cNvPr>
          <p:cNvPicPr>
            <a:picLocks noChangeAspect="1"/>
          </p:cNvPicPr>
          <p:nvPr/>
        </p:nvPicPr>
        <p:blipFill>
          <a:blip r:embed="rId3"/>
          <a:stretch>
            <a:fillRect/>
          </a:stretch>
        </p:blipFill>
        <p:spPr>
          <a:xfrm>
            <a:off x="620635" y="3378200"/>
            <a:ext cx="2190707" cy="484041"/>
          </a:xfrm>
          <a:prstGeom prst="rect">
            <a:avLst/>
          </a:prstGeom>
        </p:spPr>
      </p:pic>
      <p:pic>
        <p:nvPicPr>
          <p:cNvPr id="12" name="Imagen 17" descr="Logotipo&#10;&#10;Descripción generada automáticamente">
            <a:extLst>
              <a:ext uri="{FF2B5EF4-FFF2-40B4-BE49-F238E27FC236}">
                <a16:creationId xmlns:a16="http://schemas.microsoft.com/office/drawing/2014/main" id="{29AE4035-70D1-4EA7-B324-EFB1644E0A3C}"/>
              </a:ext>
            </a:extLst>
          </p:cNvPr>
          <p:cNvPicPr>
            <a:picLocks noChangeAspect="1"/>
          </p:cNvPicPr>
          <p:nvPr/>
        </p:nvPicPr>
        <p:blipFill rotWithShape="1">
          <a:blip r:embed="rId4"/>
          <a:srcRect l="5072" r="6159" b="-513"/>
          <a:stretch/>
        </p:blipFill>
        <p:spPr>
          <a:xfrm>
            <a:off x="568960" y="2194639"/>
            <a:ext cx="1147029" cy="923442"/>
          </a:xfrm>
          <a:prstGeom prst="rect">
            <a:avLst/>
          </a:prstGeom>
        </p:spPr>
      </p:pic>
      <p:sp>
        <p:nvSpPr>
          <p:cNvPr id="21" name="TextBox 20">
            <a:extLst>
              <a:ext uri="{FF2B5EF4-FFF2-40B4-BE49-F238E27FC236}">
                <a16:creationId xmlns:a16="http://schemas.microsoft.com/office/drawing/2014/main" id="{58FBE36E-EE25-4AEF-9BEB-6BB0768DADFD}"/>
              </a:ext>
            </a:extLst>
          </p:cNvPr>
          <p:cNvSpPr txBox="1"/>
          <p:nvPr/>
        </p:nvSpPr>
        <p:spPr>
          <a:xfrm>
            <a:off x="152400" y="911441"/>
            <a:ext cx="11511509" cy="369332"/>
          </a:xfrm>
          <a:prstGeom prst="rect">
            <a:avLst/>
          </a:prstGeom>
          <a:noFill/>
        </p:spPr>
        <p:txBody>
          <a:bodyPr wrap="square" rtlCol="0">
            <a:spAutoFit/>
          </a:bodyPr>
          <a:lstStyle/>
          <a:p>
            <a:r>
              <a:rPr lang="es-PE" b="1" dirty="0">
                <a:solidFill>
                  <a:srgbClr val="C00000"/>
                </a:solidFill>
              </a:rPr>
              <a:t>Etapa 1: </a:t>
            </a:r>
            <a:r>
              <a:rPr lang="es-PE" dirty="0">
                <a:solidFill>
                  <a:schemeClr val="tx2"/>
                </a:solidFill>
              </a:rPr>
              <a:t>Definición de indicador de necesidad de atención</a:t>
            </a:r>
            <a:endParaRPr lang="en-CA" dirty="0">
              <a:solidFill>
                <a:schemeClr val="tx2"/>
              </a:solidFill>
            </a:endParaRPr>
          </a:p>
        </p:txBody>
      </p:sp>
      <p:sp>
        <p:nvSpPr>
          <p:cNvPr id="22" name="TextBox 21">
            <a:extLst>
              <a:ext uri="{FF2B5EF4-FFF2-40B4-BE49-F238E27FC236}">
                <a16:creationId xmlns:a16="http://schemas.microsoft.com/office/drawing/2014/main" id="{4FC3F53C-4577-44CE-AC03-B53FD1938F02}"/>
              </a:ext>
            </a:extLst>
          </p:cNvPr>
          <p:cNvSpPr txBox="1"/>
          <p:nvPr/>
        </p:nvSpPr>
        <p:spPr>
          <a:xfrm>
            <a:off x="256166" y="1579733"/>
            <a:ext cx="3048000" cy="369332"/>
          </a:xfrm>
          <a:prstGeom prst="rect">
            <a:avLst/>
          </a:prstGeom>
          <a:noFill/>
        </p:spPr>
        <p:txBody>
          <a:bodyPr wrap="square" rtlCol="0">
            <a:spAutoFit/>
          </a:bodyPr>
          <a:lstStyle/>
          <a:p>
            <a:r>
              <a:rPr lang="es-PE" b="1" dirty="0">
                <a:solidFill>
                  <a:schemeClr val="tx2"/>
                </a:solidFill>
              </a:rPr>
              <a:t>I. Fuentes de información</a:t>
            </a:r>
            <a:endParaRPr lang="en-CA" b="1" dirty="0">
              <a:solidFill>
                <a:schemeClr val="tx2"/>
              </a:solidFill>
            </a:endParaRPr>
          </a:p>
        </p:txBody>
      </p:sp>
      <p:sp>
        <p:nvSpPr>
          <p:cNvPr id="23" name="TextBox 22">
            <a:extLst>
              <a:ext uri="{FF2B5EF4-FFF2-40B4-BE49-F238E27FC236}">
                <a16:creationId xmlns:a16="http://schemas.microsoft.com/office/drawing/2014/main" id="{EFB6072D-B19B-417D-A47C-56DA7EA93AA7}"/>
              </a:ext>
            </a:extLst>
          </p:cNvPr>
          <p:cNvSpPr txBox="1"/>
          <p:nvPr/>
        </p:nvSpPr>
        <p:spPr>
          <a:xfrm>
            <a:off x="256166" y="4177884"/>
            <a:ext cx="3048000" cy="369332"/>
          </a:xfrm>
          <a:prstGeom prst="rect">
            <a:avLst/>
          </a:prstGeom>
          <a:noFill/>
        </p:spPr>
        <p:txBody>
          <a:bodyPr wrap="square" rtlCol="0">
            <a:spAutoFit/>
          </a:bodyPr>
          <a:lstStyle/>
          <a:p>
            <a:r>
              <a:rPr lang="es-PE" b="1" dirty="0">
                <a:solidFill>
                  <a:schemeClr val="tx2"/>
                </a:solidFill>
              </a:rPr>
              <a:t>II. Variables Utilizadas</a:t>
            </a:r>
            <a:endParaRPr lang="en-CA" b="1" dirty="0">
              <a:solidFill>
                <a:schemeClr val="tx2"/>
              </a:solidFill>
            </a:endParaRPr>
          </a:p>
        </p:txBody>
      </p:sp>
      <mc:AlternateContent xmlns:mc="http://schemas.openxmlformats.org/markup-compatibility/2006">
        <mc:Choice xmlns:a14="http://schemas.microsoft.com/office/drawing/2010/main" Requires="a14">
          <p:sp>
            <p:nvSpPr>
              <p:cNvPr id="25" name="TextBox 24">
                <a:extLst>
                  <a:ext uri="{FF2B5EF4-FFF2-40B4-BE49-F238E27FC236}">
                    <a16:creationId xmlns:a16="http://schemas.microsoft.com/office/drawing/2014/main" id="{FEEB1486-6397-4F49-A9B8-8D70919852F2}"/>
                  </a:ext>
                </a:extLst>
              </p:cNvPr>
              <p:cNvSpPr txBox="1"/>
              <p:nvPr/>
            </p:nvSpPr>
            <p:spPr>
              <a:xfrm>
                <a:off x="256166" y="4604136"/>
                <a:ext cx="4651114" cy="2104615"/>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14:m>
                  <m:oMath xmlns:m="http://schemas.openxmlformats.org/officeDocument/2006/math">
                    <m:sSub>
                      <m:sSubPr>
                        <m:ctrlPr>
                          <a:rPr kumimoji="0" lang="es-PE" b="0" i="1" u="none" strike="noStrike" kern="1200" cap="none" spc="0" normalizeH="0" baseline="0" noProof="0" smtClean="0">
                            <a:ln>
                              <a:noFill/>
                            </a:ln>
                            <a:solidFill>
                              <a:schemeClr val="tx2"/>
                            </a:solidFill>
                            <a:effectLst/>
                            <a:uLnTx/>
                            <a:uFillTx/>
                            <a:latin typeface="Cambria Math" panose="02040503050406030204" pitchFamily="18" charset="0"/>
                            <a:ea typeface="+mn-ea"/>
                            <a:cs typeface="+mn-cs"/>
                          </a:rPr>
                        </m:ctrlPr>
                      </m:sSubPr>
                      <m:e>
                        <m:r>
                          <a:rPr kumimoji="0" lang="es-PE" b="0" i="1" u="none" strike="noStrike" kern="1200" cap="none" spc="0" normalizeH="0" baseline="0" noProof="0" smtClean="0">
                            <a:ln>
                              <a:noFill/>
                            </a:ln>
                            <a:solidFill>
                              <a:schemeClr val="tx2"/>
                            </a:solidFill>
                            <a:effectLst/>
                            <a:uLnTx/>
                            <a:uFillTx/>
                            <a:latin typeface="Cambria Math" panose="02040503050406030204" pitchFamily="18" charset="0"/>
                            <a:ea typeface="+mn-ea"/>
                            <a:cs typeface="+mn-cs"/>
                          </a:rPr>
                          <m:t>𝑥</m:t>
                        </m:r>
                      </m:e>
                      <m:sub>
                        <m:r>
                          <a:rPr kumimoji="0" lang="es-PE" b="0" i="1" u="none" strike="noStrike" kern="1200" cap="none" spc="0" normalizeH="0" baseline="0" noProof="0" smtClean="0">
                            <a:ln>
                              <a:noFill/>
                            </a:ln>
                            <a:solidFill>
                              <a:schemeClr val="tx2"/>
                            </a:solidFill>
                            <a:effectLst/>
                            <a:uLnTx/>
                            <a:uFillTx/>
                            <a:latin typeface="Cambria Math" panose="02040503050406030204" pitchFamily="18" charset="0"/>
                            <a:ea typeface="+mn-ea"/>
                            <a:cs typeface="+mn-cs"/>
                          </a:rPr>
                          <m:t>1</m:t>
                        </m:r>
                      </m:sub>
                    </m:sSub>
                    <m:r>
                      <a:rPr kumimoji="0" lang="es-PE" b="0" i="1" u="none" strike="noStrike" kern="1200" cap="none" spc="0" normalizeH="0" baseline="0" noProof="0" smtClean="0">
                        <a:ln>
                          <a:noFill/>
                        </a:ln>
                        <a:solidFill>
                          <a:schemeClr val="tx2"/>
                        </a:solidFill>
                        <a:effectLst/>
                        <a:uLnTx/>
                        <a:uFillTx/>
                        <a:latin typeface="Cambria Math" panose="02040503050406030204" pitchFamily="18" charset="0"/>
                        <a:ea typeface="+mn-ea"/>
                        <a:cs typeface="+mn-cs"/>
                      </a:rPr>
                      <m:t>:</m:t>
                    </m:r>
                  </m:oMath>
                </a14:m>
                <a:r>
                  <a:rPr kumimoji="0" lang="es-PE" sz="1300" b="0" i="0" u="none" strike="noStrike" kern="1200" cap="none" spc="0" normalizeH="0" baseline="0" noProof="0" dirty="0">
                    <a:ln>
                      <a:noFill/>
                    </a:ln>
                    <a:solidFill>
                      <a:schemeClr val="tx2"/>
                    </a:solidFill>
                    <a:effectLst/>
                    <a:uLnTx/>
                    <a:uFillTx/>
                    <a:latin typeface="Arial"/>
                    <a:ea typeface="+mn-ea"/>
                    <a:cs typeface="+mn-cs"/>
                  </a:rPr>
                  <a:t> % E</a:t>
                </a:r>
                <a:r>
                  <a:rPr kumimoji="0" lang="en-PE" sz="1300" b="0" i="0" u="none" strike="noStrike" kern="1200" cap="none" spc="0" normalizeH="0" baseline="0" noProof="0" dirty="0">
                    <a:ln>
                      <a:noFill/>
                    </a:ln>
                    <a:solidFill>
                      <a:schemeClr val="tx2"/>
                    </a:solidFill>
                    <a:effectLst/>
                    <a:uLnTx/>
                    <a:uFillTx/>
                    <a:latin typeface="Arial"/>
                    <a:ea typeface="+mn-ea"/>
                    <a:cs typeface="+mn-cs"/>
                  </a:rPr>
                  <a:t>studiante</a:t>
                </a:r>
                <a:r>
                  <a:rPr kumimoji="0" lang="es-PE" sz="1300" b="0" i="0" u="none" strike="noStrike" kern="1200" cap="none" spc="0" normalizeH="0" baseline="0" noProof="0" dirty="0">
                    <a:ln>
                      <a:noFill/>
                    </a:ln>
                    <a:solidFill>
                      <a:schemeClr val="tx2"/>
                    </a:solidFill>
                    <a:effectLst/>
                    <a:uLnTx/>
                    <a:uFillTx/>
                    <a:latin typeface="Arial"/>
                    <a:ea typeface="+mn-ea"/>
                    <a:cs typeface="+mn-cs"/>
                  </a:rPr>
                  <a:t>s en niveles de logro</a:t>
                </a:r>
                <a:r>
                  <a:rPr kumimoji="0" lang="en-PE" sz="1300" b="0" i="0" u="none" strike="noStrike" kern="1200" cap="none" spc="0" normalizeH="0" baseline="0" noProof="0" dirty="0">
                    <a:ln>
                      <a:noFill/>
                    </a:ln>
                    <a:solidFill>
                      <a:schemeClr val="tx2"/>
                    </a:solidFill>
                    <a:effectLst/>
                    <a:uLnTx/>
                    <a:uFillTx/>
                    <a:latin typeface="Arial"/>
                    <a:ea typeface="+mn-ea"/>
                    <a:cs typeface="+mn-cs"/>
                  </a:rPr>
                  <a:t> </a:t>
                </a:r>
                <a:r>
                  <a:rPr kumimoji="0" lang="es-PE" sz="1300" b="0" i="0" u="none" strike="noStrike" kern="1200" cap="none" spc="0" normalizeH="0" baseline="0" noProof="0" dirty="0">
                    <a:ln>
                      <a:noFill/>
                    </a:ln>
                    <a:solidFill>
                      <a:schemeClr val="tx2"/>
                    </a:solidFill>
                    <a:effectLst/>
                    <a:uLnTx/>
                    <a:uFillTx/>
                    <a:latin typeface="Arial"/>
                    <a:ea typeface="+mn-ea"/>
                    <a:cs typeface="+mn-cs"/>
                  </a:rPr>
                  <a:t>“</a:t>
                </a:r>
                <a:r>
                  <a:rPr kumimoji="0" lang="en-PE" sz="1300" b="0" i="0" u="none" strike="noStrike" kern="1200" cap="none" spc="0" normalizeH="0" baseline="0" noProof="0" dirty="0">
                    <a:ln>
                      <a:noFill/>
                    </a:ln>
                    <a:solidFill>
                      <a:schemeClr val="tx2"/>
                    </a:solidFill>
                    <a:effectLst/>
                    <a:uLnTx/>
                    <a:uFillTx/>
                    <a:latin typeface="Arial"/>
                    <a:ea typeface="+mn-ea"/>
                    <a:cs typeface="+mn-cs"/>
                  </a:rPr>
                  <a:t>Previo al inicio, en inicio</a:t>
                </a:r>
                <a:r>
                  <a:rPr kumimoji="0" lang="es-PE" sz="1300" b="0" i="0" u="none" strike="noStrike" kern="1200" cap="none" spc="0" normalizeH="0" baseline="0" noProof="0" dirty="0">
                    <a:ln>
                      <a:noFill/>
                    </a:ln>
                    <a:solidFill>
                      <a:schemeClr val="tx2"/>
                    </a:solidFill>
                    <a:effectLst/>
                    <a:uLnTx/>
                    <a:uFillTx/>
                    <a:latin typeface="Arial"/>
                    <a:ea typeface="+mn-ea"/>
                    <a:cs typeface="+mn-cs"/>
                  </a:rPr>
                  <a:t>” </a:t>
                </a:r>
                <a:r>
                  <a:rPr kumimoji="0" lang="en-PE" sz="1300" b="0" i="0" u="none" strike="noStrike" kern="1200" cap="none" spc="0" normalizeH="0" baseline="0" noProof="0" dirty="0">
                    <a:ln>
                      <a:noFill/>
                    </a:ln>
                    <a:solidFill>
                      <a:schemeClr val="tx2"/>
                    </a:solidFill>
                    <a:effectLst/>
                    <a:uLnTx/>
                    <a:uFillTx/>
                    <a:latin typeface="Arial"/>
                    <a:ea typeface="+mn-ea"/>
                    <a:cs typeface="+mn-cs"/>
                  </a:rPr>
                  <a:t>en matemática</a:t>
                </a:r>
                <a:r>
                  <a:rPr kumimoji="0" lang="es-PE" sz="1300" b="0" i="0" u="none" strike="noStrike" kern="1200" cap="none" spc="0" normalizeH="0" baseline="0" noProof="0" dirty="0">
                    <a:ln>
                      <a:noFill/>
                    </a:ln>
                    <a:solidFill>
                      <a:schemeClr val="tx2"/>
                    </a:solidFill>
                    <a:effectLst/>
                    <a:uLnTx/>
                    <a:uFillTx/>
                    <a:latin typeface="Arial"/>
                    <a:ea typeface="+mn-ea"/>
                    <a:cs typeface="+mn-cs"/>
                  </a:rPr>
                  <a:t>. (EM, ECE)</a:t>
                </a:r>
              </a:p>
              <a:p>
                <a:pPr marR="0" lvl="0" algn="l" defTabSz="914400" rtl="0" eaLnBrk="1" fontAlgn="auto" latinLnBrk="0" hangingPunct="1">
                  <a:lnSpc>
                    <a:spcPct val="100000"/>
                  </a:lnSpc>
                  <a:spcBef>
                    <a:spcPts val="0"/>
                  </a:spcBef>
                  <a:spcAft>
                    <a:spcPts val="0"/>
                  </a:spcAft>
                  <a:buClrTx/>
                  <a:buSzTx/>
                  <a:tabLst/>
                  <a:defRPr/>
                </a:pPr>
                <a:endParaRPr lang="es-PE" sz="1300" dirty="0">
                  <a:solidFill>
                    <a:schemeClr val="tx2"/>
                  </a:solidFill>
                  <a:latin typeface="Arial"/>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14:m>
                  <m:oMath xmlns:m="http://schemas.openxmlformats.org/officeDocument/2006/math">
                    <m:sSub>
                      <m:sSubPr>
                        <m:ctrlPr>
                          <a:rPr kumimoji="0" lang="es-PE" sz="1800" b="0" i="1" u="none" strike="noStrike" kern="1200" cap="none" spc="0" normalizeH="0" baseline="0" noProof="0" smtClean="0">
                            <a:ln>
                              <a:noFill/>
                            </a:ln>
                            <a:solidFill>
                              <a:schemeClr val="tx2"/>
                            </a:solidFill>
                            <a:effectLst/>
                            <a:uLnTx/>
                            <a:uFillTx/>
                            <a:latin typeface="Cambria Math" panose="02040503050406030204" pitchFamily="18" charset="0"/>
                            <a:ea typeface="+mn-ea"/>
                            <a:cs typeface="+mn-cs"/>
                          </a:rPr>
                        </m:ctrlPr>
                      </m:sSubPr>
                      <m:e>
                        <m:r>
                          <a:rPr kumimoji="0" lang="es-PE" sz="1800" b="0" i="1" u="none" strike="noStrike" kern="1200" cap="none" spc="0" normalizeH="0" baseline="0" noProof="0" smtClean="0">
                            <a:ln>
                              <a:noFill/>
                            </a:ln>
                            <a:solidFill>
                              <a:schemeClr val="tx2"/>
                            </a:solidFill>
                            <a:effectLst/>
                            <a:uLnTx/>
                            <a:uFillTx/>
                            <a:latin typeface="Cambria Math" panose="02040503050406030204" pitchFamily="18" charset="0"/>
                            <a:ea typeface="+mn-ea"/>
                            <a:cs typeface="+mn-cs"/>
                          </a:rPr>
                          <m:t>𝑥</m:t>
                        </m:r>
                      </m:e>
                      <m:sub>
                        <m:r>
                          <a:rPr kumimoji="0" lang="es-PE" sz="1800" b="0" i="1" u="none" strike="noStrike" kern="1200" cap="none" spc="0" normalizeH="0" baseline="0" noProof="0" smtClean="0">
                            <a:ln>
                              <a:noFill/>
                            </a:ln>
                            <a:solidFill>
                              <a:schemeClr val="tx2"/>
                            </a:solidFill>
                            <a:effectLst/>
                            <a:uLnTx/>
                            <a:uFillTx/>
                            <a:latin typeface="Cambria Math" panose="02040503050406030204" pitchFamily="18" charset="0"/>
                            <a:ea typeface="+mn-ea"/>
                            <a:cs typeface="+mn-cs"/>
                          </a:rPr>
                          <m:t>2</m:t>
                        </m:r>
                      </m:sub>
                    </m:sSub>
                    <m:r>
                      <a:rPr kumimoji="0" lang="es-PE" sz="1800" b="0" i="1" u="none" strike="noStrike" kern="1200" cap="none" spc="0" normalizeH="0" baseline="0" noProof="0" smtClean="0">
                        <a:ln>
                          <a:noFill/>
                        </a:ln>
                        <a:solidFill>
                          <a:schemeClr val="tx2"/>
                        </a:solidFill>
                        <a:effectLst/>
                        <a:uLnTx/>
                        <a:uFillTx/>
                        <a:latin typeface="Cambria Math" panose="02040503050406030204" pitchFamily="18" charset="0"/>
                        <a:ea typeface="+mn-ea"/>
                        <a:cs typeface="+mn-cs"/>
                      </a:rPr>
                      <m:t>:</m:t>
                    </m:r>
                  </m:oMath>
                </a14:m>
                <a:r>
                  <a:rPr kumimoji="0" lang="es-PE" sz="1300" b="0" i="0" u="none" strike="noStrike" kern="1200" cap="none" spc="0" normalizeH="0" baseline="0" noProof="0" dirty="0">
                    <a:ln>
                      <a:noFill/>
                    </a:ln>
                    <a:solidFill>
                      <a:schemeClr val="tx2"/>
                    </a:solidFill>
                    <a:effectLst/>
                    <a:uLnTx/>
                    <a:uFillTx/>
                    <a:latin typeface="Arial"/>
                    <a:ea typeface="+mn-ea"/>
                    <a:cs typeface="+mn-cs"/>
                  </a:rPr>
                  <a:t> % E</a:t>
                </a:r>
                <a:r>
                  <a:rPr kumimoji="0" lang="en-PE" sz="1300" b="0" i="0" u="none" strike="noStrike" kern="1200" cap="none" spc="0" normalizeH="0" baseline="0" noProof="0" dirty="0">
                    <a:ln>
                      <a:noFill/>
                    </a:ln>
                    <a:solidFill>
                      <a:schemeClr val="tx2"/>
                    </a:solidFill>
                    <a:effectLst/>
                    <a:uLnTx/>
                    <a:uFillTx/>
                    <a:latin typeface="Arial"/>
                    <a:ea typeface="+mn-ea"/>
                    <a:cs typeface="+mn-cs"/>
                  </a:rPr>
                  <a:t>studiante</a:t>
                </a:r>
                <a:r>
                  <a:rPr kumimoji="0" lang="es-PE" sz="1300" b="0" i="0" u="none" strike="noStrike" kern="1200" cap="none" spc="0" normalizeH="0" baseline="0" noProof="0" dirty="0">
                    <a:ln>
                      <a:noFill/>
                    </a:ln>
                    <a:solidFill>
                      <a:schemeClr val="tx2"/>
                    </a:solidFill>
                    <a:effectLst/>
                    <a:uLnTx/>
                    <a:uFillTx/>
                    <a:latin typeface="Arial"/>
                    <a:ea typeface="+mn-ea"/>
                    <a:cs typeface="+mn-cs"/>
                  </a:rPr>
                  <a:t>s en niveles de logro</a:t>
                </a:r>
                <a:r>
                  <a:rPr kumimoji="0" lang="en-PE" sz="1300" b="0" i="0" u="none" strike="noStrike" kern="1200" cap="none" spc="0" normalizeH="0" baseline="0" noProof="0" dirty="0">
                    <a:ln>
                      <a:noFill/>
                    </a:ln>
                    <a:solidFill>
                      <a:schemeClr val="tx2"/>
                    </a:solidFill>
                    <a:effectLst/>
                    <a:uLnTx/>
                    <a:uFillTx/>
                    <a:latin typeface="Arial"/>
                    <a:ea typeface="+mn-ea"/>
                    <a:cs typeface="+mn-cs"/>
                  </a:rPr>
                  <a:t> </a:t>
                </a:r>
                <a:r>
                  <a:rPr kumimoji="0" lang="es-PE" sz="1300" b="0" i="0" u="none" strike="noStrike" kern="1200" cap="none" spc="0" normalizeH="0" baseline="0" noProof="0" dirty="0">
                    <a:ln>
                      <a:noFill/>
                    </a:ln>
                    <a:solidFill>
                      <a:schemeClr val="tx2"/>
                    </a:solidFill>
                    <a:effectLst/>
                    <a:uLnTx/>
                    <a:uFillTx/>
                    <a:latin typeface="Arial"/>
                    <a:ea typeface="+mn-ea"/>
                    <a:cs typeface="+mn-cs"/>
                  </a:rPr>
                  <a:t>“</a:t>
                </a:r>
                <a:r>
                  <a:rPr kumimoji="0" lang="en-PE" sz="1300" b="0" i="0" u="none" strike="noStrike" kern="1200" cap="none" spc="0" normalizeH="0" baseline="0" noProof="0" dirty="0">
                    <a:ln>
                      <a:noFill/>
                    </a:ln>
                    <a:solidFill>
                      <a:schemeClr val="tx2"/>
                    </a:solidFill>
                    <a:effectLst/>
                    <a:uLnTx/>
                    <a:uFillTx/>
                    <a:latin typeface="Arial"/>
                    <a:ea typeface="+mn-ea"/>
                    <a:cs typeface="+mn-cs"/>
                  </a:rPr>
                  <a:t>Previo al inicio, en inicio</a:t>
                </a:r>
                <a:r>
                  <a:rPr kumimoji="0" lang="es-PE" sz="1300" b="0" i="0" u="none" strike="noStrike" kern="1200" cap="none" spc="0" normalizeH="0" baseline="0" noProof="0" dirty="0">
                    <a:ln>
                      <a:noFill/>
                    </a:ln>
                    <a:solidFill>
                      <a:schemeClr val="tx2"/>
                    </a:solidFill>
                    <a:effectLst/>
                    <a:uLnTx/>
                    <a:uFillTx/>
                    <a:latin typeface="Arial"/>
                    <a:ea typeface="+mn-ea"/>
                    <a:cs typeface="+mn-cs"/>
                  </a:rPr>
                  <a:t>” </a:t>
                </a:r>
                <a:r>
                  <a:rPr kumimoji="0" lang="en-PE" sz="1300" b="0" i="0" u="none" strike="noStrike" kern="1200" cap="none" spc="0" normalizeH="0" baseline="0" noProof="0" dirty="0">
                    <a:ln>
                      <a:noFill/>
                    </a:ln>
                    <a:solidFill>
                      <a:schemeClr val="tx2"/>
                    </a:solidFill>
                    <a:effectLst/>
                    <a:uLnTx/>
                    <a:uFillTx/>
                    <a:latin typeface="Arial"/>
                    <a:ea typeface="+mn-ea"/>
                    <a:cs typeface="+mn-cs"/>
                  </a:rPr>
                  <a:t>en</a:t>
                </a:r>
                <a:r>
                  <a:rPr lang="es-PE" sz="1300" dirty="0">
                    <a:solidFill>
                      <a:schemeClr val="tx2"/>
                    </a:solidFill>
                    <a:latin typeface="Arial"/>
                  </a:rPr>
                  <a:t> lenguaje</a:t>
                </a:r>
                <a:r>
                  <a:rPr kumimoji="0" lang="es-PE" sz="1300" b="0" i="0" u="none" strike="noStrike" kern="1200" cap="none" spc="0" normalizeH="0" baseline="0" noProof="0" dirty="0">
                    <a:ln>
                      <a:noFill/>
                    </a:ln>
                    <a:solidFill>
                      <a:schemeClr val="tx2"/>
                    </a:solidFill>
                    <a:effectLst/>
                    <a:uLnTx/>
                    <a:uFillTx/>
                    <a:latin typeface="Arial"/>
                    <a:ea typeface="+mn-ea"/>
                    <a:cs typeface="+mn-cs"/>
                  </a:rPr>
                  <a:t>. (EM, ECE)</a:t>
                </a:r>
              </a:p>
              <a:p>
                <a:pPr marR="0" lvl="0" algn="l" defTabSz="914400" rtl="0" eaLnBrk="1" fontAlgn="auto" latinLnBrk="0" hangingPunct="1">
                  <a:lnSpc>
                    <a:spcPct val="100000"/>
                  </a:lnSpc>
                  <a:spcBef>
                    <a:spcPts val="0"/>
                  </a:spcBef>
                  <a:spcAft>
                    <a:spcPts val="0"/>
                  </a:spcAft>
                  <a:buClrTx/>
                  <a:buSzTx/>
                  <a:tabLst/>
                  <a:defRPr/>
                </a:pPr>
                <a:endParaRPr kumimoji="0" lang="es-PE" sz="1300" b="0" i="0" u="none" strike="noStrike" kern="1200" cap="none" spc="0" normalizeH="0" baseline="0" noProof="0" dirty="0">
                  <a:ln>
                    <a:noFill/>
                  </a:ln>
                  <a:solidFill>
                    <a:schemeClr val="tx2"/>
                  </a:solidFill>
                  <a:effectLst/>
                  <a:uLnTx/>
                  <a:uFillTx/>
                  <a:latin typeface="Arial"/>
                  <a:ea typeface="+mn-ea"/>
                  <a:cs typeface="+mn-cs"/>
                </a:endParaRPr>
              </a:p>
              <a:p>
                <a:pPr marL="285750" indent="-285750">
                  <a:buFont typeface="Arial" panose="020B0604020202020204" pitchFamily="34" charset="0"/>
                  <a:buChar char="•"/>
                  <a:defRPr/>
                </a:pPr>
                <a14:m>
                  <m:oMath xmlns:m="http://schemas.openxmlformats.org/officeDocument/2006/math">
                    <m:sSub>
                      <m:sSubPr>
                        <m:ctrlPr>
                          <a:rPr lang="es-PE" i="1">
                            <a:solidFill>
                              <a:schemeClr val="tx2"/>
                            </a:solidFill>
                            <a:latin typeface="Cambria Math" panose="02040503050406030204" pitchFamily="18" charset="0"/>
                          </a:rPr>
                        </m:ctrlPr>
                      </m:sSubPr>
                      <m:e>
                        <m:r>
                          <a:rPr lang="es-PE" i="1">
                            <a:solidFill>
                              <a:schemeClr val="tx2"/>
                            </a:solidFill>
                            <a:latin typeface="Cambria Math" panose="02040503050406030204" pitchFamily="18" charset="0"/>
                          </a:rPr>
                          <m:t>𝑥</m:t>
                        </m:r>
                      </m:e>
                      <m:sub>
                        <m:r>
                          <a:rPr lang="es-PE" i="1">
                            <a:solidFill>
                              <a:schemeClr val="tx2"/>
                            </a:solidFill>
                            <a:latin typeface="Cambria Math" panose="02040503050406030204" pitchFamily="18" charset="0"/>
                          </a:rPr>
                          <m:t>3</m:t>
                        </m:r>
                      </m:sub>
                    </m:sSub>
                    <m:r>
                      <a:rPr lang="es-PE" i="1">
                        <a:solidFill>
                          <a:schemeClr val="tx2"/>
                        </a:solidFill>
                        <a:latin typeface="Cambria Math" panose="02040503050406030204" pitchFamily="18" charset="0"/>
                      </a:rPr>
                      <m:t>:</m:t>
                    </m:r>
                  </m:oMath>
                </a14:m>
                <a:r>
                  <a:rPr lang="es-PE" sz="1300" dirty="0">
                    <a:solidFill>
                      <a:schemeClr val="tx2"/>
                    </a:solidFill>
                  </a:rPr>
                  <a:t> % de a</a:t>
                </a:r>
                <a:r>
                  <a:rPr lang="en-PE" sz="1300" dirty="0">
                    <a:solidFill>
                      <a:schemeClr val="tx2"/>
                    </a:solidFill>
                  </a:rPr>
                  <a:t>lumnos en Promoción Guiada al finalizar el 2020</a:t>
                </a:r>
                <a:r>
                  <a:rPr lang="es-PE" sz="1300" dirty="0">
                    <a:solidFill>
                      <a:schemeClr val="tx2"/>
                    </a:solidFill>
                  </a:rPr>
                  <a:t>. (SIAGIE)</a:t>
                </a:r>
                <a:endParaRPr lang="en-CA" sz="1300" dirty="0">
                  <a:solidFill>
                    <a:schemeClr val="tx2"/>
                  </a:solidFill>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s-PE" sz="1300" b="0" i="0" u="none" strike="noStrike" kern="1200" cap="none" spc="0" normalizeH="0" baseline="0" noProof="0" dirty="0">
                  <a:ln>
                    <a:noFill/>
                  </a:ln>
                  <a:solidFill>
                    <a:schemeClr val="tx2"/>
                  </a:solidFill>
                  <a:effectLst/>
                  <a:uLnTx/>
                  <a:uFillTx/>
                  <a:latin typeface="Arial"/>
                  <a:ea typeface="+mn-ea"/>
                  <a:cs typeface="+mn-cs"/>
                </a:endParaRPr>
              </a:p>
            </p:txBody>
          </p:sp>
        </mc:Choice>
        <mc:Fallback>
          <p:sp>
            <p:nvSpPr>
              <p:cNvPr id="25" name="TextBox 24">
                <a:extLst>
                  <a:ext uri="{FF2B5EF4-FFF2-40B4-BE49-F238E27FC236}">
                    <a16:creationId xmlns:a16="http://schemas.microsoft.com/office/drawing/2014/main" id="{FEEB1486-6397-4F49-A9B8-8D70919852F2}"/>
                  </a:ext>
                </a:extLst>
              </p:cNvPr>
              <p:cNvSpPr txBox="1">
                <a:spLocks noRot="1" noChangeAspect="1" noMove="1" noResize="1" noEditPoints="1" noAdjustHandles="1" noChangeArrowheads="1" noChangeShapeType="1" noTextEdit="1"/>
              </p:cNvSpPr>
              <p:nvPr/>
            </p:nvSpPr>
            <p:spPr>
              <a:xfrm>
                <a:off x="256166" y="4604136"/>
                <a:ext cx="4651114" cy="2104615"/>
              </a:xfrm>
              <a:prstGeom prst="rect">
                <a:avLst/>
              </a:prstGeom>
              <a:blipFill>
                <a:blip r:embed="rId5"/>
                <a:stretch>
                  <a:fillRect l="-817" t="-599"/>
                </a:stretch>
              </a:blipFill>
            </p:spPr>
            <p:txBody>
              <a:bodyPr/>
              <a:lstStyle/>
              <a:p>
                <a:r>
                  <a:rPr lang="en-PE">
                    <a:noFill/>
                  </a:rPr>
                  <a:t> </a:t>
                </a:r>
              </a:p>
            </p:txBody>
          </p:sp>
        </mc:Fallback>
      </mc:AlternateContent>
      <p:sp>
        <p:nvSpPr>
          <p:cNvPr id="29" name="TextBox 28">
            <a:extLst>
              <a:ext uri="{FF2B5EF4-FFF2-40B4-BE49-F238E27FC236}">
                <a16:creationId xmlns:a16="http://schemas.microsoft.com/office/drawing/2014/main" id="{FD288DD1-711C-4476-AA34-4DFB1FF8825D}"/>
              </a:ext>
            </a:extLst>
          </p:cNvPr>
          <p:cNvSpPr txBox="1"/>
          <p:nvPr/>
        </p:nvSpPr>
        <p:spPr>
          <a:xfrm>
            <a:off x="6537961" y="2556684"/>
            <a:ext cx="4196080" cy="276999"/>
          </a:xfrm>
          <a:prstGeom prst="rect">
            <a:avLst/>
          </a:prstGeom>
          <a:noFill/>
        </p:spPr>
        <p:txBody>
          <a:bodyPr wrap="square" rtlCol="0">
            <a:spAutoFit/>
          </a:bodyPr>
          <a:lstStyle/>
          <a:p>
            <a:r>
              <a:rPr lang="es-PE" sz="1200" b="1" dirty="0">
                <a:latin typeface="Calibri Light" panose="020F0302020204030204" pitchFamily="34" charset="0"/>
                <a:cs typeface="Calibri Light" panose="020F0302020204030204" pitchFamily="34" charset="0"/>
              </a:rPr>
              <a:t>Distribución de IIEE según el indicador de necesidad de atención</a:t>
            </a:r>
            <a:endParaRPr lang="en-CA" sz="1200" b="1" dirty="0">
              <a:latin typeface="Calibri Light" panose="020F0302020204030204" pitchFamily="34" charset="0"/>
              <a:cs typeface="Calibri Light" panose="020F0302020204030204" pitchFamily="34" charset="0"/>
            </a:endParaRPr>
          </a:p>
        </p:txBody>
      </p:sp>
      <p:sp>
        <p:nvSpPr>
          <p:cNvPr id="30" name="Footer Placeholder 29">
            <a:extLst>
              <a:ext uri="{FF2B5EF4-FFF2-40B4-BE49-F238E27FC236}">
                <a16:creationId xmlns:a16="http://schemas.microsoft.com/office/drawing/2014/main" id="{BC85E3BC-67CE-4DE0-90DE-FA48F1C334CD}"/>
              </a:ext>
            </a:extLst>
          </p:cNvPr>
          <p:cNvSpPr>
            <a:spLocks noGrp="1"/>
          </p:cNvSpPr>
          <p:nvPr>
            <p:ph type="ftr" sz="quarter" idx="11"/>
          </p:nvPr>
        </p:nvSpPr>
        <p:spPr>
          <a:xfrm>
            <a:off x="5847538" y="6342197"/>
            <a:ext cx="5836920" cy="369332"/>
          </a:xfrm>
        </p:spPr>
        <p:txBody>
          <a:bodyPr/>
          <a:lstStyle/>
          <a:p>
            <a:r>
              <a:rPr lang="es-ES" dirty="0"/>
              <a:t>2/Para más información sobre la metodología de construcción del indicador, revisar Anexo I</a:t>
            </a:r>
            <a:endParaRPr lang="es-PE" dirty="0"/>
          </a:p>
        </p:txBody>
      </p:sp>
      <p:sp>
        <p:nvSpPr>
          <p:cNvPr id="31" name="TextBox 30">
            <a:extLst>
              <a:ext uri="{FF2B5EF4-FFF2-40B4-BE49-F238E27FC236}">
                <a16:creationId xmlns:a16="http://schemas.microsoft.com/office/drawing/2014/main" id="{AA91BAC7-9B2D-40EF-A701-D04544F1C4BD}"/>
              </a:ext>
            </a:extLst>
          </p:cNvPr>
          <p:cNvSpPr txBox="1"/>
          <p:nvPr/>
        </p:nvSpPr>
        <p:spPr>
          <a:xfrm>
            <a:off x="152399" y="905512"/>
            <a:ext cx="11511509" cy="369332"/>
          </a:xfrm>
          <a:prstGeom prst="rect">
            <a:avLst/>
          </a:prstGeom>
          <a:noFill/>
        </p:spPr>
        <p:txBody>
          <a:bodyPr wrap="square" rtlCol="0">
            <a:spAutoFit/>
          </a:bodyPr>
          <a:lstStyle/>
          <a:p>
            <a:r>
              <a:rPr lang="es-PE" b="1" dirty="0">
                <a:solidFill>
                  <a:srgbClr val="C00000"/>
                </a:solidFill>
              </a:rPr>
              <a:t>Etapa 1: </a:t>
            </a:r>
            <a:r>
              <a:rPr lang="es-PE" dirty="0">
                <a:solidFill>
                  <a:schemeClr val="tx2"/>
                </a:solidFill>
              </a:rPr>
              <a:t>Definición de indicador de necesidad de atención</a:t>
            </a:r>
            <a:endParaRPr lang="en-CA" dirty="0">
              <a:solidFill>
                <a:schemeClr val="tx2"/>
              </a:solidFill>
            </a:endParaRPr>
          </a:p>
        </p:txBody>
      </p:sp>
      <p:pic>
        <p:nvPicPr>
          <p:cNvPr id="7" name="Picture 6">
            <a:extLst>
              <a:ext uri="{FF2B5EF4-FFF2-40B4-BE49-F238E27FC236}">
                <a16:creationId xmlns:a16="http://schemas.microsoft.com/office/drawing/2014/main" id="{7EBDF920-0C25-40B0-9294-36F2A10B9C03}"/>
              </a:ext>
            </a:extLst>
          </p:cNvPr>
          <p:cNvPicPr>
            <a:picLocks noChangeAspect="1"/>
          </p:cNvPicPr>
          <p:nvPr/>
        </p:nvPicPr>
        <p:blipFill>
          <a:blip r:embed="rId6"/>
          <a:stretch>
            <a:fillRect/>
          </a:stretch>
        </p:blipFill>
        <p:spPr>
          <a:xfrm>
            <a:off x="6370852" y="3067119"/>
            <a:ext cx="4063161" cy="2960194"/>
          </a:xfrm>
          <a:prstGeom prst="rect">
            <a:avLst/>
          </a:prstGeom>
        </p:spPr>
      </p:pic>
      <p:sp>
        <p:nvSpPr>
          <p:cNvPr id="8" name="TextBox 7">
            <a:extLst>
              <a:ext uri="{FF2B5EF4-FFF2-40B4-BE49-F238E27FC236}">
                <a16:creationId xmlns:a16="http://schemas.microsoft.com/office/drawing/2014/main" id="{53F9DB90-E53B-4EB5-A16F-619D3167E347}"/>
              </a:ext>
            </a:extLst>
          </p:cNvPr>
          <p:cNvSpPr txBox="1"/>
          <p:nvPr/>
        </p:nvSpPr>
        <p:spPr>
          <a:xfrm>
            <a:off x="9213669" y="2880926"/>
            <a:ext cx="574766" cy="276999"/>
          </a:xfrm>
          <a:prstGeom prst="rect">
            <a:avLst/>
          </a:prstGeom>
          <a:noFill/>
        </p:spPr>
        <p:txBody>
          <a:bodyPr wrap="square" rtlCol="0">
            <a:spAutoFit/>
          </a:bodyPr>
          <a:lstStyle/>
          <a:p>
            <a:r>
              <a:rPr lang="en-US" sz="1200" b="1" dirty="0">
                <a:solidFill>
                  <a:schemeClr val="tx2"/>
                </a:solidFill>
              </a:rPr>
              <a:t>0.75</a:t>
            </a:r>
            <a:endParaRPr lang="en-CA" sz="1200" b="1" dirty="0">
              <a:solidFill>
                <a:schemeClr val="tx2"/>
              </a:solidFill>
            </a:endParaRPr>
          </a:p>
        </p:txBody>
      </p:sp>
      <p:sp>
        <p:nvSpPr>
          <p:cNvPr id="18" name="TextBox 17">
            <a:extLst>
              <a:ext uri="{FF2B5EF4-FFF2-40B4-BE49-F238E27FC236}">
                <a16:creationId xmlns:a16="http://schemas.microsoft.com/office/drawing/2014/main" id="{5682C1AD-1C47-D746-A048-DBCB427EBC62}"/>
              </a:ext>
            </a:extLst>
          </p:cNvPr>
          <p:cNvSpPr txBox="1"/>
          <p:nvPr/>
        </p:nvSpPr>
        <p:spPr>
          <a:xfrm>
            <a:off x="5847080" y="1607724"/>
            <a:ext cx="5496559" cy="369332"/>
          </a:xfrm>
          <a:prstGeom prst="rect">
            <a:avLst/>
          </a:prstGeom>
          <a:noFill/>
        </p:spPr>
        <p:txBody>
          <a:bodyPr wrap="square" rtlCol="0">
            <a:spAutoFit/>
          </a:bodyPr>
          <a:lstStyle/>
          <a:p>
            <a:r>
              <a:rPr lang="es-PE" b="1" dirty="0">
                <a:solidFill>
                  <a:schemeClr val="tx2"/>
                </a:solidFill>
              </a:rPr>
              <a:t>III.  Indicador de necesidad de atención</a:t>
            </a:r>
            <a:r>
              <a:rPr lang="es-PE" b="1" baseline="70000" dirty="0">
                <a:solidFill>
                  <a:schemeClr val="tx2"/>
                </a:solidFill>
              </a:rPr>
              <a:t>2</a:t>
            </a:r>
            <a:endParaRPr lang="en-CA" b="1" baseline="70000" dirty="0">
              <a:solidFill>
                <a:schemeClr val="tx2"/>
              </a:solidFill>
            </a:endParaRPr>
          </a:p>
        </p:txBody>
      </p:sp>
      <mc:AlternateContent xmlns:mc="http://schemas.openxmlformats.org/markup-compatibility/2006">
        <mc:Choice xmlns:a14="http://schemas.microsoft.com/office/drawing/2010/main" Requires="a14">
          <p:sp>
            <p:nvSpPr>
              <p:cNvPr id="19" name="TextBox 18">
                <a:extLst>
                  <a:ext uri="{FF2B5EF4-FFF2-40B4-BE49-F238E27FC236}">
                    <a16:creationId xmlns:a16="http://schemas.microsoft.com/office/drawing/2014/main" id="{EFDA361C-DFEF-5844-AE05-F61D137A9175}"/>
                  </a:ext>
                </a:extLst>
              </p:cNvPr>
              <p:cNvSpPr txBox="1"/>
              <p:nvPr/>
            </p:nvSpPr>
            <p:spPr>
              <a:xfrm>
                <a:off x="6167234" y="2113542"/>
                <a:ext cx="4988559"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s-PE" sz="1600" b="1" i="1" smtClean="0">
                              <a:solidFill>
                                <a:schemeClr val="tx2"/>
                              </a:solidFill>
                              <a:latin typeface="Cambria Math" panose="02040503050406030204" pitchFamily="18" charset="0"/>
                            </a:rPr>
                          </m:ctrlPr>
                        </m:sSubPr>
                        <m:e>
                          <m:r>
                            <a:rPr lang="es-PE" sz="1600" b="1" i="1" smtClean="0">
                              <a:solidFill>
                                <a:schemeClr val="tx2"/>
                              </a:solidFill>
                              <a:latin typeface="Cambria Math" panose="02040503050406030204" pitchFamily="18" charset="0"/>
                            </a:rPr>
                            <m:t>𝑰</m:t>
                          </m:r>
                        </m:e>
                        <m:sub>
                          <m:r>
                            <a:rPr lang="es-PE" sz="1600" b="1" i="1" smtClean="0">
                              <a:solidFill>
                                <a:schemeClr val="tx2"/>
                              </a:solidFill>
                              <a:latin typeface="Cambria Math" panose="02040503050406030204" pitchFamily="18" charset="0"/>
                            </a:rPr>
                            <m:t>𝒊</m:t>
                          </m:r>
                        </m:sub>
                      </m:sSub>
                      <m:r>
                        <a:rPr lang="es-PE" sz="1600" b="1" i="1" smtClean="0">
                          <a:solidFill>
                            <a:schemeClr val="tx2"/>
                          </a:solidFill>
                          <a:latin typeface="Cambria Math" panose="02040503050406030204" pitchFamily="18" charset="0"/>
                        </a:rPr>
                        <m:t>=</m:t>
                      </m:r>
                      <m:d>
                        <m:dPr>
                          <m:ctrlPr>
                            <a:rPr lang="es-PE" sz="1600" b="1" i="1" smtClean="0">
                              <a:solidFill>
                                <a:schemeClr val="tx2"/>
                              </a:solidFill>
                              <a:latin typeface="Cambria Math" panose="02040503050406030204" pitchFamily="18" charset="0"/>
                            </a:rPr>
                          </m:ctrlPr>
                        </m:dPr>
                        <m:e>
                          <m:r>
                            <a:rPr lang="es-PE" sz="1600" b="1" i="1" smtClean="0">
                              <a:solidFill>
                                <a:schemeClr val="tx2"/>
                              </a:solidFill>
                              <a:latin typeface="Cambria Math" panose="02040503050406030204" pitchFamily="18" charset="0"/>
                            </a:rPr>
                            <m:t>𝟎</m:t>
                          </m:r>
                          <m:r>
                            <a:rPr lang="es-PE" sz="1600" b="1" i="1" smtClean="0">
                              <a:solidFill>
                                <a:schemeClr val="tx2"/>
                              </a:solidFill>
                              <a:latin typeface="Cambria Math" panose="02040503050406030204" pitchFamily="18" charset="0"/>
                            </a:rPr>
                            <m:t>.</m:t>
                          </m:r>
                          <m:r>
                            <a:rPr lang="es-PE" sz="1600" b="1" i="1" smtClean="0">
                              <a:solidFill>
                                <a:schemeClr val="tx2"/>
                              </a:solidFill>
                              <a:latin typeface="Cambria Math" panose="02040503050406030204" pitchFamily="18" charset="0"/>
                            </a:rPr>
                            <m:t>𝟒</m:t>
                          </m:r>
                        </m:e>
                      </m:d>
                      <m:sSub>
                        <m:sSubPr>
                          <m:ctrlPr>
                            <a:rPr lang="es-PE" sz="1600" b="1" i="1">
                              <a:solidFill>
                                <a:schemeClr val="tx2"/>
                              </a:solidFill>
                              <a:latin typeface="Cambria Math" panose="02040503050406030204" pitchFamily="18" charset="0"/>
                            </a:rPr>
                          </m:ctrlPr>
                        </m:sSubPr>
                        <m:e>
                          <m:r>
                            <a:rPr lang="es-PE" sz="1600" b="1" i="1">
                              <a:solidFill>
                                <a:schemeClr val="tx2"/>
                              </a:solidFill>
                              <a:latin typeface="Cambria Math" panose="02040503050406030204" pitchFamily="18" charset="0"/>
                            </a:rPr>
                            <m:t>𝒙</m:t>
                          </m:r>
                        </m:e>
                        <m:sub>
                          <m:r>
                            <a:rPr lang="es-PE" sz="1600" b="1" i="1">
                              <a:solidFill>
                                <a:schemeClr val="tx2"/>
                              </a:solidFill>
                              <a:latin typeface="Cambria Math" panose="02040503050406030204" pitchFamily="18" charset="0"/>
                            </a:rPr>
                            <m:t>𝟏</m:t>
                          </m:r>
                          <m:r>
                            <a:rPr lang="es-PE" sz="1600" b="1" i="1" smtClean="0">
                              <a:solidFill>
                                <a:schemeClr val="tx2"/>
                              </a:solidFill>
                              <a:latin typeface="Cambria Math" panose="02040503050406030204" pitchFamily="18" charset="0"/>
                            </a:rPr>
                            <m:t>𝒊</m:t>
                          </m:r>
                        </m:sub>
                      </m:sSub>
                      <m:r>
                        <a:rPr lang="es-PE" sz="1600" b="1" i="1" smtClean="0">
                          <a:solidFill>
                            <a:schemeClr val="tx2"/>
                          </a:solidFill>
                          <a:latin typeface="Cambria Math" panose="02040503050406030204" pitchFamily="18" charset="0"/>
                        </a:rPr>
                        <m:t>+</m:t>
                      </m:r>
                      <m:d>
                        <m:dPr>
                          <m:ctrlPr>
                            <a:rPr lang="es-PE" sz="1600" b="1" i="1" smtClean="0">
                              <a:solidFill>
                                <a:schemeClr val="tx2"/>
                              </a:solidFill>
                              <a:latin typeface="Cambria Math" panose="02040503050406030204" pitchFamily="18" charset="0"/>
                            </a:rPr>
                          </m:ctrlPr>
                        </m:dPr>
                        <m:e>
                          <m:r>
                            <a:rPr lang="es-PE" sz="1600" b="1" i="1" smtClean="0">
                              <a:solidFill>
                                <a:schemeClr val="tx2"/>
                              </a:solidFill>
                              <a:latin typeface="Cambria Math" panose="02040503050406030204" pitchFamily="18" charset="0"/>
                            </a:rPr>
                            <m:t>𝟎</m:t>
                          </m:r>
                          <m:r>
                            <a:rPr lang="es-PE" sz="1600" b="1" i="1" smtClean="0">
                              <a:solidFill>
                                <a:schemeClr val="tx2"/>
                              </a:solidFill>
                              <a:latin typeface="Cambria Math" panose="02040503050406030204" pitchFamily="18" charset="0"/>
                            </a:rPr>
                            <m:t>.</m:t>
                          </m:r>
                          <m:r>
                            <a:rPr lang="es-PE" sz="1600" b="1" i="1" smtClean="0">
                              <a:solidFill>
                                <a:schemeClr val="tx2"/>
                              </a:solidFill>
                              <a:latin typeface="Cambria Math" panose="02040503050406030204" pitchFamily="18" charset="0"/>
                            </a:rPr>
                            <m:t>𝟒</m:t>
                          </m:r>
                        </m:e>
                      </m:d>
                      <m:sSub>
                        <m:sSubPr>
                          <m:ctrlPr>
                            <a:rPr lang="es-PE" sz="1600" b="1" i="1">
                              <a:solidFill>
                                <a:schemeClr val="tx2"/>
                              </a:solidFill>
                              <a:latin typeface="Cambria Math" panose="02040503050406030204" pitchFamily="18" charset="0"/>
                            </a:rPr>
                          </m:ctrlPr>
                        </m:sSubPr>
                        <m:e>
                          <m:r>
                            <a:rPr lang="es-PE" sz="1600" b="1" i="1">
                              <a:solidFill>
                                <a:schemeClr val="tx2"/>
                              </a:solidFill>
                              <a:latin typeface="Cambria Math" panose="02040503050406030204" pitchFamily="18" charset="0"/>
                            </a:rPr>
                            <m:t>𝒙</m:t>
                          </m:r>
                        </m:e>
                        <m:sub>
                          <m:r>
                            <a:rPr lang="es-PE" sz="1600" b="1" i="1" smtClean="0">
                              <a:solidFill>
                                <a:schemeClr val="tx2"/>
                              </a:solidFill>
                              <a:latin typeface="Cambria Math" panose="02040503050406030204" pitchFamily="18" charset="0"/>
                            </a:rPr>
                            <m:t>𝟐</m:t>
                          </m:r>
                          <m:r>
                            <a:rPr lang="es-PE" sz="1600" b="1" i="1" smtClean="0">
                              <a:solidFill>
                                <a:schemeClr val="tx2"/>
                              </a:solidFill>
                              <a:latin typeface="Cambria Math" panose="02040503050406030204" pitchFamily="18" charset="0"/>
                            </a:rPr>
                            <m:t>𝒊</m:t>
                          </m:r>
                        </m:sub>
                      </m:sSub>
                      <m:r>
                        <a:rPr lang="es-PE" sz="1600" b="1" i="1" smtClean="0">
                          <a:solidFill>
                            <a:schemeClr val="tx2"/>
                          </a:solidFill>
                          <a:latin typeface="Cambria Math" panose="02040503050406030204" pitchFamily="18" charset="0"/>
                        </a:rPr>
                        <m:t>+(</m:t>
                      </m:r>
                      <m:r>
                        <a:rPr lang="es-PE" sz="1600" b="1" i="1" smtClean="0">
                          <a:solidFill>
                            <a:schemeClr val="tx2"/>
                          </a:solidFill>
                          <a:latin typeface="Cambria Math" panose="02040503050406030204" pitchFamily="18" charset="0"/>
                        </a:rPr>
                        <m:t>𝟎</m:t>
                      </m:r>
                      <m:r>
                        <a:rPr lang="es-PE" sz="1600" b="1" i="1" smtClean="0">
                          <a:solidFill>
                            <a:schemeClr val="tx2"/>
                          </a:solidFill>
                          <a:latin typeface="Cambria Math" panose="02040503050406030204" pitchFamily="18" charset="0"/>
                        </a:rPr>
                        <m:t>.</m:t>
                      </m:r>
                      <m:r>
                        <a:rPr lang="es-PE" sz="1600" b="1" i="1" smtClean="0">
                          <a:solidFill>
                            <a:schemeClr val="tx2"/>
                          </a:solidFill>
                          <a:latin typeface="Cambria Math" panose="02040503050406030204" pitchFamily="18" charset="0"/>
                        </a:rPr>
                        <m:t>𝟐</m:t>
                      </m:r>
                      <m:r>
                        <a:rPr lang="es-PE" sz="1600" b="1" i="1" smtClean="0">
                          <a:solidFill>
                            <a:schemeClr val="tx2"/>
                          </a:solidFill>
                          <a:latin typeface="Cambria Math" panose="02040503050406030204" pitchFamily="18" charset="0"/>
                        </a:rPr>
                        <m:t>)</m:t>
                      </m:r>
                      <m:sSub>
                        <m:sSubPr>
                          <m:ctrlPr>
                            <a:rPr lang="es-PE" sz="1600" b="1" i="1">
                              <a:solidFill>
                                <a:schemeClr val="tx2"/>
                              </a:solidFill>
                              <a:latin typeface="Cambria Math" panose="02040503050406030204" pitchFamily="18" charset="0"/>
                            </a:rPr>
                          </m:ctrlPr>
                        </m:sSubPr>
                        <m:e>
                          <m:r>
                            <a:rPr lang="es-PE" sz="1600" b="1" i="1">
                              <a:solidFill>
                                <a:schemeClr val="tx2"/>
                              </a:solidFill>
                              <a:latin typeface="Cambria Math" panose="02040503050406030204" pitchFamily="18" charset="0"/>
                            </a:rPr>
                            <m:t>𝒙</m:t>
                          </m:r>
                        </m:e>
                        <m:sub>
                          <m:r>
                            <a:rPr lang="es-PE" sz="1600" b="1" i="1" smtClean="0">
                              <a:solidFill>
                                <a:schemeClr val="tx2"/>
                              </a:solidFill>
                              <a:latin typeface="Cambria Math" panose="02040503050406030204" pitchFamily="18" charset="0"/>
                            </a:rPr>
                            <m:t>𝟑</m:t>
                          </m:r>
                          <m:r>
                            <a:rPr lang="es-PE" sz="1600" b="1" i="1" smtClean="0">
                              <a:solidFill>
                                <a:schemeClr val="tx2"/>
                              </a:solidFill>
                              <a:latin typeface="Cambria Math" panose="02040503050406030204" pitchFamily="18" charset="0"/>
                            </a:rPr>
                            <m:t>𝒊</m:t>
                          </m:r>
                        </m:sub>
                      </m:sSub>
                    </m:oMath>
                  </m:oMathPara>
                </a14:m>
                <a:endParaRPr lang="en-CA" sz="1600" b="1" i="1" dirty="0">
                  <a:solidFill>
                    <a:schemeClr val="tx2"/>
                  </a:solidFill>
                </a:endParaRPr>
              </a:p>
            </p:txBody>
          </p:sp>
        </mc:Choice>
        <mc:Fallback>
          <p:sp>
            <p:nvSpPr>
              <p:cNvPr id="19" name="TextBox 18">
                <a:extLst>
                  <a:ext uri="{FF2B5EF4-FFF2-40B4-BE49-F238E27FC236}">
                    <a16:creationId xmlns:a16="http://schemas.microsoft.com/office/drawing/2014/main" id="{EFDA361C-DFEF-5844-AE05-F61D137A9175}"/>
                  </a:ext>
                </a:extLst>
              </p:cNvPr>
              <p:cNvSpPr txBox="1">
                <a:spLocks noRot="1" noChangeAspect="1" noMove="1" noResize="1" noEditPoints="1" noAdjustHandles="1" noChangeArrowheads="1" noChangeShapeType="1" noTextEdit="1"/>
              </p:cNvSpPr>
              <p:nvPr/>
            </p:nvSpPr>
            <p:spPr>
              <a:xfrm>
                <a:off x="6167234" y="2113542"/>
                <a:ext cx="4988559" cy="338554"/>
              </a:xfrm>
              <a:prstGeom prst="rect">
                <a:avLst/>
              </a:prstGeom>
              <a:blipFill>
                <a:blip r:embed="rId7"/>
                <a:stretch>
                  <a:fillRect b="-18519"/>
                </a:stretch>
              </a:blipFill>
            </p:spPr>
            <p:txBody>
              <a:bodyPr/>
              <a:lstStyle/>
              <a:p>
                <a:r>
                  <a:rPr lang="en-PE">
                    <a:noFill/>
                  </a:rPr>
                  <a:t> </a:t>
                </a:r>
              </a:p>
            </p:txBody>
          </p:sp>
        </mc:Fallback>
      </mc:AlternateContent>
    </p:spTree>
    <p:extLst>
      <p:ext uri="{BB962C8B-B14F-4D97-AF65-F5344CB8AC3E}">
        <p14:creationId xmlns:p14="http://schemas.microsoft.com/office/powerpoint/2010/main" val="34393434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0D9F288-D7E5-4620-81FC-CB12E1182B18}"/>
              </a:ext>
            </a:extLst>
          </p:cNvPr>
          <p:cNvSpPr txBox="1"/>
          <p:nvPr/>
        </p:nvSpPr>
        <p:spPr>
          <a:xfrm>
            <a:off x="138543" y="95862"/>
            <a:ext cx="8382000"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PE" sz="3200" b="1" i="0" u="none" strike="noStrike" kern="1200" cap="none" spc="-100" normalizeH="0" baseline="0" noProof="0" dirty="0">
                <a:ln>
                  <a:noFill/>
                </a:ln>
                <a:solidFill>
                  <a:srgbClr val="324B6E"/>
                </a:solidFill>
                <a:effectLst/>
                <a:uLnTx/>
                <a:uFillTx/>
                <a:latin typeface="Arial" panose="020B0604020202020204" pitchFamily="34" charset="0"/>
                <a:ea typeface="+mj-ea"/>
                <a:cs typeface="Arial" panose="020B0604020202020204" pitchFamily="34" charset="0"/>
              </a:rPr>
              <a:t>Focalización de IIEE y priorización</a:t>
            </a:r>
            <a:endParaRPr kumimoji="0" lang="en-CA" sz="4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Arrow: Pentagon 6">
            <a:extLst>
              <a:ext uri="{FF2B5EF4-FFF2-40B4-BE49-F238E27FC236}">
                <a16:creationId xmlns:a16="http://schemas.microsoft.com/office/drawing/2014/main" id="{E8A6F737-68B0-4AED-A4C4-E69D43DA2AC1}"/>
              </a:ext>
            </a:extLst>
          </p:cNvPr>
          <p:cNvSpPr/>
          <p:nvPr/>
        </p:nvSpPr>
        <p:spPr>
          <a:xfrm>
            <a:off x="1361439" y="1084524"/>
            <a:ext cx="7159105" cy="536858"/>
          </a:xfrm>
          <a:prstGeom prst="homePlat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PE" b="1" i="0" u="none" strike="noStrike" kern="1200" cap="none" spc="0" normalizeH="0" baseline="0" noProof="0" dirty="0">
                <a:ln>
                  <a:noFill/>
                </a:ln>
                <a:solidFill>
                  <a:prstClr val="white"/>
                </a:solidFill>
                <a:effectLst/>
                <a:uLnTx/>
                <a:uFillTx/>
                <a:latin typeface="Calibri" panose="020F0502020204030204"/>
                <a:ea typeface="+mn-ea"/>
                <a:cs typeface="+mn-cs"/>
              </a:rPr>
              <a:t>Identificación</a:t>
            </a:r>
            <a:r>
              <a:rPr kumimoji="0" lang="en-US" b="1" i="0" u="none" strike="noStrike" kern="1200" cap="none" spc="0" normalizeH="0" baseline="0" noProof="0" dirty="0">
                <a:ln>
                  <a:noFill/>
                </a:ln>
                <a:solidFill>
                  <a:prstClr val="white"/>
                </a:solidFill>
                <a:effectLst/>
                <a:uLnTx/>
                <a:uFillTx/>
                <a:latin typeface="Calibri" panose="020F0502020204030204"/>
                <a:ea typeface="+mn-ea"/>
                <a:cs typeface="+mn-cs"/>
              </a:rPr>
              <a:t> de IIEE mas </a:t>
            </a:r>
            <a:r>
              <a:rPr kumimoji="0" lang="es-PE" b="1" i="0" u="none" strike="noStrike" kern="1200" cap="none" spc="0" normalizeH="0" baseline="0" noProof="0" dirty="0">
                <a:ln>
                  <a:noFill/>
                </a:ln>
                <a:solidFill>
                  <a:prstClr val="white"/>
                </a:solidFill>
                <a:effectLst/>
                <a:uLnTx/>
                <a:uFillTx/>
                <a:latin typeface="Calibri" panose="020F0502020204030204"/>
                <a:ea typeface="+mn-ea"/>
                <a:cs typeface="+mn-cs"/>
              </a:rPr>
              <a:t>vulnerables</a:t>
            </a:r>
          </a:p>
        </p:txBody>
      </p:sp>
      <p:sp>
        <p:nvSpPr>
          <p:cNvPr id="8" name="Arrow: Chevron 7">
            <a:extLst>
              <a:ext uri="{FF2B5EF4-FFF2-40B4-BE49-F238E27FC236}">
                <a16:creationId xmlns:a16="http://schemas.microsoft.com/office/drawing/2014/main" id="{57A9E469-FD5C-4D01-A174-DBFB22EB3BCF}"/>
              </a:ext>
            </a:extLst>
          </p:cNvPr>
          <p:cNvSpPr/>
          <p:nvPr/>
        </p:nvSpPr>
        <p:spPr>
          <a:xfrm>
            <a:off x="8416110" y="1084525"/>
            <a:ext cx="531949" cy="536859"/>
          </a:xfrm>
          <a:prstGeom prst="chevron">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2A5CAFE0-7938-44BD-8DD5-74D0D4ED3AD5}"/>
              </a:ext>
            </a:extLst>
          </p:cNvPr>
          <p:cNvSpPr/>
          <p:nvPr/>
        </p:nvSpPr>
        <p:spPr>
          <a:xfrm>
            <a:off x="467360" y="1084525"/>
            <a:ext cx="751840" cy="53685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a:ln>
                  <a:noFill/>
                </a:ln>
                <a:solidFill>
                  <a:prstClr val="white"/>
                </a:solidFill>
                <a:effectLst/>
                <a:uLnTx/>
                <a:uFillTx/>
                <a:latin typeface="Calibri" panose="020F0502020204030204"/>
                <a:ea typeface="+mn-ea"/>
                <a:cs typeface="+mn-cs"/>
              </a:rPr>
              <a:t>1</a:t>
            </a:r>
            <a:endParaRPr kumimoji="0" lang="en-CA" b="1"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Arrow: Pentagon 9">
            <a:extLst>
              <a:ext uri="{FF2B5EF4-FFF2-40B4-BE49-F238E27FC236}">
                <a16:creationId xmlns:a16="http://schemas.microsoft.com/office/drawing/2014/main" id="{E7079E8E-6A95-47F7-B49A-B4948B504ED5}"/>
              </a:ext>
            </a:extLst>
          </p:cNvPr>
          <p:cNvSpPr/>
          <p:nvPr/>
        </p:nvSpPr>
        <p:spPr>
          <a:xfrm>
            <a:off x="1361439" y="2830279"/>
            <a:ext cx="7159105" cy="589281"/>
          </a:xfrm>
          <a:prstGeom prst="homePlat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PE" b="1" i="0" u="none" strike="noStrike" kern="1200" cap="none" spc="0" normalizeH="0" baseline="0" noProof="0" dirty="0">
                <a:ln>
                  <a:noFill/>
                </a:ln>
                <a:solidFill>
                  <a:schemeClr val="bg1"/>
                </a:solidFill>
                <a:effectLst/>
                <a:uLnTx/>
                <a:uFillTx/>
                <a:latin typeface="Calibri" panose="020F0502020204030204"/>
                <a:ea typeface="+mn-ea"/>
                <a:cs typeface="+mn-cs"/>
              </a:rPr>
              <a:t>Criterios de priorización de atención</a:t>
            </a:r>
          </a:p>
        </p:txBody>
      </p:sp>
      <p:sp>
        <p:nvSpPr>
          <p:cNvPr id="11" name="Arrow: Chevron 10">
            <a:extLst>
              <a:ext uri="{FF2B5EF4-FFF2-40B4-BE49-F238E27FC236}">
                <a16:creationId xmlns:a16="http://schemas.microsoft.com/office/drawing/2014/main" id="{F0528123-3948-4865-B47E-7022464BBF94}"/>
              </a:ext>
            </a:extLst>
          </p:cNvPr>
          <p:cNvSpPr/>
          <p:nvPr/>
        </p:nvSpPr>
        <p:spPr>
          <a:xfrm>
            <a:off x="8416110" y="2830278"/>
            <a:ext cx="586379" cy="589281"/>
          </a:xfrm>
          <a:prstGeom prst="chevron">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B8F88E14-23F5-4618-9908-9F0D0224CD92}"/>
              </a:ext>
            </a:extLst>
          </p:cNvPr>
          <p:cNvSpPr/>
          <p:nvPr/>
        </p:nvSpPr>
        <p:spPr>
          <a:xfrm>
            <a:off x="467360" y="2830279"/>
            <a:ext cx="751840" cy="5892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a:ln>
                  <a:noFill/>
                </a:ln>
                <a:solidFill>
                  <a:prstClr val="white"/>
                </a:solidFill>
                <a:effectLst/>
                <a:uLnTx/>
                <a:uFillTx/>
                <a:latin typeface="Calibri" panose="020F0502020204030204"/>
                <a:ea typeface="+mn-ea"/>
                <a:cs typeface="+mn-cs"/>
              </a:rPr>
              <a:t>2</a:t>
            </a:r>
            <a:endParaRPr kumimoji="0" lang="en-CA" b="1"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TextBox 12">
            <a:extLst>
              <a:ext uri="{FF2B5EF4-FFF2-40B4-BE49-F238E27FC236}">
                <a16:creationId xmlns:a16="http://schemas.microsoft.com/office/drawing/2014/main" id="{E82043F6-A30E-4CBB-864C-2A3F8701287B}"/>
              </a:ext>
            </a:extLst>
          </p:cNvPr>
          <p:cNvSpPr txBox="1"/>
          <p:nvPr/>
        </p:nvSpPr>
        <p:spPr>
          <a:xfrm>
            <a:off x="1320622" y="1760672"/>
            <a:ext cx="9926671" cy="830997"/>
          </a:xfrm>
          <a:prstGeom prst="rect">
            <a:avLst/>
          </a:prstGeom>
          <a:noFill/>
        </p:spPr>
        <p:txBody>
          <a:bodyPr wrap="square" rtlCol="0">
            <a:spAutoFit/>
          </a:bodyPr>
          <a:lstStyle/>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s-PE" sz="1600" b="0" i="0" u="none" strike="noStrike" kern="1200" cap="none" spc="0" normalizeH="0" baseline="0" noProof="0" dirty="0">
                <a:ln>
                  <a:noFill/>
                </a:ln>
                <a:solidFill>
                  <a:schemeClr val="tx2"/>
                </a:solidFill>
                <a:effectLst/>
                <a:uLnTx/>
                <a:uFillTx/>
                <a:latin typeface="Calibri" panose="020F0502020204030204"/>
                <a:ea typeface="+mn-ea"/>
                <a:cs typeface="+mn-cs"/>
              </a:rPr>
              <a:t>Se utiliza el indicador de “necesidad de atención” para identificar las IIEE con más bajo desempeño y altos niveles de matrícula en promoción guiada o estado vulnerable. </a:t>
            </a:r>
          </a:p>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lang="es-PE" sz="1600" dirty="0">
                <a:solidFill>
                  <a:schemeClr val="tx2"/>
                </a:solidFill>
                <a:latin typeface="Calibri" panose="020F0502020204030204"/>
              </a:rPr>
              <a:t>No se incluyen escuelas EIB </a:t>
            </a:r>
            <a:r>
              <a:rPr lang="es-PE" sz="1600" b="1" dirty="0">
                <a:solidFill>
                  <a:schemeClr val="tx2"/>
                </a:solidFill>
                <a:latin typeface="Calibri" panose="020F0502020204030204"/>
              </a:rPr>
              <a:t>inicialmente </a:t>
            </a:r>
            <a:r>
              <a:rPr lang="es-PE" sz="1600" dirty="0">
                <a:solidFill>
                  <a:schemeClr val="tx2"/>
                </a:solidFill>
                <a:latin typeface="Calibri" panose="020F0502020204030204"/>
              </a:rPr>
              <a:t>debido a que estas serían atendidas con Acompañamiento EIB.</a:t>
            </a:r>
            <a:endParaRPr kumimoji="0" lang="es-PE" sz="1600" b="0" i="0" u="none" strike="noStrike" kern="1200" cap="none" spc="0" normalizeH="0" baseline="0" noProof="0" dirty="0">
              <a:ln>
                <a:noFill/>
              </a:ln>
              <a:solidFill>
                <a:schemeClr val="tx2"/>
              </a:solidFill>
              <a:effectLst/>
              <a:uLnTx/>
              <a:uFillTx/>
              <a:latin typeface="Calibri" panose="020F0502020204030204"/>
              <a:ea typeface="+mn-ea"/>
              <a:cs typeface="+mn-cs"/>
            </a:endParaRPr>
          </a:p>
        </p:txBody>
      </p:sp>
      <p:sp>
        <p:nvSpPr>
          <p:cNvPr id="14" name="TextBox 13">
            <a:extLst>
              <a:ext uri="{FF2B5EF4-FFF2-40B4-BE49-F238E27FC236}">
                <a16:creationId xmlns:a16="http://schemas.microsoft.com/office/drawing/2014/main" id="{DA11D37E-1AE9-44D8-ACDE-8960615E4216}"/>
              </a:ext>
            </a:extLst>
          </p:cNvPr>
          <p:cNvSpPr txBox="1"/>
          <p:nvPr/>
        </p:nvSpPr>
        <p:spPr>
          <a:xfrm>
            <a:off x="1320623" y="3561956"/>
            <a:ext cx="9926671" cy="830997"/>
          </a:xfrm>
          <a:prstGeom prst="rect">
            <a:avLst/>
          </a:prstGeom>
          <a:noFill/>
        </p:spPr>
        <p:txBody>
          <a:bodyPr wrap="square" rtlCol="0">
            <a:spAutoFit/>
          </a:bodyPr>
          <a:lstStyle/>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s-PE" sz="1600" b="0" i="0" u="none" strike="noStrike" kern="1200" cap="none" spc="0" normalizeH="0" baseline="0" noProof="0" dirty="0">
                <a:ln>
                  <a:noFill/>
                </a:ln>
                <a:solidFill>
                  <a:schemeClr val="tx2"/>
                </a:solidFill>
                <a:effectLst/>
                <a:uLnTx/>
                <a:uFillTx/>
                <a:latin typeface="Calibri" panose="020F0502020204030204"/>
                <a:ea typeface="+mn-ea"/>
                <a:cs typeface="+mn-cs"/>
              </a:rPr>
              <a:t>Se estima el número de estudiantes que necesitaría educación remedial a través del número de alumnos categorizados como </a:t>
            </a:r>
            <a:r>
              <a:rPr kumimoji="0" lang="es-PE" sz="1600" b="1" i="0" u="none" strike="noStrike" kern="1200" cap="none" spc="0" normalizeH="0" baseline="0" noProof="0" dirty="0">
                <a:ln>
                  <a:noFill/>
                </a:ln>
                <a:solidFill>
                  <a:schemeClr val="tx2"/>
                </a:solidFill>
                <a:effectLst/>
                <a:uLnTx/>
                <a:uFillTx/>
                <a:latin typeface="Calibri" panose="020F0502020204030204"/>
                <a:ea typeface="+mn-ea"/>
                <a:cs typeface="+mn-cs"/>
              </a:rPr>
              <a:t>promoción guiada/requiere refuerzo/retirado </a:t>
            </a:r>
            <a:r>
              <a:rPr kumimoji="0" lang="es-PE" sz="1600" b="0" i="0" u="none" strike="noStrike" kern="1200" cap="none" spc="0" normalizeH="0" baseline="0" noProof="0" dirty="0">
                <a:ln>
                  <a:noFill/>
                </a:ln>
                <a:solidFill>
                  <a:schemeClr val="tx2"/>
                </a:solidFill>
                <a:effectLst/>
                <a:uLnTx/>
                <a:uFillTx/>
                <a:latin typeface="Calibri" panose="020F0502020204030204"/>
                <a:ea typeface="+mn-ea"/>
                <a:cs typeface="+mn-cs"/>
              </a:rPr>
              <a:t>en las IIEE seleccionadas en el paso anterior.</a:t>
            </a:r>
          </a:p>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s-PE" sz="1600" b="1" i="0" u="none" strike="noStrike" kern="1200" cap="none" spc="0" normalizeH="0" baseline="0" noProof="0" dirty="0">
                <a:ln>
                  <a:noFill/>
                </a:ln>
                <a:solidFill>
                  <a:schemeClr val="tx2"/>
                </a:solidFill>
                <a:effectLst/>
                <a:uLnTx/>
                <a:uFillTx/>
                <a:latin typeface="Calibri" panose="020F0502020204030204"/>
                <a:ea typeface="+mn-ea"/>
                <a:cs typeface="+mn-cs"/>
              </a:rPr>
              <a:t>Primaria: Se prioriza 1ero – 3ero grado (</a:t>
            </a:r>
            <a:r>
              <a:rPr kumimoji="0" lang="es-PE" sz="1600" b="1" i="0" u="none" strike="noStrike" kern="1200" cap="none" spc="0" normalizeH="0" baseline="0" noProof="0" dirty="0" err="1">
                <a:ln>
                  <a:noFill/>
                </a:ln>
                <a:solidFill>
                  <a:schemeClr val="tx2"/>
                </a:solidFill>
                <a:effectLst/>
                <a:uLnTx/>
                <a:uFillTx/>
                <a:latin typeface="Calibri" panose="020F0502020204030204"/>
                <a:ea typeface="+mn-ea"/>
                <a:cs typeface="+mn-cs"/>
              </a:rPr>
              <a:t>TaRL</a:t>
            </a:r>
            <a:r>
              <a:rPr kumimoji="0" lang="es-PE" sz="1600" b="1" i="0" u="none" strike="noStrike" kern="1200" cap="none" spc="0" normalizeH="0" baseline="0" noProof="0" dirty="0">
                <a:ln>
                  <a:noFill/>
                </a:ln>
                <a:solidFill>
                  <a:schemeClr val="tx2"/>
                </a:solidFill>
                <a:effectLst/>
                <a:uLnTx/>
                <a:uFillTx/>
                <a:latin typeface="Calibri" panose="020F0502020204030204"/>
                <a:ea typeface="+mn-ea"/>
                <a:cs typeface="+mn-cs"/>
              </a:rPr>
              <a:t>)</a:t>
            </a:r>
            <a:endParaRPr lang="es-PE" sz="1600" b="1" dirty="0">
              <a:solidFill>
                <a:schemeClr val="tx2"/>
              </a:solidFill>
              <a:latin typeface="Calibri" panose="020F0502020204030204"/>
            </a:endParaRPr>
          </a:p>
        </p:txBody>
      </p:sp>
      <p:sp>
        <p:nvSpPr>
          <p:cNvPr id="15" name="TextBox 14">
            <a:extLst>
              <a:ext uri="{FF2B5EF4-FFF2-40B4-BE49-F238E27FC236}">
                <a16:creationId xmlns:a16="http://schemas.microsoft.com/office/drawing/2014/main" id="{6B644893-5AE4-410D-9D21-BC3CD2E83170}"/>
              </a:ext>
            </a:extLst>
          </p:cNvPr>
          <p:cNvSpPr txBox="1"/>
          <p:nvPr/>
        </p:nvSpPr>
        <p:spPr>
          <a:xfrm>
            <a:off x="371566" y="604959"/>
            <a:ext cx="10779934" cy="400110"/>
          </a:xfrm>
          <a:prstGeom prst="rect">
            <a:avLst/>
          </a:prstGeom>
          <a:noFill/>
        </p:spPr>
        <p:txBody>
          <a:bodyPr wrap="square" rtlCol="0">
            <a:spAutoFit/>
          </a:bodyPr>
          <a:lstStyle/>
          <a:p>
            <a:r>
              <a:rPr lang="es-PE" sz="2000" b="1" dirty="0">
                <a:solidFill>
                  <a:srgbClr val="C00000"/>
                </a:solidFill>
              </a:rPr>
              <a:t>Etapa 2: </a:t>
            </a:r>
            <a:r>
              <a:rPr lang="es-PE" sz="2000" dirty="0">
                <a:solidFill>
                  <a:schemeClr val="tx2"/>
                </a:solidFill>
              </a:rPr>
              <a:t>Metodología de Focalización: Dos etapas</a:t>
            </a:r>
            <a:endParaRPr lang="en-CA" sz="2000" dirty="0">
              <a:solidFill>
                <a:schemeClr val="tx2"/>
              </a:solidFill>
            </a:endParaRPr>
          </a:p>
        </p:txBody>
      </p:sp>
      <p:sp>
        <p:nvSpPr>
          <p:cNvPr id="16" name="Arrow: Pentagon 15">
            <a:extLst>
              <a:ext uri="{FF2B5EF4-FFF2-40B4-BE49-F238E27FC236}">
                <a16:creationId xmlns:a16="http://schemas.microsoft.com/office/drawing/2014/main" id="{C3BD1557-7204-4FC7-8D3B-AF8631BA967C}"/>
              </a:ext>
            </a:extLst>
          </p:cNvPr>
          <p:cNvSpPr/>
          <p:nvPr/>
        </p:nvSpPr>
        <p:spPr>
          <a:xfrm>
            <a:off x="467360" y="4712494"/>
            <a:ext cx="8053183" cy="589281"/>
          </a:xfrm>
          <a:prstGeom prst="homePlat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PE" sz="2400" b="1" i="0" u="none" strike="noStrike" kern="1200" cap="none" spc="0" normalizeH="0" baseline="0" noProof="0" dirty="0">
                <a:ln>
                  <a:noFill/>
                </a:ln>
                <a:solidFill>
                  <a:schemeClr val="bg1"/>
                </a:solidFill>
                <a:effectLst/>
                <a:uLnTx/>
                <a:uFillTx/>
                <a:latin typeface="Calibri" panose="020F0502020204030204"/>
                <a:ea typeface="+mn-ea"/>
                <a:cs typeface="+mn-cs"/>
              </a:rPr>
              <a:t>Alcance</a:t>
            </a:r>
          </a:p>
        </p:txBody>
      </p:sp>
      <p:sp>
        <p:nvSpPr>
          <p:cNvPr id="17" name="Arrow: Chevron 16">
            <a:extLst>
              <a:ext uri="{FF2B5EF4-FFF2-40B4-BE49-F238E27FC236}">
                <a16:creationId xmlns:a16="http://schemas.microsoft.com/office/drawing/2014/main" id="{D62CA48C-AA61-4A91-A0D9-2B77592C328E}"/>
              </a:ext>
            </a:extLst>
          </p:cNvPr>
          <p:cNvSpPr/>
          <p:nvPr/>
        </p:nvSpPr>
        <p:spPr>
          <a:xfrm>
            <a:off x="8416110" y="4712494"/>
            <a:ext cx="586379" cy="589281"/>
          </a:xfrm>
          <a:prstGeom prst="chevron">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TextBox 18">
            <a:extLst>
              <a:ext uri="{FF2B5EF4-FFF2-40B4-BE49-F238E27FC236}">
                <a16:creationId xmlns:a16="http://schemas.microsoft.com/office/drawing/2014/main" id="{19274A9B-9D36-49E1-8B9F-FD22B94262F4}"/>
              </a:ext>
            </a:extLst>
          </p:cNvPr>
          <p:cNvSpPr txBox="1"/>
          <p:nvPr/>
        </p:nvSpPr>
        <p:spPr>
          <a:xfrm>
            <a:off x="467360" y="5472831"/>
            <a:ext cx="11263086" cy="584775"/>
          </a:xfrm>
          <a:prstGeom prst="rect">
            <a:avLst/>
          </a:prstGeom>
          <a:noFill/>
        </p:spPr>
        <p:txBody>
          <a:bodyPr wrap="square">
            <a:spAutoFit/>
          </a:bodyPr>
          <a:lstStyle/>
          <a:p>
            <a:pPr marL="285750" indent="-285750" algn="just">
              <a:buFont typeface="Wingdings" panose="05000000000000000000" pitchFamily="2" charset="2"/>
              <a:buChar char="Ø"/>
            </a:pPr>
            <a:r>
              <a:rPr lang="es-PE" sz="1600" dirty="0">
                <a:solidFill>
                  <a:srgbClr val="002060"/>
                </a:solidFill>
              </a:rPr>
              <a:t>En el 2022, se pretende llegar con estas estrategias:</a:t>
            </a:r>
          </a:p>
          <a:p>
            <a:pPr algn="just"/>
            <a:r>
              <a:rPr lang="es-PE" sz="1600" b="1" dirty="0">
                <a:solidFill>
                  <a:srgbClr val="002060"/>
                </a:solidFill>
              </a:rPr>
              <a:t>      Primaria: 100% de IIEE no EIB de nivel primaria con un indicador de necesidad mayor al 0.70.</a:t>
            </a:r>
            <a:endParaRPr lang="es-PE" sz="1600" dirty="0">
              <a:solidFill>
                <a:srgbClr val="002060"/>
              </a:solidFill>
            </a:endParaRPr>
          </a:p>
        </p:txBody>
      </p:sp>
    </p:spTree>
    <p:extLst>
      <p:ext uri="{BB962C8B-B14F-4D97-AF65-F5344CB8AC3E}">
        <p14:creationId xmlns:p14="http://schemas.microsoft.com/office/powerpoint/2010/main" val="34610359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Diagonal Corners Rounded 6">
            <a:extLst>
              <a:ext uri="{FF2B5EF4-FFF2-40B4-BE49-F238E27FC236}">
                <a16:creationId xmlns:a16="http://schemas.microsoft.com/office/drawing/2014/main" id="{5DC549E6-0B6C-450B-922D-0F58D2924A72}"/>
              </a:ext>
            </a:extLst>
          </p:cNvPr>
          <p:cNvSpPr/>
          <p:nvPr/>
        </p:nvSpPr>
        <p:spPr>
          <a:xfrm>
            <a:off x="429623" y="1048649"/>
            <a:ext cx="11267440" cy="721517"/>
          </a:xfrm>
          <a:prstGeom prst="round2DiagRect">
            <a:avLst/>
          </a:prstGeom>
          <a:solidFill>
            <a:srgbClr val="C00000"/>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solidFill>
                <a:schemeClr val="bg1"/>
              </a:solidFill>
            </a:endParaRPr>
          </a:p>
        </p:txBody>
      </p:sp>
      <p:sp>
        <p:nvSpPr>
          <p:cNvPr id="2" name="Title 1">
            <a:extLst>
              <a:ext uri="{FF2B5EF4-FFF2-40B4-BE49-F238E27FC236}">
                <a16:creationId xmlns:a16="http://schemas.microsoft.com/office/drawing/2014/main" id="{16C18CE1-72D9-4719-A2FF-5C93A7E96E39}"/>
              </a:ext>
            </a:extLst>
          </p:cNvPr>
          <p:cNvSpPr>
            <a:spLocks noGrp="1"/>
          </p:cNvSpPr>
          <p:nvPr>
            <p:ph type="title"/>
          </p:nvPr>
        </p:nvSpPr>
        <p:spPr/>
        <p:txBody>
          <a:bodyPr/>
          <a:lstStyle/>
          <a:p>
            <a:r>
              <a:rPr lang="es-PE" sz="4000" dirty="0"/>
              <a:t>AGENDA</a:t>
            </a:r>
            <a:endParaRPr lang="en-CA" sz="4000" dirty="0"/>
          </a:p>
        </p:txBody>
      </p:sp>
      <p:sp>
        <p:nvSpPr>
          <p:cNvPr id="3" name="Slide Number Placeholder 2">
            <a:extLst>
              <a:ext uri="{FF2B5EF4-FFF2-40B4-BE49-F238E27FC236}">
                <a16:creationId xmlns:a16="http://schemas.microsoft.com/office/drawing/2014/main" id="{0DFD7E46-D5CE-48DD-96F3-51002A57C15D}"/>
              </a:ext>
            </a:extLst>
          </p:cNvPr>
          <p:cNvSpPr>
            <a:spLocks noGrp="1"/>
          </p:cNvSpPr>
          <p:nvPr>
            <p:ph type="sldNum" sz="quarter" idx="12"/>
          </p:nvPr>
        </p:nvSpPr>
        <p:spPr/>
        <p:txBody>
          <a:bodyPr/>
          <a:lstStyle/>
          <a:p>
            <a:fld id="{DAF31D20-51B2-49A6-91FA-1FC48A60B42D}" type="slidenum">
              <a:rPr lang="es-PE" smtClean="0"/>
              <a:t>26</a:t>
            </a:fld>
            <a:endParaRPr lang="es-PE"/>
          </a:p>
        </p:txBody>
      </p:sp>
      <p:sp>
        <p:nvSpPr>
          <p:cNvPr id="5" name="TextBox 4">
            <a:extLst>
              <a:ext uri="{FF2B5EF4-FFF2-40B4-BE49-F238E27FC236}">
                <a16:creationId xmlns:a16="http://schemas.microsoft.com/office/drawing/2014/main" id="{17CB7C5A-6404-4218-A2FD-BE386960A332}"/>
              </a:ext>
            </a:extLst>
          </p:cNvPr>
          <p:cNvSpPr txBox="1"/>
          <p:nvPr/>
        </p:nvSpPr>
        <p:spPr>
          <a:xfrm>
            <a:off x="494937" y="1249444"/>
            <a:ext cx="10739120" cy="369332"/>
          </a:xfrm>
          <a:prstGeom prst="rect">
            <a:avLst/>
          </a:prstGeom>
          <a:noFill/>
        </p:spPr>
        <p:txBody>
          <a:bodyPr wrap="square" rtlCol="0">
            <a:spAutoFit/>
          </a:bodyPr>
          <a:lstStyle/>
          <a:p>
            <a:r>
              <a:rPr lang="es-PE" b="1" dirty="0">
                <a:solidFill>
                  <a:schemeClr val="bg1"/>
                </a:solidFill>
              </a:rPr>
              <a:t>2.  Propuesta de estrategia de Educación Remedial </a:t>
            </a:r>
            <a:endParaRPr lang="en-CA" b="1" dirty="0">
              <a:solidFill>
                <a:schemeClr val="bg1"/>
              </a:solidFill>
            </a:endParaRPr>
          </a:p>
        </p:txBody>
      </p:sp>
      <p:sp>
        <p:nvSpPr>
          <p:cNvPr id="11" name="Rectangle 10">
            <a:extLst>
              <a:ext uri="{FF2B5EF4-FFF2-40B4-BE49-F238E27FC236}">
                <a16:creationId xmlns:a16="http://schemas.microsoft.com/office/drawing/2014/main" id="{73ED18D7-638E-4BF8-8DFC-833E74760777}"/>
              </a:ext>
            </a:extLst>
          </p:cNvPr>
          <p:cNvSpPr/>
          <p:nvPr/>
        </p:nvSpPr>
        <p:spPr>
          <a:xfrm>
            <a:off x="866770" y="1964956"/>
            <a:ext cx="10753725" cy="381602"/>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00050" indent="-400050">
              <a:buFont typeface="+mj-lt"/>
              <a:buAutoNum type="romanUcPeriod"/>
            </a:pPr>
            <a:r>
              <a:rPr lang="es-PE" b="1" dirty="0">
                <a:solidFill>
                  <a:schemeClr val="tx2"/>
                </a:solidFill>
              </a:rPr>
              <a:t>Información general de estrategias</a:t>
            </a:r>
            <a:endParaRPr lang="en-CA" b="1" dirty="0">
              <a:solidFill>
                <a:schemeClr val="tx2"/>
              </a:solidFill>
            </a:endParaRPr>
          </a:p>
        </p:txBody>
      </p:sp>
      <p:sp>
        <p:nvSpPr>
          <p:cNvPr id="13" name="Rectangle 12">
            <a:extLst>
              <a:ext uri="{FF2B5EF4-FFF2-40B4-BE49-F238E27FC236}">
                <a16:creationId xmlns:a16="http://schemas.microsoft.com/office/drawing/2014/main" id="{BF24706C-635F-48B8-86E0-9354C25A8312}"/>
              </a:ext>
            </a:extLst>
          </p:cNvPr>
          <p:cNvSpPr/>
          <p:nvPr/>
        </p:nvSpPr>
        <p:spPr>
          <a:xfrm>
            <a:off x="866770" y="2559386"/>
            <a:ext cx="10753725" cy="381602"/>
          </a:xfrm>
          <a:prstGeom prst="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00050" indent="-400050">
              <a:buFont typeface="+mj-lt"/>
              <a:buAutoNum type="romanUcPeriod" startAt="2"/>
            </a:pPr>
            <a:r>
              <a:rPr lang="es-PE" b="1" dirty="0">
                <a:solidFill>
                  <a:schemeClr val="bg1"/>
                </a:solidFill>
              </a:rPr>
              <a:t>Modelo 1: Enseñanza al nivel adecuado (</a:t>
            </a:r>
            <a:r>
              <a:rPr lang="es-PE" b="1" dirty="0" err="1">
                <a:solidFill>
                  <a:schemeClr val="bg1"/>
                </a:solidFill>
              </a:rPr>
              <a:t>TaRL</a:t>
            </a:r>
            <a:r>
              <a:rPr lang="es-PE" b="1" dirty="0">
                <a:solidFill>
                  <a:schemeClr val="bg1"/>
                </a:solidFill>
              </a:rPr>
              <a:t>)</a:t>
            </a:r>
            <a:endParaRPr lang="en-CA" b="1" dirty="0">
              <a:solidFill>
                <a:schemeClr val="bg1"/>
              </a:solidFill>
            </a:endParaRPr>
          </a:p>
        </p:txBody>
      </p:sp>
      <p:sp>
        <p:nvSpPr>
          <p:cNvPr id="15" name="Rectangle 14">
            <a:extLst>
              <a:ext uri="{FF2B5EF4-FFF2-40B4-BE49-F238E27FC236}">
                <a16:creationId xmlns:a16="http://schemas.microsoft.com/office/drawing/2014/main" id="{6D048FC1-72B2-4921-BF07-AC34182DA451}"/>
              </a:ext>
            </a:extLst>
          </p:cNvPr>
          <p:cNvSpPr/>
          <p:nvPr/>
        </p:nvSpPr>
        <p:spPr>
          <a:xfrm>
            <a:off x="866770" y="4598728"/>
            <a:ext cx="10753725" cy="381602"/>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00050" indent="-400050">
              <a:buFont typeface="+mj-lt"/>
              <a:buAutoNum type="romanUcPeriod" startAt="3"/>
            </a:pPr>
            <a:r>
              <a:rPr lang="es-PE" b="1" dirty="0">
                <a:solidFill>
                  <a:schemeClr val="tx2"/>
                </a:solidFill>
              </a:rPr>
              <a:t>Modelo 2: Tutoría con componente digital</a:t>
            </a:r>
            <a:endParaRPr lang="en-CA" b="1" dirty="0">
              <a:solidFill>
                <a:schemeClr val="tx2"/>
              </a:solidFill>
            </a:endParaRPr>
          </a:p>
        </p:txBody>
      </p:sp>
      <p:sp>
        <p:nvSpPr>
          <p:cNvPr id="18" name="TextBox 17">
            <a:extLst>
              <a:ext uri="{FF2B5EF4-FFF2-40B4-BE49-F238E27FC236}">
                <a16:creationId xmlns:a16="http://schemas.microsoft.com/office/drawing/2014/main" id="{1472411D-B88F-4453-A39D-EDA418DB8DC9}"/>
              </a:ext>
            </a:extLst>
          </p:cNvPr>
          <p:cNvSpPr txBox="1"/>
          <p:nvPr/>
        </p:nvSpPr>
        <p:spPr>
          <a:xfrm>
            <a:off x="1104894" y="2959666"/>
            <a:ext cx="10277475" cy="1754326"/>
          </a:xfrm>
          <a:prstGeom prst="rect">
            <a:avLst/>
          </a:prstGeom>
          <a:noFill/>
        </p:spPr>
        <p:txBody>
          <a:bodyPr wrap="square" rtlCol="0">
            <a:spAutoFit/>
          </a:bodyPr>
          <a:lstStyle/>
          <a:p>
            <a:pPr marL="285750" indent="-285750">
              <a:buFont typeface="Wingdings" panose="05000000000000000000" pitchFamily="2" charset="2"/>
              <a:buChar char="§"/>
            </a:pPr>
            <a:r>
              <a:rPr lang="es-PE" sz="1200" dirty="0">
                <a:solidFill>
                  <a:schemeClr val="bg1">
                    <a:lumMod val="65000"/>
                  </a:schemeClr>
                </a:solidFill>
              </a:rPr>
              <a:t>Antecedentes</a:t>
            </a:r>
          </a:p>
          <a:p>
            <a:pPr marL="285750" indent="-285750">
              <a:buFont typeface="Wingdings" panose="05000000000000000000" pitchFamily="2" charset="2"/>
              <a:buChar char="§"/>
            </a:pPr>
            <a:r>
              <a:rPr lang="es-PE" sz="1200" dirty="0">
                <a:solidFill>
                  <a:schemeClr val="bg1">
                    <a:lumMod val="65000"/>
                  </a:schemeClr>
                </a:solidFill>
              </a:rPr>
              <a:t>El Modelo</a:t>
            </a:r>
          </a:p>
          <a:p>
            <a:pPr marL="285750" indent="-285750">
              <a:buFont typeface="Wingdings" panose="05000000000000000000" pitchFamily="2" charset="2"/>
              <a:buChar char="§"/>
            </a:pPr>
            <a:r>
              <a:rPr lang="es-PE" sz="1200" dirty="0">
                <a:solidFill>
                  <a:schemeClr val="bg1">
                    <a:lumMod val="65000"/>
                  </a:schemeClr>
                </a:solidFill>
              </a:rPr>
              <a:t>Componentes de la estrategia</a:t>
            </a:r>
          </a:p>
          <a:p>
            <a:pPr marL="285750" indent="-285750">
              <a:buFont typeface="Wingdings" panose="05000000000000000000" pitchFamily="2" charset="2"/>
              <a:buChar char="§"/>
            </a:pPr>
            <a:r>
              <a:rPr lang="es-PE" sz="1200" dirty="0">
                <a:solidFill>
                  <a:schemeClr val="bg1">
                    <a:lumMod val="65000"/>
                  </a:schemeClr>
                </a:solidFill>
              </a:rPr>
              <a:t>Focalización</a:t>
            </a:r>
          </a:p>
          <a:p>
            <a:pPr marL="285750" indent="-285750">
              <a:buFont typeface="Wingdings" panose="05000000000000000000" pitchFamily="2" charset="2"/>
              <a:buChar char="§"/>
            </a:pPr>
            <a:r>
              <a:rPr lang="es-PE" sz="1200" b="1" dirty="0">
                <a:solidFill>
                  <a:schemeClr val="tx2"/>
                </a:solidFill>
              </a:rPr>
              <a:t>Cobertura</a:t>
            </a:r>
          </a:p>
          <a:p>
            <a:pPr marL="285750" indent="-285750">
              <a:buFont typeface="Wingdings" panose="05000000000000000000" pitchFamily="2" charset="2"/>
              <a:buChar char="§"/>
            </a:pPr>
            <a:r>
              <a:rPr lang="es-PE" sz="1200" dirty="0">
                <a:solidFill>
                  <a:schemeClr val="bg1">
                    <a:lumMod val="65000"/>
                  </a:schemeClr>
                </a:solidFill>
              </a:rPr>
              <a:t>Estimación de Costos</a:t>
            </a:r>
          </a:p>
          <a:p>
            <a:pPr marL="285750" indent="-285750">
              <a:buFont typeface="Wingdings" panose="05000000000000000000" pitchFamily="2" charset="2"/>
              <a:buChar char="§"/>
            </a:pPr>
            <a:r>
              <a:rPr lang="es-PE" sz="1200" dirty="0">
                <a:solidFill>
                  <a:schemeClr val="bg1">
                    <a:lumMod val="65000"/>
                  </a:schemeClr>
                </a:solidFill>
              </a:rPr>
              <a:t>Cronograma</a:t>
            </a:r>
          </a:p>
          <a:p>
            <a:pPr marL="285750" indent="-285750">
              <a:buFont typeface="Wingdings" panose="05000000000000000000" pitchFamily="2" charset="2"/>
              <a:buChar char="§"/>
            </a:pPr>
            <a:r>
              <a:rPr lang="es-PE" sz="1200" dirty="0">
                <a:solidFill>
                  <a:schemeClr val="bg1">
                    <a:lumMod val="65000"/>
                  </a:schemeClr>
                </a:solidFill>
              </a:rPr>
              <a:t>Complementariedad con otras estrategias y recomendaciones</a:t>
            </a:r>
          </a:p>
          <a:p>
            <a:pPr marL="285750" indent="-285750">
              <a:buFont typeface="Wingdings" panose="05000000000000000000" pitchFamily="2" charset="2"/>
              <a:buChar char="§"/>
            </a:pPr>
            <a:endParaRPr lang="es-PE" sz="1200" dirty="0">
              <a:solidFill>
                <a:schemeClr val="tx2"/>
              </a:solidFill>
            </a:endParaRPr>
          </a:p>
        </p:txBody>
      </p:sp>
      <p:sp>
        <p:nvSpPr>
          <p:cNvPr id="19" name="TextBox 18">
            <a:extLst>
              <a:ext uri="{FF2B5EF4-FFF2-40B4-BE49-F238E27FC236}">
                <a16:creationId xmlns:a16="http://schemas.microsoft.com/office/drawing/2014/main" id="{5947BA55-15C3-4040-9B5B-8EAC7B3B3343}"/>
              </a:ext>
            </a:extLst>
          </p:cNvPr>
          <p:cNvSpPr txBox="1"/>
          <p:nvPr/>
        </p:nvSpPr>
        <p:spPr>
          <a:xfrm>
            <a:off x="1104893" y="4980330"/>
            <a:ext cx="10277475" cy="1754326"/>
          </a:xfrm>
          <a:prstGeom prst="rect">
            <a:avLst/>
          </a:prstGeom>
          <a:noFill/>
        </p:spPr>
        <p:txBody>
          <a:bodyPr wrap="square" rtlCol="0">
            <a:spAutoFit/>
          </a:bodyPr>
          <a:lstStyle/>
          <a:p>
            <a:pPr marL="285750" indent="-285750">
              <a:buFont typeface="Wingdings" panose="05000000000000000000" pitchFamily="2" charset="2"/>
              <a:buChar char="§"/>
            </a:pPr>
            <a:r>
              <a:rPr lang="es-PE" sz="1200" dirty="0">
                <a:solidFill>
                  <a:schemeClr val="bg1">
                    <a:lumMod val="65000"/>
                  </a:schemeClr>
                </a:solidFill>
              </a:rPr>
              <a:t>Antecedentes</a:t>
            </a:r>
          </a:p>
          <a:p>
            <a:pPr marL="285750" indent="-285750">
              <a:buFont typeface="Wingdings" panose="05000000000000000000" pitchFamily="2" charset="2"/>
              <a:buChar char="§"/>
            </a:pPr>
            <a:r>
              <a:rPr lang="es-PE" sz="1200" dirty="0">
                <a:solidFill>
                  <a:schemeClr val="bg1">
                    <a:lumMod val="65000"/>
                  </a:schemeClr>
                </a:solidFill>
              </a:rPr>
              <a:t>Oportunidades</a:t>
            </a:r>
          </a:p>
          <a:p>
            <a:pPr marL="285750" indent="-285750">
              <a:buFont typeface="Wingdings" panose="05000000000000000000" pitchFamily="2" charset="2"/>
              <a:buChar char="§"/>
            </a:pPr>
            <a:r>
              <a:rPr lang="es-PE" sz="1200" dirty="0">
                <a:solidFill>
                  <a:schemeClr val="bg1">
                    <a:lumMod val="65000"/>
                  </a:schemeClr>
                </a:solidFill>
              </a:rPr>
              <a:t>El Modelo</a:t>
            </a:r>
          </a:p>
          <a:p>
            <a:pPr marL="285750" indent="-285750">
              <a:buFont typeface="Wingdings" panose="05000000000000000000" pitchFamily="2" charset="2"/>
              <a:buChar char="§"/>
            </a:pPr>
            <a:r>
              <a:rPr lang="es-PE" sz="1200" dirty="0">
                <a:solidFill>
                  <a:schemeClr val="bg1">
                    <a:lumMod val="65000"/>
                  </a:schemeClr>
                </a:solidFill>
              </a:rPr>
              <a:t>Componentes de la estrategia</a:t>
            </a:r>
          </a:p>
          <a:p>
            <a:pPr marL="285750" indent="-285750">
              <a:buFont typeface="Wingdings" panose="05000000000000000000" pitchFamily="2" charset="2"/>
              <a:buChar char="§"/>
            </a:pPr>
            <a:r>
              <a:rPr lang="es-PE" sz="1200" dirty="0">
                <a:solidFill>
                  <a:schemeClr val="bg1">
                    <a:lumMod val="65000"/>
                  </a:schemeClr>
                </a:solidFill>
              </a:rPr>
              <a:t>Focalización</a:t>
            </a:r>
          </a:p>
          <a:p>
            <a:pPr marL="285750" indent="-285750">
              <a:buFont typeface="Wingdings" panose="05000000000000000000" pitchFamily="2" charset="2"/>
              <a:buChar char="§"/>
            </a:pPr>
            <a:r>
              <a:rPr lang="es-PE" sz="1200" dirty="0">
                <a:solidFill>
                  <a:schemeClr val="bg1">
                    <a:lumMod val="65000"/>
                  </a:schemeClr>
                </a:solidFill>
              </a:rPr>
              <a:t>Cobertura</a:t>
            </a:r>
          </a:p>
          <a:p>
            <a:pPr marL="285750" indent="-285750">
              <a:buFont typeface="Wingdings" panose="05000000000000000000" pitchFamily="2" charset="2"/>
              <a:buChar char="§"/>
            </a:pPr>
            <a:r>
              <a:rPr lang="es-PE" sz="1200" dirty="0">
                <a:solidFill>
                  <a:schemeClr val="bg1">
                    <a:lumMod val="65000"/>
                  </a:schemeClr>
                </a:solidFill>
              </a:rPr>
              <a:t>Estimación de Costos</a:t>
            </a:r>
          </a:p>
          <a:p>
            <a:pPr marL="285750" indent="-285750">
              <a:buFont typeface="Wingdings" panose="05000000000000000000" pitchFamily="2" charset="2"/>
              <a:buChar char="§"/>
            </a:pPr>
            <a:r>
              <a:rPr lang="es-PE" sz="1200" dirty="0">
                <a:solidFill>
                  <a:schemeClr val="bg1">
                    <a:lumMod val="65000"/>
                  </a:schemeClr>
                </a:solidFill>
              </a:rPr>
              <a:t>Cronograma</a:t>
            </a:r>
          </a:p>
          <a:p>
            <a:pPr marL="285750" indent="-285750">
              <a:buFont typeface="Wingdings" panose="05000000000000000000" pitchFamily="2" charset="2"/>
              <a:buChar char="§"/>
            </a:pPr>
            <a:r>
              <a:rPr lang="es-PE" sz="1200" dirty="0">
                <a:solidFill>
                  <a:schemeClr val="bg1">
                    <a:lumMod val="65000"/>
                  </a:schemeClr>
                </a:solidFill>
              </a:rPr>
              <a:t>Complementariedad con otras estrategias y recomendaciones</a:t>
            </a:r>
          </a:p>
        </p:txBody>
      </p:sp>
    </p:spTree>
    <p:extLst>
      <p:ext uri="{BB962C8B-B14F-4D97-AF65-F5344CB8AC3E}">
        <p14:creationId xmlns:p14="http://schemas.microsoft.com/office/powerpoint/2010/main" val="1815398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FFEC852-390E-4A3D-91FE-3B7AA9E173AF}"/>
              </a:ext>
            </a:extLst>
          </p:cNvPr>
          <p:cNvSpPr/>
          <p:nvPr/>
        </p:nvSpPr>
        <p:spPr>
          <a:xfrm>
            <a:off x="355600" y="1198122"/>
            <a:ext cx="11412847" cy="979021"/>
          </a:xfrm>
          <a:prstGeom prst="rect">
            <a:avLst/>
          </a:prstGeom>
          <a:solidFill>
            <a:schemeClr val="bg2"/>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 name="Title 1">
            <a:extLst>
              <a:ext uri="{FF2B5EF4-FFF2-40B4-BE49-F238E27FC236}">
                <a16:creationId xmlns:a16="http://schemas.microsoft.com/office/drawing/2014/main" id="{68F9EFD6-FB14-458A-BE54-EDAA3B452B4E}"/>
              </a:ext>
            </a:extLst>
          </p:cNvPr>
          <p:cNvSpPr>
            <a:spLocks noGrp="1"/>
          </p:cNvSpPr>
          <p:nvPr>
            <p:ph type="title"/>
          </p:nvPr>
        </p:nvSpPr>
        <p:spPr/>
        <p:txBody>
          <a:bodyPr/>
          <a:lstStyle/>
          <a:p>
            <a:r>
              <a:rPr lang="es-PE" dirty="0"/>
              <a:t>Meta de cobertura </a:t>
            </a:r>
            <a:r>
              <a:rPr lang="es-PE" dirty="0" err="1"/>
              <a:t>TaRL</a:t>
            </a:r>
            <a:r>
              <a:rPr lang="es-PE" dirty="0"/>
              <a:t> 2022 - 2024</a:t>
            </a:r>
            <a:endParaRPr lang="en-CA" dirty="0"/>
          </a:p>
        </p:txBody>
      </p:sp>
      <p:sp>
        <p:nvSpPr>
          <p:cNvPr id="22" name="TextBox 21">
            <a:extLst>
              <a:ext uri="{FF2B5EF4-FFF2-40B4-BE49-F238E27FC236}">
                <a16:creationId xmlns:a16="http://schemas.microsoft.com/office/drawing/2014/main" id="{BC0E6A3A-5A0A-4E06-99FB-B007BE1862D2}"/>
              </a:ext>
            </a:extLst>
          </p:cNvPr>
          <p:cNvSpPr txBox="1"/>
          <p:nvPr/>
        </p:nvSpPr>
        <p:spPr>
          <a:xfrm>
            <a:off x="551807" y="1356016"/>
            <a:ext cx="10782795" cy="646331"/>
          </a:xfrm>
          <a:prstGeom prst="rect">
            <a:avLst/>
          </a:prstGeom>
          <a:noFill/>
        </p:spPr>
        <p:txBody>
          <a:bodyPr wrap="square" rtlCol="0">
            <a:spAutoFit/>
          </a:bodyPr>
          <a:lstStyle/>
          <a:p>
            <a:pPr algn="just"/>
            <a:r>
              <a:rPr lang="es-PE" b="1" dirty="0">
                <a:solidFill>
                  <a:schemeClr val="tx2"/>
                </a:solidFill>
                <a:latin typeface="+mj-lt"/>
              </a:rPr>
              <a:t>Meta: Instalación de prácticas docentes en </a:t>
            </a:r>
            <a:r>
              <a:rPr lang="es-PE" b="1" u="sng" dirty="0">
                <a:solidFill>
                  <a:schemeClr val="tx2"/>
                </a:solidFill>
                <a:latin typeface="+mj-lt"/>
              </a:rPr>
              <a:t>dos años</a:t>
            </a:r>
            <a:r>
              <a:rPr lang="es-PE" b="1" dirty="0">
                <a:solidFill>
                  <a:schemeClr val="tx2"/>
                </a:solidFill>
                <a:latin typeface="+mj-lt"/>
              </a:rPr>
              <a:t> para poder fortalecer competencias habilitadoras para el aprendizaje futuro en niños de 1ero a 3ero de primaria.</a:t>
            </a:r>
            <a:endParaRPr lang="en-CA" b="1" dirty="0">
              <a:solidFill>
                <a:schemeClr val="tx2"/>
              </a:solidFill>
              <a:latin typeface="+mj-lt"/>
            </a:endParaRPr>
          </a:p>
        </p:txBody>
      </p:sp>
      <p:sp>
        <p:nvSpPr>
          <p:cNvPr id="3" name="TextBox 2">
            <a:extLst>
              <a:ext uri="{FF2B5EF4-FFF2-40B4-BE49-F238E27FC236}">
                <a16:creationId xmlns:a16="http://schemas.microsoft.com/office/drawing/2014/main" id="{CEA634F1-E3C8-4033-96D7-3CD231E8F0B6}"/>
              </a:ext>
            </a:extLst>
          </p:cNvPr>
          <p:cNvSpPr txBox="1"/>
          <p:nvPr/>
        </p:nvSpPr>
        <p:spPr>
          <a:xfrm>
            <a:off x="386341" y="2850400"/>
            <a:ext cx="579224" cy="307777"/>
          </a:xfrm>
          <a:prstGeom prst="rect">
            <a:avLst/>
          </a:prstGeom>
          <a:noFill/>
        </p:spPr>
        <p:txBody>
          <a:bodyPr wrap="square" rtlCol="0">
            <a:spAutoFit/>
          </a:bodyPr>
          <a:lstStyle/>
          <a:p>
            <a:r>
              <a:rPr lang="es-PE" sz="1400" b="1" dirty="0"/>
              <a:t>2022</a:t>
            </a:r>
          </a:p>
        </p:txBody>
      </p:sp>
      <p:sp>
        <p:nvSpPr>
          <p:cNvPr id="11" name="TextBox 10">
            <a:extLst>
              <a:ext uri="{FF2B5EF4-FFF2-40B4-BE49-F238E27FC236}">
                <a16:creationId xmlns:a16="http://schemas.microsoft.com/office/drawing/2014/main" id="{E2A07715-3E76-4E44-A320-FCD18D3D7E1E}"/>
              </a:ext>
            </a:extLst>
          </p:cNvPr>
          <p:cNvSpPr txBox="1"/>
          <p:nvPr/>
        </p:nvSpPr>
        <p:spPr>
          <a:xfrm>
            <a:off x="386341" y="3903543"/>
            <a:ext cx="579224" cy="307777"/>
          </a:xfrm>
          <a:prstGeom prst="rect">
            <a:avLst/>
          </a:prstGeom>
          <a:noFill/>
        </p:spPr>
        <p:txBody>
          <a:bodyPr wrap="square" rtlCol="0">
            <a:spAutoFit/>
          </a:bodyPr>
          <a:lstStyle/>
          <a:p>
            <a:r>
              <a:rPr lang="es-PE" sz="1400" b="1" dirty="0"/>
              <a:t>2023</a:t>
            </a:r>
          </a:p>
        </p:txBody>
      </p:sp>
      <p:sp>
        <p:nvSpPr>
          <p:cNvPr id="12" name="TextBox 11">
            <a:extLst>
              <a:ext uri="{FF2B5EF4-FFF2-40B4-BE49-F238E27FC236}">
                <a16:creationId xmlns:a16="http://schemas.microsoft.com/office/drawing/2014/main" id="{D37DD152-6EDE-4FE6-88DC-14BC7E45B664}"/>
              </a:ext>
            </a:extLst>
          </p:cNvPr>
          <p:cNvSpPr txBox="1"/>
          <p:nvPr/>
        </p:nvSpPr>
        <p:spPr>
          <a:xfrm>
            <a:off x="373617" y="4953945"/>
            <a:ext cx="579224" cy="307777"/>
          </a:xfrm>
          <a:prstGeom prst="rect">
            <a:avLst/>
          </a:prstGeom>
          <a:noFill/>
        </p:spPr>
        <p:txBody>
          <a:bodyPr wrap="square" rtlCol="0">
            <a:spAutoFit/>
          </a:bodyPr>
          <a:lstStyle/>
          <a:p>
            <a:r>
              <a:rPr lang="es-PE" sz="1400" b="1" dirty="0"/>
              <a:t>2024</a:t>
            </a:r>
          </a:p>
        </p:txBody>
      </p:sp>
      <p:sp>
        <p:nvSpPr>
          <p:cNvPr id="8" name="Rectangle 7">
            <a:extLst>
              <a:ext uri="{FF2B5EF4-FFF2-40B4-BE49-F238E27FC236}">
                <a16:creationId xmlns:a16="http://schemas.microsoft.com/office/drawing/2014/main" id="{3E94AEAE-4087-4332-A81E-383850EF648E}"/>
              </a:ext>
            </a:extLst>
          </p:cNvPr>
          <p:cNvSpPr/>
          <p:nvPr/>
        </p:nvSpPr>
        <p:spPr>
          <a:xfrm>
            <a:off x="1123390" y="2795449"/>
            <a:ext cx="1703509" cy="4496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400"/>
          </a:p>
        </p:txBody>
      </p:sp>
      <p:sp>
        <p:nvSpPr>
          <p:cNvPr id="14" name="Rectangle 13">
            <a:extLst>
              <a:ext uri="{FF2B5EF4-FFF2-40B4-BE49-F238E27FC236}">
                <a16:creationId xmlns:a16="http://schemas.microsoft.com/office/drawing/2014/main" id="{6F64FB95-E620-41BE-93F2-5EA1707ADF53}"/>
              </a:ext>
            </a:extLst>
          </p:cNvPr>
          <p:cNvSpPr/>
          <p:nvPr/>
        </p:nvSpPr>
        <p:spPr>
          <a:xfrm>
            <a:off x="1123391" y="3840367"/>
            <a:ext cx="2364286" cy="4496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400"/>
          </a:p>
        </p:txBody>
      </p:sp>
      <p:sp>
        <p:nvSpPr>
          <p:cNvPr id="15" name="Rectangle 14">
            <a:extLst>
              <a:ext uri="{FF2B5EF4-FFF2-40B4-BE49-F238E27FC236}">
                <a16:creationId xmlns:a16="http://schemas.microsoft.com/office/drawing/2014/main" id="{C1E77214-1044-4BE8-B986-38E78336A125}"/>
              </a:ext>
            </a:extLst>
          </p:cNvPr>
          <p:cNvSpPr/>
          <p:nvPr/>
        </p:nvSpPr>
        <p:spPr>
          <a:xfrm>
            <a:off x="2826899" y="4885599"/>
            <a:ext cx="2640443" cy="44393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400">
              <a:solidFill>
                <a:schemeClr val="bg1"/>
              </a:solidFill>
            </a:endParaRPr>
          </a:p>
        </p:txBody>
      </p:sp>
      <p:sp>
        <p:nvSpPr>
          <p:cNvPr id="17" name="TextBox 16">
            <a:extLst>
              <a:ext uri="{FF2B5EF4-FFF2-40B4-BE49-F238E27FC236}">
                <a16:creationId xmlns:a16="http://schemas.microsoft.com/office/drawing/2014/main" id="{D7ED1537-C6FD-4016-9423-FD7FDFCA3AA6}"/>
              </a:ext>
            </a:extLst>
          </p:cNvPr>
          <p:cNvSpPr txBox="1"/>
          <p:nvPr/>
        </p:nvSpPr>
        <p:spPr>
          <a:xfrm>
            <a:off x="2868919" y="2854865"/>
            <a:ext cx="1090241" cy="307777"/>
          </a:xfrm>
          <a:prstGeom prst="rect">
            <a:avLst/>
          </a:prstGeom>
          <a:noFill/>
        </p:spPr>
        <p:txBody>
          <a:bodyPr wrap="square">
            <a:spAutoFit/>
          </a:bodyPr>
          <a:lstStyle/>
          <a:p>
            <a:pPr algn="ctr" fontAlgn="ctr"/>
            <a:r>
              <a:rPr lang="es-PE" sz="1400" b="1" dirty="0">
                <a:solidFill>
                  <a:srgbClr val="000000"/>
                </a:solidFill>
              </a:rPr>
              <a:t>4</a:t>
            </a:r>
            <a:r>
              <a:rPr lang="es-PE" sz="1400" b="1" u="none" strike="noStrike" dirty="0">
                <a:solidFill>
                  <a:srgbClr val="000000"/>
                </a:solidFill>
                <a:effectLst/>
              </a:rPr>
              <a:t>,792 IIEE</a:t>
            </a:r>
            <a:endParaRPr lang="es-PE" sz="1400" b="1" i="0" u="none" strike="noStrike" dirty="0">
              <a:solidFill>
                <a:srgbClr val="000000"/>
              </a:solidFill>
              <a:effectLst/>
              <a:latin typeface="Arial" panose="020B0604020202020204" pitchFamily="34" charset="0"/>
            </a:endParaRPr>
          </a:p>
        </p:txBody>
      </p:sp>
      <p:sp>
        <p:nvSpPr>
          <p:cNvPr id="18" name="TextBox 17">
            <a:extLst>
              <a:ext uri="{FF2B5EF4-FFF2-40B4-BE49-F238E27FC236}">
                <a16:creationId xmlns:a16="http://schemas.microsoft.com/office/drawing/2014/main" id="{74ECC1E1-8E02-4930-A0F6-A6DC454223C1}"/>
              </a:ext>
            </a:extLst>
          </p:cNvPr>
          <p:cNvSpPr txBox="1"/>
          <p:nvPr/>
        </p:nvSpPr>
        <p:spPr>
          <a:xfrm>
            <a:off x="3532290" y="3911319"/>
            <a:ext cx="1672046" cy="307777"/>
          </a:xfrm>
          <a:prstGeom prst="rect">
            <a:avLst/>
          </a:prstGeom>
          <a:noFill/>
        </p:spPr>
        <p:txBody>
          <a:bodyPr wrap="square">
            <a:spAutoFit/>
          </a:bodyPr>
          <a:lstStyle/>
          <a:p>
            <a:pPr algn="ctr" fontAlgn="ctr"/>
            <a:r>
              <a:rPr lang="es-PE" sz="1400" b="1" dirty="0">
                <a:solidFill>
                  <a:srgbClr val="000000"/>
                </a:solidFill>
              </a:rPr>
              <a:t>5</a:t>
            </a:r>
            <a:r>
              <a:rPr lang="es-PE" sz="1400" b="1" u="none" strike="noStrike" dirty="0">
                <a:solidFill>
                  <a:srgbClr val="000000"/>
                </a:solidFill>
                <a:effectLst/>
              </a:rPr>
              <a:t>,732 IIEE </a:t>
            </a:r>
            <a:r>
              <a:rPr lang="es-PE" sz="1400" b="1" u="none" strike="noStrike" dirty="0">
                <a:solidFill>
                  <a:srgbClr val="00B050"/>
                </a:solidFill>
                <a:effectLst/>
              </a:rPr>
              <a:t>(+20%)</a:t>
            </a:r>
            <a:endParaRPr lang="es-PE" sz="1400" b="1" i="0" u="none" strike="noStrike" dirty="0">
              <a:solidFill>
                <a:srgbClr val="00B050"/>
              </a:solidFill>
              <a:effectLst/>
              <a:latin typeface="Arial" panose="020B0604020202020204" pitchFamily="34" charset="0"/>
            </a:endParaRPr>
          </a:p>
        </p:txBody>
      </p:sp>
      <p:sp>
        <p:nvSpPr>
          <p:cNvPr id="20" name="TextBox 19">
            <a:extLst>
              <a:ext uri="{FF2B5EF4-FFF2-40B4-BE49-F238E27FC236}">
                <a16:creationId xmlns:a16="http://schemas.microsoft.com/office/drawing/2014/main" id="{37D2F13C-0AD7-4333-8739-29D74AD97E12}"/>
              </a:ext>
            </a:extLst>
          </p:cNvPr>
          <p:cNvSpPr txBox="1"/>
          <p:nvPr/>
        </p:nvSpPr>
        <p:spPr>
          <a:xfrm>
            <a:off x="5543467" y="4869999"/>
            <a:ext cx="1181193" cy="307777"/>
          </a:xfrm>
          <a:prstGeom prst="rect">
            <a:avLst/>
          </a:prstGeom>
          <a:noFill/>
        </p:spPr>
        <p:txBody>
          <a:bodyPr wrap="square">
            <a:spAutoFit/>
          </a:bodyPr>
          <a:lstStyle/>
          <a:p>
            <a:r>
              <a:rPr lang="en-US" sz="1400" b="1" dirty="0"/>
              <a:t>~8,916</a:t>
            </a:r>
            <a:r>
              <a:rPr lang="es-PE" sz="1400" b="1" u="none" strike="noStrike" dirty="0">
                <a:solidFill>
                  <a:srgbClr val="000000"/>
                </a:solidFill>
                <a:effectLst/>
              </a:rPr>
              <a:t> IIEE </a:t>
            </a:r>
            <a:endParaRPr lang="en-CA" sz="1400" dirty="0"/>
          </a:p>
        </p:txBody>
      </p:sp>
      <p:sp>
        <p:nvSpPr>
          <p:cNvPr id="21" name="Rectangle 20">
            <a:extLst>
              <a:ext uri="{FF2B5EF4-FFF2-40B4-BE49-F238E27FC236}">
                <a16:creationId xmlns:a16="http://schemas.microsoft.com/office/drawing/2014/main" id="{D7725AF5-598B-4820-82E2-6968FAF12307}"/>
              </a:ext>
            </a:extLst>
          </p:cNvPr>
          <p:cNvSpPr/>
          <p:nvPr/>
        </p:nvSpPr>
        <p:spPr>
          <a:xfrm>
            <a:off x="389576" y="5886880"/>
            <a:ext cx="11412847" cy="653143"/>
          </a:xfrm>
          <a:prstGeom prst="rect">
            <a:avLst/>
          </a:prstGeom>
          <a:solidFill>
            <a:schemeClr val="bg2"/>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b="1" dirty="0">
                <a:solidFill>
                  <a:schemeClr val="tx2"/>
                </a:solidFill>
              </a:rPr>
              <a:t>Si la cobertura de educación remedial aumenta en 20% de IIEE en el 2023, en el 2024, con una rotación de IIEE, se podría llegar a cubrir el 30% de </a:t>
            </a:r>
            <a:r>
              <a:rPr lang="en-US" b="1" dirty="0">
                <a:solidFill>
                  <a:schemeClr val="tx2"/>
                </a:solidFill>
              </a:rPr>
              <a:t>IIEE.</a:t>
            </a:r>
            <a:endParaRPr lang="en-CA" b="1" dirty="0">
              <a:solidFill>
                <a:schemeClr val="tx2"/>
              </a:solidFill>
            </a:endParaRPr>
          </a:p>
        </p:txBody>
      </p:sp>
      <p:sp>
        <p:nvSpPr>
          <p:cNvPr id="24" name="Rectangle 23">
            <a:extLst>
              <a:ext uri="{FF2B5EF4-FFF2-40B4-BE49-F238E27FC236}">
                <a16:creationId xmlns:a16="http://schemas.microsoft.com/office/drawing/2014/main" id="{B2A65F26-6CC3-465F-BF6C-0B6BD0B99398}"/>
              </a:ext>
            </a:extLst>
          </p:cNvPr>
          <p:cNvSpPr/>
          <p:nvPr/>
        </p:nvSpPr>
        <p:spPr>
          <a:xfrm>
            <a:off x="1123390" y="4882993"/>
            <a:ext cx="1703509" cy="449682"/>
          </a:xfrm>
          <a:prstGeom prst="rect">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400" dirty="0"/>
          </a:p>
        </p:txBody>
      </p:sp>
      <p:sp>
        <p:nvSpPr>
          <p:cNvPr id="25" name="TextBox 24">
            <a:extLst>
              <a:ext uri="{FF2B5EF4-FFF2-40B4-BE49-F238E27FC236}">
                <a16:creationId xmlns:a16="http://schemas.microsoft.com/office/drawing/2014/main" id="{B23D4B2E-55FB-4D7B-B1F5-03EBDDAAA0E5}"/>
              </a:ext>
            </a:extLst>
          </p:cNvPr>
          <p:cNvSpPr txBox="1"/>
          <p:nvPr/>
        </p:nvSpPr>
        <p:spPr>
          <a:xfrm>
            <a:off x="1597151" y="4953945"/>
            <a:ext cx="976215" cy="307777"/>
          </a:xfrm>
          <a:prstGeom prst="rect">
            <a:avLst/>
          </a:prstGeom>
          <a:noFill/>
        </p:spPr>
        <p:txBody>
          <a:bodyPr wrap="square">
            <a:spAutoFit/>
          </a:bodyPr>
          <a:lstStyle/>
          <a:p>
            <a:pPr algn="ctr" fontAlgn="ctr"/>
            <a:r>
              <a:rPr lang="es-PE" sz="1400" b="1" dirty="0">
                <a:solidFill>
                  <a:schemeClr val="bg1"/>
                </a:solidFill>
              </a:rPr>
              <a:t>4</a:t>
            </a:r>
            <a:r>
              <a:rPr lang="es-PE" sz="1400" b="1" u="none" strike="noStrike" dirty="0">
                <a:solidFill>
                  <a:schemeClr val="bg1"/>
                </a:solidFill>
                <a:effectLst/>
              </a:rPr>
              <a:t>,792</a:t>
            </a:r>
            <a:endParaRPr lang="es-PE" sz="1400" b="1" i="0" u="none" strike="noStrike" dirty="0">
              <a:solidFill>
                <a:schemeClr val="bg1"/>
              </a:solidFill>
              <a:effectLst/>
              <a:latin typeface="Arial" panose="020B0604020202020204" pitchFamily="34" charset="0"/>
            </a:endParaRPr>
          </a:p>
        </p:txBody>
      </p:sp>
      <p:sp>
        <p:nvSpPr>
          <p:cNvPr id="27" name="TextBox 26">
            <a:extLst>
              <a:ext uri="{FF2B5EF4-FFF2-40B4-BE49-F238E27FC236}">
                <a16:creationId xmlns:a16="http://schemas.microsoft.com/office/drawing/2014/main" id="{3A236A78-E2F5-4BB3-B496-85661F24142C}"/>
              </a:ext>
            </a:extLst>
          </p:cNvPr>
          <p:cNvSpPr txBox="1"/>
          <p:nvPr/>
        </p:nvSpPr>
        <p:spPr>
          <a:xfrm>
            <a:off x="3440167" y="4949531"/>
            <a:ext cx="1090241" cy="307777"/>
          </a:xfrm>
          <a:prstGeom prst="rect">
            <a:avLst/>
          </a:prstGeom>
          <a:noFill/>
        </p:spPr>
        <p:txBody>
          <a:bodyPr wrap="square">
            <a:spAutoFit/>
          </a:bodyPr>
          <a:lstStyle/>
          <a:p>
            <a:pPr algn="ctr" fontAlgn="ctr"/>
            <a:r>
              <a:rPr lang="es-PE" sz="1400" b="1" u="none" strike="noStrike" dirty="0">
                <a:solidFill>
                  <a:schemeClr val="bg1"/>
                </a:solidFill>
                <a:effectLst/>
              </a:rPr>
              <a:t>~</a:t>
            </a:r>
            <a:r>
              <a:rPr lang="es-PE" sz="1400" b="1" dirty="0">
                <a:solidFill>
                  <a:schemeClr val="bg1"/>
                </a:solidFill>
              </a:rPr>
              <a:t>4</a:t>
            </a:r>
            <a:r>
              <a:rPr lang="es-PE" sz="1400" b="1" u="none" strike="noStrike" dirty="0">
                <a:solidFill>
                  <a:schemeClr val="bg1"/>
                </a:solidFill>
                <a:effectLst/>
              </a:rPr>
              <a:t>,124</a:t>
            </a:r>
            <a:endParaRPr lang="es-PE" sz="1400" b="1" i="0" u="none" strike="noStrike" dirty="0">
              <a:solidFill>
                <a:schemeClr val="bg1"/>
              </a:solidFill>
              <a:effectLst/>
              <a:latin typeface="Arial" panose="020B0604020202020204" pitchFamily="34" charset="0"/>
            </a:endParaRPr>
          </a:p>
        </p:txBody>
      </p:sp>
      <p:cxnSp>
        <p:nvCxnSpPr>
          <p:cNvPr id="16" name="Straight Connector 15">
            <a:extLst>
              <a:ext uri="{FF2B5EF4-FFF2-40B4-BE49-F238E27FC236}">
                <a16:creationId xmlns:a16="http://schemas.microsoft.com/office/drawing/2014/main" id="{D5B3EBF7-576C-4219-874B-50F81B26D12A}"/>
              </a:ext>
            </a:extLst>
          </p:cNvPr>
          <p:cNvCxnSpPr/>
          <p:nvPr/>
        </p:nvCxnSpPr>
        <p:spPr>
          <a:xfrm>
            <a:off x="6714309" y="2577737"/>
            <a:ext cx="0" cy="2838994"/>
          </a:xfrm>
          <a:prstGeom prst="line">
            <a:avLst/>
          </a:prstGeom>
          <a:ln w="38100"/>
        </p:spPr>
        <p:style>
          <a:lnRef idx="2">
            <a:schemeClr val="dk1"/>
          </a:lnRef>
          <a:fillRef idx="0">
            <a:schemeClr val="dk1"/>
          </a:fillRef>
          <a:effectRef idx="1">
            <a:schemeClr val="dk1"/>
          </a:effectRef>
          <a:fontRef idx="minor">
            <a:schemeClr val="tx1"/>
          </a:fontRef>
        </p:style>
      </p:cxnSp>
      <p:pic>
        <p:nvPicPr>
          <p:cNvPr id="33" name="Picture 32">
            <a:extLst>
              <a:ext uri="{FF2B5EF4-FFF2-40B4-BE49-F238E27FC236}">
                <a16:creationId xmlns:a16="http://schemas.microsoft.com/office/drawing/2014/main" id="{58812711-CB68-4083-BAF5-E84951943DC4}"/>
              </a:ext>
            </a:extLst>
          </p:cNvPr>
          <p:cNvPicPr>
            <a:picLocks noChangeAspect="1"/>
          </p:cNvPicPr>
          <p:nvPr/>
        </p:nvPicPr>
        <p:blipFill>
          <a:blip r:embed="rId2"/>
          <a:stretch>
            <a:fillRect/>
          </a:stretch>
        </p:blipFill>
        <p:spPr>
          <a:xfrm>
            <a:off x="6907169" y="2556552"/>
            <a:ext cx="4427433" cy="3225583"/>
          </a:xfrm>
          <a:prstGeom prst="rect">
            <a:avLst/>
          </a:prstGeom>
        </p:spPr>
      </p:pic>
      <p:sp>
        <p:nvSpPr>
          <p:cNvPr id="31" name="TextBox 30">
            <a:extLst>
              <a:ext uri="{FF2B5EF4-FFF2-40B4-BE49-F238E27FC236}">
                <a16:creationId xmlns:a16="http://schemas.microsoft.com/office/drawing/2014/main" id="{887792C8-4CB3-4BC4-9394-D96E626FBE31}"/>
              </a:ext>
            </a:extLst>
          </p:cNvPr>
          <p:cNvSpPr txBox="1"/>
          <p:nvPr/>
        </p:nvSpPr>
        <p:spPr>
          <a:xfrm>
            <a:off x="9187543" y="2457649"/>
            <a:ext cx="574766" cy="276999"/>
          </a:xfrm>
          <a:prstGeom prst="rect">
            <a:avLst/>
          </a:prstGeom>
          <a:noFill/>
        </p:spPr>
        <p:txBody>
          <a:bodyPr wrap="square" rtlCol="0">
            <a:spAutoFit/>
          </a:bodyPr>
          <a:lstStyle/>
          <a:p>
            <a:r>
              <a:rPr lang="en-US" sz="1200" b="1" dirty="0">
                <a:solidFill>
                  <a:schemeClr val="tx2"/>
                </a:solidFill>
              </a:rPr>
              <a:t>0.45</a:t>
            </a:r>
            <a:endParaRPr lang="en-CA" sz="1200" b="1" dirty="0">
              <a:solidFill>
                <a:schemeClr val="tx2"/>
              </a:solidFill>
            </a:endParaRPr>
          </a:p>
        </p:txBody>
      </p:sp>
      <p:sp>
        <p:nvSpPr>
          <p:cNvPr id="4" name="TextBox 3">
            <a:extLst>
              <a:ext uri="{FF2B5EF4-FFF2-40B4-BE49-F238E27FC236}">
                <a16:creationId xmlns:a16="http://schemas.microsoft.com/office/drawing/2014/main" id="{A12FD33C-CDF5-43A8-9FFC-C66E386C97F5}"/>
              </a:ext>
            </a:extLst>
          </p:cNvPr>
          <p:cNvSpPr txBox="1"/>
          <p:nvPr/>
        </p:nvSpPr>
        <p:spPr>
          <a:xfrm>
            <a:off x="3997742" y="2804846"/>
            <a:ext cx="1223211" cy="400110"/>
          </a:xfrm>
          <a:prstGeom prst="rect">
            <a:avLst/>
          </a:prstGeom>
          <a:noFill/>
        </p:spPr>
        <p:txBody>
          <a:bodyPr wrap="square" rtlCol="0">
            <a:spAutoFit/>
          </a:bodyPr>
          <a:lstStyle/>
          <a:p>
            <a:pPr algn="ctr"/>
            <a:r>
              <a:rPr lang="es-PE" sz="1000" dirty="0"/>
              <a:t>100% de IIEE </a:t>
            </a:r>
          </a:p>
          <a:p>
            <a:pPr algn="ctr"/>
            <a:r>
              <a:rPr lang="es-PE" sz="1000" dirty="0"/>
              <a:t>con IN</a:t>
            </a:r>
            <a:r>
              <a:rPr lang="en-US" sz="1000" dirty="0"/>
              <a:t>&gt;0.60</a:t>
            </a:r>
            <a:endParaRPr lang="en-CA" sz="1000" dirty="0"/>
          </a:p>
        </p:txBody>
      </p:sp>
      <p:sp>
        <p:nvSpPr>
          <p:cNvPr id="23" name="TextBox 22">
            <a:extLst>
              <a:ext uri="{FF2B5EF4-FFF2-40B4-BE49-F238E27FC236}">
                <a16:creationId xmlns:a16="http://schemas.microsoft.com/office/drawing/2014/main" id="{86DF9C59-6D28-49CB-8E76-D66731724472}"/>
              </a:ext>
            </a:extLst>
          </p:cNvPr>
          <p:cNvSpPr txBox="1"/>
          <p:nvPr/>
        </p:nvSpPr>
        <p:spPr>
          <a:xfrm>
            <a:off x="5522457" y="5136099"/>
            <a:ext cx="1223211" cy="400110"/>
          </a:xfrm>
          <a:prstGeom prst="rect">
            <a:avLst/>
          </a:prstGeom>
          <a:noFill/>
        </p:spPr>
        <p:txBody>
          <a:bodyPr wrap="square" rtlCol="0">
            <a:spAutoFit/>
          </a:bodyPr>
          <a:lstStyle/>
          <a:p>
            <a:pPr algn="ctr"/>
            <a:r>
              <a:rPr lang="es-PE" sz="1000" b="1" dirty="0"/>
              <a:t>100% de IIEE </a:t>
            </a:r>
          </a:p>
          <a:p>
            <a:pPr algn="ctr"/>
            <a:r>
              <a:rPr lang="es-PE" sz="1000" b="1" dirty="0"/>
              <a:t>con IN</a:t>
            </a:r>
            <a:r>
              <a:rPr lang="en-US" sz="1000" b="1" dirty="0"/>
              <a:t>&gt;0.45</a:t>
            </a:r>
            <a:endParaRPr lang="en-CA" sz="1000" b="1" dirty="0"/>
          </a:p>
        </p:txBody>
      </p:sp>
      <p:sp>
        <p:nvSpPr>
          <p:cNvPr id="26" name="TextBox 25">
            <a:extLst>
              <a:ext uri="{FF2B5EF4-FFF2-40B4-BE49-F238E27FC236}">
                <a16:creationId xmlns:a16="http://schemas.microsoft.com/office/drawing/2014/main" id="{BBFDAEBA-4216-4FF2-9D96-83DEF5E0C760}"/>
              </a:ext>
            </a:extLst>
          </p:cNvPr>
          <p:cNvSpPr txBox="1"/>
          <p:nvPr/>
        </p:nvSpPr>
        <p:spPr>
          <a:xfrm>
            <a:off x="5298239" y="3863796"/>
            <a:ext cx="1223211" cy="400110"/>
          </a:xfrm>
          <a:prstGeom prst="rect">
            <a:avLst/>
          </a:prstGeom>
          <a:noFill/>
        </p:spPr>
        <p:txBody>
          <a:bodyPr wrap="square" rtlCol="0">
            <a:spAutoFit/>
          </a:bodyPr>
          <a:lstStyle/>
          <a:p>
            <a:pPr algn="ctr"/>
            <a:r>
              <a:rPr lang="es-PE" sz="1000" dirty="0"/>
              <a:t>100% de IIEE </a:t>
            </a:r>
          </a:p>
          <a:p>
            <a:pPr algn="ctr"/>
            <a:r>
              <a:rPr lang="es-PE" sz="1000" dirty="0"/>
              <a:t>con IN</a:t>
            </a:r>
            <a:r>
              <a:rPr lang="en-US" sz="1000" dirty="0"/>
              <a:t>&gt;0.55</a:t>
            </a:r>
            <a:endParaRPr lang="en-CA" sz="1000" dirty="0"/>
          </a:p>
        </p:txBody>
      </p:sp>
    </p:spTree>
    <p:extLst>
      <p:ext uri="{BB962C8B-B14F-4D97-AF65-F5344CB8AC3E}">
        <p14:creationId xmlns:p14="http://schemas.microsoft.com/office/powerpoint/2010/main" val="190189157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Diagonal Corners Rounded 6">
            <a:extLst>
              <a:ext uri="{FF2B5EF4-FFF2-40B4-BE49-F238E27FC236}">
                <a16:creationId xmlns:a16="http://schemas.microsoft.com/office/drawing/2014/main" id="{5DC549E6-0B6C-450B-922D-0F58D2924A72}"/>
              </a:ext>
            </a:extLst>
          </p:cNvPr>
          <p:cNvSpPr/>
          <p:nvPr/>
        </p:nvSpPr>
        <p:spPr>
          <a:xfrm>
            <a:off x="429623" y="1048649"/>
            <a:ext cx="11267440" cy="721517"/>
          </a:xfrm>
          <a:prstGeom prst="round2DiagRect">
            <a:avLst/>
          </a:prstGeom>
          <a:solidFill>
            <a:srgbClr val="C00000"/>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solidFill>
                <a:schemeClr val="bg1"/>
              </a:solidFill>
            </a:endParaRPr>
          </a:p>
        </p:txBody>
      </p:sp>
      <p:sp>
        <p:nvSpPr>
          <p:cNvPr id="2" name="Title 1">
            <a:extLst>
              <a:ext uri="{FF2B5EF4-FFF2-40B4-BE49-F238E27FC236}">
                <a16:creationId xmlns:a16="http://schemas.microsoft.com/office/drawing/2014/main" id="{16C18CE1-72D9-4719-A2FF-5C93A7E96E39}"/>
              </a:ext>
            </a:extLst>
          </p:cNvPr>
          <p:cNvSpPr>
            <a:spLocks noGrp="1"/>
          </p:cNvSpPr>
          <p:nvPr>
            <p:ph type="title"/>
          </p:nvPr>
        </p:nvSpPr>
        <p:spPr/>
        <p:txBody>
          <a:bodyPr/>
          <a:lstStyle/>
          <a:p>
            <a:r>
              <a:rPr lang="es-PE" sz="4000" dirty="0"/>
              <a:t>AGENDA</a:t>
            </a:r>
            <a:endParaRPr lang="en-CA" sz="4000" dirty="0"/>
          </a:p>
        </p:txBody>
      </p:sp>
      <p:sp>
        <p:nvSpPr>
          <p:cNvPr id="3" name="Slide Number Placeholder 2">
            <a:extLst>
              <a:ext uri="{FF2B5EF4-FFF2-40B4-BE49-F238E27FC236}">
                <a16:creationId xmlns:a16="http://schemas.microsoft.com/office/drawing/2014/main" id="{0DFD7E46-D5CE-48DD-96F3-51002A57C15D}"/>
              </a:ext>
            </a:extLst>
          </p:cNvPr>
          <p:cNvSpPr>
            <a:spLocks noGrp="1"/>
          </p:cNvSpPr>
          <p:nvPr>
            <p:ph type="sldNum" sz="quarter" idx="12"/>
          </p:nvPr>
        </p:nvSpPr>
        <p:spPr/>
        <p:txBody>
          <a:bodyPr/>
          <a:lstStyle/>
          <a:p>
            <a:fld id="{DAF31D20-51B2-49A6-91FA-1FC48A60B42D}" type="slidenum">
              <a:rPr lang="es-PE" smtClean="0"/>
              <a:t>28</a:t>
            </a:fld>
            <a:endParaRPr lang="es-PE"/>
          </a:p>
        </p:txBody>
      </p:sp>
      <p:sp>
        <p:nvSpPr>
          <p:cNvPr id="5" name="TextBox 4">
            <a:extLst>
              <a:ext uri="{FF2B5EF4-FFF2-40B4-BE49-F238E27FC236}">
                <a16:creationId xmlns:a16="http://schemas.microsoft.com/office/drawing/2014/main" id="{17CB7C5A-6404-4218-A2FD-BE386960A332}"/>
              </a:ext>
            </a:extLst>
          </p:cNvPr>
          <p:cNvSpPr txBox="1"/>
          <p:nvPr/>
        </p:nvSpPr>
        <p:spPr>
          <a:xfrm>
            <a:off x="494937" y="1249444"/>
            <a:ext cx="10739120" cy="369332"/>
          </a:xfrm>
          <a:prstGeom prst="rect">
            <a:avLst/>
          </a:prstGeom>
          <a:noFill/>
        </p:spPr>
        <p:txBody>
          <a:bodyPr wrap="square" rtlCol="0">
            <a:spAutoFit/>
          </a:bodyPr>
          <a:lstStyle/>
          <a:p>
            <a:r>
              <a:rPr lang="es-PE" b="1" dirty="0">
                <a:solidFill>
                  <a:schemeClr val="bg1"/>
                </a:solidFill>
              </a:rPr>
              <a:t>2.  Propuesta de estrategia de Educación Remedial </a:t>
            </a:r>
            <a:endParaRPr lang="en-CA" b="1" dirty="0">
              <a:solidFill>
                <a:schemeClr val="bg1"/>
              </a:solidFill>
            </a:endParaRPr>
          </a:p>
        </p:txBody>
      </p:sp>
      <p:sp>
        <p:nvSpPr>
          <p:cNvPr id="11" name="Rectangle 10">
            <a:extLst>
              <a:ext uri="{FF2B5EF4-FFF2-40B4-BE49-F238E27FC236}">
                <a16:creationId xmlns:a16="http://schemas.microsoft.com/office/drawing/2014/main" id="{73ED18D7-638E-4BF8-8DFC-833E74760777}"/>
              </a:ext>
            </a:extLst>
          </p:cNvPr>
          <p:cNvSpPr/>
          <p:nvPr/>
        </p:nvSpPr>
        <p:spPr>
          <a:xfrm>
            <a:off x="866770" y="1964956"/>
            <a:ext cx="10753725" cy="381602"/>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00050" indent="-400050">
              <a:buFont typeface="+mj-lt"/>
              <a:buAutoNum type="romanUcPeriod"/>
            </a:pPr>
            <a:r>
              <a:rPr lang="es-PE" b="1" dirty="0">
                <a:solidFill>
                  <a:schemeClr val="tx2"/>
                </a:solidFill>
              </a:rPr>
              <a:t>Información general de estrategias</a:t>
            </a:r>
            <a:endParaRPr lang="en-CA" b="1" dirty="0">
              <a:solidFill>
                <a:schemeClr val="tx2"/>
              </a:solidFill>
            </a:endParaRPr>
          </a:p>
        </p:txBody>
      </p:sp>
      <p:sp>
        <p:nvSpPr>
          <p:cNvPr id="13" name="Rectangle 12">
            <a:extLst>
              <a:ext uri="{FF2B5EF4-FFF2-40B4-BE49-F238E27FC236}">
                <a16:creationId xmlns:a16="http://schemas.microsoft.com/office/drawing/2014/main" id="{BF24706C-635F-48B8-86E0-9354C25A8312}"/>
              </a:ext>
            </a:extLst>
          </p:cNvPr>
          <p:cNvSpPr/>
          <p:nvPr/>
        </p:nvSpPr>
        <p:spPr>
          <a:xfrm>
            <a:off x="866770" y="2559386"/>
            <a:ext cx="10753725" cy="381602"/>
          </a:xfrm>
          <a:prstGeom prst="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00050" indent="-400050">
              <a:buFont typeface="+mj-lt"/>
              <a:buAutoNum type="romanUcPeriod" startAt="2"/>
            </a:pPr>
            <a:r>
              <a:rPr lang="es-PE" b="1" dirty="0">
                <a:solidFill>
                  <a:schemeClr val="bg1"/>
                </a:solidFill>
              </a:rPr>
              <a:t>Modelo 1: Enseñanza al nivel adecuado (</a:t>
            </a:r>
            <a:r>
              <a:rPr lang="es-PE" b="1" dirty="0" err="1">
                <a:solidFill>
                  <a:schemeClr val="bg1"/>
                </a:solidFill>
              </a:rPr>
              <a:t>TaRL</a:t>
            </a:r>
            <a:r>
              <a:rPr lang="es-PE" b="1" dirty="0">
                <a:solidFill>
                  <a:schemeClr val="bg1"/>
                </a:solidFill>
              </a:rPr>
              <a:t>)</a:t>
            </a:r>
            <a:endParaRPr lang="en-CA" b="1" dirty="0">
              <a:solidFill>
                <a:schemeClr val="bg1"/>
              </a:solidFill>
            </a:endParaRPr>
          </a:p>
        </p:txBody>
      </p:sp>
      <p:sp>
        <p:nvSpPr>
          <p:cNvPr id="15" name="Rectangle 14">
            <a:extLst>
              <a:ext uri="{FF2B5EF4-FFF2-40B4-BE49-F238E27FC236}">
                <a16:creationId xmlns:a16="http://schemas.microsoft.com/office/drawing/2014/main" id="{6D048FC1-72B2-4921-BF07-AC34182DA451}"/>
              </a:ext>
            </a:extLst>
          </p:cNvPr>
          <p:cNvSpPr/>
          <p:nvPr/>
        </p:nvSpPr>
        <p:spPr>
          <a:xfrm>
            <a:off x="866770" y="4598728"/>
            <a:ext cx="10753725" cy="381602"/>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00050" indent="-400050">
              <a:buFont typeface="+mj-lt"/>
              <a:buAutoNum type="romanUcPeriod" startAt="3"/>
            </a:pPr>
            <a:r>
              <a:rPr lang="es-PE" b="1" dirty="0">
                <a:solidFill>
                  <a:schemeClr val="tx2"/>
                </a:solidFill>
              </a:rPr>
              <a:t>Modelo 2: Tutoría con componente digital</a:t>
            </a:r>
            <a:endParaRPr lang="en-CA" b="1" dirty="0">
              <a:solidFill>
                <a:schemeClr val="tx2"/>
              </a:solidFill>
            </a:endParaRPr>
          </a:p>
        </p:txBody>
      </p:sp>
      <p:sp>
        <p:nvSpPr>
          <p:cNvPr id="18" name="TextBox 17">
            <a:extLst>
              <a:ext uri="{FF2B5EF4-FFF2-40B4-BE49-F238E27FC236}">
                <a16:creationId xmlns:a16="http://schemas.microsoft.com/office/drawing/2014/main" id="{1472411D-B88F-4453-A39D-EDA418DB8DC9}"/>
              </a:ext>
            </a:extLst>
          </p:cNvPr>
          <p:cNvSpPr txBox="1"/>
          <p:nvPr/>
        </p:nvSpPr>
        <p:spPr>
          <a:xfrm>
            <a:off x="1104894" y="2959666"/>
            <a:ext cx="10277475" cy="1754326"/>
          </a:xfrm>
          <a:prstGeom prst="rect">
            <a:avLst/>
          </a:prstGeom>
          <a:noFill/>
        </p:spPr>
        <p:txBody>
          <a:bodyPr wrap="square" rtlCol="0">
            <a:spAutoFit/>
          </a:bodyPr>
          <a:lstStyle/>
          <a:p>
            <a:pPr marL="285750" indent="-285750">
              <a:buFont typeface="Wingdings" panose="05000000000000000000" pitchFamily="2" charset="2"/>
              <a:buChar char="§"/>
            </a:pPr>
            <a:r>
              <a:rPr lang="es-PE" sz="1200" dirty="0">
                <a:solidFill>
                  <a:schemeClr val="bg1">
                    <a:lumMod val="65000"/>
                  </a:schemeClr>
                </a:solidFill>
              </a:rPr>
              <a:t>Antecedentes</a:t>
            </a:r>
          </a:p>
          <a:p>
            <a:pPr marL="285750" indent="-285750">
              <a:buFont typeface="Wingdings" panose="05000000000000000000" pitchFamily="2" charset="2"/>
              <a:buChar char="§"/>
            </a:pPr>
            <a:r>
              <a:rPr lang="es-PE" sz="1200" dirty="0">
                <a:solidFill>
                  <a:schemeClr val="bg1">
                    <a:lumMod val="65000"/>
                  </a:schemeClr>
                </a:solidFill>
              </a:rPr>
              <a:t>El Modelo</a:t>
            </a:r>
          </a:p>
          <a:p>
            <a:pPr marL="285750" indent="-285750">
              <a:buFont typeface="Wingdings" panose="05000000000000000000" pitchFamily="2" charset="2"/>
              <a:buChar char="§"/>
            </a:pPr>
            <a:r>
              <a:rPr lang="es-PE" sz="1200" dirty="0">
                <a:solidFill>
                  <a:schemeClr val="bg1">
                    <a:lumMod val="65000"/>
                  </a:schemeClr>
                </a:solidFill>
              </a:rPr>
              <a:t>Componentes de la estrategia</a:t>
            </a:r>
          </a:p>
          <a:p>
            <a:pPr marL="285750" indent="-285750">
              <a:buFont typeface="Wingdings" panose="05000000000000000000" pitchFamily="2" charset="2"/>
              <a:buChar char="§"/>
            </a:pPr>
            <a:r>
              <a:rPr lang="es-PE" sz="1200" dirty="0">
                <a:solidFill>
                  <a:schemeClr val="bg1">
                    <a:lumMod val="65000"/>
                  </a:schemeClr>
                </a:solidFill>
              </a:rPr>
              <a:t>Focalización</a:t>
            </a:r>
          </a:p>
          <a:p>
            <a:pPr marL="285750" indent="-285750">
              <a:buFont typeface="Wingdings" panose="05000000000000000000" pitchFamily="2" charset="2"/>
              <a:buChar char="§"/>
            </a:pPr>
            <a:r>
              <a:rPr lang="es-PE" sz="1200" dirty="0">
                <a:solidFill>
                  <a:schemeClr val="bg1">
                    <a:lumMod val="65000"/>
                  </a:schemeClr>
                </a:solidFill>
              </a:rPr>
              <a:t>Cobertura</a:t>
            </a:r>
          </a:p>
          <a:p>
            <a:pPr marL="285750" indent="-285750">
              <a:buFont typeface="Wingdings" panose="05000000000000000000" pitchFamily="2" charset="2"/>
              <a:buChar char="§"/>
            </a:pPr>
            <a:r>
              <a:rPr lang="es-PE" sz="1200" b="1" dirty="0">
                <a:solidFill>
                  <a:schemeClr val="tx2"/>
                </a:solidFill>
              </a:rPr>
              <a:t>Estimación de Costos</a:t>
            </a:r>
          </a:p>
          <a:p>
            <a:pPr marL="285750" indent="-285750">
              <a:buFont typeface="Wingdings" panose="05000000000000000000" pitchFamily="2" charset="2"/>
              <a:buChar char="§"/>
            </a:pPr>
            <a:r>
              <a:rPr lang="es-PE" sz="1200" dirty="0">
                <a:solidFill>
                  <a:schemeClr val="bg1">
                    <a:lumMod val="65000"/>
                  </a:schemeClr>
                </a:solidFill>
              </a:rPr>
              <a:t>Cronograma</a:t>
            </a:r>
          </a:p>
          <a:p>
            <a:pPr marL="285750" indent="-285750">
              <a:buFont typeface="Wingdings" panose="05000000000000000000" pitchFamily="2" charset="2"/>
              <a:buChar char="§"/>
            </a:pPr>
            <a:r>
              <a:rPr lang="es-PE" sz="1200" dirty="0">
                <a:solidFill>
                  <a:schemeClr val="bg1">
                    <a:lumMod val="65000"/>
                  </a:schemeClr>
                </a:solidFill>
              </a:rPr>
              <a:t>Complementariedad con otras estrategias y recomendaciones</a:t>
            </a:r>
          </a:p>
          <a:p>
            <a:pPr marL="285750" indent="-285750">
              <a:buFont typeface="Wingdings" panose="05000000000000000000" pitchFamily="2" charset="2"/>
              <a:buChar char="§"/>
            </a:pPr>
            <a:endParaRPr lang="es-PE" sz="1200" dirty="0">
              <a:solidFill>
                <a:schemeClr val="tx2"/>
              </a:solidFill>
            </a:endParaRPr>
          </a:p>
        </p:txBody>
      </p:sp>
      <p:sp>
        <p:nvSpPr>
          <p:cNvPr id="19" name="TextBox 18">
            <a:extLst>
              <a:ext uri="{FF2B5EF4-FFF2-40B4-BE49-F238E27FC236}">
                <a16:creationId xmlns:a16="http://schemas.microsoft.com/office/drawing/2014/main" id="{5947BA55-15C3-4040-9B5B-8EAC7B3B3343}"/>
              </a:ext>
            </a:extLst>
          </p:cNvPr>
          <p:cNvSpPr txBox="1"/>
          <p:nvPr/>
        </p:nvSpPr>
        <p:spPr>
          <a:xfrm>
            <a:off x="1104893" y="5024521"/>
            <a:ext cx="10277475" cy="1754326"/>
          </a:xfrm>
          <a:prstGeom prst="rect">
            <a:avLst/>
          </a:prstGeom>
          <a:noFill/>
        </p:spPr>
        <p:txBody>
          <a:bodyPr wrap="square" rtlCol="0">
            <a:spAutoFit/>
          </a:bodyPr>
          <a:lstStyle/>
          <a:p>
            <a:pPr marL="285750" indent="-285750">
              <a:buFont typeface="Wingdings" panose="05000000000000000000" pitchFamily="2" charset="2"/>
              <a:buChar char="§"/>
            </a:pPr>
            <a:r>
              <a:rPr lang="es-PE" sz="1200" dirty="0">
                <a:solidFill>
                  <a:schemeClr val="bg1">
                    <a:lumMod val="65000"/>
                  </a:schemeClr>
                </a:solidFill>
              </a:rPr>
              <a:t>Antecedentes</a:t>
            </a:r>
          </a:p>
          <a:p>
            <a:pPr marL="285750" indent="-285750">
              <a:buFont typeface="Wingdings" panose="05000000000000000000" pitchFamily="2" charset="2"/>
              <a:buChar char="§"/>
            </a:pPr>
            <a:r>
              <a:rPr lang="es-PE" sz="1200" dirty="0">
                <a:solidFill>
                  <a:schemeClr val="bg1">
                    <a:lumMod val="65000"/>
                  </a:schemeClr>
                </a:solidFill>
              </a:rPr>
              <a:t>Oportunidades</a:t>
            </a:r>
          </a:p>
          <a:p>
            <a:pPr marL="285750" indent="-285750">
              <a:buFont typeface="Wingdings" panose="05000000000000000000" pitchFamily="2" charset="2"/>
              <a:buChar char="§"/>
            </a:pPr>
            <a:r>
              <a:rPr lang="es-PE" sz="1200" dirty="0">
                <a:solidFill>
                  <a:schemeClr val="bg1">
                    <a:lumMod val="65000"/>
                  </a:schemeClr>
                </a:solidFill>
              </a:rPr>
              <a:t>El Modelo</a:t>
            </a:r>
          </a:p>
          <a:p>
            <a:pPr marL="285750" indent="-285750">
              <a:buFont typeface="Wingdings" panose="05000000000000000000" pitchFamily="2" charset="2"/>
              <a:buChar char="§"/>
            </a:pPr>
            <a:r>
              <a:rPr lang="es-PE" sz="1200" dirty="0">
                <a:solidFill>
                  <a:schemeClr val="bg1">
                    <a:lumMod val="65000"/>
                  </a:schemeClr>
                </a:solidFill>
              </a:rPr>
              <a:t>Componentes de la estrategia</a:t>
            </a:r>
          </a:p>
          <a:p>
            <a:pPr marL="285750" indent="-285750">
              <a:buFont typeface="Wingdings" panose="05000000000000000000" pitchFamily="2" charset="2"/>
              <a:buChar char="§"/>
            </a:pPr>
            <a:r>
              <a:rPr lang="es-PE" sz="1200" dirty="0">
                <a:solidFill>
                  <a:schemeClr val="bg1">
                    <a:lumMod val="65000"/>
                  </a:schemeClr>
                </a:solidFill>
              </a:rPr>
              <a:t>Focalización</a:t>
            </a:r>
          </a:p>
          <a:p>
            <a:pPr marL="285750" indent="-285750">
              <a:buFont typeface="Wingdings" panose="05000000000000000000" pitchFamily="2" charset="2"/>
              <a:buChar char="§"/>
            </a:pPr>
            <a:r>
              <a:rPr lang="es-PE" sz="1200" dirty="0">
                <a:solidFill>
                  <a:schemeClr val="bg1">
                    <a:lumMod val="65000"/>
                  </a:schemeClr>
                </a:solidFill>
              </a:rPr>
              <a:t>Cobertura</a:t>
            </a:r>
          </a:p>
          <a:p>
            <a:pPr marL="285750" indent="-285750">
              <a:buFont typeface="Wingdings" panose="05000000000000000000" pitchFamily="2" charset="2"/>
              <a:buChar char="§"/>
            </a:pPr>
            <a:r>
              <a:rPr lang="es-PE" sz="1200" dirty="0">
                <a:solidFill>
                  <a:schemeClr val="bg1">
                    <a:lumMod val="65000"/>
                  </a:schemeClr>
                </a:solidFill>
              </a:rPr>
              <a:t>Estimación de Costos</a:t>
            </a:r>
          </a:p>
          <a:p>
            <a:pPr marL="285750" indent="-285750">
              <a:buFont typeface="Wingdings" panose="05000000000000000000" pitchFamily="2" charset="2"/>
              <a:buChar char="§"/>
            </a:pPr>
            <a:r>
              <a:rPr lang="es-PE" sz="1200" dirty="0">
                <a:solidFill>
                  <a:schemeClr val="bg1">
                    <a:lumMod val="65000"/>
                  </a:schemeClr>
                </a:solidFill>
              </a:rPr>
              <a:t>Cronograma</a:t>
            </a:r>
          </a:p>
          <a:p>
            <a:pPr marL="285750" indent="-285750">
              <a:buFont typeface="Wingdings" panose="05000000000000000000" pitchFamily="2" charset="2"/>
              <a:buChar char="§"/>
            </a:pPr>
            <a:r>
              <a:rPr lang="es-PE" sz="1200" dirty="0">
                <a:solidFill>
                  <a:schemeClr val="bg1">
                    <a:lumMod val="65000"/>
                  </a:schemeClr>
                </a:solidFill>
              </a:rPr>
              <a:t>Complementariedad con otras estrategias y recomendaciones</a:t>
            </a:r>
          </a:p>
        </p:txBody>
      </p:sp>
    </p:spTree>
    <p:extLst>
      <p:ext uri="{BB962C8B-B14F-4D97-AF65-F5344CB8AC3E}">
        <p14:creationId xmlns:p14="http://schemas.microsoft.com/office/powerpoint/2010/main" val="32008160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DADB20-4773-4F0F-905F-8ECF4DF9722E}"/>
              </a:ext>
            </a:extLst>
          </p:cNvPr>
          <p:cNvSpPr>
            <a:spLocks noGrp="1"/>
          </p:cNvSpPr>
          <p:nvPr>
            <p:ph type="title"/>
          </p:nvPr>
        </p:nvSpPr>
        <p:spPr>
          <a:xfrm>
            <a:off x="162561" y="180022"/>
            <a:ext cx="8483600" cy="1001078"/>
          </a:xfrm>
        </p:spPr>
        <p:txBody>
          <a:bodyPr/>
          <a:lstStyle/>
          <a:p>
            <a:r>
              <a:rPr lang="es-PE" dirty="0"/>
              <a:t>Estimación de costos 2022</a:t>
            </a:r>
            <a:endParaRPr lang="en-CA" dirty="0"/>
          </a:p>
        </p:txBody>
      </p:sp>
      <p:sp>
        <p:nvSpPr>
          <p:cNvPr id="3" name="Slide Number Placeholder 2">
            <a:extLst>
              <a:ext uri="{FF2B5EF4-FFF2-40B4-BE49-F238E27FC236}">
                <a16:creationId xmlns:a16="http://schemas.microsoft.com/office/drawing/2014/main" id="{A108E1FB-E0E6-4C7E-B80E-1ABBE8595331}"/>
              </a:ext>
            </a:extLst>
          </p:cNvPr>
          <p:cNvSpPr>
            <a:spLocks noGrp="1"/>
          </p:cNvSpPr>
          <p:nvPr>
            <p:ph type="sldNum" sz="quarter" idx="12"/>
          </p:nvPr>
        </p:nvSpPr>
        <p:spPr/>
        <p:txBody>
          <a:bodyPr/>
          <a:lstStyle/>
          <a:p>
            <a:fld id="{DAF31D20-51B2-49A6-91FA-1FC48A60B42D}" type="slidenum">
              <a:rPr lang="es-PE" smtClean="0"/>
              <a:t>29</a:t>
            </a:fld>
            <a:endParaRPr lang="es-PE"/>
          </a:p>
        </p:txBody>
      </p:sp>
      <p:graphicFrame>
        <p:nvGraphicFramePr>
          <p:cNvPr id="4" name="Table 3">
            <a:extLst>
              <a:ext uri="{FF2B5EF4-FFF2-40B4-BE49-F238E27FC236}">
                <a16:creationId xmlns:a16="http://schemas.microsoft.com/office/drawing/2014/main" id="{693C5D93-364A-45AD-9B9F-60FC2A2E1416}"/>
              </a:ext>
            </a:extLst>
          </p:cNvPr>
          <p:cNvGraphicFramePr>
            <a:graphicFrameLocks noGrp="1"/>
          </p:cNvGraphicFramePr>
          <p:nvPr>
            <p:extLst>
              <p:ext uri="{D42A27DB-BD31-4B8C-83A1-F6EECF244321}">
                <p14:modId xmlns:p14="http://schemas.microsoft.com/office/powerpoint/2010/main" val="3532392054"/>
              </p:ext>
            </p:extLst>
          </p:nvPr>
        </p:nvGraphicFramePr>
        <p:xfrm>
          <a:off x="434656" y="2715260"/>
          <a:ext cx="3649664" cy="1671320"/>
        </p:xfrm>
        <a:graphic>
          <a:graphicData uri="http://schemas.openxmlformats.org/drawingml/2006/table">
            <a:tbl>
              <a:tblPr firstRow="1">
                <a:tableStyleId>{6E25E649-3F16-4E02-A733-19D2CDBF48F0}</a:tableStyleId>
              </a:tblPr>
              <a:tblGrid>
                <a:gridCol w="1678313">
                  <a:extLst>
                    <a:ext uri="{9D8B030D-6E8A-4147-A177-3AD203B41FA5}">
                      <a16:colId xmlns:a16="http://schemas.microsoft.com/office/drawing/2014/main" val="3740764410"/>
                    </a:ext>
                  </a:extLst>
                </a:gridCol>
                <a:gridCol w="1971351">
                  <a:extLst>
                    <a:ext uri="{9D8B030D-6E8A-4147-A177-3AD203B41FA5}">
                      <a16:colId xmlns:a16="http://schemas.microsoft.com/office/drawing/2014/main" val="1881252650"/>
                    </a:ext>
                  </a:extLst>
                </a:gridCol>
              </a:tblGrid>
              <a:tr h="334264">
                <a:tc>
                  <a:txBody>
                    <a:bodyPr/>
                    <a:lstStyle/>
                    <a:p>
                      <a:pPr algn="l" fontAlgn="b"/>
                      <a:r>
                        <a:rPr lang="en-CA" sz="1800" b="0" u="none" strike="noStrike">
                          <a:solidFill>
                            <a:srgbClr val="000000"/>
                          </a:solidFill>
                          <a:effectLst/>
                        </a:rPr>
                        <a:t> </a:t>
                      </a:r>
                      <a:endParaRPr lang="en-CA" sz="18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CA" sz="1800" b="1" u="none" strike="noStrike" dirty="0">
                          <a:solidFill>
                            <a:schemeClr val="bg1"/>
                          </a:solidFill>
                          <a:effectLst/>
                        </a:rPr>
                        <a:t>Metas </a:t>
                      </a:r>
                      <a:r>
                        <a:rPr lang="en-CA" sz="1800" b="1" u="none" strike="noStrike" dirty="0" err="1">
                          <a:solidFill>
                            <a:schemeClr val="bg1"/>
                          </a:solidFill>
                          <a:effectLst/>
                        </a:rPr>
                        <a:t>físicas</a:t>
                      </a:r>
                      <a:endParaRPr lang="en-CA" sz="1800" b="1" i="0" u="none" strike="noStrike" dirty="0">
                        <a:solidFill>
                          <a:schemeClr val="bg1"/>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2584895240"/>
                  </a:ext>
                </a:extLst>
              </a:tr>
              <a:tr h="334264">
                <a:tc>
                  <a:txBody>
                    <a:bodyPr/>
                    <a:lstStyle/>
                    <a:p>
                      <a:pPr algn="l" fontAlgn="ctr"/>
                      <a:r>
                        <a:rPr lang="en-US" sz="1800" b="0" u="none" strike="noStrike">
                          <a:solidFill>
                            <a:srgbClr val="000000"/>
                          </a:solidFill>
                          <a:effectLst/>
                        </a:rPr>
                        <a:t>IIEE   </a:t>
                      </a:r>
                      <a:endParaRPr lang="en-US" sz="18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ctr"/>
                      <a:r>
                        <a:rPr lang="es-PE" sz="1800" b="0" u="none" strike="noStrike" dirty="0">
                          <a:solidFill>
                            <a:srgbClr val="000000"/>
                          </a:solidFill>
                          <a:effectLst/>
                        </a:rPr>
                        <a:t>4,792</a:t>
                      </a:r>
                      <a:endParaRPr lang="es-PE" sz="1800" b="0" i="0" u="none" strike="noStrike" dirty="0">
                        <a:solidFill>
                          <a:srgbClr val="000000"/>
                        </a:solidFill>
                        <a:effectLst/>
                        <a:latin typeface="Arial" panose="020B0604020202020204" pitchFamily="34" charset="0"/>
                      </a:endParaRPr>
                    </a:p>
                  </a:txBody>
                  <a:tcPr marL="6350" marR="6350" marT="6350" marB="0" anchor="ctr"/>
                </a:tc>
                <a:extLst>
                  <a:ext uri="{0D108BD9-81ED-4DB2-BD59-A6C34878D82A}">
                    <a16:rowId xmlns:a16="http://schemas.microsoft.com/office/drawing/2014/main" val="1835260689"/>
                  </a:ext>
                </a:extLst>
              </a:tr>
              <a:tr h="334264">
                <a:tc>
                  <a:txBody>
                    <a:bodyPr/>
                    <a:lstStyle/>
                    <a:p>
                      <a:pPr algn="l" fontAlgn="ctr"/>
                      <a:r>
                        <a:rPr lang="en-US" sz="1800" b="0" u="none" strike="noStrike">
                          <a:solidFill>
                            <a:srgbClr val="000000"/>
                          </a:solidFill>
                          <a:effectLst/>
                        </a:rPr>
                        <a:t>Docentes  </a:t>
                      </a:r>
                      <a:endParaRPr lang="en-US" sz="18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ctr"/>
                      <a:r>
                        <a:rPr lang="es-PE" sz="1800" b="0" i="0" u="none" strike="noStrike" dirty="0">
                          <a:solidFill>
                            <a:srgbClr val="000000"/>
                          </a:solidFill>
                          <a:effectLst/>
                          <a:latin typeface="Arial" panose="020B0604020202020204" pitchFamily="34" charset="0"/>
                        </a:rPr>
                        <a:t>7,178</a:t>
                      </a:r>
                    </a:p>
                  </a:txBody>
                  <a:tcPr marL="6350" marR="6350" marT="6350" marB="0" anchor="ctr"/>
                </a:tc>
                <a:extLst>
                  <a:ext uri="{0D108BD9-81ED-4DB2-BD59-A6C34878D82A}">
                    <a16:rowId xmlns:a16="http://schemas.microsoft.com/office/drawing/2014/main" val="1066618970"/>
                  </a:ext>
                </a:extLst>
              </a:tr>
              <a:tr h="334264">
                <a:tc>
                  <a:txBody>
                    <a:bodyPr/>
                    <a:lstStyle/>
                    <a:p>
                      <a:pPr algn="l" fontAlgn="ctr"/>
                      <a:r>
                        <a:rPr lang="es-ES" sz="1800" b="0" u="none" strike="noStrike">
                          <a:solidFill>
                            <a:srgbClr val="000000"/>
                          </a:solidFill>
                          <a:effectLst/>
                        </a:rPr>
                        <a:t>PEAs   </a:t>
                      </a:r>
                      <a:endParaRPr lang="es-ES" sz="18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ctr"/>
                      <a:r>
                        <a:rPr lang="es-PE" sz="1800" b="0" u="none" strike="noStrike" dirty="0">
                          <a:solidFill>
                            <a:srgbClr val="000000"/>
                          </a:solidFill>
                          <a:effectLst/>
                        </a:rPr>
                        <a:t>1,862</a:t>
                      </a:r>
                      <a:endParaRPr lang="es-PE" sz="1800" b="0" i="0" u="none" strike="noStrike" dirty="0">
                        <a:solidFill>
                          <a:srgbClr val="000000"/>
                        </a:solidFill>
                        <a:effectLst/>
                        <a:latin typeface="Arial" panose="020B0604020202020204" pitchFamily="34" charset="0"/>
                      </a:endParaRPr>
                    </a:p>
                  </a:txBody>
                  <a:tcPr marL="6350" marR="6350" marT="6350" marB="0" anchor="ctr"/>
                </a:tc>
                <a:extLst>
                  <a:ext uri="{0D108BD9-81ED-4DB2-BD59-A6C34878D82A}">
                    <a16:rowId xmlns:a16="http://schemas.microsoft.com/office/drawing/2014/main" val="2417345284"/>
                  </a:ext>
                </a:extLst>
              </a:tr>
              <a:tr h="334264">
                <a:tc>
                  <a:txBody>
                    <a:bodyPr/>
                    <a:lstStyle/>
                    <a:p>
                      <a:pPr algn="l" fontAlgn="ctr"/>
                      <a:r>
                        <a:rPr lang="es-ES" sz="1800" b="0" u="none" strike="noStrike">
                          <a:solidFill>
                            <a:srgbClr val="000000"/>
                          </a:solidFill>
                          <a:effectLst/>
                        </a:rPr>
                        <a:t>Alumnos</a:t>
                      </a:r>
                      <a:endParaRPr lang="es-ES" sz="18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ctr"/>
                      <a:r>
                        <a:rPr lang="es-PE" sz="1800" b="0" i="0" u="none" strike="noStrike" dirty="0">
                          <a:solidFill>
                            <a:srgbClr val="000000"/>
                          </a:solidFill>
                          <a:effectLst/>
                          <a:latin typeface="Arial" panose="020B0604020202020204" pitchFamily="34" charset="0"/>
                        </a:rPr>
                        <a:t>89,170</a:t>
                      </a:r>
                    </a:p>
                  </a:txBody>
                  <a:tcPr marL="6350" marR="6350" marT="6350" marB="0" anchor="ctr"/>
                </a:tc>
                <a:extLst>
                  <a:ext uri="{0D108BD9-81ED-4DB2-BD59-A6C34878D82A}">
                    <a16:rowId xmlns:a16="http://schemas.microsoft.com/office/drawing/2014/main" val="2615030679"/>
                  </a:ext>
                </a:extLst>
              </a:tr>
            </a:tbl>
          </a:graphicData>
        </a:graphic>
      </p:graphicFrame>
      <p:graphicFrame>
        <p:nvGraphicFramePr>
          <p:cNvPr id="5" name="Table 4">
            <a:extLst>
              <a:ext uri="{FF2B5EF4-FFF2-40B4-BE49-F238E27FC236}">
                <a16:creationId xmlns:a16="http://schemas.microsoft.com/office/drawing/2014/main" id="{CDC64B2E-4B9F-449C-A31A-0D679A39A9DE}"/>
              </a:ext>
            </a:extLst>
          </p:cNvPr>
          <p:cNvGraphicFramePr>
            <a:graphicFrameLocks noGrp="1"/>
          </p:cNvGraphicFramePr>
          <p:nvPr>
            <p:extLst>
              <p:ext uri="{D42A27DB-BD31-4B8C-83A1-F6EECF244321}">
                <p14:modId xmlns:p14="http://schemas.microsoft.com/office/powerpoint/2010/main" val="3454950720"/>
              </p:ext>
            </p:extLst>
          </p:nvPr>
        </p:nvGraphicFramePr>
        <p:xfrm>
          <a:off x="5494336" y="1738215"/>
          <a:ext cx="5864773" cy="4235866"/>
        </p:xfrm>
        <a:graphic>
          <a:graphicData uri="http://schemas.openxmlformats.org/drawingml/2006/table">
            <a:tbl>
              <a:tblPr firstRow="1" lastRow="1">
                <a:tableStyleId>{6E25E649-3F16-4E02-A733-19D2CDBF48F0}</a:tableStyleId>
              </a:tblPr>
              <a:tblGrid>
                <a:gridCol w="4371497">
                  <a:extLst>
                    <a:ext uri="{9D8B030D-6E8A-4147-A177-3AD203B41FA5}">
                      <a16:colId xmlns:a16="http://schemas.microsoft.com/office/drawing/2014/main" val="2149593844"/>
                    </a:ext>
                  </a:extLst>
                </a:gridCol>
                <a:gridCol w="1493276">
                  <a:extLst>
                    <a:ext uri="{9D8B030D-6E8A-4147-A177-3AD203B41FA5}">
                      <a16:colId xmlns:a16="http://schemas.microsoft.com/office/drawing/2014/main" val="2523532328"/>
                    </a:ext>
                  </a:extLst>
                </a:gridCol>
              </a:tblGrid>
              <a:tr h="314337">
                <a:tc>
                  <a:txBody>
                    <a:bodyPr/>
                    <a:lstStyle/>
                    <a:p>
                      <a:pPr marL="0" marR="0" algn="ctr" fontAlgn="base">
                        <a:lnSpc>
                          <a:spcPct val="110000"/>
                        </a:lnSpc>
                        <a:spcBef>
                          <a:spcPts val="0"/>
                        </a:spcBef>
                        <a:spcAft>
                          <a:spcPts val="0"/>
                        </a:spcAft>
                      </a:pPr>
                      <a:r>
                        <a:rPr lang="es-PE" sz="1800" b="1" dirty="0">
                          <a:effectLst/>
                        </a:rPr>
                        <a:t>Componente</a:t>
                      </a:r>
                      <a:r>
                        <a:rPr lang="es-PE" sz="1800" dirty="0">
                          <a:solidFill>
                            <a:srgbClr val="000000"/>
                          </a:solidFill>
                          <a:effectLst/>
                        </a:rPr>
                        <a:t> </a:t>
                      </a:r>
                      <a:endParaRPr lang="en-CA" sz="1800" dirty="0">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0" marB="0" anchor="ctr"/>
                </a:tc>
                <a:tc>
                  <a:txBody>
                    <a:bodyPr/>
                    <a:lstStyle/>
                    <a:p>
                      <a:pPr marL="0" marR="0" algn="ctr" fontAlgn="base">
                        <a:lnSpc>
                          <a:spcPct val="110000"/>
                        </a:lnSpc>
                        <a:spcBef>
                          <a:spcPts val="0"/>
                        </a:spcBef>
                        <a:spcAft>
                          <a:spcPts val="0"/>
                        </a:spcAft>
                      </a:pPr>
                      <a:r>
                        <a:rPr lang="es-PE" sz="1800" b="1" dirty="0">
                          <a:solidFill>
                            <a:schemeClr val="bg1"/>
                          </a:solidFill>
                          <a:effectLst/>
                        </a:rPr>
                        <a:t>2022 (MM)</a:t>
                      </a:r>
                      <a:endParaRPr lang="en-CA" sz="1800" dirty="0">
                        <a:solidFill>
                          <a:schemeClr val="bg1"/>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0" marB="0" anchor="ctr"/>
                </a:tc>
                <a:extLst>
                  <a:ext uri="{0D108BD9-81ED-4DB2-BD59-A6C34878D82A}">
                    <a16:rowId xmlns:a16="http://schemas.microsoft.com/office/drawing/2014/main" val="1151458972"/>
                  </a:ext>
                </a:extLst>
              </a:tr>
              <a:tr h="653588">
                <a:tc>
                  <a:txBody>
                    <a:bodyPr/>
                    <a:lstStyle/>
                    <a:p>
                      <a:pPr marL="0" marR="0" fontAlgn="base">
                        <a:lnSpc>
                          <a:spcPct val="110000"/>
                        </a:lnSpc>
                        <a:spcBef>
                          <a:spcPts val="0"/>
                        </a:spcBef>
                        <a:spcAft>
                          <a:spcPts val="0"/>
                        </a:spcAft>
                      </a:pPr>
                      <a:r>
                        <a:rPr lang="es-PE" sz="1800">
                          <a:solidFill>
                            <a:srgbClr val="000000"/>
                          </a:solidFill>
                          <a:effectLst/>
                        </a:rPr>
                        <a:t>Contratación de personal bajo régimen CAS </a:t>
                      </a:r>
                      <a:endParaRPr lang="en-CA" sz="1800">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0" marB="0" anchor="ctr"/>
                </a:tc>
                <a:tc>
                  <a:txBody>
                    <a:bodyPr/>
                    <a:lstStyle/>
                    <a:p>
                      <a:pPr marL="0" marR="0" algn="ctr" fontAlgn="base">
                        <a:lnSpc>
                          <a:spcPct val="110000"/>
                        </a:lnSpc>
                        <a:spcBef>
                          <a:spcPts val="0"/>
                        </a:spcBef>
                        <a:spcAft>
                          <a:spcPts val="0"/>
                        </a:spcAft>
                      </a:pPr>
                      <a:r>
                        <a:rPr lang="es-PE" sz="1800" dirty="0">
                          <a:effectLst/>
                          <a:latin typeface="+mn-lt"/>
                        </a:rPr>
                        <a:t>43.71</a:t>
                      </a:r>
                      <a:endParaRPr lang="en-CA" sz="1800" dirty="0">
                        <a:effectLst/>
                        <a:latin typeface="+mn-lt"/>
                        <a:ea typeface="Times New Roman" panose="02020603050405020304" pitchFamily="18" charset="0"/>
                        <a:cs typeface="Arial" panose="020B0604020202020204" pitchFamily="34" charset="0"/>
                      </a:endParaRPr>
                    </a:p>
                  </a:txBody>
                  <a:tcPr marL="0" marR="0" marT="0" marB="0" anchor="ctr"/>
                </a:tc>
                <a:extLst>
                  <a:ext uri="{0D108BD9-81ED-4DB2-BD59-A6C34878D82A}">
                    <a16:rowId xmlns:a16="http://schemas.microsoft.com/office/drawing/2014/main" val="3339408725"/>
                  </a:ext>
                </a:extLst>
              </a:tr>
              <a:tr h="653588">
                <a:tc>
                  <a:txBody>
                    <a:bodyPr/>
                    <a:lstStyle/>
                    <a:p>
                      <a:pPr marL="0" marR="0" algn="just">
                        <a:lnSpc>
                          <a:spcPct val="110000"/>
                        </a:lnSpc>
                        <a:spcBef>
                          <a:spcPts val="0"/>
                        </a:spcBef>
                        <a:spcAft>
                          <a:spcPts val="0"/>
                        </a:spcAft>
                      </a:pPr>
                      <a:r>
                        <a:rPr lang="es-PE" sz="1800">
                          <a:solidFill>
                            <a:srgbClr val="000000"/>
                          </a:solidFill>
                          <a:effectLst/>
                        </a:rPr>
                        <a:t>Pago de horas complementarias para docentes remediales</a:t>
                      </a:r>
                      <a:endParaRPr lang="en-CA" sz="1800">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0" marB="0" anchor="ctr"/>
                </a:tc>
                <a:tc>
                  <a:txBody>
                    <a:bodyPr/>
                    <a:lstStyle/>
                    <a:p>
                      <a:pPr marL="0" marR="0" algn="ctr">
                        <a:lnSpc>
                          <a:spcPct val="110000"/>
                        </a:lnSpc>
                        <a:spcBef>
                          <a:spcPts val="0"/>
                        </a:spcBef>
                        <a:spcAft>
                          <a:spcPts val="0"/>
                        </a:spcAft>
                      </a:pPr>
                      <a:r>
                        <a:rPr lang="es-PE" sz="1800" dirty="0">
                          <a:effectLst/>
                          <a:latin typeface="+mn-lt"/>
                        </a:rPr>
                        <a:t>18.78</a:t>
                      </a:r>
                      <a:endParaRPr lang="en-CA" sz="1800" dirty="0">
                        <a:effectLst/>
                        <a:latin typeface="+mn-lt"/>
                        <a:ea typeface="Times New Roman" panose="02020603050405020304" pitchFamily="18" charset="0"/>
                        <a:cs typeface="Arial" panose="020B0604020202020204" pitchFamily="34" charset="0"/>
                      </a:endParaRPr>
                    </a:p>
                  </a:txBody>
                  <a:tcPr marL="0" marR="0" marT="0" marB="0" anchor="ctr"/>
                </a:tc>
                <a:extLst>
                  <a:ext uri="{0D108BD9-81ED-4DB2-BD59-A6C34878D82A}">
                    <a16:rowId xmlns:a16="http://schemas.microsoft.com/office/drawing/2014/main" val="2635756779"/>
                  </a:ext>
                </a:extLst>
              </a:tr>
              <a:tr h="653588">
                <a:tc>
                  <a:txBody>
                    <a:bodyPr/>
                    <a:lstStyle/>
                    <a:p>
                      <a:pPr marL="0" marR="0" fontAlgn="base">
                        <a:lnSpc>
                          <a:spcPct val="110000"/>
                        </a:lnSpc>
                        <a:spcBef>
                          <a:spcPts val="0"/>
                        </a:spcBef>
                        <a:spcAft>
                          <a:spcPts val="0"/>
                        </a:spcAft>
                      </a:pPr>
                      <a:r>
                        <a:rPr lang="es-PE" sz="1800" dirty="0">
                          <a:solidFill>
                            <a:srgbClr val="000000"/>
                          </a:solidFill>
                          <a:effectLst/>
                        </a:rPr>
                        <a:t>Traslados (Viáticos, pasajes y movilidad local)   </a:t>
                      </a:r>
                      <a:endParaRPr lang="en-CA" sz="1800" dirty="0">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0" marB="0" anchor="ctr"/>
                </a:tc>
                <a:tc>
                  <a:txBody>
                    <a:bodyPr/>
                    <a:lstStyle/>
                    <a:p>
                      <a:pPr marL="0" marR="0" algn="ctr" fontAlgn="base">
                        <a:lnSpc>
                          <a:spcPct val="110000"/>
                        </a:lnSpc>
                        <a:spcBef>
                          <a:spcPts val="0"/>
                        </a:spcBef>
                        <a:spcAft>
                          <a:spcPts val="0"/>
                        </a:spcAft>
                      </a:pPr>
                      <a:r>
                        <a:rPr lang="es-PE" sz="1800" dirty="0">
                          <a:effectLst/>
                          <a:latin typeface="+mn-lt"/>
                        </a:rPr>
                        <a:t>26.81</a:t>
                      </a:r>
                      <a:endParaRPr lang="en-CA" sz="1800" dirty="0">
                        <a:effectLst/>
                        <a:latin typeface="+mn-lt"/>
                        <a:ea typeface="Times New Roman" panose="02020603050405020304" pitchFamily="18" charset="0"/>
                        <a:cs typeface="Arial" panose="020B0604020202020204" pitchFamily="34" charset="0"/>
                      </a:endParaRPr>
                    </a:p>
                  </a:txBody>
                  <a:tcPr marL="0" marR="0" marT="0" marB="0" anchor="ctr"/>
                </a:tc>
                <a:extLst>
                  <a:ext uri="{0D108BD9-81ED-4DB2-BD59-A6C34878D82A}">
                    <a16:rowId xmlns:a16="http://schemas.microsoft.com/office/drawing/2014/main" val="4096899493"/>
                  </a:ext>
                </a:extLst>
              </a:tr>
              <a:tr h="992840">
                <a:tc>
                  <a:txBody>
                    <a:bodyPr/>
                    <a:lstStyle/>
                    <a:p>
                      <a:pPr marL="0" marR="0" fontAlgn="base">
                        <a:lnSpc>
                          <a:spcPct val="110000"/>
                        </a:lnSpc>
                        <a:spcBef>
                          <a:spcPts val="0"/>
                        </a:spcBef>
                        <a:spcAft>
                          <a:spcPts val="0"/>
                        </a:spcAft>
                      </a:pPr>
                      <a:r>
                        <a:rPr lang="es-PE" sz="1800">
                          <a:solidFill>
                            <a:srgbClr val="000000"/>
                          </a:solidFill>
                          <a:effectLst/>
                        </a:rPr>
                        <a:t>Adquisición de material fungible, didáctico, limpieza, servicio de impresiones y/o fotocopiado  </a:t>
                      </a:r>
                      <a:endParaRPr lang="en-CA" sz="1800">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0" marB="0" anchor="ctr"/>
                </a:tc>
                <a:tc>
                  <a:txBody>
                    <a:bodyPr/>
                    <a:lstStyle/>
                    <a:p>
                      <a:pPr marL="0" marR="0" algn="ctr" fontAlgn="base">
                        <a:lnSpc>
                          <a:spcPct val="110000"/>
                        </a:lnSpc>
                        <a:spcBef>
                          <a:spcPts val="0"/>
                        </a:spcBef>
                        <a:spcAft>
                          <a:spcPts val="0"/>
                        </a:spcAft>
                      </a:pPr>
                      <a:r>
                        <a:rPr lang="es-PE" sz="1800" dirty="0">
                          <a:effectLst/>
                          <a:latin typeface="+mn-lt"/>
                          <a:ea typeface="Times New Roman" panose="02020603050405020304" pitchFamily="18" charset="0"/>
                          <a:cs typeface="Arial" panose="020B0604020202020204" pitchFamily="34" charset="0"/>
                        </a:rPr>
                        <a:t>1.2</a:t>
                      </a:r>
                      <a:endParaRPr lang="en-CA" sz="1800" dirty="0">
                        <a:effectLst/>
                        <a:latin typeface="+mn-lt"/>
                        <a:ea typeface="Times New Roman" panose="02020603050405020304" pitchFamily="18" charset="0"/>
                        <a:cs typeface="Arial" panose="020B0604020202020204" pitchFamily="34" charset="0"/>
                      </a:endParaRPr>
                    </a:p>
                  </a:txBody>
                  <a:tcPr marL="0" marR="0" marT="0" marB="0" anchor="ctr"/>
                </a:tc>
                <a:extLst>
                  <a:ext uri="{0D108BD9-81ED-4DB2-BD59-A6C34878D82A}">
                    <a16:rowId xmlns:a16="http://schemas.microsoft.com/office/drawing/2014/main" val="288856684"/>
                  </a:ext>
                </a:extLst>
              </a:tr>
              <a:tr h="653588">
                <a:tc>
                  <a:txBody>
                    <a:bodyPr/>
                    <a:lstStyle/>
                    <a:p>
                      <a:pPr marL="0" marR="0" fontAlgn="base">
                        <a:lnSpc>
                          <a:spcPct val="110000"/>
                        </a:lnSpc>
                        <a:spcBef>
                          <a:spcPts val="0"/>
                        </a:spcBef>
                        <a:spcAft>
                          <a:spcPts val="0"/>
                        </a:spcAft>
                      </a:pPr>
                      <a:r>
                        <a:rPr lang="es-PE" sz="1800" dirty="0">
                          <a:solidFill>
                            <a:srgbClr val="000000"/>
                          </a:solidFill>
                          <a:effectLst/>
                        </a:rPr>
                        <a:t>Diseño e implementación y evaluación  </a:t>
                      </a:r>
                      <a:endParaRPr lang="en-CA" sz="1800" dirty="0">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0" marB="0" anchor="ctr"/>
                </a:tc>
                <a:tc>
                  <a:txBody>
                    <a:bodyPr/>
                    <a:lstStyle/>
                    <a:p>
                      <a:pPr marL="0" marR="0" algn="ctr" fontAlgn="base">
                        <a:lnSpc>
                          <a:spcPct val="110000"/>
                        </a:lnSpc>
                        <a:spcBef>
                          <a:spcPts val="0"/>
                        </a:spcBef>
                        <a:spcAft>
                          <a:spcPts val="0"/>
                        </a:spcAft>
                      </a:pPr>
                      <a:r>
                        <a:rPr lang="es-PE" sz="1800" dirty="0">
                          <a:effectLst/>
                          <a:latin typeface="+mn-lt"/>
                        </a:rPr>
                        <a:t>1.0 </a:t>
                      </a:r>
                      <a:endParaRPr lang="en-CA" sz="1800" dirty="0">
                        <a:effectLst/>
                        <a:latin typeface="+mn-lt"/>
                        <a:ea typeface="Times New Roman" panose="02020603050405020304" pitchFamily="18" charset="0"/>
                        <a:cs typeface="Arial" panose="020B0604020202020204" pitchFamily="34" charset="0"/>
                      </a:endParaRPr>
                    </a:p>
                  </a:txBody>
                  <a:tcPr marL="0" marR="0" marT="0" marB="0" anchor="ctr"/>
                </a:tc>
                <a:extLst>
                  <a:ext uri="{0D108BD9-81ED-4DB2-BD59-A6C34878D82A}">
                    <a16:rowId xmlns:a16="http://schemas.microsoft.com/office/drawing/2014/main" val="2223940345"/>
                  </a:ext>
                </a:extLst>
              </a:tr>
              <a:tr h="314337">
                <a:tc>
                  <a:txBody>
                    <a:bodyPr/>
                    <a:lstStyle/>
                    <a:p>
                      <a:pPr marL="0" marR="0" algn="ctr" fontAlgn="base">
                        <a:lnSpc>
                          <a:spcPct val="110000"/>
                        </a:lnSpc>
                        <a:spcBef>
                          <a:spcPts val="0"/>
                        </a:spcBef>
                        <a:spcAft>
                          <a:spcPts val="0"/>
                        </a:spcAft>
                      </a:pPr>
                      <a:r>
                        <a:rPr lang="es-PE" sz="1800" b="1" dirty="0">
                          <a:solidFill>
                            <a:srgbClr val="000000"/>
                          </a:solidFill>
                          <a:effectLst/>
                        </a:rPr>
                        <a:t>Total</a:t>
                      </a:r>
                      <a:r>
                        <a:rPr lang="es-PE" sz="1800" dirty="0">
                          <a:solidFill>
                            <a:srgbClr val="000000"/>
                          </a:solidFill>
                          <a:effectLst/>
                        </a:rPr>
                        <a:t> MM (S/)</a:t>
                      </a:r>
                      <a:endParaRPr lang="en-CA" sz="1800" dirty="0">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0" marB="0" anchor="ctr"/>
                </a:tc>
                <a:tc>
                  <a:txBody>
                    <a:bodyPr/>
                    <a:lstStyle/>
                    <a:p>
                      <a:pPr marL="0" marR="0" algn="ctr" fontAlgn="base">
                        <a:lnSpc>
                          <a:spcPct val="110000"/>
                        </a:lnSpc>
                        <a:spcBef>
                          <a:spcPts val="0"/>
                        </a:spcBef>
                        <a:spcAft>
                          <a:spcPts val="0"/>
                        </a:spcAft>
                      </a:pPr>
                      <a:r>
                        <a:rPr lang="es-PE" sz="1800" b="1" dirty="0">
                          <a:solidFill>
                            <a:srgbClr val="000000"/>
                          </a:solidFill>
                          <a:effectLst/>
                        </a:rPr>
                        <a:t>89.96 </a:t>
                      </a:r>
                      <a:endParaRPr lang="en-CA" sz="1800" dirty="0">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0" marB="0" anchor="ctr"/>
                </a:tc>
                <a:extLst>
                  <a:ext uri="{0D108BD9-81ED-4DB2-BD59-A6C34878D82A}">
                    <a16:rowId xmlns:a16="http://schemas.microsoft.com/office/drawing/2014/main" val="2219459389"/>
                  </a:ext>
                </a:extLst>
              </a:tr>
            </a:tbl>
          </a:graphicData>
        </a:graphic>
      </p:graphicFrame>
    </p:spTree>
    <p:extLst>
      <p:ext uri="{BB962C8B-B14F-4D97-AF65-F5344CB8AC3E}">
        <p14:creationId xmlns:p14="http://schemas.microsoft.com/office/powerpoint/2010/main" val="1296627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DADB20-4773-4F0F-905F-8ECF4DF9722E}"/>
              </a:ext>
            </a:extLst>
          </p:cNvPr>
          <p:cNvSpPr>
            <a:spLocks noGrp="1"/>
          </p:cNvSpPr>
          <p:nvPr>
            <p:ph type="title"/>
          </p:nvPr>
        </p:nvSpPr>
        <p:spPr>
          <a:xfrm>
            <a:off x="162561" y="180022"/>
            <a:ext cx="8483600" cy="1001078"/>
          </a:xfrm>
        </p:spPr>
        <p:txBody>
          <a:bodyPr/>
          <a:lstStyle/>
          <a:p>
            <a:r>
              <a:rPr lang="es-PE" dirty="0"/>
              <a:t>Estimación de costos 2023 - 2024</a:t>
            </a:r>
            <a:endParaRPr lang="en-CA" dirty="0"/>
          </a:p>
        </p:txBody>
      </p:sp>
      <p:sp>
        <p:nvSpPr>
          <p:cNvPr id="3" name="Slide Number Placeholder 2">
            <a:extLst>
              <a:ext uri="{FF2B5EF4-FFF2-40B4-BE49-F238E27FC236}">
                <a16:creationId xmlns:a16="http://schemas.microsoft.com/office/drawing/2014/main" id="{A108E1FB-E0E6-4C7E-B80E-1ABBE8595331}"/>
              </a:ext>
            </a:extLst>
          </p:cNvPr>
          <p:cNvSpPr>
            <a:spLocks noGrp="1"/>
          </p:cNvSpPr>
          <p:nvPr>
            <p:ph type="sldNum" sz="quarter" idx="12"/>
          </p:nvPr>
        </p:nvSpPr>
        <p:spPr/>
        <p:txBody>
          <a:bodyPr/>
          <a:lstStyle/>
          <a:p>
            <a:fld id="{DAF31D20-51B2-49A6-91FA-1FC48A60B42D}" type="slidenum">
              <a:rPr lang="es-PE" smtClean="0"/>
              <a:t>30</a:t>
            </a:fld>
            <a:endParaRPr lang="es-PE"/>
          </a:p>
        </p:txBody>
      </p:sp>
      <p:graphicFrame>
        <p:nvGraphicFramePr>
          <p:cNvPr id="4" name="Table 3">
            <a:extLst>
              <a:ext uri="{FF2B5EF4-FFF2-40B4-BE49-F238E27FC236}">
                <a16:creationId xmlns:a16="http://schemas.microsoft.com/office/drawing/2014/main" id="{693C5D93-364A-45AD-9B9F-60FC2A2E1416}"/>
              </a:ext>
            </a:extLst>
          </p:cNvPr>
          <p:cNvGraphicFramePr>
            <a:graphicFrameLocks noGrp="1"/>
          </p:cNvGraphicFramePr>
          <p:nvPr>
            <p:extLst>
              <p:ext uri="{D42A27DB-BD31-4B8C-83A1-F6EECF244321}">
                <p14:modId xmlns:p14="http://schemas.microsoft.com/office/powerpoint/2010/main" val="3148928384"/>
              </p:ext>
            </p:extLst>
          </p:nvPr>
        </p:nvGraphicFramePr>
        <p:xfrm>
          <a:off x="409257" y="1683605"/>
          <a:ext cx="3995104" cy="1946656"/>
        </p:xfrm>
        <a:graphic>
          <a:graphicData uri="http://schemas.openxmlformats.org/drawingml/2006/table">
            <a:tbl>
              <a:tblPr firstRow="1">
                <a:tableStyleId>{6E25E649-3F16-4E02-A733-19D2CDBF48F0}</a:tableStyleId>
              </a:tblPr>
              <a:tblGrid>
                <a:gridCol w="1089710">
                  <a:extLst>
                    <a:ext uri="{9D8B030D-6E8A-4147-A177-3AD203B41FA5}">
                      <a16:colId xmlns:a16="http://schemas.microsoft.com/office/drawing/2014/main" val="3740764410"/>
                    </a:ext>
                  </a:extLst>
                </a:gridCol>
                <a:gridCol w="1432194">
                  <a:extLst>
                    <a:ext uri="{9D8B030D-6E8A-4147-A177-3AD203B41FA5}">
                      <a16:colId xmlns:a16="http://schemas.microsoft.com/office/drawing/2014/main" val="1881252650"/>
                    </a:ext>
                  </a:extLst>
                </a:gridCol>
                <a:gridCol w="1473200">
                  <a:extLst>
                    <a:ext uri="{9D8B030D-6E8A-4147-A177-3AD203B41FA5}">
                      <a16:colId xmlns:a16="http://schemas.microsoft.com/office/drawing/2014/main" val="1456943754"/>
                    </a:ext>
                  </a:extLst>
                </a:gridCol>
              </a:tblGrid>
              <a:tr h="609600">
                <a:tc>
                  <a:txBody>
                    <a:bodyPr/>
                    <a:lstStyle/>
                    <a:p>
                      <a:pPr algn="l" fontAlgn="b"/>
                      <a:r>
                        <a:rPr lang="en-CA" sz="1800" b="0" u="none" strike="noStrike">
                          <a:solidFill>
                            <a:srgbClr val="000000"/>
                          </a:solidFill>
                          <a:effectLst/>
                        </a:rPr>
                        <a:t> </a:t>
                      </a:r>
                      <a:endParaRPr lang="en-CA" sz="18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CA" sz="1800" b="1" u="none" strike="noStrike" dirty="0">
                          <a:solidFill>
                            <a:schemeClr val="bg1"/>
                          </a:solidFill>
                          <a:effectLst/>
                        </a:rPr>
                        <a:t>Metas </a:t>
                      </a:r>
                    </a:p>
                    <a:p>
                      <a:pPr algn="ctr" fontAlgn="b"/>
                      <a:r>
                        <a:rPr lang="en-CA" sz="1800" b="1" u="none" strike="noStrike" dirty="0">
                          <a:solidFill>
                            <a:schemeClr val="bg1"/>
                          </a:solidFill>
                          <a:effectLst/>
                        </a:rPr>
                        <a:t>2023</a:t>
                      </a:r>
                      <a:endParaRPr lang="en-CA" sz="1800" b="1" i="0" u="none" strike="noStrike" dirty="0">
                        <a:solidFill>
                          <a:schemeClr val="bg1"/>
                        </a:solidFill>
                        <a:effectLst/>
                        <a:latin typeface="Calibri" panose="020F0502020204030204" pitchFamily="34" charset="0"/>
                      </a:endParaRPr>
                    </a:p>
                  </a:txBody>
                  <a:tcPr marL="6350" marR="6350" marT="6350" marB="0" anchor="b"/>
                </a:tc>
                <a:tc>
                  <a:txBody>
                    <a:bodyPr/>
                    <a:lstStyle/>
                    <a:p>
                      <a:pPr algn="ctr" fontAlgn="b"/>
                      <a:r>
                        <a:rPr lang="es-PE" sz="1800" b="1" i="0" u="none" strike="noStrike" dirty="0">
                          <a:solidFill>
                            <a:schemeClr val="bg1"/>
                          </a:solidFill>
                          <a:effectLst/>
                          <a:latin typeface="+mn-lt"/>
                        </a:rPr>
                        <a:t>Metas</a:t>
                      </a:r>
                    </a:p>
                    <a:p>
                      <a:pPr algn="ctr" fontAlgn="b"/>
                      <a:r>
                        <a:rPr lang="es-PE" sz="1800" b="1" i="0" u="none" strike="noStrike" dirty="0">
                          <a:solidFill>
                            <a:schemeClr val="bg1"/>
                          </a:solidFill>
                          <a:effectLst/>
                          <a:latin typeface="+mn-lt"/>
                        </a:rPr>
                        <a:t> 2024</a:t>
                      </a:r>
                      <a:endParaRPr lang="en-CA" sz="1800" b="1" i="0" u="none" strike="noStrike" dirty="0">
                        <a:solidFill>
                          <a:schemeClr val="bg1"/>
                        </a:solidFill>
                        <a:effectLst/>
                        <a:latin typeface="+mn-lt"/>
                      </a:endParaRPr>
                    </a:p>
                  </a:txBody>
                  <a:tcPr marL="6350" marR="6350" marT="6350" marB="0" anchor="b"/>
                </a:tc>
                <a:extLst>
                  <a:ext uri="{0D108BD9-81ED-4DB2-BD59-A6C34878D82A}">
                    <a16:rowId xmlns:a16="http://schemas.microsoft.com/office/drawing/2014/main" val="2584895240"/>
                  </a:ext>
                </a:extLst>
              </a:tr>
              <a:tr h="334264">
                <a:tc>
                  <a:txBody>
                    <a:bodyPr/>
                    <a:lstStyle/>
                    <a:p>
                      <a:pPr algn="l" fontAlgn="ctr"/>
                      <a:r>
                        <a:rPr lang="en-US" sz="1800" b="0" u="none" strike="noStrike">
                          <a:solidFill>
                            <a:srgbClr val="000000"/>
                          </a:solidFill>
                          <a:effectLst/>
                        </a:rPr>
                        <a:t>IIEE   </a:t>
                      </a:r>
                      <a:endParaRPr lang="en-US" sz="18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ctr"/>
                      <a:r>
                        <a:rPr lang="es-PE" sz="1800" b="0" i="0" u="none" strike="noStrike" dirty="0">
                          <a:solidFill>
                            <a:srgbClr val="000000"/>
                          </a:solidFill>
                          <a:effectLst/>
                          <a:latin typeface="Arial" panose="020B0604020202020204" pitchFamily="34" charset="0"/>
                        </a:rPr>
                        <a:t>5,732</a:t>
                      </a:r>
                    </a:p>
                  </a:txBody>
                  <a:tcPr marL="6350" marR="6350" marT="6350" marB="0" anchor="ctr"/>
                </a:tc>
                <a:tc>
                  <a:txBody>
                    <a:bodyPr/>
                    <a:lstStyle/>
                    <a:p>
                      <a:pPr algn="ctr" fontAlgn="ctr"/>
                      <a:r>
                        <a:rPr lang="es-PE" sz="1800" b="0" i="0" u="none" strike="noStrike" dirty="0">
                          <a:solidFill>
                            <a:srgbClr val="000000"/>
                          </a:solidFill>
                          <a:effectLst/>
                          <a:latin typeface="Arial" panose="020B0604020202020204" pitchFamily="34" charset="0"/>
                        </a:rPr>
                        <a:t>4,124</a:t>
                      </a:r>
                    </a:p>
                  </a:txBody>
                  <a:tcPr marL="6350" marR="6350" marT="6350" marB="0" anchor="ctr"/>
                </a:tc>
                <a:extLst>
                  <a:ext uri="{0D108BD9-81ED-4DB2-BD59-A6C34878D82A}">
                    <a16:rowId xmlns:a16="http://schemas.microsoft.com/office/drawing/2014/main" val="1835260689"/>
                  </a:ext>
                </a:extLst>
              </a:tr>
              <a:tr h="334264">
                <a:tc>
                  <a:txBody>
                    <a:bodyPr/>
                    <a:lstStyle/>
                    <a:p>
                      <a:pPr algn="l" fontAlgn="ctr"/>
                      <a:r>
                        <a:rPr lang="en-US" sz="1800" b="0" u="none" strike="noStrike" dirty="0" err="1">
                          <a:solidFill>
                            <a:srgbClr val="000000"/>
                          </a:solidFill>
                          <a:effectLst/>
                        </a:rPr>
                        <a:t>Docentes</a:t>
                      </a:r>
                      <a:r>
                        <a:rPr lang="en-US" sz="1800" b="0" u="none" strike="noStrike" dirty="0">
                          <a:solidFill>
                            <a:srgbClr val="000000"/>
                          </a:solidFill>
                          <a:effectLst/>
                        </a:rPr>
                        <a:t>  </a:t>
                      </a:r>
                      <a:endParaRPr lang="en-US" sz="18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ctr"/>
                      <a:r>
                        <a:rPr lang="es-PE" sz="1800" b="0" i="0" u="none" strike="noStrike" dirty="0">
                          <a:solidFill>
                            <a:srgbClr val="000000"/>
                          </a:solidFill>
                          <a:effectLst/>
                          <a:latin typeface="Arial" panose="020B0604020202020204" pitchFamily="34" charset="0"/>
                        </a:rPr>
                        <a:t>8,692</a:t>
                      </a:r>
                    </a:p>
                  </a:txBody>
                  <a:tcPr marL="6350" marR="6350" marT="6350" marB="0" anchor="ctr"/>
                </a:tc>
                <a:tc>
                  <a:txBody>
                    <a:bodyPr/>
                    <a:lstStyle/>
                    <a:p>
                      <a:pPr algn="ctr" fontAlgn="ctr"/>
                      <a:r>
                        <a:rPr lang="es-PE" sz="1800" b="0" i="0" u="none" strike="noStrike" dirty="0">
                          <a:solidFill>
                            <a:srgbClr val="000000"/>
                          </a:solidFill>
                          <a:effectLst/>
                          <a:latin typeface="Arial" panose="020B0604020202020204" pitchFamily="34" charset="0"/>
                        </a:rPr>
                        <a:t>8,958</a:t>
                      </a:r>
                    </a:p>
                  </a:txBody>
                  <a:tcPr marL="6350" marR="6350" marT="6350" marB="0" anchor="ctr"/>
                </a:tc>
                <a:extLst>
                  <a:ext uri="{0D108BD9-81ED-4DB2-BD59-A6C34878D82A}">
                    <a16:rowId xmlns:a16="http://schemas.microsoft.com/office/drawing/2014/main" val="1066618970"/>
                  </a:ext>
                </a:extLst>
              </a:tr>
              <a:tr h="334264">
                <a:tc>
                  <a:txBody>
                    <a:bodyPr/>
                    <a:lstStyle/>
                    <a:p>
                      <a:pPr algn="l" fontAlgn="ctr"/>
                      <a:r>
                        <a:rPr lang="es-ES" sz="1800" b="0" u="none" strike="noStrike">
                          <a:solidFill>
                            <a:srgbClr val="000000"/>
                          </a:solidFill>
                          <a:effectLst/>
                        </a:rPr>
                        <a:t>PEAs   </a:t>
                      </a:r>
                      <a:endParaRPr lang="es-ES" sz="18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ctr"/>
                      <a:r>
                        <a:rPr lang="es-PE" sz="1800" b="0" i="0" u="none" strike="noStrike" dirty="0">
                          <a:solidFill>
                            <a:srgbClr val="000000"/>
                          </a:solidFill>
                          <a:effectLst/>
                          <a:latin typeface="Arial" panose="020B0604020202020204" pitchFamily="34" charset="0"/>
                        </a:rPr>
                        <a:t>2,248</a:t>
                      </a:r>
                    </a:p>
                  </a:txBody>
                  <a:tcPr marL="6350" marR="6350" marT="6350" marB="0" anchor="ctr"/>
                </a:tc>
                <a:tc>
                  <a:txBody>
                    <a:bodyPr/>
                    <a:lstStyle/>
                    <a:p>
                      <a:pPr algn="ctr" fontAlgn="ctr"/>
                      <a:r>
                        <a:rPr lang="es-PE" sz="1800" b="0" i="0" u="none" strike="noStrike" dirty="0">
                          <a:solidFill>
                            <a:srgbClr val="000000"/>
                          </a:solidFill>
                          <a:effectLst/>
                          <a:latin typeface="Arial" panose="020B0604020202020204" pitchFamily="34" charset="0"/>
                        </a:rPr>
                        <a:t>2,362</a:t>
                      </a:r>
                    </a:p>
                  </a:txBody>
                  <a:tcPr marL="6350" marR="6350" marT="6350" marB="0" anchor="ctr"/>
                </a:tc>
                <a:extLst>
                  <a:ext uri="{0D108BD9-81ED-4DB2-BD59-A6C34878D82A}">
                    <a16:rowId xmlns:a16="http://schemas.microsoft.com/office/drawing/2014/main" val="2417345284"/>
                  </a:ext>
                </a:extLst>
              </a:tr>
              <a:tr h="334264">
                <a:tc>
                  <a:txBody>
                    <a:bodyPr/>
                    <a:lstStyle/>
                    <a:p>
                      <a:pPr algn="l" fontAlgn="ctr"/>
                      <a:r>
                        <a:rPr lang="es-ES" sz="1800" b="0" u="none" strike="noStrike">
                          <a:solidFill>
                            <a:srgbClr val="000000"/>
                          </a:solidFill>
                          <a:effectLst/>
                        </a:rPr>
                        <a:t>Alumnos</a:t>
                      </a:r>
                      <a:endParaRPr lang="es-ES" sz="18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ctr"/>
                      <a:r>
                        <a:rPr lang="es-PE" sz="1800" b="0" i="0" u="none" strike="noStrike" dirty="0">
                          <a:solidFill>
                            <a:srgbClr val="000000"/>
                          </a:solidFill>
                          <a:effectLst/>
                          <a:latin typeface="Arial" panose="020B0604020202020204" pitchFamily="34" charset="0"/>
                        </a:rPr>
                        <a:t>108,397</a:t>
                      </a:r>
                    </a:p>
                  </a:txBody>
                  <a:tcPr marL="6350" marR="6350" marT="6350" marB="0" anchor="ctr"/>
                </a:tc>
                <a:tc>
                  <a:txBody>
                    <a:bodyPr/>
                    <a:lstStyle/>
                    <a:p>
                      <a:pPr algn="ctr" fontAlgn="ctr"/>
                      <a:r>
                        <a:rPr lang="es-PE" sz="1800" b="0" i="0" u="none" strike="noStrike" dirty="0">
                          <a:solidFill>
                            <a:srgbClr val="000000"/>
                          </a:solidFill>
                          <a:effectLst/>
                          <a:latin typeface="Arial" panose="020B0604020202020204" pitchFamily="34" charset="0"/>
                        </a:rPr>
                        <a:t>131,579</a:t>
                      </a:r>
                    </a:p>
                  </a:txBody>
                  <a:tcPr marL="6350" marR="6350" marT="6350" marB="0" anchor="ctr"/>
                </a:tc>
                <a:extLst>
                  <a:ext uri="{0D108BD9-81ED-4DB2-BD59-A6C34878D82A}">
                    <a16:rowId xmlns:a16="http://schemas.microsoft.com/office/drawing/2014/main" val="2615030679"/>
                  </a:ext>
                </a:extLst>
              </a:tr>
            </a:tbl>
          </a:graphicData>
        </a:graphic>
      </p:graphicFrame>
      <p:graphicFrame>
        <p:nvGraphicFramePr>
          <p:cNvPr id="5" name="Table 4">
            <a:extLst>
              <a:ext uri="{FF2B5EF4-FFF2-40B4-BE49-F238E27FC236}">
                <a16:creationId xmlns:a16="http://schemas.microsoft.com/office/drawing/2014/main" id="{CDC64B2E-4B9F-449C-A31A-0D679A39A9DE}"/>
              </a:ext>
            </a:extLst>
          </p:cNvPr>
          <p:cNvGraphicFramePr>
            <a:graphicFrameLocks noGrp="1"/>
          </p:cNvGraphicFramePr>
          <p:nvPr>
            <p:extLst>
              <p:ext uri="{D42A27DB-BD31-4B8C-83A1-F6EECF244321}">
                <p14:modId xmlns:p14="http://schemas.microsoft.com/office/powerpoint/2010/main" val="841986094"/>
              </p:ext>
            </p:extLst>
          </p:nvPr>
        </p:nvGraphicFramePr>
        <p:xfrm>
          <a:off x="5240336" y="1683605"/>
          <a:ext cx="6524944" cy="4235866"/>
        </p:xfrm>
        <a:graphic>
          <a:graphicData uri="http://schemas.openxmlformats.org/drawingml/2006/table">
            <a:tbl>
              <a:tblPr firstRow="1" lastRow="1">
                <a:tableStyleId>{6E25E649-3F16-4E02-A733-19D2CDBF48F0}</a:tableStyleId>
              </a:tblPr>
              <a:tblGrid>
                <a:gridCol w="3484325">
                  <a:extLst>
                    <a:ext uri="{9D8B030D-6E8A-4147-A177-3AD203B41FA5}">
                      <a16:colId xmlns:a16="http://schemas.microsoft.com/office/drawing/2014/main" val="2149593844"/>
                    </a:ext>
                  </a:extLst>
                </a:gridCol>
                <a:gridCol w="1567419">
                  <a:extLst>
                    <a:ext uri="{9D8B030D-6E8A-4147-A177-3AD203B41FA5}">
                      <a16:colId xmlns:a16="http://schemas.microsoft.com/office/drawing/2014/main" val="2523532328"/>
                    </a:ext>
                  </a:extLst>
                </a:gridCol>
                <a:gridCol w="1473200">
                  <a:extLst>
                    <a:ext uri="{9D8B030D-6E8A-4147-A177-3AD203B41FA5}">
                      <a16:colId xmlns:a16="http://schemas.microsoft.com/office/drawing/2014/main" val="2872956287"/>
                    </a:ext>
                  </a:extLst>
                </a:gridCol>
              </a:tblGrid>
              <a:tr h="314337">
                <a:tc>
                  <a:txBody>
                    <a:bodyPr/>
                    <a:lstStyle/>
                    <a:p>
                      <a:pPr marL="0" marR="0" algn="ctr" fontAlgn="base">
                        <a:lnSpc>
                          <a:spcPct val="110000"/>
                        </a:lnSpc>
                        <a:spcBef>
                          <a:spcPts val="0"/>
                        </a:spcBef>
                        <a:spcAft>
                          <a:spcPts val="0"/>
                        </a:spcAft>
                      </a:pPr>
                      <a:r>
                        <a:rPr lang="es-PE" sz="1800" b="1" dirty="0">
                          <a:effectLst/>
                        </a:rPr>
                        <a:t>Componente</a:t>
                      </a:r>
                      <a:r>
                        <a:rPr lang="es-PE" sz="1800" dirty="0">
                          <a:solidFill>
                            <a:srgbClr val="000000"/>
                          </a:solidFill>
                          <a:effectLst/>
                        </a:rPr>
                        <a:t> </a:t>
                      </a:r>
                      <a:endParaRPr lang="en-CA" sz="1800" dirty="0">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0" marB="0" anchor="ctr"/>
                </a:tc>
                <a:tc>
                  <a:txBody>
                    <a:bodyPr/>
                    <a:lstStyle/>
                    <a:p>
                      <a:pPr marL="0" marR="0" algn="ctr" fontAlgn="base">
                        <a:lnSpc>
                          <a:spcPct val="110000"/>
                        </a:lnSpc>
                        <a:spcBef>
                          <a:spcPts val="0"/>
                        </a:spcBef>
                        <a:spcAft>
                          <a:spcPts val="0"/>
                        </a:spcAft>
                      </a:pPr>
                      <a:r>
                        <a:rPr lang="es-PE" sz="1800" dirty="0">
                          <a:solidFill>
                            <a:schemeClr val="bg1"/>
                          </a:solidFill>
                          <a:effectLst/>
                          <a:latin typeface="+mn-lt"/>
                          <a:ea typeface="Times New Roman" panose="02020603050405020304" pitchFamily="18" charset="0"/>
                          <a:cs typeface="Arial" panose="020B0604020202020204" pitchFamily="34" charset="0"/>
                        </a:rPr>
                        <a:t>2023 (MM)</a:t>
                      </a:r>
                      <a:endParaRPr lang="en-CA" sz="1800" dirty="0">
                        <a:solidFill>
                          <a:schemeClr val="bg1"/>
                        </a:solidFill>
                        <a:effectLst/>
                        <a:latin typeface="+mn-lt"/>
                        <a:ea typeface="Times New Roman" panose="02020603050405020304" pitchFamily="18" charset="0"/>
                        <a:cs typeface="Arial" panose="020B0604020202020204" pitchFamily="34" charset="0"/>
                      </a:endParaRPr>
                    </a:p>
                  </a:txBody>
                  <a:tcPr marL="0" marR="0" marT="0" marB="0" anchor="ctr"/>
                </a:tc>
                <a:tc>
                  <a:txBody>
                    <a:bodyPr/>
                    <a:lstStyle/>
                    <a:p>
                      <a:pPr marL="0" marR="0" algn="ctr" fontAlgn="base">
                        <a:lnSpc>
                          <a:spcPct val="110000"/>
                        </a:lnSpc>
                        <a:spcBef>
                          <a:spcPts val="0"/>
                        </a:spcBef>
                        <a:spcAft>
                          <a:spcPts val="0"/>
                        </a:spcAft>
                      </a:pPr>
                      <a:r>
                        <a:rPr lang="es-PE" sz="1800" dirty="0">
                          <a:solidFill>
                            <a:schemeClr val="bg1"/>
                          </a:solidFill>
                          <a:effectLst/>
                          <a:latin typeface="+mn-lt"/>
                          <a:ea typeface="Times New Roman" panose="02020603050405020304" pitchFamily="18" charset="0"/>
                          <a:cs typeface="Arial" panose="020B0604020202020204" pitchFamily="34" charset="0"/>
                        </a:rPr>
                        <a:t>2024 (MM)</a:t>
                      </a:r>
                      <a:endParaRPr lang="en-CA" sz="1800" dirty="0">
                        <a:solidFill>
                          <a:schemeClr val="bg1"/>
                        </a:solidFill>
                        <a:effectLst/>
                        <a:latin typeface="+mn-lt"/>
                        <a:ea typeface="Times New Roman" panose="02020603050405020304" pitchFamily="18" charset="0"/>
                        <a:cs typeface="Arial" panose="020B0604020202020204" pitchFamily="34" charset="0"/>
                      </a:endParaRPr>
                    </a:p>
                  </a:txBody>
                  <a:tcPr marL="0" marR="0" marT="0" marB="0" anchor="ctr"/>
                </a:tc>
                <a:extLst>
                  <a:ext uri="{0D108BD9-81ED-4DB2-BD59-A6C34878D82A}">
                    <a16:rowId xmlns:a16="http://schemas.microsoft.com/office/drawing/2014/main" val="1151458972"/>
                  </a:ext>
                </a:extLst>
              </a:tr>
              <a:tr h="653588">
                <a:tc>
                  <a:txBody>
                    <a:bodyPr/>
                    <a:lstStyle/>
                    <a:p>
                      <a:pPr marL="0" marR="0" fontAlgn="base">
                        <a:lnSpc>
                          <a:spcPct val="110000"/>
                        </a:lnSpc>
                        <a:spcBef>
                          <a:spcPts val="0"/>
                        </a:spcBef>
                        <a:spcAft>
                          <a:spcPts val="0"/>
                        </a:spcAft>
                      </a:pPr>
                      <a:r>
                        <a:rPr lang="es-PE" sz="1600" dirty="0">
                          <a:solidFill>
                            <a:srgbClr val="000000"/>
                          </a:solidFill>
                          <a:effectLst/>
                        </a:rPr>
                        <a:t>Contratación de personal bajo régimen CAS </a:t>
                      </a:r>
                      <a:endParaRPr lang="en-CA" sz="1600" dirty="0">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0" marB="0" anchor="ctr"/>
                </a:tc>
                <a:tc>
                  <a:txBody>
                    <a:bodyPr/>
                    <a:lstStyle/>
                    <a:p>
                      <a:pPr marL="0" marR="0" algn="ctr" fontAlgn="base">
                        <a:lnSpc>
                          <a:spcPct val="110000"/>
                        </a:lnSpc>
                        <a:spcBef>
                          <a:spcPts val="0"/>
                        </a:spcBef>
                        <a:spcAft>
                          <a:spcPts val="0"/>
                        </a:spcAft>
                      </a:pPr>
                      <a:r>
                        <a:rPr lang="en-CA" sz="1800" dirty="0">
                          <a:effectLst/>
                          <a:latin typeface="+mn-lt"/>
                          <a:ea typeface="Times New Roman" panose="02020603050405020304" pitchFamily="18" charset="0"/>
                          <a:cs typeface="Arial" panose="020B0604020202020204" pitchFamily="34" charset="0"/>
                        </a:rPr>
                        <a:t>57.6</a:t>
                      </a:r>
                    </a:p>
                  </a:txBody>
                  <a:tcPr marL="0" marR="0" marT="0" marB="0" anchor="ctr"/>
                </a:tc>
                <a:tc>
                  <a:txBody>
                    <a:bodyPr/>
                    <a:lstStyle/>
                    <a:p>
                      <a:pPr marL="0" marR="0" algn="ctr" fontAlgn="base">
                        <a:lnSpc>
                          <a:spcPct val="110000"/>
                        </a:lnSpc>
                        <a:spcBef>
                          <a:spcPts val="0"/>
                        </a:spcBef>
                        <a:spcAft>
                          <a:spcPts val="0"/>
                        </a:spcAft>
                      </a:pPr>
                      <a:r>
                        <a:rPr lang="en-CA" sz="1800" dirty="0">
                          <a:effectLst/>
                          <a:latin typeface="+mn-lt"/>
                          <a:ea typeface="Times New Roman" panose="02020603050405020304" pitchFamily="18" charset="0"/>
                          <a:cs typeface="Arial" panose="020B0604020202020204" pitchFamily="34" charset="0"/>
                        </a:rPr>
                        <a:t>60.5</a:t>
                      </a:r>
                    </a:p>
                  </a:txBody>
                  <a:tcPr marL="0" marR="0" marT="0" marB="0" anchor="ctr"/>
                </a:tc>
                <a:extLst>
                  <a:ext uri="{0D108BD9-81ED-4DB2-BD59-A6C34878D82A}">
                    <a16:rowId xmlns:a16="http://schemas.microsoft.com/office/drawing/2014/main" val="3339408725"/>
                  </a:ext>
                </a:extLst>
              </a:tr>
              <a:tr h="653588">
                <a:tc>
                  <a:txBody>
                    <a:bodyPr/>
                    <a:lstStyle/>
                    <a:p>
                      <a:pPr marL="0" marR="0" algn="just">
                        <a:lnSpc>
                          <a:spcPct val="110000"/>
                        </a:lnSpc>
                        <a:spcBef>
                          <a:spcPts val="0"/>
                        </a:spcBef>
                        <a:spcAft>
                          <a:spcPts val="0"/>
                        </a:spcAft>
                      </a:pPr>
                      <a:r>
                        <a:rPr lang="es-PE" sz="1600" dirty="0">
                          <a:solidFill>
                            <a:srgbClr val="000000"/>
                          </a:solidFill>
                          <a:effectLst/>
                        </a:rPr>
                        <a:t>Pago de horas complementarias para docentes remediales</a:t>
                      </a:r>
                      <a:endParaRPr lang="en-CA" sz="1600" dirty="0">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0" marB="0" anchor="ctr"/>
                </a:tc>
                <a:tc>
                  <a:txBody>
                    <a:bodyPr/>
                    <a:lstStyle/>
                    <a:p>
                      <a:pPr marL="0" marR="0" algn="ctr">
                        <a:lnSpc>
                          <a:spcPct val="110000"/>
                        </a:lnSpc>
                        <a:spcBef>
                          <a:spcPts val="0"/>
                        </a:spcBef>
                        <a:spcAft>
                          <a:spcPts val="0"/>
                        </a:spcAft>
                      </a:pPr>
                      <a:r>
                        <a:rPr lang="en-CA" sz="1800" dirty="0">
                          <a:effectLst/>
                          <a:latin typeface="+mn-lt"/>
                          <a:ea typeface="Times New Roman" panose="02020603050405020304" pitchFamily="18" charset="0"/>
                          <a:cs typeface="Arial" panose="020B0604020202020204" pitchFamily="34" charset="0"/>
                        </a:rPr>
                        <a:t>16.7</a:t>
                      </a:r>
                    </a:p>
                  </a:txBody>
                  <a:tcPr marL="0" marR="0" marT="0" marB="0" anchor="ctr"/>
                </a:tc>
                <a:tc>
                  <a:txBody>
                    <a:bodyPr/>
                    <a:lstStyle/>
                    <a:p>
                      <a:pPr marL="0" marR="0" algn="ctr">
                        <a:lnSpc>
                          <a:spcPct val="110000"/>
                        </a:lnSpc>
                        <a:spcBef>
                          <a:spcPts val="0"/>
                        </a:spcBef>
                        <a:spcAft>
                          <a:spcPts val="0"/>
                        </a:spcAft>
                      </a:pPr>
                      <a:r>
                        <a:rPr lang="en-CA" sz="1800" dirty="0">
                          <a:effectLst/>
                          <a:latin typeface="+mn-lt"/>
                          <a:ea typeface="Times New Roman" panose="02020603050405020304" pitchFamily="18" charset="0"/>
                          <a:cs typeface="Arial" panose="020B0604020202020204" pitchFamily="34" charset="0"/>
                        </a:rPr>
                        <a:t>17.2</a:t>
                      </a:r>
                    </a:p>
                  </a:txBody>
                  <a:tcPr marL="0" marR="0" marT="0" marB="0" anchor="ctr"/>
                </a:tc>
                <a:extLst>
                  <a:ext uri="{0D108BD9-81ED-4DB2-BD59-A6C34878D82A}">
                    <a16:rowId xmlns:a16="http://schemas.microsoft.com/office/drawing/2014/main" val="2635756779"/>
                  </a:ext>
                </a:extLst>
              </a:tr>
              <a:tr h="653588">
                <a:tc>
                  <a:txBody>
                    <a:bodyPr/>
                    <a:lstStyle/>
                    <a:p>
                      <a:pPr marL="0" marR="0" fontAlgn="base">
                        <a:lnSpc>
                          <a:spcPct val="110000"/>
                        </a:lnSpc>
                        <a:spcBef>
                          <a:spcPts val="0"/>
                        </a:spcBef>
                        <a:spcAft>
                          <a:spcPts val="0"/>
                        </a:spcAft>
                      </a:pPr>
                      <a:r>
                        <a:rPr lang="es-PE" sz="1600" dirty="0">
                          <a:solidFill>
                            <a:srgbClr val="000000"/>
                          </a:solidFill>
                          <a:effectLst/>
                        </a:rPr>
                        <a:t>Traslados (Viáticos, pasajes y movilidad local)   </a:t>
                      </a:r>
                      <a:endParaRPr lang="en-CA" sz="1600" dirty="0">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0" marB="0" anchor="ctr"/>
                </a:tc>
                <a:tc>
                  <a:txBody>
                    <a:bodyPr/>
                    <a:lstStyle/>
                    <a:p>
                      <a:pPr marL="0" marR="0" algn="ctr" fontAlgn="base">
                        <a:lnSpc>
                          <a:spcPct val="110000"/>
                        </a:lnSpc>
                        <a:spcBef>
                          <a:spcPts val="0"/>
                        </a:spcBef>
                        <a:spcAft>
                          <a:spcPts val="0"/>
                        </a:spcAft>
                      </a:pPr>
                      <a:r>
                        <a:rPr lang="en-CA" sz="1800" dirty="0">
                          <a:effectLst/>
                          <a:latin typeface="+mn-lt"/>
                          <a:ea typeface="Times New Roman" panose="02020603050405020304" pitchFamily="18" charset="0"/>
                          <a:cs typeface="Arial" panose="020B0604020202020204" pitchFamily="34" charset="0"/>
                        </a:rPr>
                        <a:t>32.4</a:t>
                      </a:r>
                    </a:p>
                  </a:txBody>
                  <a:tcPr marL="0" marR="0" marT="0" marB="0" anchor="ctr"/>
                </a:tc>
                <a:tc>
                  <a:txBody>
                    <a:bodyPr/>
                    <a:lstStyle/>
                    <a:p>
                      <a:pPr marL="0" marR="0" algn="ctr" fontAlgn="base">
                        <a:lnSpc>
                          <a:spcPct val="110000"/>
                        </a:lnSpc>
                        <a:spcBef>
                          <a:spcPts val="0"/>
                        </a:spcBef>
                        <a:spcAft>
                          <a:spcPts val="0"/>
                        </a:spcAft>
                      </a:pPr>
                      <a:r>
                        <a:rPr lang="en-CA" sz="1800" dirty="0">
                          <a:effectLst/>
                          <a:latin typeface="+mn-lt"/>
                          <a:ea typeface="Times New Roman" panose="02020603050405020304" pitchFamily="18" charset="0"/>
                          <a:cs typeface="Arial" panose="020B0604020202020204" pitchFamily="34" charset="0"/>
                        </a:rPr>
                        <a:t>34.1</a:t>
                      </a:r>
                    </a:p>
                  </a:txBody>
                  <a:tcPr marL="0" marR="0" marT="0" marB="0" anchor="ctr"/>
                </a:tc>
                <a:extLst>
                  <a:ext uri="{0D108BD9-81ED-4DB2-BD59-A6C34878D82A}">
                    <a16:rowId xmlns:a16="http://schemas.microsoft.com/office/drawing/2014/main" val="4096899493"/>
                  </a:ext>
                </a:extLst>
              </a:tr>
              <a:tr h="992840">
                <a:tc>
                  <a:txBody>
                    <a:bodyPr/>
                    <a:lstStyle/>
                    <a:p>
                      <a:pPr marL="0" marR="0" fontAlgn="base">
                        <a:lnSpc>
                          <a:spcPct val="110000"/>
                        </a:lnSpc>
                        <a:spcBef>
                          <a:spcPts val="0"/>
                        </a:spcBef>
                        <a:spcAft>
                          <a:spcPts val="0"/>
                        </a:spcAft>
                      </a:pPr>
                      <a:r>
                        <a:rPr lang="es-PE" sz="1600" dirty="0">
                          <a:solidFill>
                            <a:srgbClr val="000000"/>
                          </a:solidFill>
                          <a:effectLst/>
                        </a:rPr>
                        <a:t>Adquisición de material fungible, didáctico, limpieza, servicio de impresiones y/o fotocopiado  </a:t>
                      </a:r>
                      <a:endParaRPr lang="en-CA" sz="1600" dirty="0">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0" marB="0" anchor="ctr"/>
                </a:tc>
                <a:tc>
                  <a:txBody>
                    <a:bodyPr/>
                    <a:lstStyle/>
                    <a:p>
                      <a:pPr marL="0" marR="0" algn="ctr" fontAlgn="base">
                        <a:lnSpc>
                          <a:spcPct val="110000"/>
                        </a:lnSpc>
                        <a:spcBef>
                          <a:spcPts val="0"/>
                        </a:spcBef>
                        <a:spcAft>
                          <a:spcPts val="0"/>
                        </a:spcAft>
                      </a:pPr>
                      <a:r>
                        <a:rPr lang="en-CA" sz="1800" dirty="0">
                          <a:effectLst/>
                          <a:latin typeface="+mn-lt"/>
                          <a:ea typeface="Times New Roman" panose="02020603050405020304" pitchFamily="18" charset="0"/>
                          <a:cs typeface="Arial" panose="020B0604020202020204" pitchFamily="34" charset="0"/>
                        </a:rPr>
                        <a:t>1.4</a:t>
                      </a:r>
                    </a:p>
                  </a:txBody>
                  <a:tcPr marL="0" marR="0" marT="0" marB="0" anchor="ctr"/>
                </a:tc>
                <a:tc>
                  <a:txBody>
                    <a:bodyPr/>
                    <a:lstStyle/>
                    <a:p>
                      <a:pPr marL="0" marR="0" algn="ctr" fontAlgn="base">
                        <a:lnSpc>
                          <a:spcPct val="110000"/>
                        </a:lnSpc>
                        <a:spcBef>
                          <a:spcPts val="0"/>
                        </a:spcBef>
                        <a:spcAft>
                          <a:spcPts val="0"/>
                        </a:spcAft>
                      </a:pPr>
                      <a:r>
                        <a:rPr lang="en-CA" sz="1800" dirty="0">
                          <a:effectLst/>
                          <a:latin typeface="+mn-lt"/>
                          <a:ea typeface="Times New Roman" panose="02020603050405020304" pitchFamily="18" charset="0"/>
                          <a:cs typeface="Arial" panose="020B0604020202020204" pitchFamily="34" charset="0"/>
                        </a:rPr>
                        <a:t>1.6</a:t>
                      </a:r>
                    </a:p>
                  </a:txBody>
                  <a:tcPr marL="0" marR="0" marT="0" marB="0" anchor="ctr"/>
                </a:tc>
                <a:extLst>
                  <a:ext uri="{0D108BD9-81ED-4DB2-BD59-A6C34878D82A}">
                    <a16:rowId xmlns:a16="http://schemas.microsoft.com/office/drawing/2014/main" val="288856684"/>
                  </a:ext>
                </a:extLst>
              </a:tr>
              <a:tr h="653588">
                <a:tc>
                  <a:txBody>
                    <a:bodyPr/>
                    <a:lstStyle/>
                    <a:p>
                      <a:pPr marL="0" marR="0" fontAlgn="base">
                        <a:lnSpc>
                          <a:spcPct val="110000"/>
                        </a:lnSpc>
                        <a:spcBef>
                          <a:spcPts val="0"/>
                        </a:spcBef>
                        <a:spcAft>
                          <a:spcPts val="0"/>
                        </a:spcAft>
                      </a:pPr>
                      <a:r>
                        <a:rPr lang="es-PE" sz="1600" dirty="0">
                          <a:solidFill>
                            <a:srgbClr val="000000"/>
                          </a:solidFill>
                          <a:effectLst/>
                        </a:rPr>
                        <a:t>Diseño e implementación y evaluación  </a:t>
                      </a:r>
                      <a:endParaRPr lang="en-CA" sz="1600" dirty="0">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0" marB="0" anchor="ctr"/>
                </a:tc>
                <a:tc>
                  <a:txBody>
                    <a:bodyPr/>
                    <a:lstStyle/>
                    <a:p>
                      <a:pPr marL="0" marR="0" algn="ctr" fontAlgn="base">
                        <a:lnSpc>
                          <a:spcPct val="110000"/>
                        </a:lnSpc>
                        <a:spcBef>
                          <a:spcPts val="0"/>
                        </a:spcBef>
                        <a:spcAft>
                          <a:spcPts val="0"/>
                        </a:spcAft>
                      </a:pPr>
                      <a:r>
                        <a:rPr lang="en-CA" sz="1800" dirty="0">
                          <a:effectLst/>
                          <a:latin typeface="+mn-lt"/>
                          <a:ea typeface="Times New Roman" panose="02020603050405020304" pitchFamily="18" charset="0"/>
                          <a:cs typeface="Arial" panose="020B0604020202020204" pitchFamily="34" charset="0"/>
                        </a:rPr>
                        <a:t>0.5</a:t>
                      </a:r>
                    </a:p>
                  </a:txBody>
                  <a:tcPr marL="0" marR="0" marT="0" marB="0" anchor="ctr"/>
                </a:tc>
                <a:tc>
                  <a:txBody>
                    <a:bodyPr/>
                    <a:lstStyle/>
                    <a:p>
                      <a:pPr marL="0" marR="0" algn="ctr" fontAlgn="base">
                        <a:lnSpc>
                          <a:spcPct val="110000"/>
                        </a:lnSpc>
                        <a:spcBef>
                          <a:spcPts val="0"/>
                        </a:spcBef>
                        <a:spcAft>
                          <a:spcPts val="0"/>
                        </a:spcAft>
                      </a:pPr>
                      <a:r>
                        <a:rPr lang="en-CA" sz="1800" dirty="0">
                          <a:effectLst/>
                          <a:latin typeface="+mn-lt"/>
                          <a:ea typeface="Times New Roman" panose="02020603050405020304" pitchFamily="18" charset="0"/>
                          <a:cs typeface="Arial" panose="020B0604020202020204" pitchFamily="34" charset="0"/>
                        </a:rPr>
                        <a:t>0.5</a:t>
                      </a:r>
                    </a:p>
                  </a:txBody>
                  <a:tcPr marL="0" marR="0" marT="0" marB="0" anchor="ctr"/>
                </a:tc>
                <a:extLst>
                  <a:ext uri="{0D108BD9-81ED-4DB2-BD59-A6C34878D82A}">
                    <a16:rowId xmlns:a16="http://schemas.microsoft.com/office/drawing/2014/main" val="2223940345"/>
                  </a:ext>
                </a:extLst>
              </a:tr>
              <a:tr h="314337">
                <a:tc>
                  <a:txBody>
                    <a:bodyPr/>
                    <a:lstStyle/>
                    <a:p>
                      <a:pPr marL="0" marR="0" algn="ctr" fontAlgn="base">
                        <a:lnSpc>
                          <a:spcPct val="110000"/>
                        </a:lnSpc>
                        <a:spcBef>
                          <a:spcPts val="0"/>
                        </a:spcBef>
                        <a:spcAft>
                          <a:spcPts val="0"/>
                        </a:spcAft>
                      </a:pPr>
                      <a:r>
                        <a:rPr lang="es-PE" sz="1800" b="1" dirty="0">
                          <a:solidFill>
                            <a:srgbClr val="000000"/>
                          </a:solidFill>
                          <a:effectLst/>
                        </a:rPr>
                        <a:t>Total</a:t>
                      </a:r>
                      <a:r>
                        <a:rPr lang="es-PE" sz="1800" dirty="0">
                          <a:solidFill>
                            <a:srgbClr val="000000"/>
                          </a:solidFill>
                          <a:effectLst/>
                        </a:rPr>
                        <a:t> </a:t>
                      </a:r>
                      <a:endParaRPr lang="en-CA" sz="1800" dirty="0">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0" marB="0" anchor="ctr"/>
                </a:tc>
                <a:tc>
                  <a:txBody>
                    <a:bodyPr/>
                    <a:lstStyle/>
                    <a:p>
                      <a:pPr marL="0" marR="0" algn="ctr" fontAlgn="base">
                        <a:lnSpc>
                          <a:spcPct val="110000"/>
                        </a:lnSpc>
                        <a:spcBef>
                          <a:spcPts val="0"/>
                        </a:spcBef>
                        <a:spcAft>
                          <a:spcPts val="0"/>
                        </a:spcAft>
                      </a:pPr>
                      <a:r>
                        <a:rPr lang="en-CA" sz="1800" dirty="0">
                          <a:effectLst/>
                          <a:latin typeface="+mn-lt"/>
                          <a:ea typeface="Times New Roman" panose="02020603050405020304" pitchFamily="18" charset="0"/>
                          <a:cs typeface="Arial" panose="020B0604020202020204" pitchFamily="34" charset="0"/>
                        </a:rPr>
                        <a:t>108.5</a:t>
                      </a:r>
                    </a:p>
                  </a:txBody>
                  <a:tcPr marL="0" marR="0" marT="0" marB="0" anchor="ctr"/>
                </a:tc>
                <a:tc>
                  <a:txBody>
                    <a:bodyPr/>
                    <a:lstStyle/>
                    <a:p>
                      <a:pPr marL="0" marR="0" algn="ctr" fontAlgn="base">
                        <a:lnSpc>
                          <a:spcPct val="110000"/>
                        </a:lnSpc>
                        <a:spcBef>
                          <a:spcPts val="0"/>
                        </a:spcBef>
                        <a:spcAft>
                          <a:spcPts val="0"/>
                        </a:spcAft>
                      </a:pPr>
                      <a:r>
                        <a:rPr lang="en-CA" sz="1800" dirty="0">
                          <a:effectLst/>
                          <a:latin typeface="+mn-lt"/>
                          <a:ea typeface="Times New Roman" panose="02020603050405020304" pitchFamily="18" charset="0"/>
                          <a:cs typeface="Arial" panose="020B0604020202020204" pitchFamily="34" charset="0"/>
                        </a:rPr>
                        <a:t>114.3</a:t>
                      </a:r>
                    </a:p>
                  </a:txBody>
                  <a:tcPr marL="0" marR="0" marT="0" marB="0" anchor="ctr"/>
                </a:tc>
                <a:extLst>
                  <a:ext uri="{0D108BD9-81ED-4DB2-BD59-A6C34878D82A}">
                    <a16:rowId xmlns:a16="http://schemas.microsoft.com/office/drawing/2014/main" val="2219459389"/>
                  </a:ext>
                </a:extLst>
              </a:tr>
            </a:tbl>
          </a:graphicData>
        </a:graphic>
      </p:graphicFrame>
    </p:spTree>
    <p:extLst>
      <p:ext uri="{BB962C8B-B14F-4D97-AF65-F5344CB8AC3E}">
        <p14:creationId xmlns:p14="http://schemas.microsoft.com/office/powerpoint/2010/main" val="261798654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Diagonal Corners Rounded 6">
            <a:extLst>
              <a:ext uri="{FF2B5EF4-FFF2-40B4-BE49-F238E27FC236}">
                <a16:creationId xmlns:a16="http://schemas.microsoft.com/office/drawing/2014/main" id="{5DC549E6-0B6C-450B-922D-0F58D2924A72}"/>
              </a:ext>
            </a:extLst>
          </p:cNvPr>
          <p:cNvSpPr/>
          <p:nvPr/>
        </p:nvSpPr>
        <p:spPr>
          <a:xfrm>
            <a:off x="429623" y="1048649"/>
            <a:ext cx="11267440" cy="721517"/>
          </a:xfrm>
          <a:prstGeom prst="round2DiagRect">
            <a:avLst/>
          </a:prstGeom>
          <a:solidFill>
            <a:srgbClr val="C00000"/>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solidFill>
                <a:schemeClr val="bg1"/>
              </a:solidFill>
            </a:endParaRPr>
          </a:p>
        </p:txBody>
      </p:sp>
      <p:sp>
        <p:nvSpPr>
          <p:cNvPr id="2" name="Title 1">
            <a:extLst>
              <a:ext uri="{FF2B5EF4-FFF2-40B4-BE49-F238E27FC236}">
                <a16:creationId xmlns:a16="http://schemas.microsoft.com/office/drawing/2014/main" id="{16C18CE1-72D9-4719-A2FF-5C93A7E96E39}"/>
              </a:ext>
            </a:extLst>
          </p:cNvPr>
          <p:cNvSpPr>
            <a:spLocks noGrp="1"/>
          </p:cNvSpPr>
          <p:nvPr>
            <p:ph type="title"/>
          </p:nvPr>
        </p:nvSpPr>
        <p:spPr/>
        <p:txBody>
          <a:bodyPr/>
          <a:lstStyle/>
          <a:p>
            <a:r>
              <a:rPr lang="es-PE" sz="4000" dirty="0"/>
              <a:t>AGENDA</a:t>
            </a:r>
            <a:endParaRPr lang="en-CA" sz="4000" dirty="0"/>
          </a:p>
        </p:txBody>
      </p:sp>
      <p:sp>
        <p:nvSpPr>
          <p:cNvPr id="3" name="Slide Number Placeholder 2">
            <a:extLst>
              <a:ext uri="{FF2B5EF4-FFF2-40B4-BE49-F238E27FC236}">
                <a16:creationId xmlns:a16="http://schemas.microsoft.com/office/drawing/2014/main" id="{0DFD7E46-D5CE-48DD-96F3-51002A57C15D}"/>
              </a:ext>
            </a:extLst>
          </p:cNvPr>
          <p:cNvSpPr>
            <a:spLocks noGrp="1"/>
          </p:cNvSpPr>
          <p:nvPr>
            <p:ph type="sldNum" sz="quarter" idx="12"/>
          </p:nvPr>
        </p:nvSpPr>
        <p:spPr/>
        <p:txBody>
          <a:bodyPr/>
          <a:lstStyle/>
          <a:p>
            <a:fld id="{DAF31D20-51B2-49A6-91FA-1FC48A60B42D}" type="slidenum">
              <a:rPr lang="es-PE" smtClean="0"/>
              <a:t>31</a:t>
            </a:fld>
            <a:endParaRPr lang="es-PE"/>
          </a:p>
        </p:txBody>
      </p:sp>
      <p:sp>
        <p:nvSpPr>
          <p:cNvPr id="5" name="TextBox 4">
            <a:extLst>
              <a:ext uri="{FF2B5EF4-FFF2-40B4-BE49-F238E27FC236}">
                <a16:creationId xmlns:a16="http://schemas.microsoft.com/office/drawing/2014/main" id="{17CB7C5A-6404-4218-A2FD-BE386960A332}"/>
              </a:ext>
            </a:extLst>
          </p:cNvPr>
          <p:cNvSpPr txBox="1"/>
          <p:nvPr/>
        </p:nvSpPr>
        <p:spPr>
          <a:xfrm>
            <a:off x="494937" y="1249444"/>
            <a:ext cx="10739120" cy="369332"/>
          </a:xfrm>
          <a:prstGeom prst="rect">
            <a:avLst/>
          </a:prstGeom>
          <a:noFill/>
        </p:spPr>
        <p:txBody>
          <a:bodyPr wrap="square" rtlCol="0">
            <a:spAutoFit/>
          </a:bodyPr>
          <a:lstStyle/>
          <a:p>
            <a:r>
              <a:rPr lang="es-PE" b="1" dirty="0">
                <a:solidFill>
                  <a:schemeClr val="bg1"/>
                </a:solidFill>
              </a:rPr>
              <a:t>2.  Propuesta de estrategia de Educación Remedial </a:t>
            </a:r>
            <a:endParaRPr lang="en-CA" b="1" dirty="0">
              <a:solidFill>
                <a:schemeClr val="bg1"/>
              </a:solidFill>
            </a:endParaRPr>
          </a:p>
        </p:txBody>
      </p:sp>
      <p:sp>
        <p:nvSpPr>
          <p:cNvPr id="11" name="Rectangle 10">
            <a:extLst>
              <a:ext uri="{FF2B5EF4-FFF2-40B4-BE49-F238E27FC236}">
                <a16:creationId xmlns:a16="http://schemas.microsoft.com/office/drawing/2014/main" id="{73ED18D7-638E-4BF8-8DFC-833E74760777}"/>
              </a:ext>
            </a:extLst>
          </p:cNvPr>
          <p:cNvSpPr/>
          <p:nvPr/>
        </p:nvSpPr>
        <p:spPr>
          <a:xfrm>
            <a:off x="866770" y="1964956"/>
            <a:ext cx="10753725" cy="381602"/>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00050" indent="-400050">
              <a:buFont typeface="+mj-lt"/>
              <a:buAutoNum type="romanUcPeriod"/>
            </a:pPr>
            <a:r>
              <a:rPr lang="es-PE" b="1" dirty="0">
                <a:solidFill>
                  <a:schemeClr val="tx2"/>
                </a:solidFill>
              </a:rPr>
              <a:t>Información general de estrategias</a:t>
            </a:r>
            <a:endParaRPr lang="en-CA" b="1" dirty="0">
              <a:solidFill>
                <a:schemeClr val="tx2"/>
              </a:solidFill>
            </a:endParaRPr>
          </a:p>
        </p:txBody>
      </p:sp>
      <p:sp>
        <p:nvSpPr>
          <p:cNvPr id="13" name="Rectangle 12">
            <a:extLst>
              <a:ext uri="{FF2B5EF4-FFF2-40B4-BE49-F238E27FC236}">
                <a16:creationId xmlns:a16="http://schemas.microsoft.com/office/drawing/2014/main" id="{BF24706C-635F-48B8-86E0-9354C25A8312}"/>
              </a:ext>
            </a:extLst>
          </p:cNvPr>
          <p:cNvSpPr/>
          <p:nvPr/>
        </p:nvSpPr>
        <p:spPr>
          <a:xfrm>
            <a:off x="866770" y="2559386"/>
            <a:ext cx="10753725" cy="381602"/>
          </a:xfrm>
          <a:prstGeom prst="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00050" indent="-400050">
              <a:buFont typeface="+mj-lt"/>
              <a:buAutoNum type="romanUcPeriod" startAt="2"/>
            </a:pPr>
            <a:r>
              <a:rPr lang="es-PE" b="1" dirty="0">
                <a:solidFill>
                  <a:schemeClr val="bg1"/>
                </a:solidFill>
              </a:rPr>
              <a:t>Modelo 1: Enseñanza al nivel adecuado (</a:t>
            </a:r>
            <a:r>
              <a:rPr lang="es-PE" b="1" dirty="0" err="1">
                <a:solidFill>
                  <a:schemeClr val="bg1"/>
                </a:solidFill>
              </a:rPr>
              <a:t>TaRL</a:t>
            </a:r>
            <a:r>
              <a:rPr lang="es-PE" b="1" dirty="0">
                <a:solidFill>
                  <a:schemeClr val="bg1"/>
                </a:solidFill>
              </a:rPr>
              <a:t>)</a:t>
            </a:r>
            <a:endParaRPr lang="en-CA" b="1" dirty="0">
              <a:solidFill>
                <a:schemeClr val="bg1"/>
              </a:solidFill>
            </a:endParaRPr>
          </a:p>
        </p:txBody>
      </p:sp>
      <p:sp>
        <p:nvSpPr>
          <p:cNvPr id="15" name="Rectangle 14">
            <a:extLst>
              <a:ext uri="{FF2B5EF4-FFF2-40B4-BE49-F238E27FC236}">
                <a16:creationId xmlns:a16="http://schemas.microsoft.com/office/drawing/2014/main" id="{6D048FC1-72B2-4921-BF07-AC34182DA451}"/>
              </a:ext>
            </a:extLst>
          </p:cNvPr>
          <p:cNvSpPr/>
          <p:nvPr/>
        </p:nvSpPr>
        <p:spPr>
          <a:xfrm>
            <a:off x="866770" y="4598728"/>
            <a:ext cx="10753725" cy="381602"/>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00050" indent="-400050">
              <a:buFont typeface="+mj-lt"/>
              <a:buAutoNum type="romanUcPeriod" startAt="3"/>
            </a:pPr>
            <a:r>
              <a:rPr lang="es-PE" b="1" dirty="0">
                <a:solidFill>
                  <a:schemeClr val="tx2"/>
                </a:solidFill>
              </a:rPr>
              <a:t>Modelo 2: Tutoría con componente digital</a:t>
            </a:r>
            <a:endParaRPr lang="en-CA" b="1" dirty="0">
              <a:solidFill>
                <a:schemeClr val="tx2"/>
              </a:solidFill>
            </a:endParaRPr>
          </a:p>
        </p:txBody>
      </p:sp>
      <p:sp>
        <p:nvSpPr>
          <p:cNvPr id="18" name="TextBox 17">
            <a:extLst>
              <a:ext uri="{FF2B5EF4-FFF2-40B4-BE49-F238E27FC236}">
                <a16:creationId xmlns:a16="http://schemas.microsoft.com/office/drawing/2014/main" id="{1472411D-B88F-4453-A39D-EDA418DB8DC9}"/>
              </a:ext>
            </a:extLst>
          </p:cNvPr>
          <p:cNvSpPr txBox="1"/>
          <p:nvPr/>
        </p:nvSpPr>
        <p:spPr>
          <a:xfrm>
            <a:off x="1104894" y="2959666"/>
            <a:ext cx="10277475" cy="1754326"/>
          </a:xfrm>
          <a:prstGeom prst="rect">
            <a:avLst/>
          </a:prstGeom>
          <a:noFill/>
        </p:spPr>
        <p:txBody>
          <a:bodyPr wrap="square" rtlCol="0">
            <a:spAutoFit/>
          </a:bodyPr>
          <a:lstStyle/>
          <a:p>
            <a:pPr marL="285750" indent="-285750">
              <a:buFont typeface="Wingdings" panose="05000000000000000000" pitchFamily="2" charset="2"/>
              <a:buChar char="§"/>
            </a:pPr>
            <a:r>
              <a:rPr lang="es-PE" sz="1200" dirty="0">
                <a:solidFill>
                  <a:schemeClr val="bg1">
                    <a:lumMod val="65000"/>
                  </a:schemeClr>
                </a:solidFill>
              </a:rPr>
              <a:t>Antecedentes</a:t>
            </a:r>
          </a:p>
          <a:p>
            <a:pPr marL="285750" indent="-285750">
              <a:buFont typeface="Wingdings" panose="05000000000000000000" pitchFamily="2" charset="2"/>
              <a:buChar char="§"/>
            </a:pPr>
            <a:r>
              <a:rPr lang="es-PE" sz="1200" dirty="0">
                <a:solidFill>
                  <a:schemeClr val="bg1">
                    <a:lumMod val="65000"/>
                  </a:schemeClr>
                </a:solidFill>
              </a:rPr>
              <a:t>El Modelo</a:t>
            </a:r>
          </a:p>
          <a:p>
            <a:pPr marL="285750" indent="-285750">
              <a:buFont typeface="Wingdings" panose="05000000000000000000" pitchFamily="2" charset="2"/>
              <a:buChar char="§"/>
            </a:pPr>
            <a:r>
              <a:rPr lang="es-PE" sz="1200" dirty="0">
                <a:solidFill>
                  <a:schemeClr val="bg1">
                    <a:lumMod val="65000"/>
                  </a:schemeClr>
                </a:solidFill>
              </a:rPr>
              <a:t>Componentes de la estrategia</a:t>
            </a:r>
          </a:p>
          <a:p>
            <a:pPr marL="285750" indent="-285750">
              <a:buFont typeface="Wingdings" panose="05000000000000000000" pitchFamily="2" charset="2"/>
              <a:buChar char="§"/>
            </a:pPr>
            <a:r>
              <a:rPr lang="es-PE" sz="1200" dirty="0">
                <a:solidFill>
                  <a:schemeClr val="bg1">
                    <a:lumMod val="65000"/>
                  </a:schemeClr>
                </a:solidFill>
              </a:rPr>
              <a:t>Focalización</a:t>
            </a:r>
          </a:p>
          <a:p>
            <a:pPr marL="285750" indent="-285750">
              <a:buFont typeface="Wingdings" panose="05000000000000000000" pitchFamily="2" charset="2"/>
              <a:buChar char="§"/>
            </a:pPr>
            <a:r>
              <a:rPr lang="es-PE" sz="1200" dirty="0">
                <a:solidFill>
                  <a:schemeClr val="bg1">
                    <a:lumMod val="65000"/>
                  </a:schemeClr>
                </a:solidFill>
              </a:rPr>
              <a:t>Cobertura</a:t>
            </a:r>
          </a:p>
          <a:p>
            <a:pPr marL="285750" indent="-285750">
              <a:buFont typeface="Wingdings" panose="05000000000000000000" pitchFamily="2" charset="2"/>
              <a:buChar char="§"/>
            </a:pPr>
            <a:r>
              <a:rPr lang="es-PE" sz="1200" dirty="0">
                <a:solidFill>
                  <a:schemeClr val="bg1">
                    <a:lumMod val="65000"/>
                  </a:schemeClr>
                </a:solidFill>
              </a:rPr>
              <a:t>Estimación de Costos</a:t>
            </a:r>
          </a:p>
          <a:p>
            <a:pPr marL="285750" indent="-285750">
              <a:buFont typeface="Wingdings" panose="05000000000000000000" pitchFamily="2" charset="2"/>
              <a:buChar char="§"/>
            </a:pPr>
            <a:r>
              <a:rPr lang="es-PE" sz="1200" b="1" dirty="0">
                <a:solidFill>
                  <a:schemeClr val="tx2"/>
                </a:solidFill>
              </a:rPr>
              <a:t>Cronograma</a:t>
            </a:r>
          </a:p>
          <a:p>
            <a:pPr marL="285750" indent="-285750">
              <a:buFont typeface="Wingdings" panose="05000000000000000000" pitchFamily="2" charset="2"/>
              <a:buChar char="§"/>
            </a:pPr>
            <a:r>
              <a:rPr lang="es-PE" sz="1200" dirty="0">
                <a:solidFill>
                  <a:schemeClr val="bg1">
                    <a:lumMod val="65000"/>
                  </a:schemeClr>
                </a:solidFill>
              </a:rPr>
              <a:t>Complementariedad con otras estrategias y recomendaciones</a:t>
            </a:r>
          </a:p>
          <a:p>
            <a:pPr marL="285750" indent="-285750">
              <a:buFont typeface="Wingdings" panose="05000000000000000000" pitchFamily="2" charset="2"/>
              <a:buChar char="§"/>
            </a:pPr>
            <a:endParaRPr lang="es-PE" sz="1200" dirty="0">
              <a:solidFill>
                <a:schemeClr val="tx2"/>
              </a:solidFill>
            </a:endParaRPr>
          </a:p>
        </p:txBody>
      </p:sp>
      <p:sp>
        <p:nvSpPr>
          <p:cNvPr id="19" name="TextBox 18">
            <a:extLst>
              <a:ext uri="{FF2B5EF4-FFF2-40B4-BE49-F238E27FC236}">
                <a16:creationId xmlns:a16="http://schemas.microsoft.com/office/drawing/2014/main" id="{5947BA55-15C3-4040-9B5B-8EAC7B3B3343}"/>
              </a:ext>
            </a:extLst>
          </p:cNvPr>
          <p:cNvSpPr txBox="1"/>
          <p:nvPr/>
        </p:nvSpPr>
        <p:spPr>
          <a:xfrm>
            <a:off x="1104893" y="5024521"/>
            <a:ext cx="10277475" cy="1754326"/>
          </a:xfrm>
          <a:prstGeom prst="rect">
            <a:avLst/>
          </a:prstGeom>
          <a:noFill/>
        </p:spPr>
        <p:txBody>
          <a:bodyPr wrap="square" rtlCol="0">
            <a:spAutoFit/>
          </a:bodyPr>
          <a:lstStyle/>
          <a:p>
            <a:pPr marL="285750" indent="-285750">
              <a:buFont typeface="Wingdings" panose="05000000000000000000" pitchFamily="2" charset="2"/>
              <a:buChar char="§"/>
            </a:pPr>
            <a:r>
              <a:rPr lang="es-PE" sz="1200" dirty="0">
                <a:solidFill>
                  <a:schemeClr val="bg1">
                    <a:lumMod val="65000"/>
                  </a:schemeClr>
                </a:solidFill>
              </a:rPr>
              <a:t>Antecedentes</a:t>
            </a:r>
          </a:p>
          <a:p>
            <a:pPr marL="285750" indent="-285750">
              <a:buFont typeface="Wingdings" panose="05000000000000000000" pitchFamily="2" charset="2"/>
              <a:buChar char="§"/>
            </a:pPr>
            <a:r>
              <a:rPr lang="es-PE" sz="1200" dirty="0">
                <a:solidFill>
                  <a:schemeClr val="bg1">
                    <a:lumMod val="65000"/>
                  </a:schemeClr>
                </a:solidFill>
              </a:rPr>
              <a:t>Oportunidades</a:t>
            </a:r>
          </a:p>
          <a:p>
            <a:pPr marL="285750" indent="-285750">
              <a:buFont typeface="Wingdings" panose="05000000000000000000" pitchFamily="2" charset="2"/>
              <a:buChar char="§"/>
            </a:pPr>
            <a:r>
              <a:rPr lang="es-PE" sz="1200" dirty="0">
                <a:solidFill>
                  <a:schemeClr val="bg1">
                    <a:lumMod val="65000"/>
                  </a:schemeClr>
                </a:solidFill>
              </a:rPr>
              <a:t>El Modelo</a:t>
            </a:r>
          </a:p>
          <a:p>
            <a:pPr marL="285750" indent="-285750">
              <a:buFont typeface="Wingdings" panose="05000000000000000000" pitchFamily="2" charset="2"/>
              <a:buChar char="§"/>
            </a:pPr>
            <a:r>
              <a:rPr lang="es-PE" sz="1200" dirty="0">
                <a:solidFill>
                  <a:schemeClr val="bg1">
                    <a:lumMod val="65000"/>
                  </a:schemeClr>
                </a:solidFill>
              </a:rPr>
              <a:t>Componentes de la estrategia</a:t>
            </a:r>
          </a:p>
          <a:p>
            <a:pPr marL="285750" indent="-285750">
              <a:buFont typeface="Wingdings" panose="05000000000000000000" pitchFamily="2" charset="2"/>
              <a:buChar char="§"/>
            </a:pPr>
            <a:r>
              <a:rPr lang="es-PE" sz="1200" dirty="0">
                <a:solidFill>
                  <a:schemeClr val="bg1">
                    <a:lumMod val="65000"/>
                  </a:schemeClr>
                </a:solidFill>
              </a:rPr>
              <a:t>Focalización</a:t>
            </a:r>
          </a:p>
          <a:p>
            <a:pPr marL="285750" indent="-285750">
              <a:buFont typeface="Wingdings" panose="05000000000000000000" pitchFamily="2" charset="2"/>
              <a:buChar char="§"/>
            </a:pPr>
            <a:r>
              <a:rPr lang="es-PE" sz="1200" dirty="0">
                <a:solidFill>
                  <a:schemeClr val="bg1">
                    <a:lumMod val="65000"/>
                  </a:schemeClr>
                </a:solidFill>
              </a:rPr>
              <a:t>Cobertura</a:t>
            </a:r>
          </a:p>
          <a:p>
            <a:pPr marL="285750" indent="-285750">
              <a:buFont typeface="Wingdings" panose="05000000000000000000" pitchFamily="2" charset="2"/>
              <a:buChar char="§"/>
            </a:pPr>
            <a:r>
              <a:rPr lang="es-PE" sz="1200" dirty="0">
                <a:solidFill>
                  <a:schemeClr val="bg1">
                    <a:lumMod val="65000"/>
                  </a:schemeClr>
                </a:solidFill>
              </a:rPr>
              <a:t>Estimación de Costos</a:t>
            </a:r>
          </a:p>
          <a:p>
            <a:pPr marL="285750" indent="-285750">
              <a:buFont typeface="Wingdings" panose="05000000000000000000" pitchFamily="2" charset="2"/>
              <a:buChar char="§"/>
            </a:pPr>
            <a:r>
              <a:rPr lang="es-PE" sz="1200" dirty="0">
                <a:solidFill>
                  <a:schemeClr val="bg1">
                    <a:lumMod val="65000"/>
                  </a:schemeClr>
                </a:solidFill>
              </a:rPr>
              <a:t>Cronograma</a:t>
            </a:r>
          </a:p>
          <a:p>
            <a:pPr marL="285750" indent="-285750">
              <a:buFont typeface="Wingdings" panose="05000000000000000000" pitchFamily="2" charset="2"/>
              <a:buChar char="§"/>
            </a:pPr>
            <a:r>
              <a:rPr lang="es-PE" sz="1200" dirty="0">
                <a:solidFill>
                  <a:schemeClr val="bg1">
                    <a:lumMod val="65000"/>
                  </a:schemeClr>
                </a:solidFill>
              </a:rPr>
              <a:t>Complementariedad con otras estrategias y recomendaciones</a:t>
            </a:r>
          </a:p>
        </p:txBody>
      </p:sp>
    </p:spTree>
    <p:extLst>
      <p:ext uri="{BB962C8B-B14F-4D97-AF65-F5344CB8AC3E}">
        <p14:creationId xmlns:p14="http://schemas.microsoft.com/office/powerpoint/2010/main" val="21204929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DADB20-4773-4F0F-905F-8ECF4DF9722E}"/>
              </a:ext>
            </a:extLst>
          </p:cNvPr>
          <p:cNvSpPr>
            <a:spLocks noGrp="1"/>
          </p:cNvSpPr>
          <p:nvPr>
            <p:ph type="title"/>
          </p:nvPr>
        </p:nvSpPr>
        <p:spPr>
          <a:xfrm>
            <a:off x="501762" y="289533"/>
            <a:ext cx="8483600" cy="1001078"/>
          </a:xfrm>
        </p:spPr>
        <p:txBody>
          <a:bodyPr/>
          <a:lstStyle/>
          <a:p>
            <a:r>
              <a:rPr lang="es-PE" sz="2800" dirty="0"/>
              <a:t>Fases de la estrategia y cronología  (2021 – 2022)</a:t>
            </a:r>
            <a:endParaRPr lang="en-CA" sz="2800" dirty="0"/>
          </a:p>
        </p:txBody>
      </p:sp>
      <p:graphicFrame>
        <p:nvGraphicFramePr>
          <p:cNvPr id="3" name="Object 2">
            <a:extLst>
              <a:ext uri="{FF2B5EF4-FFF2-40B4-BE49-F238E27FC236}">
                <a16:creationId xmlns:a16="http://schemas.microsoft.com/office/drawing/2014/main" id="{6F79ADA7-C0BF-48E1-95E8-5D4DD1F3C491}"/>
              </a:ext>
            </a:extLst>
          </p:cNvPr>
          <p:cNvGraphicFramePr>
            <a:graphicFrameLocks noChangeAspect="1"/>
          </p:cNvGraphicFramePr>
          <p:nvPr>
            <p:extLst>
              <p:ext uri="{D42A27DB-BD31-4B8C-83A1-F6EECF244321}">
                <p14:modId xmlns:p14="http://schemas.microsoft.com/office/powerpoint/2010/main" val="407872983"/>
              </p:ext>
            </p:extLst>
          </p:nvPr>
        </p:nvGraphicFramePr>
        <p:xfrm>
          <a:off x="635726" y="1923461"/>
          <a:ext cx="10310948" cy="4239460"/>
        </p:xfrm>
        <a:graphic>
          <a:graphicData uri="http://schemas.openxmlformats.org/presentationml/2006/ole">
            <mc:AlternateContent xmlns:mc="http://schemas.openxmlformats.org/markup-compatibility/2006">
              <mc:Choice xmlns:v="urn:schemas-microsoft-com:vml" Requires="v">
                <p:oleObj spid="_x0000_s1033" name="Worksheet" r:id="rId3" imgW="9899572" imgH="4070327" progId="Excel.Sheet.12">
                  <p:embed/>
                </p:oleObj>
              </mc:Choice>
              <mc:Fallback>
                <p:oleObj name="Worksheet" r:id="rId3" imgW="9899572" imgH="4070327" progId="Excel.Sheet.12">
                  <p:embed/>
                  <p:pic>
                    <p:nvPicPr>
                      <p:cNvPr id="0" name=""/>
                      <p:cNvPicPr/>
                      <p:nvPr/>
                    </p:nvPicPr>
                    <p:blipFill>
                      <a:blip r:embed="rId4"/>
                      <a:stretch>
                        <a:fillRect/>
                      </a:stretch>
                    </p:blipFill>
                    <p:spPr>
                      <a:xfrm>
                        <a:off x="635726" y="1923461"/>
                        <a:ext cx="10310948" cy="4239460"/>
                      </a:xfrm>
                      <a:prstGeom prst="rect">
                        <a:avLst/>
                      </a:prstGeom>
                    </p:spPr>
                  </p:pic>
                </p:oleObj>
              </mc:Fallback>
            </mc:AlternateContent>
          </a:graphicData>
        </a:graphic>
      </p:graphicFrame>
      <p:sp>
        <p:nvSpPr>
          <p:cNvPr id="10" name="TextBox 9">
            <a:extLst>
              <a:ext uri="{FF2B5EF4-FFF2-40B4-BE49-F238E27FC236}">
                <a16:creationId xmlns:a16="http://schemas.microsoft.com/office/drawing/2014/main" id="{FE42D3B7-8A0A-445C-AE74-0BEB90D14ABB}"/>
              </a:ext>
            </a:extLst>
          </p:cNvPr>
          <p:cNvSpPr txBox="1"/>
          <p:nvPr/>
        </p:nvSpPr>
        <p:spPr>
          <a:xfrm>
            <a:off x="635726" y="1210493"/>
            <a:ext cx="3718560" cy="369332"/>
          </a:xfrm>
          <a:prstGeom prst="rect">
            <a:avLst/>
          </a:prstGeom>
          <a:noFill/>
        </p:spPr>
        <p:txBody>
          <a:bodyPr wrap="square" rtlCol="0">
            <a:spAutoFit/>
          </a:bodyPr>
          <a:lstStyle/>
          <a:p>
            <a:r>
              <a:rPr lang="es-PE" b="1" dirty="0">
                <a:solidFill>
                  <a:srgbClr val="C00000"/>
                </a:solidFill>
              </a:rPr>
              <a:t>Opción 1: Temporalidad regular</a:t>
            </a:r>
            <a:endParaRPr lang="en-CA" b="1" dirty="0">
              <a:solidFill>
                <a:srgbClr val="C00000"/>
              </a:solidFill>
            </a:endParaRPr>
          </a:p>
        </p:txBody>
      </p:sp>
      <p:sp>
        <p:nvSpPr>
          <p:cNvPr id="4" name="TextBox 3">
            <a:extLst>
              <a:ext uri="{FF2B5EF4-FFF2-40B4-BE49-F238E27FC236}">
                <a16:creationId xmlns:a16="http://schemas.microsoft.com/office/drawing/2014/main" id="{04B74C30-86FF-4A44-BFEE-5C11091935AE}"/>
              </a:ext>
            </a:extLst>
          </p:cNvPr>
          <p:cNvSpPr txBox="1"/>
          <p:nvPr/>
        </p:nvSpPr>
        <p:spPr>
          <a:xfrm>
            <a:off x="635726" y="6306857"/>
            <a:ext cx="5810250" cy="261610"/>
          </a:xfrm>
          <a:prstGeom prst="rect">
            <a:avLst/>
          </a:prstGeom>
          <a:noFill/>
        </p:spPr>
        <p:txBody>
          <a:bodyPr wrap="square" rtlCol="0">
            <a:spAutoFit/>
          </a:bodyPr>
          <a:lstStyle/>
          <a:p>
            <a:r>
              <a:rPr lang="es-PE" sz="1100" dirty="0"/>
              <a:t>(*) Validar la utilidad de la evaluación diagnóstica que se esta diseñando ahora.</a:t>
            </a:r>
            <a:endParaRPr lang="en-CA" sz="1100" dirty="0"/>
          </a:p>
        </p:txBody>
      </p:sp>
    </p:spTree>
    <p:extLst>
      <p:ext uri="{BB962C8B-B14F-4D97-AF65-F5344CB8AC3E}">
        <p14:creationId xmlns:p14="http://schemas.microsoft.com/office/powerpoint/2010/main" val="170906456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Diagonal Corners Rounded 6">
            <a:extLst>
              <a:ext uri="{FF2B5EF4-FFF2-40B4-BE49-F238E27FC236}">
                <a16:creationId xmlns:a16="http://schemas.microsoft.com/office/drawing/2014/main" id="{5DC549E6-0B6C-450B-922D-0F58D2924A72}"/>
              </a:ext>
            </a:extLst>
          </p:cNvPr>
          <p:cNvSpPr/>
          <p:nvPr/>
        </p:nvSpPr>
        <p:spPr>
          <a:xfrm>
            <a:off x="429623" y="1048649"/>
            <a:ext cx="11267440" cy="721517"/>
          </a:xfrm>
          <a:prstGeom prst="round2DiagRect">
            <a:avLst/>
          </a:prstGeom>
          <a:solidFill>
            <a:srgbClr val="C00000"/>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solidFill>
                <a:schemeClr val="bg1"/>
              </a:solidFill>
            </a:endParaRPr>
          </a:p>
        </p:txBody>
      </p:sp>
      <p:sp>
        <p:nvSpPr>
          <p:cNvPr id="2" name="Title 1">
            <a:extLst>
              <a:ext uri="{FF2B5EF4-FFF2-40B4-BE49-F238E27FC236}">
                <a16:creationId xmlns:a16="http://schemas.microsoft.com/office/drawing/2014/main" id="{16C18CE1-72D9-4719-A2FF-5C93A7E96E39}"/>
              </a:ext>
            </a:extLst>
          </p:cNvPr>
          <p:cNvSpPr>
            <a:spLocks noGrp="1"/>
          </p:cNvSpPr>
          <p:nvPr>
            <p:ph type="title"/>
          </p:nvPr>
        </p:nvSpPr>
        <p:spPr/>
        <p:txBody>
          <a:bodyPr/>
          <a:lstStyle/>
          <a:p>
            <a:r>
              <a:rPr lang="es-PE" sz="4000" dirty="0"/>
              <a:t>AGENDA</a:t>
            </a:r>
            <a:endParaRPr lang="en-CA" sz="4000" dirty="0"/>
          </a:p>
        </p:txBody>
      </p:sp>
      <p:sp>
        <p:nvSpPr>
          <p:cNvPr id="3" name="Slide Number Placeholder 2">
            <a:extLst>
              <a:ext uri="{FF2B5EF4-FFF2-40B4-BE49-F238E27FC236}">
                <a16:creationId xmlns:a16="http://schemas.microsoft.com/office/drawing/2014/main" id="{0DFD7E46-D5CE-48DD-96F3-51002A57C15D}"/>
              </a:ext>
            </a:extLst>
          </p:cNvPr>
          <p:cNvSpPr>
            <a:spLocks noGrp="1"/>
          </p:cNvSpPr>
          <p:nvPr>
            <p:ph type="sldNum" sz="quarter" idx="12"/>
          </p:nvPr>
        </p:nvSpPr>
        <p:spPr/>
        <p:txBody>
          <a:bodyPr/>
          <a:lstStyle/>
          <a:p>
            <a:fld id="{DAF31D20-51B2-49A6-91FA-1FC48A60B42D}" type="slidenum">
              <a:rPr lang="es-PE" smtClean="0"/>
              <a:t>33</a:t>
            </a:fld>
            <a:endParaRPr lang="es-PE"/>
          </a:p>
        </p:txBody>
      </p:sp>
      <p:sp>
        <p:nvSpPr>
          <p:cNvPr id="5" name="TextBox 4">
            <a:extLst>
              <a:ext uri="{FF2B5EF4-FFF2-40B4-BE49-F238E27FC236}">
                <a16:creationId xmlns:a16="http://schemas.microsoft.com/office/drawing/2014/main" id="{17CB7C5A-6404-4218-A2FD-BE386960A332}"/>
              </a:ext>
            </a:extLst>
          </p:cNvPr>
          <p:cNvSpPr txBox="1"/>
          <p:nvPr/>
        </p:nvSpPr>
        <p:spPr>
          <a:xfrm>
            <a:off x="494937" y="1249444"/>
            <a:ext cx="10739120" cy="369332"/>
          </a:xfrm>
          <a:prstGeom prst="rect">
            <a:avLst/>
          </a:prstGeom>
          <a:noFill/>
        </p:spPr>
        <p:txBody>
          <a:bodyPr wrap="square" rtlCol="0">
            <a:spAutoFit/>
          </a:bodyPr>
          <a:lstStyle/>
          <a:p>
            <a:r>
              <a:rPr lang="es-PE" b="1" dirty="0">
                <a:solidFill>
                  <a:schemeClr val="bg1"/>
                </a:solidFill>
              </a:rPr>
              <a:t>2.  Propuesta de estrategia de Educación Remedial </a:t>
            </a:r>
            <a:endParaRPr lang="en-CA" b="1" dirty="0">
              <a:solidFill>
                <a:schemeClr val="bg1"/>
              </a:solidFill>
            </a:endParaRPr>
          </a:p>
        </p:txBody>
      </p:sp>
      <p:sp>
        <p:nvSpPr>
          <p:cNvPr id="11" name="Rectangle 10">
            <a:extLst>
              <a:ext uri="{FF2B5EF4-FFF2-40B4-BE49-F238E27FC236}">
                <a16:creationId xmlns:a16="http://schemas.microsoft.com/office/drawing/2014/main" id="{73ED18D7-638E-4BF8-8DFC-833E74760777}"/>
              </a:ext>
            </a:extLst>
          </p:cNvPr>
          <p:cNvSpPr/>
          <p:nvPr/>
        </p:nvSpPr>
        <p:spPr>
          <a:xfrm>
            <a:off x="866770" y="1964956"/>
            <a:ext cx="10753725" cy="381602"/>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00050" indent="-400050">
              <a:buFont typeface="+mj-lt"/>
              <a:buAutoNum type="romanUcPeriod"/>
            </a:pPr>
            <a:r>
              <a:rPr lang="es-PE" b="1" dirty="0">
                <a:solidFill>
                  <a:schemeClr val="tx2"/>
                </a:solidFill>
              </a:rPr>
              <a:t>Información general de estrategias</a:t>
            </a:r>
            <a:endParaRPr lang="en-CA" b="1" dirty="0">
              <a:solidFill>
                <a:schemeClr val="tx2"/>
              </a:solidFill>
            </a:endParaRPr>
          </a:p>
        </p:txBody>
      </p:sp>
      <p:sp>
        <p:nvSpPr>
          <p:cNvPr id="13" name="Rectangle 12">
            <a:extLst>
              <a:ext uri="{FF2B5EF4-FFF2-40B4-BE49-F238E27FC236}">
                <a16:creationId xmlns:a16="http://schemas.microsoft.com/office/drawing/2014/main" id="{BF24706C-635F-48B8-86E0-9354C25A8312}"/>
              </a:ext>
            </a:extLst>
          </p:cNvPr>
          <p:cNvSpPr/>
          <p:nvPr/>
        </p:nvSpPr>
        <p:spPr>
          <a:xfrm>
            <a:off x="866770" y="2559386"/>
            <a:ext cx="10753725" cy="381602"/>
          </a:xfrm>
          <a:prstGeom prst="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00050" indent="-400050">
              <a:buFont typeface="+mj-lt"/>
              <a:buAutoNum type="romanUcPeriod" startAt="2"/>
            </a:pPr>
            <a:r>
              <a:rPr lang="es-PE" b="1" dirty="0">
                <a:solidFill>
                  <a:schemeClr val="bg1"/>
                </a:solidFill>
              </a:rPr>
              <a:t>Modelo 1: Enseñanza al nivel adecuado (</a:t>
            </a:r>
            <a:r>
              <a:rPr lang="es-PE" b="1" dirty="0" err="1">
                <a:solidFill>
                  <a:schemeClr val="bg1"/>
                </a:solidFill>
              </a:rPr>
              <a:t>TaRL</a:t>
            </a:r>
            <a:r>
              <a:rPr lang="es-PE" b="1" dirty="0">
                <a:solidFill>
                  <a:schemeClr val="bg1"/>
                </a:solidFill>
              </a:rPr>
              <a:t>)</a:t>
            </a:r>
            <a:endParaRPr lang="en-CA" b="1" dirty="0">
              <a:solidFill>
                <a:schemeClr val="bg1"/>
              </a:solidFill>
            </a:endParaRPr>
          </a:p>
        </p:txBody>
      </p:sp>
      <p:sp>
        <p:nvSpPr>
          <p:cNvPr id="15" name="Rectangle 14">
            <a:extLst>
              <a:ext uri="{FF2B5EF4-FFF2-40B4-BE49-F238E27FC236}">
                <a16:creationId xmlns:a16="http://schemas.microsoft.com/office/drawing/2014/main" id="{6D048FC1-72B2-4921-BF07-AC34182DA451}"/>
              </a:ext>
            </a:extLst>
          </p:cNvPr>
          <p:cNvSpPr/>
          <p:nvPr/>
        </p:nvSpPr>
        <p:spPr>
          <a:xfrm>
            <a:off x="866770" y="4499276"/>
            <a:ext cx="10753725" cy="381602"/>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00050" indent="-400050">
              <a:buFont typeface="+mj-lt"/>
              <a:buAutoNum type="romanUcPeriod" startAt="3"/>
            </a:pPr>
            <a:r>
              <a:rPr lang="es-PE" b="1" dirty="0">
                <a:solidFill>
                  <a:schemeClr val="tx2"/>
                </a:solidFill>
              </a:rPr>
              <a:t>Modelo 2: Tutoría con componente digital</a:t>
            </a:r>
            <a:endParaRPr lang="en-CA" b="1" dirty="0">
              <a:solidFill>
                <a:schemeClr val="tx2"/>
              </a:solidFill>
            </a:endParaRPr>
          </a:p>
        </p:txBody>
      </p:sp>
      <p:sp>
        <p:nvSpPr>
          <p:cNvPr id="18" name="TextBox 17">
            <a:extLst>
              <a:ext uri="{FF2B5EF4-FFF2-40B4-BE49-F238E27FC236}">
                <a16:creationId xmlns:a16="http://schemas.microsoft.com/office/drawing/2014/main" id="{1472411D-B88F-4453-A39D-EDA418DB8DC9}"/>
              </a:ext>
            </a:extLst>
          </p:cNvPr>
          <p:cNvSpPr txBox="1"/>
          <p:nvPr/>
        </p:nvSpPr>
        <p:spPr>
          <a:xfrm>
            <a:off x="1081764" y="2929616"/>
            <a:ext cx="10277475" cy="1569660"/>
          </a:xfrm>
          <a:prstGeom prst="rect">
            <a:avLst/>
          </a:prstGeom>
          <a:noFill/>
        </p:spPr>
        <p:txBody>
          <a:bodyPr wrap="square" rtlCol="0">
            <a:spAutoFit/>
          </a:bodyPr>
          <a:lstStyle/>
          <a:p>
            <a:pPr marL="285750" indent="-285750">
              <a:buFont typeface="Wingdings" panose="05000000000000000000" pitchFamily="2" charset="2"/>
              <a:buChar char="§"/>
            </a:pPr>
            <a:r>
              <a:rPr lang="es-PE" sz="1200" dirty="0">
                <a:solidFill>
                  <a:schemeClr val="bg1">
                    <a:lumMod val="65000"/>
                  </a:schemeClr>
                </a:solidFill>
              </a:rPr>
              <a:t>Antecedentes</a:t>
            </a:r>
          </a:p>
          <a:p>
            <a:pPr marL="285750" indent="-285750">
              <a:buFont typeface="Wingdings" panose="05000000000000000000" pitchFamily="2" charset="2"/>
              <a:buChar char="§"/>
            </a:pPr>
            <a:r>
              <a:rPr lang="es-PE" sz="1200" dirty="0">
                <a:solidFill>
                  <a:schemeClr val="bg1">
                    <a:lumMod val="65000"/>
                  </a:schemeClr>
                </a:solidFill>
              </a:rPr>
              <a:t>El Modelo</a:t>
            </a:r>
          </a:p>
          <a:p>
            <a:pPr marL="285750" indent="-285750">
              <a:buFont typeface="Wingdings" panose="05000000000000000000" pitchFamily="2" charset="2"/>
              <a:buChar char="§"/>
            </a:pPr>
            <a:r>
              <a:rPr lang="es-PE" sz="1200" dirty="0">
                <a:solidFill>
                  <a:schemeClr val="bg1">
                    <a:lumMod val="65000"/>
                  </a:schemeClr>
                </a:solidFill>
              </a:rPr>
              <a:t>Componentes de la estrategia</a:t>
            </a:r>
          </a:p>
          <a:p>
            <a:pPr marL="285750" indent="-285750">
              <a:buFont typeface="Wingdings" panose="05000000000000000000" pitchFamily="2" charset="2"/>
              <a:buChar char="§"/>
            </a:pPr>
            <a:r>
              <a:rPr lang="es-PE" sz="1200" dirty="0">
                <a:solidFill>
                  <a:schemeClr val="bg1">
                    <a:lumMod val="65000"/>
                  </a:schemeClr>
                </a:solidFill>
              </a:rPr>
              <a:t>Focalización</a:t>
            </a:r>
          </a:p>
          <a:p>
            <a:pPr marL="285750" indent="-285750">
              <a:buFont typeface="Wingdings" panose="05000000000000000000" pitchFamily="2" charset="2"/>
              <a:buChar char="§"/>
            </a:pPr>
            <a:r>
              <a:rPr lang="es-PE" sz="1200" dirty="0">
                <a:solidFill>
                  <a:schemeClr val="bg1">
                    <a:lumMod val="65000"/>
                  </a:schemeClr>
                </a:solidFill>
              </a:rPr>
              <a:t>Cobertura</a:t>
            </a:r>
          </a:p>
          <a:p>
            <a:pPr marL="285750" indent="-285750">
              <a:buFont typeface="Wingdings" panose="05000000000000000000" pitchFamily="2" charset="2"/>
              <a:buChar char="§"/>
            </a:pPr>
            <a:r>
              <a:rPr lang="es-PE" sz="1200" dirty="0">
                <a:solidFill>
                  <a:schemeClr val="bg1">
                    <a:lumMod val="65000"/>
                  </a:schemeClr>
                </a:solidFill>
              </a:rPr>
              <a:t>Estimación de Costos</a:t>
            </a:r>
          </a:p>
          <a:p>
            <a:pPr marL="285750" indent="-285750">
              <a:buFont typeface="Wingdings" panose="05000000000000000000" pitchFamily="2" charset="2"/>
              <a:buChar char="§"/>
            </a:pPr>
            <a:r>
              <a:rPr lang="es-PE" sz="1200" dirty="0">
                <a:solidFill>
                  <a:schemeClr val="bg1">
                    <a:lumMod val="65000"/>
                  </a:schemeClr>
                </a:solidFill>
              </a:rPr>
              <a:t>Cronograma</a:t>
            </a:r>
          </a:p>
          <a:p>
            <a:pPr marL="285750" indent="-285750">
              <a:buFont typeface="Wingdings" panose="05000000000000000000" pitchFamily="2" charset="2"/>
              <a:buChar char="§"/>
            </a:pPr>
            <a:r>
              <a:rPr lang="es-PE" sz="1200" b="1" dirty="0">
                <a:solidFill>
                  <a:schemeClr val="tx2"/>
                </a:solidFill>
              </a:rPr>
              <a:t>Complementariedad con otras estrategias y recomendaciones</a:t>
            </a:r>
          </a:p>
        </p:txBody>
      </p:sp>
      <p:sp>
        <p:nvSpPr>
          <p:cNvPr id="19" name="TextBox 18">
            <a:extLst>
              <a:ext uri="{FF2B5EF4-FFF2-40B4-BE49-F238E27FC236}">
                <a16:creationId xmlns:a16="http://schemas.microsoft.com/office/drawing/2014/main" id="{5947BA55-15C3-4040-9B5B-8EAC7B3B3343}"/>
              </a:ext>
            </a:extLst>
          </p:cNvPr>
          <p:cNvSpPr txBox="1"/>
          <p:nvPr/>
        </p:nvSpPr>
        <p:spPr>
          <a:xfrm>
            <a:off x="1081764" y="4932188"/>
            <a:ext cx="10277475" cy="1754326"/>
          </a:xfrm>
          <a:prstGeom prst="rect">
            <a:avLst/>
          </a:prstGeom>
          <a:noFill/>
        </p:spPr>
        <p:txBody>
          <a:bodyPr wrap="square" rtlCol="0">
            <a:spAutoFit/>
          </a:bodyPr>
          <a:lstStyle/>
          <a:p>
            <a:pPr marL="285750" indent="-285750">
              <a:buFont typeface="Wingdings" panose="05000000000000000000" pitchFamily="2" charset="2"/>
              <a:buChar char="§"/>
            </a:pPr>
            <a:r>
              <a:rPr lang="es-PE" sz="1200" dirty="0">
                <a:solidFill>
                  <a:schemeClr val="bg1">
                    <a:lumMod val="65000"/>
                  </a:schemeClr>
                </a:solidFill>
              </a:rPr>
              <a:t>Antecedentes</a:t>
            </a:r>
          </a:p>
          <a:p>
            <a:pPr marL="285750" indent="-285750">
              <a:buFont typeface="Wingdings" panose="05000000000000000000" pitchFamily="2" charset="2"/>
              <a:buChar char="§"/>
            </a:pPr>
            <a:r>
              <a:rPr lang="es-PE" sz="1200" dirty="0">
                <a:solidFill>
                  <a:schemeClr val="bg1">
                    <a:lumMod val="65000"/>
                  </a:schemeClr>
                </a:solidFill>
              </a:rPr>
              <a:t>Oportunidades</a:t>
            </a:r>
          </a:p>
          <a:p>
            <a:pPr marL="285750" indent="-285750">
              <a:buFont typeface="Wingdings" panose="05000000000000000000" pitchFamily="2" charset="2"/>
              <a:buChar char="§"/>
            </a:pPr>
            <a:r>
              <a:rPr lang="es-PE" sz="1200" dirty="0">
                <a:solidFill>
                  <a:schemeClr val="bg1">
                    <a:lumMod val="65000"/>
                  </a:schemeClr>
                </a:solidFill>
              </a:rPr>
              <a:t>El Modelo</a:t>
            </a:r>
          </a:p>
          <a:p>
            <a:pPr marL="285750" indent="-285750">
              <a:buFont typeface="Wingdings" panose="05000000000000000000" pitchFamily="2" charset="2"/>
              <a:buChar char="§"/>
            </a:pPr>
            <a:r>
              <a:rPr lang="es-PE" sz="1200" dirty="0">
                <a:solidFill>
                  <a:schemeClr val="bg1">
                    <a:lumMod val="65000"/>
                  </a:schemeClr>
                </a:solidFill>
              </a:rPr>
              <a:t>Componentes de la estrategia</a:t>
            </a:r>
          </a:p>
          <a:p>
            <a:pPr marL="285750" indent="-285750">
              <a:buFont typeface="Wingdings" panose="05000000000000000000" pitchFamily="2" charset="2"/>
              <a:buChar char="§"/>
            </a:pPr>
            <a:r>
              <a:rPr lang="es-PE" sz="1200" dirty="0">
                <a:solidFill>
                  <a:schemeClr val="bg1">
                    <a:lumMod val="65000"/>
                  </a:schemeClr>
                </a:solidFill>
              </a:rPr>
              <a:t>Focalización</a:t>
            </a:r>
          </a:p>
          <a:p>
            <a:pPr marL="285750" indent="-285750">
              <a:buFont typeface="Wingdings" panose="05000000000000000000" pitchFamily="2" charset="2"/>
              <a:buChar char="§"/>
            </a:pPr>
            <a:r>
              <a:rPr lang="es-PE" sz="1200" dirty="0">
                <a:solidFill>
                  <a:schemeClr val="bg1">
                    <a:lumMod val="65000"/>
                  </a:schemeClr>
                </a:solidFill>
              </a:rPr>
              <a:t>Cobertura</a:t>
            </a:r>
          </a:p>
          <a:p>
            <a:pPr marL="285750" indent="-285750">
              <a:buFont typeface="Wingdings" panose="05000000000000000000" pitchFamily="2" charset="2"/>
              <a:buChar char="§"/>
            </a:pPr>
            <a:r>
              <a:rPr lang="es-PE" sz="1200" dirty="0">
                <a:solidFill>
                  <a:schemeClr val="bg1">
                    <a:lumMod val="65000"/>
                  </a:schemeClr>
                </a:solidFill>
              </a:rPr>
              <a:t>Estimación de Costos</a:t>
            </a:r>
          </a:p>
          <a:p>
            <a:pPr marL="285750" indent="-285750">
              <a:buFont typeface="Wingdings" panose="05000000000000000000" pitchFamily="2" charset="2"/>
              <a:buChar char="§"/>
            </a:pPr>
            <a:r>
              <a:rPr lang="es-PE" sz="1200" dirty="0">
                <a:solidFill>
                  <a:schemeClr val="bg1">
                    <a:lumMod val="65000"/>
                  </a:schemeClr>
                </a:solidFill>
              </a:rPr>
              <a:t>Cronograma</a:t>
            </a:r>
          </a:p>
          <a:p>
            <a:pPr marL="285750" indent="-285750">
              <a:buFont typeface="Wingdings" panose="05000000000000000000" pitchFamily="2" charset="2"/>
              <a:buChar char="§"/>
            </a:pPr>
            <a:r>
              <a:rPr lang="es-PE" sz="1200" dirty="0">
                <a:solidFill>
                  <a:schemeClr val="bg1">
                    <a:lumMod val="65000"/>
                  </a:schemeClr>
                </a:solidFill>
              </a:rPr>
              <a:t>Complementariedad con otras estrategias y recomendaciones</a:t>
            </a:r>
          </a:p>
        </p:txBody>
      </p:sp>
    </p:spTree>
    <p:extLst>
      <p:ext uri="{BB962C8B-B14F-4D97-AF65-F5344CB8AC3E}">
        <p14:creationId xmlns:p14="http://schemas.microsoft.com/office/powerpoint/2010/main" val="177453933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DADB20-4773-4F0F-905F-8ECF4DF9722E}"/>
              </a:ext>
            </a:extLst>
          </p:cNvPr>
          <p:cNvSpPr>
            <a:spLocks noGrp="1"/>
          </p:cNvSpPr>
          <p:nvPr>
            <p:ph type="title"/>
          </p:nvPr>
        </p:nvSpPr>
        <p:spPr>
          <a:xfrm>
            <a:off x="203200" y="139382"/>
            <a:ext cx="9133840" cy="1313498"/>
          </a:xfrm>
        </p:spPr>
        <p:txBody>
          <a:bodyPr/>
          <a:lstStyle/>
          <a:p>
            <a:r>
              <a:rPr lang="es-PE" sz="2400" dirty="0"/>
              <a:t>Alcance de atención: </a:t>
            </a:r>
            <a:r>
              <a:rPr lang="es-PE" sz="2400" b="0" dirty="0"/>
              <a:t>Complementariedad de la estrategia remedial con otras estrategias de refuerzo en el 2022 - </a:t>
            </a:r>
            <a:r>
              <a:rPr lang="es-PE" sz="2400" dirty="0"/>
              <a:t>PRIMARIA</a:t>
            </a:r>
            <a:endParaRPr lang="en-CA" sz="2400" dirty="0"/>
          </a:p>
        </p:txBody>
      </p:sp>
      <p:sp>
        <p:nvSpPr>
          <p:cNvPr id="3" name="Slide Number Placeholder 2">
            <a:extLst>
              <a:ext uri="{FF2B5EF4-FFF2-40B4-BE49-F238E27FC236}">
                <a16:creationId xmlns:a16="http://schemas.microsoft.com/office/drawing/2014/main" id="{A108E1FB-E0E6-4C7E-B80E-1ABBE8595331}"/>
              </a:ext>
            </a:extLst>
          </p:cNvPr>
          <p:cNvSpPr>
            <a:spLocks noGrp="1"/>
          </p:cNvSpPr>
          <p:nvPr>
            <p:ph type="sldNum" sz="quarter" idx="12"/>
          </p:nvPr>
        </p:nvSpPr>
        <p:spPr>
          <a:xfrm>
            <a:off x="11806149" y="6751627"/>
            <a:ext cx="432000" cy="161977"/>
          </a:xfrm>
        </p:spPr>
        <p:txBody>
          <a:bodyPr/>
          <a:lstStyle/>
          <a:p>
            <a:fld id="{DAF31D20-51B2-49A6-91FA-1FC48A60B42D}" type="slidenum">
              <a:rPr lang="es-PE" smtClean="0"/>
              <a:t>34</a:t>
            </a:fld>
            <a:endParaRPr lang="es-PE"/>
          </a:p>
        </p:txBody>
      </p:sp>
      <p:sp>
        <p:nvSpPr>
          <p:cNvPr id="4" name="Rectangle: Top Corners Rounded 3">
            <a:extLst>
              <a:ext uri="{FF2B5EF4-FFF2-40B4-BE49-F238E27FC236}">
                <a16:creationId xmlns:a16="http://schemas.microsoft.com/office/drawing/2014/main" id="{7C3D785D-6643-40A3-AC44-448346C59769}"/>
              </a:ext>
            </a:extLst>
          </p:cNvPr>
          <p:cNvSpPr/>
          <p:nvPr/>
        </p:nvSpPr>
        <p:spPr>
          <a:xfrm>
            <a:off x="203200" y="1792706"/>
            <a:ext cx="5505449" cy="601579"/>
          </a:xfrm>
          <a:prstGeom prst="round2SameRect">
            <a:avLst/>
          </a:prstGeom>
          <a:solidFill>
            <a:schemeClr val="accent6">
              <a:lumMod val="50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b="1" dirty="0"/>
              <a:t>IIEE EIB</a:t>
            </a:r>
            <a:endParaRPr lang="en-CA" b="1" dirty="0"/>
          </a:p>
        </p:txBody>
      </p:sp>
      <p:sp>
        <p:nvSpPr>
          <p:cNvPr id="5" name="Rectangle: Top Corners Rounded 4">
            <a:extLst>
              <a:ext uri="{FF2B5EF4-FFF2-40B4-BE49-F238E27FC236}">
                <a16:creationId xmlns:a16="http://schemas.microsoft.com/office/drawing/2014/main" id="{3C4CB6DF-79BD-4388-997E-E1652066A813}"/>
              </a:ext>
            </a:extLst>
          </p:cNvPr>
          <p:cNvSpPr/>
          <p:nvPr/>
        </p:nvSpPr>
        <p:spPr>
          <a:xfrm>
            <a:off x="6035002" y="1792705"/>
            <a:ext cx="5771147" cy="601579"/>
          </a:xfrm>
          <a:prstGeom prst="round2SameRect">
            <a:avLst/>
          </a:prstGeom>
          <a:solidFill>
            <a:schemeClr val="accent6">
              <a:lumMod val="50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b="1" dirty="0"/>
              <a:t>IIEE NO EIB</a:t>
            </a:r>
            <a:endParaRPr lang="en-CA" b="1" dirty="0"/>
          </a:p>
        </p:txBody>
      </p:sp>
      <p:graphicFrame>
        <p:nvGraphicFramePr>
          <p:cNvPr id="7" name="Table 6">
            <a:extLst>
              <a:ext uri="{FF2B5EF4-FFF2-40B4-BE49-F238E27FC236}">
                <a16:creationId xmlns:a16="http://schemas.microsoft.com/office/drawing/2014/main" id="{FC90BFB9-7878-4C6E-9B41-1E7DCAF04034}"/>
              </a:ext>
            </a:extLst>
          </p:cNvPr>
          <p:cNvGraphicFramePr>
            <a:graphicFrameLocks noGrp="1"/>
          </p:cNvGraphicFramePr>
          <p:nvPr>
            <p:extLst>
              <p:ext uri="{D42A27DB-BD31-4B8C-83A1-F6EECF244321}">
                <p14:modId xmlns:p14="http://schemas.microsoft.com/office/powerpoint/2010/main" val="1490458502"/>
              </p:ext>
            </p:extLst>
          </p:nvPr>
        </p:nvGraphicFramePr>
        <p:xfrm>
          <a:off x="203200" y="2950139"/>
          <a:ext cx="5607050" cy="1690601"/>
        </p:xfrm>
        <a:graphic>
          <a:graphicData uri="http://schemas.openxmlformats.org/drawingml/2006/table">
            <a:tbl>
              <a:tblPr firstRow="1" lastRow="1">
                <a:tableStyleId>{6E25E649-3F16-4E02-A733-19D2CDBF48F0}</a:tableStyleId>
              </a:tblPr>
              <a:tblGrid>
                <a:gridCol w="965200">
                  <a:extLst>
                    <a:ext uri="{9D8B030D-6E8A-4147-A177-3AD203B41FA5}">
                      <a16:colId xmlns:a16="http://schemas.microsoft.com/office/drawing/2014/main" val="856306519"/>
                    </a:ext>
                  </a:extLst>
                </a:gridCol>
                <a:gridCol w="609600">
                  <a:extLst>
                    <a:ext uri="{9D8B030D-6E8A-4147-A177-3AD203B41FA5}">
                      <a16:colId xmlns:a16="http://schemas.microsoft.com/office/drawing/2014/main" val="102292243"/>
                    </a:ext>
                  </a:extLst>
                </a:gridCol>
                <a:gridCol w="850900">
                  <a:extLst>
                    <a:ext uri="{9D8B030D-6E8A-4147-A177-3AD203B41FA5}">
                      <a16:colId xmlns:a16="http://schemas.microsoft.com/office/drawing/2014/main" val="2918566008"/>
                    </a:ext>
                  </a:extLst>
                </a:gridCol>
                <a:gridCol w="965200">
                  <a:extLst>
                    <a:ext uri="{9D8B030D-6E8A-4147-A177-3AD203B41FA5}">
                      <a16:colId xmlns:a16="http://schemas.microsoft.com/office/drawing/2014/main" val="2281762628"/>
                    </a:ext>
                  </a:extLst>
                </a:gridCol>
                <a:gridCol w="901700">
                  <a:extLst>
                    <a:ext uri="{9D8B030D-6E8A-4147-A177-3AD203B41FA5}">
                      <a16:colId xmlns:a16="http://schemas.microsoft.com/office/drawing/2014/main" val="1071389816"/>
                    </a:ext>
                  </a:extLst>
                </a:gridCol>
                <a:gridCol w="609600">
                  <a:extLst>
                    <a:ext uri="{9D8B030D-6E8A-4147-A177-3AD203B41FA5}">
                      <a16:colId xmlns:a16="http://schemas.microsoft.com/office/drawing/2014/main" val="993988805"/>
                    </a:ext>
                  </a:extLst>
                </a:gridCol>
                <a:gridCol w="704850">
                  <a:extLst>
                    <a:ext uri="{9D8B030D-6E8A-4147-A177-3AD203B41FA5}">
                      <a16:colId xmlns:a16="http://schemas.microsoft.com/office/drawing/2014/main" val="748490761"/>
                    </a:ext>
                  </a:extLst>
                </a:gridCol>
              </a:tblGrid>
              <a:tr h="545101">
                <a:tc>
                  <a:txBody>
                    <a:bodyPr/>
                    <a:lstStyle/>
                    <a:p>
                      <a:pPr algn="l" fontAlgn="ctr"/>
                      <a:r>
                        <a:rPr lang="en-CA" sz="900" b="1" u="none" strike="noStrike" dirty="0">
                          <a:solidFill>
                            <a:schemeClr val="bg1"/>
                          </a:solidFill>
                          <a:effectLst/>
                        </a:rPr>
                        <a:t>Tipo IIEE</a:t>
                      </a:r>
                      <a:endParaRPr lang="en-CA" sz="900" b="1" i="0" u="none" strike="noStrike" dirty="0">
                        <a:solidFill>
                          <a:schemeClr val="bg1"/>
                        </a:solidFill>
                        <a:effectLst/>
                        <a:latin typeface="Calibri" panose="020F0502020204030204" pitchFamily="34" charset="0"/>
                      </a:endParaRPr>
                    </a:p>
                  </a:txBody>
                  <a:tcPr marL="6350" marR="6350" marT="6350" marB="0" anchor="ctr"/>
                </a:tc>
                <a:tc>
                  <a:txBody>
                    <a:bodyPr/>
                    <a:lstStyle/>
                    <a:p>
                      <a:pPr algn="ctr" fontAlgn="ctr"/>
                      <a:r>
                        <a:rPr lang="es-PE" sz="900" b="1" u="none" strike="noStrike" dirty="0">
                          <a:solidFill>
                            <a:schemeClr val="bg1"/>
                          </a:solidFill>
                          <a:effectLst/>
                        </a:rPr>
                        <a:t>N° IIEE</a:t>
                      </a:r>
                      <a:endParaRPr lang="es-PE" sz="900" b="1" i="0" u="none" strike="noStrike" dirty="0">
                        <a:solidFill>
                          <a:schemeClr val="bg1"/>
                        </a:solidFill>
                        <a:effectLst/>
                        <a:latin typeface="Arial" panose="020B0604020202020204" pitchFamily="34" charset="0"/>
                      </a:endParaRPr>
                    </a:p>
                  </a:txBody>
                  <a:tcPr marL="6350" marR="6350" marT="6350" marB="0" anchor="ctr"/>
                </a:tc>
                <a:tc>
                  <a:txBody>
                    <a:bodyPr/>
                    <a:lstStyle/>
                    <a:p>
                      <a:pPr algn="ctr" fontAlgn="ctr"/>
                      <a:r>
                        <a:rPr lang="es-ES" sz="900" b="1" u="none" strike="noStrike" dirty="0">
                          <a:solidFill>
                            <a:schemeClr val="bg1"/>
                          </a:solidFill>
                          <a:effectLst/>
                        </a:rPr>
                        <a:t>Rendimiento (1=peor, 0=mejor)</a:t>
                      </a:r>
                      <a:endParaRPr lang="es-ES" sz="900" b="1" i="0" u="none" strike="noStrike" dirty="0">
                        <a:solidFill>
                          <a:schemeClr val="bg1"/>
                        </a:solidFill>
                        <a:effectLst/>
                        <a:latin typeface="Arial" panose="020B0604020202020204" pitchFamily="34" charset="0"/>
                      </a:endParaRPr>
                    </a:p>
                  </a:txBody>
                  <a:tcPr marL="6350" marR="6350" marT="6350" marB="0" anchor="ctr"/>
                </a:tc>
                <a:tc>
                  <a:txBody>
                    <a:bodyPr/>
                    <a:lstStyle/>
                    <a:p>
                      <a:pPr algn="ctr" fontAlgn="ctr"/>
                      <a:r>
                        <a:rPr lang="es-PE" sz="900" b="1" u="none" strike="noStrike" dirty="0" err="1">
                          <a:solidFill>
                            <a:schemeClr val="bg1"/>
                          </a:solidFill>
                          <a:effectLst/>
                        </a:rPr>
                        <a:t>Acompañatic</a:t>
                      </a:r>
                      <a:endParaRPr lang="es-PE" sz="900" b="1" i="0" u="none" strike="noStrike" dirty="0">
                        <a:solidFill>
                          <a:schemeClr val="bg1"/>
                        </a:solidFill>
                        <a:effectLst/>
                        <a:latin typeface="Arial" panose="020B0604020202020204" pitchFamily="34" charset="0"/>
                      </a:endParaRPr>
                    </a:p>
                  </a:txBody>
                  <a:tcPr marL="6350" marR="6350" marT="6350" marB="0" anchor="ctr"/>
                </a:tc>
                <a:tc>
                  <a:txBody>
                    <a:bodyPr/>
                    <a:lstStyle/>
                    <a:p>
                      <a:pPr algn="ctr" fontAlgn="ctr"/>
                      <a:r>
                        <a:rPr lang="es-PE" sz="900" b="1" u="none" strike="noStrike" dirty="0" err="1">
                          <a:solidFill>
                            <a:schemeClr val="bg1"/>
                          </a:solidFill>
                          <a:effectLst/>
                        </a:rPr>
                        <a:t>Acomp</a:t>
                      </a:r>
                      <a:r>
                        <a:rPr lang="es-PE" sz="900" b="1" u="none" strike="noStrike" dirty="0">
                          <a:solidFill>
                            <a:schemeClr val="bg1"/>
                          </a:solidFill>
                          <a:effectLst/>
                        </a:rPr>
                        <a:t>. Pedagógico</a:t>
                      </a:r>
                      <a:endParaRPr lang="es-PE" sz="900" b="1" i="0" u="none" strike="noStrike" dirty="0">
                        <a:solidFill>
                          <a:schemeClr val="bg1"/>
                        </a:solidFill>
                        <a:effectLst/>
                        <a:latin typeface="Arial" panose="020B0604020202020204" pitchFamily="34" charset="0"/>
                      </a:endParaRPr>
                    </a:p>
                  </a:txBody>
                  <a:tcPr marL="6350" marR="6350" marT="6350" marB="0" anchor="ctr"/>
                </a:tc>
                <a:tc>
                  <a:txBody>
                    <a:bodyPr/>
                    <a:lstStyle/>
                    <a:p>
                      <a:pPr algn="ctr" fontAlgn="ctr"/>
                      <a:r>
                        <a:rPr lang="es-PE" sz="900" b="1" u="none" strike="noStrike" dirty="0">
                          <a:solidFill>
                            <a:schemeClr val="bg1"/>
                          </a:solidFill>
                          <a:effectLst/>
                        </a:rPr>
                        <a:t>Remedial</a:t>
                      </a:r>
                      <a:endParaRPr lang="es-PE" sz="900" b="1" i="0" u="none" strike="noStrike" dirty="0">
                        <a:solidFill>
                          <a:schemeClr val="bg1"/>
                        </a:solidFill>
                        <a:effectLst/>
                        <a:latin typeface="Arial" panose="020B0604020202020204" pitchFamily="34" charset="0"/>
                      </a:endParaRPr>
                    </a:p>
                  </a:txBody>
                  <a:tcPr marL="6350" marR="6350" marT="6350" marB="0" anchor="ctr"/>
                </a:tc>
                <a:tc>
                  <a:txBody>
                    <a:bodyPr/>
                    <a:lstStyle/>
                    <a:p>
                      <a:pPr algn="ctr" fontAlgn="ctr"/>
                      <a:r>
                        <a:rPr lang="es-PE" sz="900" b="1" u="none" strike="noStrike" dirty="0">
                          <a:solidFill>
                            <a:schemeClr val="bg1"/>
                          </a:solidFill>
                          <a:effectLst/>
                        </a:rPr>
                        <a:t>% Cubiertas</a:t>
                      </a:r>
                      <a:endParaRPr lang="es-PE" sz="900" b="1" i="0" u="none" strike="noStrike" dirty="0">
                        <a:solidFill>
                          <a:schemeClr val="bg1"/>
                        </a:solidFill>
                        <a:effectLst/>
                        <a:latin typeface="Arial" panose="020B0604020202020204" pitchFamily="34" charset="0"/>
                      </a:endParaRPr>
                    </a:p>
                  </a:txBody>
                  <a:tcPr marL="6350" marR="6350" marT="6350" marB="0" anchor="ctr"/>
                </a:tc>
                <a:extLst>
                  <a:ext uri="{0D108BD9-81ED-4DB2-BD59-A6C34878D82A}">
                    <a16:rowId xmlns:a16="http://schemas.microsoft.com/office/drawing/2014/main" val="2664556851"/>
                  </a:ext>
                </a:extLst>
              </a:tr>
              <a:tr h="229100">
                <a:tc>
                  <a:txBody>
                    <a:bodyPr/>
                    <a:lstStyle/>
                    <a:p>
                      <a:pPr algn="l" fontAlgn="ctr"/>
                      <a:r>
                        <a:rPr lang="es-PE" sz="900" b="0" u="none" strike="noStrike">
                          <a:solidFill>
                            <a:srgbClr val="000000"/>
                          </a:solidFill>
                          <a:effectLst/>
                        </a:rPr>
                        <a:t>EIB Unidocente</a:t>
                      </a:r>
                      <a:endParaRPr lang="es-PE" sz="900" b="0" i="0" u="none" strike="noStrike">
                        <a:solidFill>
                          <a:srgbClr val="000000"/>
                        </a:solidFill>
                        <a:effectLst/>
                        <a:latin typeface="Arial" panose="020B0604020202020204" pitchFamily="34" charset="0"/>
                      </a:endParaRPr>
                    </a:p>
                  </a:txBody>
                  <a:tcPr marL="6350" marR="6350" marT="6350" marB="0" anchor="ctr"/>
                </a:tc>
                <a:tc>
                  <a:txBody>
                    <a:bodyPr/>
                    <a:lstStyle/>
                    <a:p>
                      <a:pPr algn="r" fontAlgn="ctr"/>
                      <a:r>
                        <a:rPr lang="es-PE" sz="900" b="0" u="none" strike="noStrike" dirty="0">
                          <a:solidFill>
                            <a:srgbClr val="000000"/>
                          </a:solidFill>
                          <a:effectLst/>
                        </a:rPr>
                        <a:t>3977</a:t>
                      </a:r>
                      <a:endParaRPr lang="es-PE" sz="9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ctr"/>
                      <a:r>
                        <a:rPr lang="es-PE" sz="900" b="0" u="none" strike="noStrike">
                          <a:solidFill>
                            <a:srgbClr val="000000"/>
                          </a:solidFill>
                          <a:effectLst/>
                        </a:rPr>
                        <a:t>                 0.64 </a:t>
                      </a:r>
                      <a:endParaRPr lang="es-PE" sz="900" b="0" i="0" u="none" strike="noStrike">
                        <a:solidFill>
                          <a:srgbClr val="000000"/>
                        </a:solidFill>
                        <a:effectLst/>
                        <a:latin typeface="Arial" panose="020B0604020202020204" pitchFamily="34" charset="0"/>
                      </a:endParaRPr>
                    </a:p>
                  </a:txBody>
                  <a:tcPr marL="6350" marR="6350" marT="6350" marB="0" anchor="ctr"/>
                </a:tc>
                <a:tc>
                  <a:txBody>
                    <a:bodyPr/>
                    <a:lstStyle/>
                    <a:p>
                      <a:pPr algn="r" fontAlgn="ctr"/>
                      <a:r>
                        <a:rPr lang="es-PE" sz="900" b="0" u="none" strike="noStrike" dirty="0">
                          <a:solidFill>
                            <a:srgbClr val="000000"/>
                          </a:solidFill>
                          <a:effectLst/>
                        </a:rPr>
                        <a:t>3236</a:t>
                      </a:r>
                      <a:endParaRPr lang="es-PE" sz="900" b="0" i="0" u="none" strike="noStrike" dirty="0">
                        <a:solidFill>
                          <a:srgbClr val="000000"/>
                        </a:solidFill>
                        <a:effectLst/>
                        <a:latin typeface="Arial" panose="020B0604020202020204" pitchFamily="34" charset="0"/>
                      </a:endParaRPr>
                    </a:p>
                  </a:txBody>
                  <a:tcPr marL="6350" marR="6350" marT="6350" marB="0" anchor="ctr"/>
                </a:tc>
                <a:tc>
                  <a:txBody>
                    <a:bodyPr/>
                    <a:lstStyle/>
                    <a:p>
                      <a:pPr algn="r" fontAlgn="ctr"/>
                      <a:r>
                        <a:rPr lang="es-PE" sz="900" b="0" u="none" strike="noStrike" dirty="0">
                          <a:solidFill>
                            <a:srgbClr val="000000"/>
                          </a:solidFill>
                          <a:effectLst/>
                        </a:rPr>
                        <a:t>242</a:t>
                      </a:r>
                      <a:endParaRPr lang="es-PE" sz="900" b="0" i="0" u="none" strike="noStrike" dirty="0">
                        <a:solidFill>
                          <a:srgbClr val="000000"/>
                        </a:solidFill>
                        <a:effectLst/>
                        <a:latin typeface="Arial" panose="020B0604020202020204" pitchFamily="34" charset="0"/>
                      </a:endParaRPr>
                    </a:p>
                  </a:txBody>
                  <a:tcPr marL="6350" marR="6350" marT="6350" marB="0" anchor="ctr"/>
                </a:tc>
                <a:tc>
                  <a:txBody>
                    <a:bodyPr/>
                    <a:lstStyle/>
                    <a:p>
                      <a:pPr algn="r" fontAlgn="ctr"/>
                      <a:r>
                        <a:rPr lang="es-PE" sz="900" b="0" u="none" strike="noStrike">
                          <a:solidFill>
                            <a:srgbClr val="000000"/>
                          </a:solidFill>
                          <a:effectLst/>
                        </a:rPr>
                        <a:t>0</a:t>
                      </a:r>
                      <a:endParaRPr lang="es-PE" sz="9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ctr"/>
                      <a:r>
                        <a:rPr lang="es-PE" sz="900" b="0" u="none" strike="noStrike" dirty="0">
                          <a:solidFill>
                            <a:srgbClr val="000000"/>
                          </a:solidFill>
                          <a:effectLst/>
                        </a:rPr>
                        <a:t>91%</a:t>
                      </a:r>
                      <a:endParaRPr lang="es-PE" sz="900" b="0" i="0" u="none" strike="noStrike" dirty="0">
                        <a:solidFill>
                          <a:srgbClr val="000000"/>
                        </a:solidFill>
                        <a:effectLst/>
                        <a:latin typeface="Arial" panose="020B0604020202020204" pitchFamily="34" charset="0"/>
                      </a:endParaRPr>
                    </a:p>
                  </a:txBody>
                  <a:tcPr marL="6350" marR="6350" marT="6350" marB="0" anchor="ctr"/>
                </a:tc>
                <a:extLst>
                  <a:ext uri="{0D108BD9-81ED-4DB2-BD59-A6C34878D82A}">
                    <a16:rowId xmlns:a16="http://schemas.microsoft.com/office/drawing/2014/main" val="2832099028"/>
                  </a:ext>
                </a:extLst>
              </a:tr>
              <a:tr h="229100">
                <a:tc>
                  <a:txBody>
                    <a:bodyPr/>
                    <a:lstStyle/>
                    <a:p>
                      <a:pPr algn="l" fontAlgn="ctr"/>
                      <a:r>
                        <a:rPr lang="es-PE" sz="900" b="0" u="none" strike="noStrike" dirty="0">
                          <a:solidFill>
                            <a:srgbClr val="000000"/>
                          </a:solidFill>
                          <a:effectLst/>
                        </a:rPr>
                        <a:t>EIB Multigrado</a:t>
                      </a:r>
                      <a:endParaRPr lang="es-PE" sz="900" b="0" i="0" u="none" strike="noStrike" dirty="0">
                        <a:solidFill>
                          <a:srgbClr val="000000"/>
                        </a:solidFill>
                        <a:effectLst/>
                        <a:latin typeface="Arial" panose="020B0604020202020204" pitchFamily="34" charset="0"/>
                      </a:endParaRPr>
                    </a:p>
                  </a:txBody>
                  <a:tcPr marL="6350" marR="6350" marT="6350" marB="0" anchor="ctr"/>
                </a:tc>
                <a:tc>
                  <a:txBody>
                    <a:bodyPr/>
                    <a:lstStyle/>
                    <a:p>
                      <a:pPr algn="r" fontAlgn="ctr"/>
                      <a:r>
                        <a:rPr lang="es-PE" sz="900" b="0" u="none" strike="noStrike" dirty="0">
                          <a:solidFill>
                            <a:srgbClr val="000000"/>
                          </a:solidFill>
                          <a:effectLst/>
                        </a:rPr>
                        <a:t>5385</a:t>
                      </a:r>
                      <a:endParaRPr lang="es-PE" sz="9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ctr"/>
                      <a:r>
                        <a:rPr lang="es-PE" sz="900" b="0" u="none" strike="noStrike">
                          <a:solidFill>
                            <a:srgbClr val="000000"/>
                          </a:solidFill>
                          <a:effectLst/>
                        </a:rPr>
                        <a:t>                 0.63 </a:t>
                      </a:r>
                      <a:endParaRPr lang="es-PE" sz="900" b="0" i="0" u="none" strike="noStrike">
                        <a:solidFill>
                          <a:srgbClr val="000000"/>
                        </a:solidFill>
                        <a:effectLst/>
                        <a:latin typeface="Arial" panose="020B0604020202020204" pitchFamily="34" charset="0"/>
                      </a:endParaRPr>
                    </a:p>
                  </a:txBody>
                  <a:tcPr marL="6350" marR="6350" marT="6350" marB="0" anchor="ctr"/>
                </a:tc>
                <a:tc>
                  <a:txBody>
                    <a:bodyPr/>
                    <a:lstStyle/>
                    <a:p>
                      <a:pPr algn="r" fontAlgn="ctr"/>
                      <a:r>
                        <a:rPr lang="es-PE" sz="900" b="0" u="none" strike="noStrike" dirty="0">
                          <a:solidFill>
                            <a:srgbClr val="000000"/>
                          </a:solidFill>
                          <a:effectLst/>
                        </a:rPr>
                        <a:t>4588</a:t>
                      </a:r>
                      <a:endParaRPr lang="es-PE" sz="900" b="0" i="0" u="none" strike="noStrike" dirty="0">
                        <a:solidFill>
                          <a:srgbClr val="000000"/>
                        </a:solidFill>
                        <a:effectLst/>
                        <a:latin typeface="Arial" panose="020B0604020202020204" pitchFamily="34" charset="0"/>
                      </a:endParaRPr>
                    </a:p>
                  </a:txBody>
                  <a:tcPr marL="6350" marR="6350" marT="6350" marB="0" anchor="ctr"/>
                </a:tc>
                <a:tc>
                  <a:txBody>
                    <a:bodyPr/>
                    <a:lstStyle/>
                    <a:p>
                      <a:pPr algn="r" fontAlgn="ctr"/>
                      <a:r>
                        <a:rPr lang="es-PE" sz="900" b="0" u="none" strike="noStrike" dirty="0">
                          <a:solidFill>
                            <a:srgbClr val="000000"/>
                          </a:solidFill>
                          <a:effectLst/>
                        </a:rPr>
                        <a:t>1080</a:t>
                      </a:r>
                      <a:endParaRPr lang="es-PE" sz="900" b="0" i="0" u="none" strike="noStrike" dirty="0">
                        <a:solidFill>
                          <a:srgbClr val="000000"/>
                        </a:solidFill>
                        <a:effectLst/>
                        <a:latin typeface="Arial" panose="020B0604020202020204" pitchFamily="34" charset="0"/>
                      </a:endParaRPr>
                    </a:p>
                  </a:txBody>
                  <a:tcPr marL="6350" marR="6350" marT="6350" marB="0" anchor="ctr"/>
                </a:tc>
                <a:tc>
                  <a:txBody>
                    <a:bodyPr/>
                    <a:lstStyle/>
                    <a:p>
                      <a:pPr algn="r" fontAlgn="ctr"/>
                      <a:r>
                        <a:rPr lang="es-PE" sz="900" b="0" u="none" strike="noStrike">
                          <a:solidFill>
                            <a:srgbClr val="000000"/>
                          </a:solidFill>
                          <a:effectLst/>
                        </a:rPr>
                        <a:t>0</a:t>
                      </a:r>
                      <a:endParaRPr lang="es-PE" sz="9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ctr"/>
                      <a:r>
                        <a:rPr lang="es-PE" sz="900" b="0" u="none" strike="noStrike" dirty="0">
                          <a:solidFill>
                            <a:srgbClr val="000000"/>
                          </a:solidFill>
                          <a:effectLst/>
                        </a:rPr>
                        <a:t>92%</a:t>
                      </a:r>
                      <a:endParaRPr lang="es-PE" sz="900" b="0" i="0" u="none" strike="noStrike" dirty="0">
                        <a:solidFill>
                          <a:srgbClr val="000000"/>
                        </a:solidFill>
                        <a:effectLst/>
                        <a:latin typeface="Arial" panose="020B0604020202020204" pitchFamily="34" charset="0"/>
                      </a:endParaRPr>
                    </a:p>
                  </a:txBody>
                  <a:tcPr marL="6350" marR="6350" marT="6350" marB="0" anchor="ctr"/>
                </a:tc>
                <a:extLst>
                  <a:ext uri="{0D108BD9-81ED-4DB2-BD59-A6C34878D82A}">
                    <a16:rowId xmlns:a16="http://schemas.microsoft.com/office/drawing/2014/main" val="3117365115"/>
                  </a:ext>
                </a:extLst>
              </a:tr>
              <a:tr h="229100">
                <a:tc>
                  <a:txBody>
                    <a:bodyPr/>
                    <a:lstStyle/>
                    <a:p>
                      <a:pPr algn="l" fontAlgn="ctr"/>
                      <a:r>
                        <a:rPr lang="es-PE" sz="900" b="0" i="0" u="none" strike="noStrike" dirty="0">
                          <a:solidFill>
                            <a:srgbClr val="000000"/>
                          </a:solidFill>
                          <a:effectLst/>
                          <a:latin typeface="Arial" panose="020B0604020202020204" pitchFamily="34" charset="0"/>
                        </a:rPr>
                        <a:t>EIB Poli Rural</a:t>
                      </a:r>
                    </a:p>
                  </a:txBody>
                  <a:tcPr marL="6350" marR="6350" marT="6350" marB="0" anchor="ctr"/>
                </a:tc>
                <a:tc>
                  <a:txBody>
                    <a:bodyPr/>
                    <a:lstStyle/>
                    <a:p>
                      <a:pPr algn="r" fontAlgn="ctr"/>
                      <a:r>
                        <a:rPr lang="es-PE" sz="900" b="0" i="0" u="none" strike="noStrike" dirty="0">
                          <a:solidFill>
                            <a:srgbClr val="000000"/>
                          </a:solidFill>
                          <a:effectLst/>
                          <a:latin typeface="Arial" panose="020B0604020202020204" pitchFamily="34" charset="0"/>
                        </a:rPr>
                        <a:t>1731</a:t>
                      </a:r>
                    </a:p>
                  </a:txBody>
                  <a:tcPr marL="6350" marR="6350" marT="6350" marB="0" anchor="ctr"/>
                </a:tc>
                <a:tc>
                  <a:txBody>
                    <a:bodyPr/>
                    <a:lstStyle/>
                    <a:p>
                      <a:pPr algn="r" fontAlgn="ctr"/>
                      <a:r>
                        <a:rPr lang="es-PE" sz="900" b="0" i="0" u="none" strike="noStrike" dirty="0">
                          <a:solidFill>
                            <a:srgbClr val="000000"/>
                          </a:solidFill>
                          <a:effectLst/>
                          <a:latin typeface="Arial" panose="020B0604020202020204" pitchFamily="34" charset="0"/>
                        </a:rPr>
                        <a:t>0.49</a:t>
                      </a:r>
                    </a:p>
                  </a:txBody>
                  <a:tcPr marL="6350" marR="6350" marT="6350" marB="0" anchor="ctr"/>
                </a:tc>
                <a:tc>
                  <a:txBody>
                    <a:bodyPr/>
                    <a:lstStyle/>
                    <a:p>
                      <a:pPr algn="r" fontAlgn="ctr"/>
                      <a:r>
                        <a:rPr lang="es-PE" sz="900" b="0" i="0" u="none" strike="noStrike" dirty="0">
                          <a:solidFill>
                            <a:srgbClr val="000000"/>
                          </a:solidFill>
                          <a:effectLst/>
                          <a:latin typeface="Arial" panose="020B0604020202020204" pitchFamily="34" charset="0"/>
                        </a:rPr>
                        <a:t>1355</a:t>
                      </a:r>
                    </a:p>
                  </a:txBody>
                  <a:tcPr marL="6350" marR="6350" marT="6350" marB="0" anchor="ctr"/>
                </a:tc>
                <a:tc>
                  <a:txBody>
                    <a:bodyPr/>
                    <a:lstStyle/>
                    <a:p>
                      <a:pPr algn="r" fontAlgn="ctr"/>
                      <a:r>
                        <a:rPr lang="es-PE" sz="900" b="0" i="0" u="none" strike="noStrike" dirty="0">
                          <a:solidFill>
                            <a:srgbClr val="000000"/>
                          </a:solidFill>
                          <a:effectLst/>
                          <a:latin typeface="Arial" panose="020B0604020202020204" pitchFamily="34" charset="0"/>
                        </a:rPr>
                        <a:t>448</a:t>
                      </a:r>
                    </a:p>
                  </a:txBody>
                  <a:tcPr marL="6350" marR="6350" marT="6350" marB="0" anchor="ctr"/>
                </a:tc>
                <a:tc>
                  <a:txBody>
                    <a:bodyPr/>
                    <a:lstStyle/>
                    <a:p>
                      <a:pPr algn="r" fontAlgn="ctr"/>
                      <a:endParaRPr lang="es-PE" sz="9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ctr"/>
                      <a:r>
                        <a:rPr lang="es-PE" sz="900" b="0" i="0" u="none" strike="noStrike" dirty="0">
                          <a:solidFill>
                            <a:srgbClr val="000000"/>
                          </a:solidFill>
                          <a:effectLst/>
                          <a:latin typeface="Arial" panose="020B0604020202020204" pitchFamily="34" charset="0"/>
                        </a:rPr>
                        <a:t>86%</a:t>
                      </a:r>
                    </a:p>
                  </a:txBody>
                  <a:tcPr marL="6350" marR="6350" marT="6350" marB="0" anchor="ctr"/>
                </a:tc>
                <a:extLst>
                  <a:ext uri="{0D108BD9-81ED-4DB2-BD59-A6C34878D82A}">
                    <a16:rowId xmlns:a16="http://schemas.microsoft.com/office/drawing/2014/main" val="2383298709"/>
                  </a:ext>
                </a:extLst>
              </a:tr>
              <a:tr h="229100">
                <a:tc>
                  <a:txBody>
                    <a:bodyPr/>
                    <a:lstStyle/>
                    <a:p>
                      <a:pPr algn="l" fontAlgn="ctr"/>
                      <a:r>
                        <a:rPr lang="es-PE" sz="900" b="0" u="none" strike="noStrike" dirty="0">
                          <a:solidFill>
                            <a:srgbClr val="000000"/>
                          </a:solidFill>
                          <a:effectLst/>
                        </a:rPr>
                        <a:t>EIB Poli Urbana</a:t>
                      </a:r>
                      <a:endParaRPr lang="es-PE" sz="900" b="0" i="0" u="none" strike="noStrike" dirty="0">
                        <a:solidFill>
                          <a:srgbClr val="000000"/>
                        </a:solidFill>
                        <a:effectLst/>
                        <a:latin typeface="Arial" panose="020B0604020202020204" pitchFamily="34" charset="0"/>
                      </a:endParaRPr>
                    </a:p>
                  </a:txBody>
                  <a:tcPr marL="6350" marR="6350" marT="6350" marB="0" anchor="ctr"/>
                </a:tc>
                <a:tc>
                  <a:txBody>
                    <a:bodyPr/>
                    <a:lstStyle/>
                    <a:p>
                      <a:pPr algn="r" fontAlgn="ctr"/>
                      <a:r>
                        <a:rPr lang="es-PE" sz="900" b="0" i="0" u="none" strike="noStrike" dirty="0">
                          <a:solidFill>
                            <a:srgbClr val="000000"/>
                          </a:solidFill>
                          <a:effectLst/>
                          <a:latin typeface="Arial" panose="020B0604020202020204" pitchFamily="34" charset="0"/>
                        </a:rPr>
                        <a:t>595</a:t>
                      </a:r>
                    </a:p>
                  </a:txBody>
                  <a:tcPr marL="6350" marR="6350" marT="6350" marB="0" anchor="ctr"/>
                </a:tc>
                <a:tc>
                  <a:txBody>
                    <a:bodyPr/>
                    <a:lstStyle/>
                    <a:p>
                      <a:pPr algn="ctr" fontAlgn="ctr"/>
                      <a:r>
                        <a:rPr lang="es-PE" sz="900" b="0" u="none" strike="noStrike" dirty="0">
                          <a:solidFill>
                            <a:srgbClr val="000000"/>
                          </a:solidFill>
                          <a:effectLst/>
                        </a:rPr>
                        <a:t>                 0.32 </a:t>
                      </a:r>
                      <a:endParaRPr lang="es-PE" sz="900" b="0" i="0" u="none" strike="noStrike" dirty="0">
                        <a:solidFill>
                          <a:srgbClr val="000000"/>
                        </a:solidFill>
                        <a:effectLst/>
                        <a:latin typeface="Arial" panose="020B0604020202020204" pitchFamily="34" charset="0"/>
                      </a:endParaRPr>
                    </a:p>
                  </a:txBody>
                  <a:tcPr marL="6350" marR="6350" marT="6350" marB="0" anchor="ctr"/>
                </a:tc>
                <a:tc>
                  <a:txBody>
                    <a:bodyPr/>
                    <a:lstStyle/>
                    <a:p>
                      <a:pPr algn="r" fontAlgn="ctr"/>
                      <a:r>
                        <a:rPr lang="es-PE" sz="900" b="0" i="0" u="none" strike="noStrike" dirty="0">
                          <a:solidFill>
                            <a:srgbClr val="000000"/>
                          </a:solidFill>
                          <a:effectLst/>
                          <a:latin typeface="Arial" panose="020B0604020202020204" pitchFamily="34" charset="0"/>
                        </a:rPr>
                        <a:t>0</a:t>
                      </a:r>
                    </a:p>
                  </a:txBody>
                  <a:tcPr marL="6350" marR="6350" marT="6350" marB="0" anchor="ctr"/>
                </a:tc>
                <a:tc>
                  <a:txBody>
                    <a:bodyPr/>
                    <a:lstStyle/>
                    <a:p>
                      <a:pPr algn="r" fontAlgn="ctr"/>
                      <a:r>
                        <a:rPr lang="es-PE" sz="900" b="0" i="0" u="none" strike="noStrike" dirty="0">
                          <a:solidFill>
                            <a:srgbClr val="000000"/>
                          </a:solidFill>
                          <a:effectLst/>
                          <a:latin typeface="Arial" panose="020B0604020202020204" pitchFamily="34" charset="0"/>
                        </a:rPr>
                        <a:t>89</a:t>
                      </a:r>
                    </a:p>
                  </a:txBody>
                  <a:tcPr marL="6350" marR="6350" marT="6350" marB="0" anchor="ctr"/>
                </a:tc>
                <a:tc>
                  <a:txBody>
                    <a:bodyPr/>
                    <a:lstStyle/>
                    <a:p>
                      <a:pPr algn="r" fontAlgn="ctr"/>
                      <a:r>
                        <a:rPr lang="es-PE" sz="900" b="0" u="none" strike="noStrike">
                          <a:solidFill>
                            <a:srgbClr val="000000"/>
                          </a:solidFill>
                          <a:effectLst/>
                        </a:rPr>
                        <a:t>0</a:t>
                      </a:r>
                      <a:endParaRPr lang="es-PE" sz="9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ctr"/>
                      <a:r>
                        <a:rPr lang="es-PE" sz="900" b="0" u="none" strike="noStrike" dirty="0">
                          <a:solidFill>
                            <a:srgbClr val="000000"/>
                          </a:solidFill>
                          <a:effectLst/>
                        </a:rPr>
                        <a:t>21%</a:t>
                      </a:r>
                      <a:endParaRPr lang="es-PE" sz="900" b="0" i="0" u="none" strike="noStrike" dirty="0">
                        <a:solidFill>
                          <a:srgbClr val="000000"/>
                        </a:solidFill>
                        <a:effectLst/>
                        <a:latin typeface="Arial" panose="020B0604020202020204" pitchFamily="34" charset="0"/>
                      </a:endParaRPr>
                    </a:p>
                  </a:txBody>
                  <a:tcPr marL="6350" marR="6350" marT="6350" marB="0" anchor="ctr"/>
                </a:tc>
                <a:extLst>
                  <a:ext uri="{0D108BD9-81ED-4DB2-BD59-A6C34878D82A}">
                    <a16:rowId xmlns:a16="http://schemas.microsoft.com/office/drawing/2014/main" val="3266343457"/>
                  </a:ext>
                </a:extLst>
              </a:tr>
              <a:tr h="229100">
                <a:tc>
                  <a:txBody>
                    <a:bodyPr/>
                    <a:lstStyle/>
                    <a:p>
                      <a:pPr algn="l" fontAlgn="ctr"/>
                      <a:r>
                        <a:rPr lang="en-CA" sz="900" b="0" u="none" strike="noStrike">
                          <a:solidFill>
                            <a:srgbClr val="000000"/>
                          </a:solidFill>
                          <a:effectLst/>
                        </a:rPr>
                        <a:t>Total</a:t>
                      </a:r>
                      <a:endParaRPr lang="en-CA" sz="900" b="0" i="0" u="none" strike="noStrike">
                        <a:solidFill>
                          <a:srgbClr val="000000"/>
                        </a:solidFill>
                        <a:effectLst/>
                        <a:latin typeface="Arial" panose="020B0604020202020204" pitchFamily="34" charset="0"/>
                      </a:endParaRPr>
                    </a:p>
                  </a:txBody>
                  <a:tcPr marL="6350" marR="6350" marT="6350" marB="0" anchor="ctr"/>
                </a:tc>
                <a:tc>
                  <a:txBody>
                    <a:bodyPr/>
                    <a:lstStyle/>
                    <a:p>
                      <a:pPr algn="r" fontAlgn="b"/>
                      <a:r>
                        <a:rPr lang="en-CA" sz="900" b="0" u="none" strike="noStrike" dirty="0">
                          <a:solidFill>
                            <a:srgbClr val="000000"/>
                          </a:solidFill>
                          <a:effectLst/>
                        </a:rPr>
                        <a:t>11688</a:t>
                      </a:r>
                      <a:endParaRPr lang="en-CA" sz="9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ctr"/>
                      <a:r>
                        <a:rPr lang="en-CA" sz="900" b="0" u="none" strike="noStrike" dirty="0">
                          <a:solidFill>
                            <a:srgbClr val="000000"/>
                          </a:solidFill>
                          <a:effectLst/>
                        </a:rPr>
                        <a:t>        -          </a:t>
                      </a:r>
                      <a:endParaRPr lang="en-CA" sz="900" b="0" i="0" u="none" strike="noStrike" dirty="0">
                        <a:solidFill>
                          <a:srgbClr val="000000"/>
                        </a:solidFill>
                        <a:effectLst/>
                        <a:latin typeface="Arial" panose="020B0604020202020204" pitchFamily="34" charset="0"/>
                      </a:endParaRPr>
                    </a:p>
                  </a:txBody>
                  <a:tcPr marL="6350" marR="6350" marT="6350" marB="0" anchor="ctr"/>
                </a:tc>
                <a:tc>
                  <a:txBody>
                    <a:bodyPr/>
                    <a:lstStyle/>
                    <a:p>
                      <a:pPr algn="r" fontAlgn="b"/>
                      <a:r>
                        <a:rPr lang="en-CA" sz="900" b="0" i="0" u="none" strike="noStrike" dirty="0">
                          <a:solidFill>
                            <a:srgbClr val="000000"/>
                          </a:solidFill>
                          <a:effectLst/>
                          <a:latin typeface="Calibri" panose="020F0502020204030204" pitchFamily="34" charset="0"/>
                        </a:rPr>
                        <a:t>9179</a:t>
                      </a:r>
                    </a:p>
                  </a:txBody>
                  <a:tcPr marL="6350" marR="6350" marT="6350" marB="0" anchor="b"/>
                </a:tc>
                <a:tc>
                  <a:txBody>
                    <a:bodyPr/>
                    <a:lstStyle/>
                    <a:p>
                      <a:pPr algn="r" fontAlgn="b"/>
                      <a:r>
                        <a:rPr lang="en-CA" sz="900" b="0" u="none" strike="noStrike" dirty="0">
                          <a:solidFill>
                            <a:srgbClr val="000000"/>
                          </a:solidFill>
                          <a:effectLst/>
                        </a:rPr>
                        <a:t>1859</a:t>
                      </a:r>
                      <a:endParaRPr lang="en-CA" sz="900" b="0" i="0" u="none" strike="noStrike" dirty="0">
                        <a:solidFill>
                          <a:srgbClr val="000000"/>
                        </a:solidFill>
                        <a:effectLst/>
                        <a:latin typeface="Calibri" panose="020F0502020204030204" pitchFamily="34" charset="0"/>
                      </a:endParaRPr>
                    </a:p>
                  </a:txBody>
                  <a:tcPr marL="6350" marR="6350" marT="6350" marB="0" anchor="b"/>
                </a:tc>
                <a:tc>
                  <a:txBody>
                    <a:bodyPr/>
                    <a:lstStyle/>
                    <a:p>
                      <a:pPr algn="r" fontAlgn="b"/>
                      <a:r>
                        <a:rPr lang="en-CA" sz="900" b="0" u="none" strike="noStrike">
                          <a:solidFill>
                            <a:srgbClr val="000000"/>
                          </a:solidFill>
                          <a:effectLst/>
                        </a:rPr>
                        <a:t>0</a:t>
                      </a:r>
                      <a:endParaRPr lang="en-CA" sz="9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ctr"/>
                      <a:r>
                        <a:rPr lang="en-CA" sz="900" b="0" u="none" strike="noStrike" dirty="0">
                          <a:solidFill>
                            <a:srgbClr val="000000"/>
                          </a:solidFill>
                          <a:effectLst/>
                        </a:rPr>
                        <a:t>87%</a:t>
                      </a:r>
                      <a:endParaRPr lang="en-CA" sz="900" b="0" i="0" u="none" strike="noStrike" dirty="0">
                        <a:solidFill>
                          <a:srgbClr val="000000"/>
                        </a:solidFill>
                        <a:effectLst/>
                        <a:latin typeface="Arial" panose="020B0604020202020204" pitchFamily="34" charset="0"/>
                      </a:endParaRPr>
                    </a:p>
                  </a:txBody>
                  <a:tcPr marL="6350" marR="6350" marT="6350" marB="0" anchor="ctr"/>
                </a:tc>
                <a:extLst>
                  <a:ext uri="{0D108BD9-81ED-4DB2-BD59-A6C34878D82A}">
                    <a16:rowId xmlns:a16="http://schemas.microsoft.com/office/drawing/2014/main" val="3450980748"/>
                  </a:ext>
                </a:extLst>
              </a:tr>
            </a:tbl>
          </a:graphicData>
        </a:graphic>
      </p:graphicFrame>
      <p:graphicFrame>
        <p:nvGraphicFramePr>
          <p:cNvPr id="9" name="Table 8">
            <a:extLst>
              <a:ext uri="{FF2B5EF4-FFF2-40B4-BE49-F238E27FC236}">
                <a16:creationId xmlns:a16="http://schemas.microsoft.com/office/drawing/2014/main" id="{D7EABFDA-97DF-4925-A989-644BF26A3EA5}"/>
              </a:ext>
            </a:extLst>
          </p:cNvPr>
          <p:cNvGraphicFramePr>
            <a:graphicFrameLocks noGrp="1"/>
          </p:cNvGraphicFramePr>
          <p:nvPr>
            <p:extLst>
              <p:ext uri="{D42A27DB-BD31-4B8C-83A1-F6EECF244321}">
                <p14:modId xmlns:p14="http://schemas.microsoft.com/office/powerpoint/2010/main" val="3071332047"/>
              </p:ext>
            </p:extLst>
          </p:nvPr>
        </p:nvGraphicFramePr>
        <p:xfrm>
          <a:off x="6096000" y="2942047"/>
          <a:ext cx="5708650" cy="1461501"/>
        </p:xfrm>
        <a:graphic>
          <a:graphicData uri="http://schemas.openxmlformats.org/drawingml/2006/table">
            <a:tbl>
              <a:tblPr firstRow="1" lastRow="1">
                <a:tableStyleId>{6E25E649-3F16-4E02-A733-19D2CDBF48F0}</a:tableStyleId>
              </a:tblPr>
              <a:tblGrid>
                <a:gridCol w="1219200">
                  <a:extLst>
                    <a:ext uri="{9D8B030D-6E8A-4147-A177-3AD203B41FA5}">
                      <a16:colId xmlns:a16="http://schemas.microsoft.com/office/drawing/2014/main" val="4241880654"/>
                    </a:ext>
                  </a:extLst>
                </a:gridCol>
                <a:gridCol w="609600">
                  <a:extLst>
                    <a:ext uri="{9D8B030D-6E8A-4147-A177-3AD203B41FA5}">
                      <a16:colId xmlns:a16="http://schemas.microsoft.com/office/drawing/2014/main" val="2012296980"/>
                    </a:ext>
                  </a:extLst>
                </a:gridCol>
                <a:gridCol w="850900">
                  <a:extLst>
                    <a:ext uri="{9D8B030D-6E8A-4147-A177-3AD203B41FA5}">
                      <a16:colId xmlns:a16="http://schemas.microsoft.com/office/drawing/2014/main" val="2538766556"/>
                    </a:ext>
                  </a:extLst>
                </a:gridCol>
                <a:gridCol w="965200">
                  <a:extLst>
                    <a:ext uri="{9D8B030D-6E8A-4147-A177-3AD203B41FA5}">
                      <a16:colId xmlns:a16="http://schemas.microsoft.com/office/drawing/2014/main" val="2352152055"/>
                    </a:ext>
                  </a:extLst>
                </a:gridCol>
                <a:gridCol w="901700">
                  <a:extLst>
                    <a:ext uri="{9D8B030D-6E8A-4147-A177-3AD203B41FA5}">
                      <a16:colId xmlns:a16="http://schemas.microsoft.com/office/drawing/2014/main" val="4019181682"/>
                    </a:ext>
                  </a:extLst>
                </a:gridCol>
                <a:gridCol w="552450">
                  <a:extLst>
                    <a:ext uri="{9D8B030D-6E8A-4147-A177-3AD203B41FA5}">
                      <a16:colId xmlns:a16="http://schemas.microsoft.com/office/drawing/2014/main" val="3541042338"/>
                    </a:ext>
                  </a:extLst>
                </a:gridCol>
                <a:gridCol w="609600">
                  <a:extLst>
                    <a:ext uri="{9D8B030D-6E8A-4147-A177-3AD203B41FA5}">
                      <a16:colId xmlns:a16="http://schemas.microsoft.com/office/drawing/2014/main" val="1423837164"/>
                    </a:ext>
                  </a:extLst>
                </a:gridCol>
              </a:tblGrid>
              <a:tr h="471231">
                <a:tc>
                  <a:txBody>
                    <a:bodyPr/>
                    <a:lstStyle/>
                    <a:p>
                      <a:pPr algn="l" fontAlgn="ctr"/>
                      <a:r>
                        <a:rPr lang="en-CA" sz="1100" u="none" strike="noStrike">
                          <a:effectLst/>
                        </a:rPr>
                        <a:t>Tipo IIEE</a:t>
                      </a:r>
                      <a:endParaRPr lang="en-CA" sz="1100" b="1"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ctr"/>
                      <a:r>
                        <a:rPr lang="es-PE" sz="900" u="none" strike="noStrike">
                          <a:effectLst/>
                        </a:rPr>
                        <a:t>N° IIEE</a:t>
                      </a:r>
                      <a:endParaRPr lang="es-PE" sz="900" b="1" i="0" u="none" strike="noStrike">
                        <a:solidFill>
                          <a:srgbClr val="000000"/>
                        </a:solidFill>
                        <a:effectLst/>
                        <a:latin typeface="Arial" panose="020B0604020202020204" pitchFamily="34" charset="0"/>
                      </a:endParaRPr>
                    </a:p>
                  </a:txBody>
                  <a:tcPr marL="6350" marR="6350" marT="6350" marB="0" anchor="ctr"/>
                </a:tc>
                <a:tc>
                  <a:txBody>
                    <a:bodyPr/>
                    <a:lstStyle/>
                    <a:p>
                      <a:pPr algn="ctr" fontAlgn="ctr"/>
                      <a:r>
                        <a:rPr lang="es-ES" sz="900" u="none" strike="noStrike">
                          <a:effectLst/>
                        </a:rPr>
                        <a:t>Rendimiento (1=peor, 0=mejor)</a:t>
                      </a:r>
                      <a:endParaRPr lang="es-ES" sz="900" b="1" i="0" u="none" strike="noStrike">
                        <a:solidFill>
                          <a:srgbClr val="000000"/>
                        </a:solidFill>
                        <a:effectLst/>
                        <a:latin typeface="Arial" panose="020B0604020202020204" pitchFamily="34" charset="0"/>
                      </a:endParaRPr>
                    </a:p>
                  </a:txBody>
                  <a:tcPr marL="6350" marR="6350" marT="6350" marB="0" anchor="ctr"/>
                </a:tc>
                <a:tc>
                  <a:txBody>
                    <a:bodyPr/>
                    <a:lstStyle/>
                    <a:p>
                      <a:pPr algn="ctr" fontAlgn="ctr"/>
                      <a:r>
                        <a:rPr lang="es-PE" sz="900" u="none" strike="noStrike">
                          <a:effectLst/>
                        </a:rPr>
                        <a:t>Acompañatic</a:t>
                      </a:r>
                      <a:endParaRPr lang="es-PE" sz="900" b="1" i="0" u="none" strike="noStrike">
                        <a:solidFill>
                          <a:srgbClr val="000000"/>
                        </a:solidFill>
                        <a:effectLst/>
                        <a:latin typeface="Arial" panose="020B0604020202020204" pitchFamily="34" charset="0"/>
                      </a:endParaRPr>
                    </a:p>
                  </a:txBody>
                  <a:tcPr marL="6350" marR="6350" marT="6350" marB="0" anchor="ctr"/>
                </a:tc>
                <a:tc>
                  <a:txBody>
                    <a:bodyPr/>
                    <a:lstStyle/>
                    <a:p>
                      <a:pPr algn="ctr" fontAlgn="ctr"/>
                      <a:r>
                        <a:rPr lang="es-PE" sz="900" u="none" strike="noStrike" dirty="0">
                          <a:effectLst/>
                        </a:rPr>
                        <a:t>Acomp. Pedagógico</a:t>
                      </a:r>
                      <a:endParaRPr lang="es-PE" sz="900" b="1"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ctr"/>
                      <a:r>
                        <a:rPr lang="es-PE" sz="900" u="none" strike="noStrike">
                          <a:effectLst/>
                        </a:rPr>
                        <a:t>Remedial</a:t>
                      </a:r>
                      <a:endParaRPr lang="es-PE" sz="900" b="1" i="0" u="none" strike="noStrike">
                        <a:solidFill>
                          <a:srgbClr val="000000"/>
                        </a:solidFill>
                        <a:effectLst/>
                        <a:latin typeface="Arial" panose="020B0604020202020204" pitchFamily="34" charset="0"/>
                      </a:endParaRPr>
                    </a:p>
                  </a:txBody>
                  <a:tcPr marL="6350" marR="6350" marT="6350" marB="0" anchor="ctr"/>
                </a:tc>
                <a:tc>
                  <a:txBody>
                    <a:bodyPr/>
                    <a:lstStyle/>
                    <a:p>
                      <a:pPr algn="ctr" fontAlgn="ctr"/>
                      <a:r>
                        <a:rPr lang="es-PE" sz="900" u="none" strike="noStrike">
                          <a:effectLst/>
                        </a:rPr>
                        <a:t>% Cubiertas</a:t>
                      </a:r>
                      <a:endParaRPr lang="es-PE" sz="900" b="1" i="0" u="none" strike="noStrike">
                        <a:solidFill>
                          <a:srgbClr val="000000"/>
                        </a:solidFill>
                        <a:effectLst/>
                        <a:latin typeface="Arial" panose="020B0604020202020204" pitchFamily="34" charset="0"/>
                      </a:endParaRPr>
                    </a:p>
                  </a:txBody>
                  <a:tcPr marL="6350" marR="6350" marT="6350" marB="0" anchor="ctr"/>
                </a:tc>
                <a:extLst>
                  <a:ext uri="{0D108BD9-81ED-4DB2-BD59-A6C34878D82A}">
                    <a16:rowId xmlns:a16="http://schemas.microsoft.com/office/drawing/2014/main" val="3233127822"/>
                  </a:ext>
                </a:extLst>
              </a:tr>
              <a:tr h="198054">
                <a:tc>
                  <a:txBody>
                    <a:bodyPr/>
                    <a:lstStyle/>
                    <a:p>
                      <a:pPr algn="l" fontAlgn="ctr"/>
                      <a:r>
                        <a:rPr lang="es-PE" sz="900" u="none" strike="noStrike">
                          <a:effectLst/>
                        </a:rPr>
                        <a:t>No EIIB Uni</a:t>
                      </a:r>
                      <a:endParaRPr lang="es-PE" sz="9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ctr"/>
                      <a:r>
                        <a:rPr lang="es-PE" sz="900" u="none" strike="noStrike" dirty="0">
                          <a:effectLst/>
                        </a:rPr>
                        <a:t>6107</a:t>
                      </a:r>
                      <a:endParaRPr lang="es-PE" sz="9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ctr"/>
                      <a:r>
                        <a:rPr lang="es-PE" sz="900" u="none" strike="noStrike" dirty="0">
                          <a:effectLst/>
                        </a:rPr>
                        <a:t>0.48</a:t>
                      </a:r>
                      <a:endParaRPr lang="es-PE" sz="9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ctr"/>
                      <a:r>
                        <a:rPr lang="es-PE" sz="900" u="none" strike="noStrike" dirty="0">
                          <a:effectLst/>
                        </a:rPr>
                        <a:t>3921</a:t>
                      </a:r>
                      <a:endParaRPr lang="es-PE" sz="9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ctr"/>
                      <a:r>
                        <a:rPr lang="es-PE" sz="900" u="none" strike="noStrike" dirty="0">
                          <a:effectLst/>
                        </a:rPr>
                        <a:t>1479</a:t>
                      </a:r>
                      <a:endParaRPr lang="es-PE" sz="9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ctr"/>
                      <a:r>
                        <a:rPr lang="es-PE" sz="900" b="0" i="0" u="none" strike="noStrike" dirty="0">
                          <a:solidFill>
                            <a:srgbClr val="000000"/>
                          </a:solidFill>
                          <a:effectLst/>
                          <a:latin typeface="Arial" panose="020B0604020202020204" pitchFamily="34" charset="0"/>
                        </a:rPr>
                        <a:t>2063</a:t>
                      </a:r>
                    </a:p>
                  </a:txBody>
                  <a:tcPr marL="6350" marR="6350" marT="6350" marB="0" anchor="ctr"/>
                </a:tc>
                <a:tc>
                  <a:txBody>
                    <a:bodyPr/>
                    <a:lstStyle/>
                    <a:p>
                      <a:pPr algn="ctr" fontAlgn="ctr"/>
                      <a:r>
                        <a:rPr lang="es-PE" sz="900" u="none" strike="noStrike" dirty="0">
                          <a:effectLst/>
                        </a:rPr>
                        <a:t>91%</a:t>
                      </a:r>
                      <a:endParaRPr lang="es-PE" sz="900" b="0" i="0" u="none" strike="noStrike" dirty="0">
                        <a:solidFill>
                          <a:srgbClr val="000000"/>
                        </a:solidFill>
                        <a:effectLst/>
                        <a:latin typeface="Arial" panose="020B0604020202020204" pitchFamily="34" charset="0"/>
                      </a:endParaRPr>
                    </a:p>
                  </a:txBody>
                  <a:tcPr marL="6350" marR="6350" marT="6350" marB="0" anchor="ctr"/>
                </a:tc>
                <a:extLst>
                  <a:ext uri="{0D108BD9-81ED-4DB2-BD59-A6C34878D82A}">
                    <a16:rowId xmlns:a16="http://schemas.microsoft.com/office/drawing/2014/main" val="3953473693"/>
                  </a:ext>
                </a:extLst>
              </a:tr>
              <a:tr h="198054">
                <a:tc>
                  <a:txBody>
                    <a:bodyPr/>
                    <a:lstStyle/>
                    <a:p>
                      <a:pPr algn="l" fontAlgn="ctr"/>
                      <a:r>
                        <a:rPr lang="es-PE" sz="900" u="none" strike="noStrike">
                          <a:effectLst/>
                        </a:rPr>
                        <a:t>No EIB Multi</a:t>
                      </a:r>
                      <a:endParaRPr lang="es-PE" sz="9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ctr"/>
                      <a:r>
                        <a:rPr lang="es-PE" sz="900" u="none" strike="noStrike" dirty="0">
                          <a:effectLst/>
                        </a:rPr>
                        <a:t>6241</a:t>
                      </a:r>
                      <a:endParaRPr lang="es-PE" sz="9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ctr"/>
                      <a:r>
                        <a:rPr lang="es-PE" sz="900" u="none" strike="noStrike" dirty="0">
                          <a:effectLst/>
                        </a:rPr>
                        <a:t>0.48</a:t>
                      </a:r>
                      <a:endParaRPr lang="es-PE" sz="9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ctr"/>
                      <a:r>
                        <a:rPr lang="es-PE" sz="900" u="none" strike="noStrike" dirty="0">
                          <a:effectLst/>
                        </a:rPr>
                        <a:t>4665</a:t>
                      </a:r>
                      <a:endParaRPr lang="es-PE" sz="9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ctr"/>
                      <a:r>
                        <a:rPr lang="es-PE" sz="900" b="0" i="0" u="none" strike="noStrike" dirty="0">
                          <a:solidFill>
                            <a:srgbClr val="000000"/>
                          </a:solidFill>
                          <a:effectLst/>
                          <a:latin typeface="Arial" panose="020B0604020202020204" pitchFamily="34" charset="0"/>
                        </a:rPr>
                        <a:t>964</a:t>
                      </a:r>
                    </a:p>
                  </a:txBody>
                  <a:tcPr marL="6350" marR="6350" marT="6350" marB="0" anchor="ctr"/>
                </a:tc>
                <a:tc>
                  <a:txBody>
                    <a:bodyPr/>
                    <a:lstStyle/>
                    <a:p>
                      <a:pPr algn="ctr" fontAlgn="ctr"/>
                      <a:r>
                        <a:rPr lang="es-PE" sz="900" b="0" i="0" u="none" strike="noStrike" dirty="0">
                          <a:solidFill>
                            <a:srgbClr val="000000"/>
                          </a:solidFill>
                          <a:effectLst/>
                          <a:latin typeface="Arial" panose="020B0604020202020204" pitchFamily="34" charset="0"/>
                        </a:rPr>
                        <a:t>2093</a:t>
                      </a:r>
                    </a:p>
                  </a:txBody>
                  <a:tcPr marL="6350" marR="6350" marT="6350" marB="0" anchor="ctr"/>
                </a:tc>
                <a:tc>
                  <a:txBody>
                    <a:bodyPr/>
                    <a:lstStyle/>
                    <a:p>
                      <a:pPr algn="ctr" fontAlgn="ctr"/>
                      <a:r>
                        <a:rPr lang="es-PE" sz="900" u="none" strike="noStrike" dirty="0">
                          <a:effectLst/>
                        </a:rPr>
                        <a:t>93%</a:t>
                      </a:r>
                      <a:endParaRPr lang="es-PE" sz="900" b="0" i="0" u="none" strike="noStrike" dirty="0">
                        <a:solidFill>
                          <a:srgbClr val="000000"/>
                        </a:solidFill>
                        <a:effectLst/>
                        <a:latin typeface="Arial" panose="020B0604020202020204" pitchFamily="34" charset="0"/>
                      </a:endParaRPr>
                    </a:p>
                  </a:txBody>
                  <a:tcPr marL="6350" marR="6350" marT="6350" marB="0" anchor="ctr"/>
                </a:tc>
                <a:extLst>
                  <a:ext uri="{0D108BD9-81ED-4DB2-BD59-A6C34878D82A}">
                    <a16:rowId xmlns:a16="http://schemas.microsoft.com/office/drawing/2014/main" val="862951052"/>
                  </a:ext>
                </a:extLst>
              </a:tr>
              <a:tr h="198054">
                <a:tc>
                  <a:txBody>
                    <a:bodyPr/>
                    <a:lstStyle/>
                    <a:p>
                      <a:pPr algn="l" fontAlgn="ctr"/>
                      <a:r>
                        <a:rPr lang="es-PE" sz="900" u="none" strike="noStrike">
                          <a:effectLst/>
                        </a:rPr>
                        <a:t>No EIB Poli Rural</a:t>
                      </a:r>
                      <a:endParaRPr lang="es-PE" sz="9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ctr"/>
                      <a:r>
                        <a:rPr lang="es-PE" sz="900" b="0" i="0" u="none" strike="noStrike" dirty="0">
                          <a:solidFill>
                            <a:srgbClr val="000000"/>
                          </a:solidFill>
                          <a:effectLst/>
                          <a:latin typeface="Arial" panose="020B0604020202020204" pitchFamily="34" charset="0"/>
                        </a:rPr>
                        <a:t>1862</a:t>
                      </a:r>
                    </a:p>
                  </a:txBody>
                  <a:tcPr marL="6350" marR="6350" marT="6350" marB="0" anchor="ctr"/>
                </a:tc>
                <a:tc>
                  <a:txBody>
                    <a:bodyPr/>
                    <a:lstStyle/>
                    <a:p>
                      <a:pPr algn="ctr" fontAlgn="ctr"/>
                      <a:r>
                        <a:rPr lang="es-PE" sz="900" u="none" strike="noStrike" dirty="0">
                          <a:effectLst/>
                        </a:rPr>
                        <a:t>0.41</a:t>
                      </a:r>
                      <a:endParaRPr lang="es-PE" sz="9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ctr"/>
                      <a:r>
                        <a:rPr lang="es-PE" sz="900" b="0" i="0" u="none" strike="noStrike" dirty="0">
                          <a:solidFill>
                            <a:srgbClr val="000000"/>
                          </a:solidFill>
                          <a:effectLst/>
                          <a:latin typeface="Arial" panose="020B0604020202020204" pitchFamily="34" charset="0"/>
                        </a:rPr>
                        <a:t>1045</a:t>
                      </a:r>
                    </a:p>
                  </a:txBody>
                  <a:tcPr marL="6350" marR="6350" marT="6350" marB="0" anchor="ctr"/>
                </a:tc>
                <a:tc>
                  <a:txBody>
                    <a:bodyPr/>
                    <a:lstStyle/>
                    <a:p>
                      <a:pPr algn="ctr" fontAlgn="ctr"/>
                      <a:r>
                        <a:rPr lang="es-PE" sz="900" u="none" strike="noStrike" dirty="0">
                          <a:effectLst/>
                        </a:rPr>
                        <a:t>53</a:t>
                      </a:r>
                      <a:endParaRPr lang="es-PE" sz="9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ctr"/>
                      <a:r>
                        <a:rPr lang="es-PE" sz="900" b="0" i="0" u="none" strike="noStrike" dirty="0">
                          <a:solidFill>
                            <a:srgbClr val="000000"/>
                          </a:solidFill>
                          <a:effectLst/>
                          <a:latin typeface="Arial" panose="020B0604020202020204" pitchFamily="34" charset="0"/>
                        </a:rPr>
                        <a:t>430</a:t>
                      </a:r>
                    </a:p>
                  </a:txBody>
                  <a:tcPr marL="6350" marR="6350" marT="6350" marB="0" anchor="ctr"/>
                </a:tc>
                <a:tc>
                  <a:txBody>
                    <a:bodyPr/>
                    <a:lstStyle/>
                    <a:p>
                      <a:pPr algn="ctr" fontAlgn="ctr"/>
                      <a:r>
                        <a:rPr lang="es-PE" sz="900" u="none" strike="noStrike" dirty="0">
                          <a:effectLst/>
                        </a:rPr>
                        <a:t>66%</a:t>
                      </a:r>
                      <a:endParaRPr lang="es-PE" sz="900" b="0" i="0" u="none" strike="noStrike" dirty="0">
                        <a:solidFill>
                          <a:srgbClr val="000000"/>
                        </a:solidFill>
                        <a:effectLst/>
                        <a:latin typeface="Arial" panose="020B0604020202020204" pitchFamily="34" charset="0"/>
                      </a:endParaRPr>
                    </a:p>
                  </a:txBody>
                  <a:tcPr marL="6350" marR="6350" marT="6350" marB="0" anchor="ctr"/>
                </a:tc>
                <a:extLst>
                  <a:ext uri="{0D108BD9-81ED-4DB2-BD59-A6C34878D82A}">
                    <a16:rowId xmlns:a16="http://schemas.microsoft.com/office/drawing/2014/main" val="448825649"/>
                  </a:ext>
                </a:extLst>
              </a:tr>
              <a:tr h="198054">
                <a:tc>
                  <a:txBody>
                    <a:bodyPr/>
                    <a:lstStyle/>
                    <a:p>
                      <a:pPr algn="l" fontAlgn="ctr"/>
                      <a:r>
                        <a:rPr lang="es-PE" sz="900" u="none" strike="noStrike" dirty="0">
                          <a:effectLst/>
                        </a:rPr>
                        <a:t>No EIB Poli Urbana</a:t>
                      </a:r>
                      <a:endParaRPr lang="es-PE" sz="9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ctr"/>
                      <a:r>
                        <a:rPr lang="es-PE" sz="900" b="0" i="0" u="none" strike="noStrike" dirty="0">
                          <a:solidFill>
                            <a:srgbClr val="000000"/>
                          </a:solidFill>
                          <a:effectLst/>
                          <a:latin typeface="Arial" panose="020B0604020202020204" pitchFamily="34" charset="0"/>
                        </a:rPr>
                        <a:t>3582</a:t>
                      </a:r>
                    </a:p>
                  </a:txBody>
                  <a:tcPr marL="6350" marR="6350" marT="6350" marB="0" anchor="ctr"/>
                </a:tc>
                <a:tc>
                  <a:txBody>
                    <a:bodyPr/>
                    <a:lstStyle/>
                    <a:p>
                      <a:pPr algn="ctr" fontAlgn="ctr"/>
                      <a:r>
                        <a:rPr lang="es-PE" sz="900" u="none" strike="noStrike" dirty="0">
                          <a:effectLst/>
                        </a:rPr>
                        <a:t>0.29</a:t>
                      </a:r>
                      <a:endParaRPr lang="es-PE" sz="9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ctr"/>
                      <a:r>
                        <a:rPr lang="es-PE" sz="900" b="0" i="0" u="none" strike="noStrike" dirty="0">
                          <a:solidFill>
                            <a:srgbClr val="000000"/>
                          </a:solidFill>
                          <a:effectLst/>
                          <a:latin typeface="Arial" panose="020B0604020202020204" pitchFamily="34" charset="0"/>
                        </a:rPr>
                        <a:t>1</a:t>
                      </a:r>
                    </a:p>
                  </a:txBody>
                  <a:tcPr marL="6350" marR="6350" marT="6350" marB="0" anchor="ctr"/>
                </a:tc>
                <a:tc>
                  <a:txBody>
                    <a:bodyPr/>
                    <a:lstStyle/>
                    <a:p>
                      <a:pPr algn="ctr" fontAlgn="ctr"/>
                      <a:r>
                        <a:rPr lang="es-PE" sz="900" b="0" i="0" u="none" strike="noStrike" dirty="0">
                          <a:solidFill>
                            <a:srgbClr val="000000"/>
                          </a:solidFill>
                          <a:effectLst/>
                          <a:latin typeface="Arial" panose="020B0604020202020204" pitchFamily="34" charset="0"/>
                        </a:rPr>
                        <a:t>957</a:t>
                      </a:r>
                    </a:p>
                  </a:txBody>
                  <a:tcPr marL="6350" marR="6350" marT="6350" marB="0" anchor="ctr"/>
                </a:tc>
                <a:tc>
                  <a:txBody>
                    <a:bodyPr/>
                    <a:lstStyle/>
                    <a:p>
                      <a:pPr algn="ctr" fontAlgn="ctr"/>
                      <a:r>
                        <a:rPr lang="es-PE" sz="900" u="none" strike="noStrike" dirty="0">
                          <a:effectLst/>
                        </a:rPr>
                        <a:t>190</a:t>
                      </a:r>
                      <a:endParaRPr lang="es-PE" sz="9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ctr"/>
                      <a:r>
                        <a:rPr lang="es-PE" sz="900" u="none" strike="noStrike" dirty="0">
                          <a:effectLst/>
                        </a:rPr>
                        <a:t>31%</a:t>
                      </a:r>
                      <a:endParaRPr lang="es-PE" sz="900" b="0" i="0" u="none" strike="noStrike" dirty="0">
                        <a:solidFill>
                          <a:srgbClr val="000000"/>
                        </a:solidFill>
                        <a:effectLst/>
                        <a:latin typeface="Arial" panose="020B0604020202020204" pitchFamily="34" charset="0"/>
                      </a:endParaRPr>
                    </a:p>
                  </a:txBody>
                  <a:tcPr marL="6350" marR="6350" marT="6350" marB="0" anchor="ctr"/>
                </a:tc>
                <a:extLst>
                  <a:ext uri="{0D108BD9-81ED-4DB2-BD59-A6C34878D82A}">
                    <a16:rowId xmlns:a16="http://schemas.microsoft.com/office/drawing/2014/main" val="1253023902"/>
                  </a:ext>
                </a:extLst>
              </a:tr>
              <a:tr h="198054">
                <a:tc>
                  <a:txBody>
                    <a:bodyPr/>
                    <a:lstStyle/>
                    <a:p>
                      <a:pPr algn="l" fontAlgn="ctr"/>
                      <a:r>
                        <a:rPr lang="en-CA" sz="900" u="none" strike="noStrike">
                          <a:effectLst/>
                        </a:rPr>
                        <a:t>Total</a:t>
                      </a:r>
                      <a:endParaRPr lang="en-CA" sz="9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ctr"/>
                      <a:r>
                        <a:rPr lang="en-CA" sz="900" u="none" strike="noStrike" dirty="0">
                          <a:effectLst/>
                        </a:rPr>
                        <a:t>17792</a:t>
                      </a:r>
                      <a:endParaRPr lang="en-CA" sz="9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ctr"/>
                      <a:r>
                        <a:rPr lang="en-CA" sz="900" b="0" i="0" u="none" strike="noStrike" dirty="0">
                          <a:solidFill>
                            <a:srgbClr val="000000"/>
                          </a:solidFill>
                          <a:effectLst/>
                          <a:latin typeface="Arial" panose="020B0604020202020204" pitchFamily="34" charset="0"/>
                        </a:rPr>
                        <a:t>-</a:t>
                      </a:r>
                    </a:p>
                  </a:txBody>
                  <a:tcPr marL="6350" marR="6350" marT="6350" marB="0" anchor="ctr"/>
                </a:tc>
                <a:tc>
                  <a:txBody>
                    <a:bodyPr/>
                    <a:lstStyle/>
                    <a:p>
                      <a:pPr algn="ctr" fontAlgn="ctr"/>
                      <a:r>
                        <a:rPr lang="en-CA" sz="900" u="none" strike="noStrike" dirty="0">
                          <a:effectLst/>
                        </a:rPr>
                        <a:t>9603</a:t>
                      </a:r>
                      <a:endParaRPr lang="en-CA" sz="900" b="0" i="0" u="none" strike="noStrike" dirty="0">
                        <a:solidFill>
                          <a:srgbClr val="000000"/>
                        </a:solidFill>
                        <a:effectLst/>
                        <a:latin typeface="Arial" panose="020B0604020202020204" pitchFamily="34" charset="0"/>
                      </a:endParaRPr>
                    </a:p>
                  </a:txBody>
                  <a:tcPr marL="6350" marR="6350" marT="6350" marB="0" anchor="ctr"/>
                </a:tc>
                <a:tc>
                  <a:txBody>
                    <a:bodyPr/>
                    <a:lstStyle/>
                    <a:p>
                      <a:pPr algn="ctr" fontAlgn="ctr"/>
                      <a:r>
                        <a:rPr lang="en-CA" sz="900" u="none" strike="noStrike">
                          <a:effectLst/>
                        </a:rPr>
                        <a:t>2392</a:t>
                      </a:r>
                      <a:endParaRPr lang="en-CA" sz="9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ctr"/>
                      <a:r>
                        <a:rPr lang="en-CA" sz="900" b="0" i="0" u="none" strike="noStrike" dirty="0">
                          <a:solidFill>
                            <a:srgbClr val="000000"/>
                          </a:solidFill>
                          <a:effectLst/>
                          <a:highlight>
                            <a:srgbClr val="FFFF00"/>
                          </a:highlight>
                          <a:latin typeface="Arial" panose="020B0604020202020204" pitchFamily="34" charset="0"/>
                        </a:rPr>
                        <a:t>4792*</a:t>
                      </a:r>
                    </a:p>
                  </a:txBody>
                  <a:tcPr marL="6350" marR="6350" marT="6350" marB="0" anchor="ctr"/>
                </a:tc>
                <a:tc>
                  <a:txBody>
                    <a:bodyPr/>
                    <a:lstStyle/>
                    <a:p>
                      <a:pPr algn="ctr" fontAlgn="ctr"/>
                      <a:r>
                        <a:rPr lang="en-CA" sz="900" u="none" strike="noStrike" dirty="0">
                          <a:effectLst/>
                        </a:rPr>
                        <a:t>77%</a:t>
                      </a:r>
                      <a:endParaRPr lang="en-CA" sz="900" b="0" i="0" u="none" strike="noStrike" dirty="0">
                        <a:solidFill>
                          <a:srgbClr val="000000"/>
                        </a:solidFill>
                        <a:effectLst/>
                        <a:latin typeface="Arial" panose="020B0604020202020204" pitchFamily="34" charset="0"/>
                      </a:endParaRPr>
                    </a:p>
                  </a:txBody>
                  <a:tcPr marL="6350" marR="6350" marT="6350" marB="0" anchor="ctr"/>
                </a:tc>
                <a:extLst>
                  <a:ext uri="{0D108BD9-81ED-4DB2-BD59-A6C34878D82A}">
                    <a16:rowId xmlns:a16="http://schemas.microsoft.com/office/drawing/2014/main" val="2045931595"/>
                  </a:ext>
                </a:extLst>
              </a:tr>
            </a:tbl>
          </a:graphicData>
        </a:graphic>
      </p:graphicFrame>
      <p:sp>
        <p:nvSpPr>
          <p:cNvPr id="10" name="TextBox 9">
            <a:extLst>
              <a:ext uri="{FF2B5EF4-FFF2-40B4-BE49-F238E27FC236}">
                <a16:creationId xmlns:a16="http://schemas.microsoft.com/office/drawing/2014/main" id="{DCA66C90-EE41-45C0-B424-2B19F98AC62C}"/>
              </a:ext>
            </a:extLst>
          </p:cNvPr>
          <p:cNvSpPr txBox="1"/>
          <p:nvPr/>
        </p:nvSpPr>
        <p:spPr>
          <a:xfrm>
            <a:off x="336884" y="4872790"/>
            <a:ext cx="11469265" cy="1477328"/>
          </a:xfrm>
          <a:prstGeom prst="rect">
            <a:avLst/>
          </a:prstGeom>
          <a:noFill/>
        </p:spPr>
        <p:txBody>
          <a:bodyPr wrap="square" rtlCol="0">
            <a:spAutoFit/>
          </a:bodyPr>
          <a:lstStyle/>
          <a:p>
            <a:pPr marL="285750" indent="-285750" algn="just">
              <a:buFont typeface="Arial" panose="020B0604020202020204" pitchFamily="34" charset="0"/>
              <a:buChar char="•"/>
            </a:pPr>
            <a:r>
              <a:rPr lang="es-PE" dirty="0">
                <a:solidFill>
                  <a:srgbClr val="002060"/>
                </a:solidFill>
              </a:rPr>
              <a:t>En el 2022, se pretende llegar con estas estrategias al </a:t>
            </a:r>
            <a:r>
              <a:rPr lang="es-PE" b="1" dirty="0">
                <a:solidFill>
                  <a:srgbClr val="002060"/>
                </a:solidFill>
              </a:rPr>
              <a:t>77% de IIEE de nivel primaria a nivel nacional</a:t>
            </a:r>
            <a:r>
              <a:rPr lang="es-PE" dirty="0">
                <a:solidFill>
                  <a:srgbClr val="002060"/>
                </a:solidFill>
              </a:rPr>
              <a:t>.</a:t>
            </a:r>
          </a:p>
          <a:p>
            <a:pPr algn="just"/>
            <a:endParaRPr lang="es-PE" dirty="0">
              <a:solidFill>
                <a:srgbClr val="002060"/>
              </a:solidFill>
            </a:endParaRPr>
          </a:p>
          <a:p>
            <a:pPr marL="285750" indent="-285750" algn="just">
              <a:buFont typeface="Arial" panose="020B0604020202020204" pitchFamily="34" charset="0"/>
              <a:buChar char="•"/>
            </a:pPr>
            <a:r>
              <a:rPr lang="es-PE" dirty="0">
                <a:solidFill>
                  <a:srgbClr val="002060"/>
                </a:solidFill>
              </a:rPr>
              <a:t>Si bien al inicio, solo el 16% recibirán la estrategia de TaRL como educación remedial, se espera poder escalar el modelo en el 2023/2024 alcanzando a más IIEE con bajos rendimientos, una vez que el programa haya sido instalado y evaluado.</a:t>
            </a:r>
          </a:p>
        </p:txBody>
      </p:sp>
      <p:sp>
        <p:nvSpPr>
          <p:cNvPr id="6" name="TextBox 5">
            <a:extLst>
              <a:ext uri="{FF2B5EF4-FFF2-40B4-BE49-F238E27FC236}">
                <a16:creationId xmlns:a16="http://schemas.microsoft.com/office/drawing/2014/main" id="{B7310A2A-C93F-8F4B-B7B3-F3AF992B46A8}"/>
              </a:ext>
            </a:extLst>
          </p:cNvPr>
          <p:cNvSpPr txBox="1"/>
          <p:nvPr/>
        </p:nvSpPr>
        <p:spPr>
          <a:xfrm>
            <a:off x="660103" y="6464702"/>
            <a:ext cx="2295821" cy="253916"/>
          </a:xfrm>
          <a:prstGeom prst="rect">
            <a:avLst/>
          </a:prstGeom>
          <a:noFill/>
        </p:spPr>
        <p:txBody>
          <a:bodyPr wrap="none" rtlCol="0">
            <a:spAutoFit/>
          </a:bodyPr>
          <a:lstStyle/>
          <a:p>
            <a:r>
              <a:rPr lang="en-PE" sz="1050" dirty="0"/>
              <a:t>*Incluye 20 IIEE en categoría Otros</a:t>
            </a:r>
          </a:p>
        </p:txBody>
      </p:sp>
    </p:spTree>
    <p:extLst>
      <p:ext uri="{BB962C8B-B14F-4D97-AF65-F5344CB8AC3E}">
        <p14:creationId xmlns:p14="http://schemas.microsoft.com/office/powerpoint/2010/main" val="273715930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DADB20-4773-4F0F-905F-8ECF4DF9722E}"/>
              </a:ext>
            </a:extLst>
          </p:cNvPr>
          <p:cNvSpPr>
            <a:spLocks noGrp="1"/>
          </p:cNvSpPr>
          <p:nvPr>
            <p:ph type="title"/>
          </p:nvPr>
        </p:nvSpPr>
        <p:spPr>
          <a:xfrm>
            <a:off x="152401" y="180022"/>
            <a:ext cx="8483600" cy="1001078"/>
          </a:xfrm>
        </p:spPr>
        <p:txBody>
          <a:bodyPr/>
          <a:lstStyle/>
          <a:p>
            <a:r>
              <a:rPr lang="es-PE" dirty="0"/>
              <a:t>Recomendaciones</a:t>
            </a:r>
            <a:endParaRPr lang="en-CA" dirty="0"/>
          </a:p>
        </p:txBody>
      </p:sp>
      <p:sp>
        <p:nvSpPr>
          <p:cNvPr id="3" name="Slide Number Placeholder 2">
            <a:extLst>
              <a:ext uri="{FF2B5EF4-FFF2-40B4-BE49-F238E27FC236}">
                <a16:creationId xmlns:a16="http://schemas.microsoft.com/office/drawing/2014/main" id="{A108E1FB-E0E6-4C7E-B80E-1ABBE8595331}"/>
              </a:ext>
            </a:extLst>
          </p:cNvPr>
          <p:cNvSpPr>
            <a:spLocks noGrp="1"/>
          </p:cNvSpPr>
          <p:nvPr>
            <p:ph type="sldNum" sz="quarter" idx="12"/>
          </p:nvPr>
        </p:nvSpPr>
        <p:spPr/>
        <p:txBody>
          <a:bodyPr/>
          <a:lstStyle/>
          <a:p>
            <a:fld id="{DAF31D20-51B2-49A6-91FA-1FC48A60B42D}" type="slidenum">
              <a:rPr lang="es-PE" smtClean="0"/>
              <a:t>35</a:t>
            </a:fld>
            <a:endParaRPr lang="es-PE"/>
          </a:p>
        </p:txBody>
      </p:sp>
      <p:sp>
        <p:nvSpPr>
          <p:cNvPr id="4" name="TextBox 3">
            <a:extLst>
              <a:ext uri="{FF2B5EF4-FFF2-40B4-BE49-F238E27FC236}">
                <a16:creationId xmlns:a16="http://schemas.microsoft.com/office/drawing/2014/main" id="{25BB612F-6654-4FF0-ABC4-C577FC9BC5E1}"/>
              </a:ext>
            </a:extLst>
          </p:cNvPr>
          <p:cNvSpPr txBox="1"/>
          <p:nvPr/>
        </p:nvSpPr>
        <p:spPr>
          <a:xfrm>
            <a:off x="348343" y="1948345"/>
            <a:ext cx="11245932" cy="3139321"/>
          </a:xfrm>
          <a:prstGeom prst="rect">
            <a:avLst/>
          </a:prstGeom>
          <a:noFill/>
        </p:spPr>
        <p:txBody>
          <a:bodyPr wrap="square" rtlCol="0">
            <a:spAutoFit/>
          </a:bodyPr>
          <a:lstStyle/>
          <a:p>
            <a:pPr marL="285750" indent="-285750" algn="just">
              <a:buFont typeface="Arial" panose="020B0604020202020204" pitchFamily="34" charset="0"/>
              <a:buChar char="•"/>
            </a:pPr>
            <a:r>
              <a:rPr lang="es-PE" dirty="0">
                <a:solidFill>
                  <a:schemeClr val="tx2"/>
                </a:solidFill>
              </a:rPr>
              <a:t>Se recomienda instalar un equipo que pueda encargarse de la implementación de la estrategia en el marco pedagógico y de campo/monitoreo. Asimismo, de instalarse, sería recomendable que haya un líder que pueda tener a su cargo ambos equipos para poder implementar una estrategia consensuada entre ambos equipos.</a:t>
            </a:r>
          </a:p>
          <a:p>
            <a:pPr marL="285750" indent="-285750" algn="just">
              <a:buFont typeface="Arial" panose="020B0604020202020204" pitchFamily="34" charset="0"/>
              <a:buChar char="•"/>
            </a:pPr>
            <a:endParaRPr lang="es-PE" dirty="0">
              <a:solidFill>
                <a:schemeClr val="tx2"/>
              </a:solidFill>
            </a:endParaRPr>
          </a:p>
          <a:p>
            <a:pPr marL="285750" indent="-285750" algn="just">
              <a:buFont typeface="Arial" panose="020B0604020202020204" pitchFamily="34" charset="0"/>
              <a:buChar char="•"/>
            </a:pPr>
            <a:r>
              <a:rPr lang="es-PE" dirty="0">
                <a:solidFill>
                  <a:schemeClr val="tx2"/>
                </a:solidFill>
              </a:rPr>
              <a:t>Se recomienda tomar el año 2022 para evaluar la posibilidad de un </a:t>
            </a:r>
            <a:r>
              <a:rPr lang="es-PE" b="1" dirty="0">
                <a:solidFill>
                  <a:schemeClr val="tx2"/>
                </a:solidFill>
              </a:rPr>
              <a:t>diseño más especializado en las IIEE EIB</a:t>
            </a:r>
            <a:r>
              <a:rPr lang="es-PE" dirty="0">
                <a:solidFill>
                  <a:schemeClr val="tx2"/>
                </a:solidFill>
              </a:rPr>
              <a:t>. Dada la complejidad del perfil y la poca oferta de docentes experimentados con el dominio de las lenguas indígenas, sería recomendable evaluar opciones de docentes con menos experiencia u otros perfiles.</a:t>
            </a:r>
          </a:p>
          <a:p>
            <a:pPr marL="285750" indent="-285750" algn="just">
              <a:buFont typeface="Arial" panose="020B0604020202020204" pitchFamily="34" charset="0"/>
              <a:buChar char="•"/>
            </a:pPr>
            <a:endParaRPr lang="es-PE" dirty="0">
              <a:solidFill>
                <a:schemeClr val="tx2"/>
              </a:solidFill>
            </a:endParaRPr>
          </a:p>
          <a:p>
            <a:pPr marL="285750" indent="-285750" algn="just">
              <a:buFont typeface="Arial" panose="020B0604020202020204" pitchFamily="34" charset="0"/>
              <a:buChar char="•"/>
            </a:pPr>
            <a:endParaRPr lang="en-CA" dirty="0">
              <a:solidFill>
                <a:schemeClr val="tx2"/>
              </a:solidFill>
            </a:endParaRPr>
          </a:p>
        </p:txBody>
      </p:sp>
    </p:spTree>
    <p:extLst>
      <p:ext uri="{BB962C8B-B14F-4D97-AF65-F5344CB8AC3E}">
        <p14:creationId xmlns:p14="http://schemas.microsoft.com/office/powerpoint/2010/main" val="393426510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Diagonal Corners Rounded 6">
            <a:extLst>
              <a:ext uri="{FF2B5EF4-FFF2-40B4-BE49-F238E27FC236}">
                <a16:creationId xmlns:a16="http://schemas.microsoft.com/office/drawing/2014/main" id="{5DC549E6-0B6C-450B-922D-0F58D2924A72}"/>
              </a:ext>
            </a:extLst>
          </p:cNvPr>
          <p:cNvSpPr/>
          <p:nvPr/>
        </p:nvSpPr>
        <p:spPr>
          <a:xfrm>
            <a:off x="429623" y="1048649"/>
            <a:ext cx="11267440" cy="721517"/>
          </a:xfrm>
          <a:prstGeom prst="round2DiagRect">
            <a:avLst/>
          </a:prstGeom>
          <a:solidFill>
            <a:srgbClr val="C00000"/>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solidFill>
                <a:schemeClr val="bg1"/>
              </a:solidFill>
            </a:endParaRPr>
          </a:p>
        </p:txBody>
      </p:sp>
      <p:sp>
        <p:nvSpPr>
          <p:cNvPr id="2" name="Title 1">
            <a:extLst>
              <a:ext uri="{FF2B5EF4-FFF2-40B4-BE49-F238E27FC236}">
                <a16:creationId xmlns:a16="http://schemas.microsoft.com/office/drawing/2014/main" id="{16C18CE1-72D9-4719-A2FF-5C93A7E96E39}"/>
              </a:ext>
            </a:extLst>
          </p:cNvPr>
          <p:cNvSpPr>
            <a:spLocks noGrp="1"/>
          </p:cNvSpPr>
          <p:nvPr>
            <p:ph type="title"/>
          </p:nvPr>
        </p:nvSpPr>
        <p:spPr/>
        <p:txBody>
          <a:bodyPr/>
          <a:lstStyle/>
          <a:p>
            <a:r>
              <a:rPr lang="es-PE" sz="4000" dirty="0"/>
              <a:t>AGENDA</a:t>
            </a:r>
            <a:endParaRPr lang="en-CA" sz="4000" dirty="0"/>
          </a:p>
        </p:txBody>
      </p:sp>
      <p:sp>
        <p:nvSpPr>
          <p:cNvPr id="3" name="Slide Number Placeholder 2">
            <a:extLst>
              <a:ext uri="{FF2B5EF4-FFF2-40B4-BE49-F238E27FC236}">
                <a16:creationId xmlns:a16="http://schemas.microsoft.com/office/drawing/2014/main" id="{0DFD7E46-D5CE-48DD-96F3-51002A57C15D}"/>
              </a:ext>
            </a:extLst>
          </p:cNvPr>
          <p:cNvSpPr>
            <a:spLocks noGrp="1"/>
          </p:cNvSpPr>
          <p:nvPr>
            <p:ph type="sldNum" sz="quarter" idx="12"/>
          </p:nvPr>
        </p:nvSpPr>
        <p:spPr/>
        <p:txBody>
          <a:bodyPr/>
          <a:lstStyle/>
          <a:p>
            <a:fld id="{DAF31D20-51B2-49A6-91FA-1FC48A60B42D}" type="slidenum">
              <a:rPr lang="es-PE" smtClean="0"/>
              <a:t>36</a:t>
            </a:fld>
            <a:endParaRPr lang="es-PE"/>
          </a:p>
        </p:txBody>
      </p:sp>
      <p:sp>
        <p:nvSpPr>
          <p:cNvPr id="5" name="TextBox 4">
            <a:extLst>
              <a:ext uri="{FF2B5EF4-FFF2-40B4-BE49-F238E27FC236}">
                <a16:creationId xmlns:a16="http://schemas.microsoft.com/office/drawing/2014/main" id="{17CB7C5A-6404-4218-A2FD-BE386960A332}"/>
              </a:ext>
            </a:extLst>
          </p:cNvPr>
          <p:cNvSpPr txBox="1"/>
          <p:nvPr/>
        </p:nvSpPr>
        <p:spPr>
          <a:xfrm>
            <a:off x="494937" y="1249444"/>
            <a:ext cx="10739120" cy="369332"/>
          </a:xfrm>
          <a:prstGeom prst="rect">
            <a:avLst/>
          </a:prstGeom>
          <a:noFill/>
        </p:spPr>
        <p:txBody>
          <a:bodyPr wrap="square" rtlCol="0">
            <a:spAutoFit/>
          </a:bodyPr>
          <a:lstStyle/>
          <a:p>
            <a:r>
              <a:rPr lang="es-PE" b="1" dirty="0">
                <a:solidFill>
                  <a:schemeClr val="bg1"/>
                </a:solidFill>
              </a:rPr>
              <a:t>2.  Propuesta de estrategia de Educación Remedial </a:t>
            </a:r>
            <a:endParaRPr lang="en-CA" b="1" dirty="0">
              <a:solidFill>
                <a:schemeClr val="bg1"/>
              </a:solidFill>
            </a:endParaRPr>
          </a:p>
        </p:txBody>
      </p:sp>
      <p:sp>
        <p:nvSpPr>
          <p:cNvPr id="11" name="Rectangle 10">
            <a:extLst>
              <a:ext uri="{FF2B5EF4-FFF2-40B4-BE49-F238E27FC236}">
                <a16:creationId xmlns:a16="http://schemas.microsoft.com/office/drawing/2014/main" id="{73ED18D7-638E-4BF8-8DFC-833E74760777}"/>
              </a:ext>
            </a:extLst>
          </p:cNvPr>
          <p:cNvSpPr/>
          <p:nvPr/>
        </p:nvSpPr>
        <p:spPr>
          <a:xfrm>
            <a:off x="866767" y="1925671"/>
            <a:ext cx="10753725" cy="381602"/>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00050" indent="-400050">
              <a:buFont typeface="+mj-lt"/>
              <a:buAutoNum type="romanUcPeriod"/>
            </a:pPr>
            <a:r>
              <a:rPr lang="es-PE" b="1" dirty="0">
                <a:solidFill>
                  <a:schemeClr val="tx2"/>
                </a:solidFill>
              </a:rPr>
              <a:t>Información general de estrategias</a:t>
            </a:r>
            <a:endParaRPr lang="en-CA" b="1" dirty="0">
              <a:solidFill>
                <a:schemeClr val="tx2"/>
              </a:solidFill>
            </a:endParaRPr>
          </a:p>
        </p:txBody>
      </p:sp>
      <p:sp>
        <p:nvSpPr>
          <p:cNvPr id="13" name="Rectangle 12">
            <a:extLst>
              <a:ext uri="{FF2B5EF4-FFF2-40B4-BE49-F238E27FC236}">
                <a16:creationId xmlns:a16="http://schemas.microsoft.com/office/drawing/2014/main" id="{BF24706C-635F-48B8-86E0-9354C25A8312}"/>
              </a:ext>
            </a:extLst>
          </p:cNvPr>
          <p:cNvSpPr/>
          <p:nvPr/>
        </p:nvSpPr>
        <p:spPr>
          <a:xfrm>
            <a:off x="866767" y="2431388"/>
            <a:ext cx="10753725" cy="381602"/>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00050" indent="-400050">
              <a:buFont typeface="+mj-lt"/>
              <a:buAutoNum type="romanUcPeriod" startAt="2"/>
            </a:pPr>
            <a:r>
              <a:rPr lang="es-PE" b="1" dirty="0">
                <a:solidFill>
                  <a:schemeClr val="tx2"/>
                </a:solidFill>
              </a:rPr>
              <a:t>Modelo 1: Enseñanza al nivel adecuado (</a:t>
            </a:r>
            <a:r>
              <a:rPr lang="es-PE" b="1" dirty="0" err="1">
                <a:solidFill>
                  <a:schemeClr val="tx2"/>
                </a:solidFill>
              </a:rPr>
              <a:t>TaRL</a:t>
            </a:r>
            <a:r>
              <a:rPr lang="es-PE" b="1" dirty="0">
                <a:solidFill>
                  <a:schemeClr val="tx2"/>
                </a:solidFill>
              </a:rPr>
              <a:t>)</a:t>
            </a:r>
            <a:endParaRPr lang="en-CA" b="1" dirty="0">
              <a:solidFill>
                <a:schemeClr val="tx2"/>
              </a:solidFill>
            </a:endParaRPr>
          </a:p>
        </p:txBody>
      </p:sp>
      <p:sp>
        <p:nvSpPr>
          <p:cNvPr id="15" name="Rectangle 14">
            <a:extLst>
              <a:ext uri="{FF2B5EF4-FFF2-40B4-BE49-F238E27FC236}">
                <a16:creationId xmlns:a16="http://schemas.microsoft.com/office/drawing/2014/main" id="{6D048FC1-72B2-4921-BF07-AC34182DA451}"/>
              </a:ext>
            </a:extLst>
          </p:cNvPr>
          <p:cNvSpPr/>
          <p:nvPr/>
        </p:nvSpPr>
        <p:spPr>
          <a:xfrm>
            <a:off x="866767" y="4462866"/>
            <a:ext cx="10753725" cy="381602"/>
          </a:xfrm>
          <a:prstGeom prst="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00050" indent="-400050">
              <a:buFont typeface="+mj-lt"/>
              <a:buAutoNum type="romanUcPeriod" startAt="3"/>
            </a:pPr>
            <a:r>
              <a:rPr lang="es-PE" b="1" dirty="0">
                <a:solidFill>
                  <a:schemeClr val="bg1"/>
                </a:solidFill>
              </a:rPr>
              <a:t>Modelo 2: Tutoría con componente digital</a:t>
            </a:r>
            <a:endParaRPr lang="en-CA" b="1" dirty="0">
              <a:solidFill>
                <a:schemeClr val="bg1"/>
              </a:solidFill>
            </a:endParaRPr>
          </a:p>
        </p:txBody>
      </p:sp>
      <p:sp>
        <p:nvSpPr>
          <p:cNvPr id="18" name="TextBox 17">
            <a:extLst>
              <a:ext uri="{FF2B5EF4-FFF2-40B4-BE49-F238E27FC236}">
                <a16:creationId xmlns:a16="http://schemas.microsoft.com/office/drawing/2014/main" id="{1472411D-B88F-4453-A39D-EDA418DB8DC9}"/>
              </a:ext>
            </a:extLst>
          </p:cNvPr>
          <p:cNvSpPr txBox="1"/>
          <p:nvPr/>
        </p:nvSpPr>
        <p:spPr>
          <a:xfrm>
            <a:off x="1104891" y="2871988"/>
            <a:ext cx="10277475" cy="1569660"/>
          </a:xfrm>
          <a:prstGeom prst="rect">
            <a:avLst/>
          </a:prstGeom>
          <a:noFill/>
        </p:spPr>
        <p:txBody>
          <a:bodyPr wrap="square" rtlCol="0">
            <a:spAutoFit/>
          </a:bodyPr>
          <a:lstStyle/>
          <a:p>
            <a:pPr marL="285750" indent="-285750">
              <a:buFont typeface="Wingdings" panose="05000000000000000000" pitchFamily="2" charset="2"/>
              <a:buChar char="§"/>
            </a:pPr>
            <a:r>
              <a:rPr lang="es-PE" sz="1200" dirty="0">
                <a:solidFill>
                  <a:schemeClr val="bg1">
                    <a:lumMod val="65000"/>
                  </a:schemeClr>
                </a:solidFill>
              </a:rPr>
              <a:t>Antecedentes</a:t>
            </a:r>
          </a:p>
          <a:p>
            <a:pPr marL="285750" indent="-285750">
              <a:buFont typeface="Wingdings" panose="05000000000000000000" pitchFamily="2" charset="2"/>
              <a:buChar char="§"/>
            </a:pPr>
            <a:r>
              <a:rPr lang="es-PE" sz="1200" dirty="0">
                <a:solidFill>
                  <a:schemeClr val="bg1">
                    <a:lumMod val="65000"/>
                  </a:schemeClr>
                </a:solidFill>
              </a:rPr>
              <a:t>El Modelo</a:t>
            </a:r>
          </a:p>
          <a:p>
            <a:pPr marL="285750" indent="-285750">
              <a:buFont typeface="Wingdings" panose="05000000000000000000" pitchFamily="2" charset="2"/>
              <a:buChar char="§"/>
            </a:pPr>
            <a:r>
              <a:rPr lang="es-PE" sz="1200" dirty="0">
                <a:solidFill>
                  <a:schemeClr val="bg1">
                    <a:lumMod val="65000"/>
                  </a:schemeClr>
                </a:solidFill>
              </a:rPr>
              <a:t>Componentes de la estrategia</a:t>
            </a:r>
          </a:p>
          <a:p>
            <a:pPr marL="285750" indent="-285750">
              <a:buFont typeface="Wingdings" panose="05000000000000000000" pitchFamily="2" charset="2"/>
              <a:buChar char="§"/>
            </a:pPr>
            <a:r>
              <a:rPr lang="es-PE" sz="1200" dirty="0">
                <a:solidFill>
                  <a:schemeClr val="bg1">
                    <a:lumMod val="65000"/>
                  </a:schemeClr>
                </a:solidFill>
              </a:rPr>
              <a:t>Focalización</a:t>
            </a:r>
          </a:p>
          <a:p>
            <a:pPr marL="285750" indent="-285750">
              <a:buFont typeface="Wingdings" panose="05000000000000000000" pitchFamily="2" charset="2"/>
              <a:buChar char="§"/>
            </a:pPr>
            <a:r>
              <a:rPr lang="es-PE" sz="1200" dirty="0">
                <a:solidFill>
                  <a:schemeClr val="bg1">
                    <a:lumMod val="65000"/>
                  </a:schemeClr>
                </a:solidFill>
              </a:rPr>
              <a:t>Cobertura</a:t>
            </a:r>
          </a:p>
          <a:p>
            <a:pPr marL="285750" indent="-285750">
              <a:buFont typeface="Wingdings" panose="05000000000000000000" pitchFamily="2" charset="2"/>
              <a:buChar char="§"/>
            </a:pPr>
            <a:r>
              <a:rPr lang="es-PE" sz="1200" dirty="0">
                <a:solidFill>
                  <a:schemeClr val="bg1">
                    <a:lumMod val="65000"/>
                  </a:schemeClr>
                </a:solidFill>
              </a:rPr>
              <a:t>Estimación de Costos</a:t>
            </a:r>
          </a:p>
          <a:p>
            <a:pPr marL="285750" indent="-285750">
              <a:buFont typeface="Wingdings" panose="05000000000000000000" pitchFamily="2" charset="2"/>
              <a:buChar char="§"/>
            </a:pPr>
            <a:r>
              <a:rPr lang="es-PE" sz="1200" dirty="0">
                <a:solidFill>
                  <a:schemeClr val="bg1">
                    <a:lumMod val="65000"/>
                  </a:schemeClr>
                </a:solidFill>
              </a:rPr>
              <a:t>Cronograma</a:t>
            </a:r>
          </a:p>
          <a:p>
            <a:pPr marL="285750" indent="-285750">
              <a:buFont typeface="Wingdings" panose="05000000000000000000" pitchFamily="2" charset="2"/>
              <a:buChar char="§"/>
            </a:pPr>
            <a:r>
              <a:rPr lang="es-PE" sz="1200" dirty="0">
                <a:solidFill>
                  <a:schemeClr val="bg1">
                    <a:lumMod val="65000"/>
                  </a:schemeClr>
                </a:solidFill>
              </a:rPr>
              <a:t>Complementariedad con otras estrategias y recomendaciones</a:t>
            </a:r>
          </a:p>
        </p:txBody>
      </p:sp>
      <p:sp>
        <p:nvSpPr>
          <p:cNvPr id="19" name="TextBox 18">
            <a:extLst>
              <a:ext uri="{FF2B5EF4-FFF2-40B4-BE49-F238E27FC236}">
                <a16:creationId xmlns:a16="http://schemas.microsoft.com/office/drawing/2014/main" id="{5947BA55-15C3-4040-9B5B-8EAC7B3B3343}"/>
              </a:ext>
            </a:extLst>
          </p:cNvPr>
          <p:cNvSpPr txBox="1"/>
          <p:nvPr/>
        </p:nvSpPr>
        <p:spPr>
          <a:xfrm>
            <a:off x="1047755" y="4980330"/>
            <a:ext cx="10277475" cy="1754326"/>
          </a:xfrm>
          <a:prstGeom prst="rect">
            <a:avLst/>
          </a:prstGeom>
          <a:noFill/>
        </p:spPr>
        <p:txBody>
          <a:bodyPr wrap="square" rtlCol="0">
            <a:spAutoFit/>
          </a:bodyPr>
          <a:lstStyle/>
          <a:p>
            <a:pPr marL="285750" indent="-285750">
              <a:buFont typeface="Wingdings" panose="05000000000000000000" pitchFamily="2" charset="2"/>
              <a:buChar char="§"/>
            </a:pPr>
            <a:r>
              <a:rPr lang="es-PE" sz="1200" b="1" dirty="0">
                <a:solidFill>
                  <a:schemeClr val="tx2"/>
                </a:solidFill>
              </a:rPr>
              <a:t>Antecedentes</a:t>
            </a:r>
          </a:p>
          <a:p>
            <a:pPr marL="285750" indent="-285750">
              <a:buFont typeface="Wingdings" panose="05000000000000000000" pitchFamily="2" charset="2"/>
              <a:buChar char="§"/>
            </a:pPr>
            <a:r>
              <a:rPr lang="es-PE" sz="1200" dirty="0">
                <a:solidFill>
                  <a:schemeClr val="bg1">
                    <a:lumMod val="65000"/>
                  </a:schemeClr>
                </a:solidFill>
              </a:rPr>
              <a:t>Oportunidades</a:t>
            </a:r>
          </a:p>
          <a:p>
            <a:pPr marL="285750" indent="-285750">
              <a:buFont typeface="Wingdings" panose="05000000000000000000" pitchFamily="2" charset="2"/>
              <a:buChar char="§"/>
            </a:pPr>
            <a:r>
              <a:rPr lang="es-PE" sz="1200" dirty="0">
                <a:solidFill>
                  <a:schemeClr val="bg1">
                    <a:lumMod val="65000"/>
                  </a:schemeClr>
                </a:solidFill>
              </a:rPr>
              <a:t>El Modelo</a:t>
            </a:r>
          </a:p>
          <a:p>
            <a:pPr marL="285750" indent="-285750">
              <a:buFont typeface="Wingdings" panose="05000000000000000000" pitchFamily="2" charset="2"/>
              <a:buChar char="§"/>
            </a:pPr>
            <a:r>
              <a:rPr lang="es-PE" sz="1200" dirty="0">
                <a:solidFill>
                  <a:schemeClr val="bg1">
                    <a:lumMod val="65000"/>
                  </a:schemeClr>
                </a:solidFill>
              </a:rPr>
              <a:t>Componentes de la estrategia</a:t>
            </a:r>
          </a:p>
          <a:p>
            <a:pPr marL="285750" indent="-285750">
              <a:buFont typeface="Wingdings" panose="05000000000000000000" pitchFamily="2" charset="2"/>
              <a:buChar char="§"/>
            </a:pPr>
            <a:r>
              <a:rPr lang="es-PE" sz="1200" dirty="0">
                <a:solidFill>
                  <a:schemeClr val="bg1">
                    <a:lumMod val="65000"/>
                  </a:schemeClr>
                </a:solidFill>
              </a:rPr>
              <a:t>Focalización</a:t>
            </a:r>
          </a:p>
          <a:p>
            <a:pPr marL="285750" indent="-285750">
              <a:buFont typeface="Wingdings" panose="05000000000000000000" pitchFamily="2" charset="2"/>
              <a:buChar char="§"/>
            </a:pPr>
            <a:r>
              <a:rPr lang="es-PE" sz="1200" dirty="0">
                <a:solidFill>
                  <a:schemeClr val="bg1">
                    <a:lumMod val="65000"/>
                  </a:schemeClr>
                </a:solidFill>
              </a:rPr>
              <a:t>Cobertura</a:t>
            </a:r>
          </a:p>
          <a:p>
            <a:pPr marL="285750" indent="-285750">
              <a:buFont typeface="Wingdings" panose="05000000000000000000" pitchFamily="2" charset="2"/>
              <a:buChar char="§"/>
            </a:pPr>
            <a:r>
              <a:rPr lang="es-PE" sz="1200" dirty="0">
                <a:solidFill>
                  <a:schemeClr val="bg1">
                    <a:lumMod val="65000"/>
                  </a:schemeClr>
                </a:solidFill>
              </a:rPr>
              <a:t>Estimación de Costos</a:t>
            </a:r>
          </a:p>
          <a:p>
            <a:pPr marL="285750" indent="-285750">
              <a:buFont typeface="Wingdings" panose="05000000000000000000" pitchFamily="2" charset="2"/>
              <a:buChar char="§"/>
            </a:pPr>
            <a:r>
              <a:rPr lang="es-PE" sz="1200" dirty="0">
                <a:solidFill>
                  <a:schemeClr val="bg1">
                    <a:lumMod val="65000"/>
                  </a:schemeClr>
                </a:solidFill>
              </a:rPr>
              <a:t>Cronograma</a:t>
            </a:r>
          </a:p>
          <a:p>
            <a:pPr marL="285750" indent="-285750">
              <a:buFont typeface="Wingdings" panose="05000000000000000000" pitchFamily="2" charset="2"/>
              <a:buChar char="§"/>
            </a:pPr>
            <a:r>
              <a:rPr lang="es-PE" sz="1200" dirty="0">
                <a:solidFill>
                  <a:schemeClr val="bg1">
                    <a:lumMod val="65000"/>
                  </a:schemeClr>
                </a:solidFill>
              </a:rPr>
              <a:t>Complementariedad con otras estrategias y recomendaciones</a:t>
            </a:r>
          </a:p>
        </p:txBody>
      </p:sp>
    </p:spTree>
    <p:extLst>
      <p:ext uri="{BB962C8B-B14F-4D97-AF65-F5344CB8AC3E}">
        <p14:creationId xmlns:p14="http://schemas.microsoft.com/office/powerpoint/2010/main" val="70320533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34F100-A7EC-4671-A397-E2CE2F99E0D8}"/>
              </a:ext>
            </a:extLst>
          </p:cNvPr>
          <p:cNvSpPr>
            <a:spLocks noGrp="1"/>
          </p:cNvSpPr>
          <p:nvPr>
            <p:ph type="title"/>
          </p:nvPr>
        </p:nvSpPr>
        <p:spPr/>
        <p:txBody>
          <a:bodyPr/>
          <a:lstStyle/>
          <a:p>
            <a:r>
              <a:rPr lang="es-PE" dirty="0"/>
              <a:t>Antecedentes</a:t>
            </a:r>
            <a:endParaRPr lang="en-CA" dirty="0"/>
          </a:p>
        </p:txBody>
      </p:sp>
      <p:sp>
        <p:nvSpPr>
          <p:cNvPr id="3" name="Slide Number Placeholder 2">
            <a:extLst>
              <a:ext uri="{FF2B5EF4-FFF2-40B4-BE49-F238E27FC236}">
                <a16:creationId xmlns:a16="http://schemas.microsoft.com/office/drawing/2014/main" id="{77C825E1-0A6F-44C6-86EC-8EF429330626}"/>
              </a:ext>
            </a:extLst>
          </p:cNvPr>
          <p:cNvSpPr>
            <a:spLocks noGrp="1"/>
          </p:cNvSpPr>
          <p:nvPr>
            <p:ph type="sldNum" sz="quarter" idx="12"/>
          </p:nvPr>
        </p:nvSpPr>
        <p:spPr/>
        <p:txBody>
          <a:bodyPr/>
          <a:lstStyle/>
          <a:p>
            <a:fld id="{DAF31D20-51B2-49A6-91FA-1FC48A60B42D}" type="slidenum">
              <a:rPr lang="es-PE" smtClean="0"/>
              <a:t>37</a:t>
            </a:fld>
            <a:endParaRPr lang="es-PE"/>
          </a:p>
        </p:txBody>
      </p:sp>
      <p:sp>
        <p:nvSpPr>
          <p:cNvPr id="4" name="TextBox 3">
            <a:extLst>
              <a:ext uri="{FF2B5EF4-FFF2-40B4-BE49-F238E27FC236}">
                <a16:creationId xmlns:a16="http://schemas.microsoft.com/office/drawing/2014/main" id="{3C730529-6B27-4C9A-90A5-2DD362AC73B7}"/>
              </a:ext>
            </a:extLst>
          </p:cNvPr>
          <p:cNvSpPr txBox="1"/>
          <p:nvPr/>
        </p:nvSpPr>
        <p:spPr>
          <a:xfrm>
            <a:off x="237625" y="1497052"/>
            <a:ext cx="5518608" cy="3539430"/>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s-PE" sz="1600" b="0" i="0" u="none" strike="noStrike" kern="1200" cap="none" spc="0" normalizeH="0" baseline="0" noProof="0" dirty="0">
                <a:ln>
                  <a:noFill/>
                </a:ln>
                <a:solidFill>
                  <a:srgbClr val="000000"/>
                </a:solidFill>
                <a:effectLst/>
                <a:uLnTx/>
                <a:uFillTx/>
                <a:ea typeface="+mn-ea"/>
                <a:cs typeface="+mn-cs"/>
              </a:rPr>
              <a:t>Desde el 2018 a la fecha, la Dirección Regional de Lima Metropolitana se encuentra implementando un programa de tutoría a través del aplicativo “Conecta Ideas” para reforzar contenido de </a:t>
            </a:r>
            <a:r>
              <a:rPr kumimoji="0" lang="es-PE" sz="1600" b="0" i="0" u="none" strike="noStrike" kern="1200" cap="none" spc="0" normalizeH="0" baseline="0" noProof="0" dirty="0" err="1">
                <a:ln>
                  <a:noFill/>
                </a:ln>
                <a:solidFill>
                  <a:srgbClr val="000000"/>
                </a:solidFill>
                <a:effectLst/>
                <a:uLnTx/>
                <a:uFillTx/>
                <a:ea typeface="+mn-ea"/>
                <a:cs typeface="+mn-cs"/>
              </a:rPr>
              <a:t>matem</a:t>
            </a:r>
            <a:r>
              <a:rPr lang="es-PE" sz="1600" dirty="0">
                <a:solidFill>
                  <a:srgbClr val="000000"/>
                </a:solidFill>
              </a:rPr>
              <a:t>áticas utilizando </a:t>
            </a:r>
            <a:r>
              <a:rPr lang="es-ES" sz="1600" dirty="0">
                <a:solidFill>
                  <a:srgbClr val="000000"/>
                </a:solidFill>
              </a:rPr>
              <a:t>elementos de juegos en contextos ajenos a juegos</a:t>
            </a:r>
            <a:r>
              <a:rPr kumimoji="0" lang="es-PE" sz="1600" b="0" i="0" u="none" strike="noStrike" kern="1200" cap="none" spc="0" normalizeH="0" baseline="0" noProof="0" dirty="0">
                <a:ln>
                  <a:noFill/>
                </a:ln>
                <a:solidFill>
                  <a:srgbClr val="000000"/>
                </a:solidFill>
                <a:effectLst/>
                <a:uLnTx/>
                <a:uFillTx/>
                <a:ea typeface="+mn-ea"/>
                <a:cs typeface="+mn-cs"/>
              </a:rPr>
              <a:t>.</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s-PE" sz="1600" dirty="0">
              <a:solidFill>
                <a:srgbClr val="000000"/>
              </a:solidFill>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s-ES" sz="1600" b="0" i="0" u="none" strike="noStrike" kern="1200" cap="none" spc="0" normalizeH="0" baseline="0" noProof="0" dirty="0">
                <a:ln>
                  <a:noFill/>
                </a:ln>
                <a:solidFill>
                  <a:srgbClr val="000000"/>
                </a:solidFill>
                <a:effectLst/>
                <a:uLnTx/>
                <a:uFillTx/>
                <a:ea typeface="+mn-ea"/>
                <a:cs typeface="+mn-cs"/>
              </a:rPr>
              <a:t>La plataforma registra cuántos  ejercicios  los  alumnos  realizan e  incluye  diferentes  tipos  de  competencias individuales  y  grupales para  promover  la  motivación  de  los  alumnos.</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s-ES" sz="1600" dirty="0">
              <a:solidFill>
                <a:srgbClr val="000000"/>
              </a:solidFill>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s-ES" sz="1600" b="0" i="0" u="none" strike="noStrike" kern="1200" cap="none" spc="0" normalizeH="0" baseline="0" noProof="0" dirty="0">
                <a:ln>
                  <a:noFill/>
                </a:ln>
                <a:solidFill>
                  <a:srgbClr val="000000"/>
                </a:solidFill>
                <a:effectLst/>
                <a:uLnTx/>
                <a:uFillTx/>
                <a:ea typeface="+mn-ea"/>
                <a:cs typeface="+mn-cs"/>
              </a:rPr>
              <a:t>Dada la pandemia, la </a:t>
            </a:r>
            <a:r>
              <a:rPr kumimoji="0" lang="es-ES" sz="1600" b="0" i="0" u="none" strike="noStrike" kern="1200" cap="none" spc="0" normalizeH="0" baseline="0" noProof="0" dirty="0" err="1">
                <a:ln>
                  <a:noFill/>
                </a:ln>
                <a:solidFill>
                  <a:srgbClr val="000000"/>
                </a:solidFill>
                <a:effectLst/>
                <a:uLnTx/>
                <a:uFillTx/>
                <a:ea typeface="+mn-ea"/>
                <a:cs typeface="+mn-cs"/>
              </a:rPr>
              <a:t>intervenc</a:t>
            </a:r>
            <a:r>
              <a:rPr kumimoji="0" lang="es-PE" sz="1600" b="0" i="0" u="none" strike="noStrike" kern="1200" cap="none" spc="0" normalizeH="0" baseline="0" noProof="0" dirty="0" err="1">
                <a:ln>
                  <a:noFill/>
                </a:ln>
                <a:solidFill>
                  <a:srgbClr val="000000"/>
                </a:solidFill>
                <a:effectLst/>
                <a:uLnTx/>
                <a:uFillTx/>
                <a:ea typeface="+mn-ea"/>
                <a:cs typeface="+mn-cs"/>
              </a:rPr>
              <a:t>ión</a:t>
            </a:r>
            <a:r>
              <a:rPr kumimoji="0" lang="es-PE" sz="1600" b="0" i="0" u="none" strike="noStrike" kern="1200" cap="none" spc="0" normalizeH="0" baseline="0" noProof="0" dirty="0">
                <a:ln>
                  <a:noFill/>
                </a:ln>
                <a:solidFill>
                  <a:srgbClr val="000000"/>
                </a:solidFill>
                <a:effectLst/>
                <a:uLnTx/>
                <a:uFillTx/>
                <a:ea typeface="+mn-ea"/>
                <a:cs typeface="+mn-cs"/>
              </a:rPr>
              <a:t> ha sido adaptada para el contexto de educación remota y la supervisión al docente se hace a través de plataformas digitales.</a:t>
            </a:r>
            <a:endParaRPr kumimoji="0" lang="en-CA" sz="1600" b="0" i="0" u="none" strike="noStrike" kern="1200" cap="none" spc="0" normalizeH="0" baseline="0" noProof="0" dirty="0">
              <a:ln>
                <a:noFill/>
              </a:ln>
              <a:solidFill>
                <a:srgbClr val="000000"/>
              </a:solidFill>
              <a:effectLst/>
              <a:uLnTx/>
              <a:uFillTx/>
              <a:ea typeface="+mn-ea"/>
              <a:cs typeface="+mn-cs"/>
            </a:endParaRPr>
          </a:p>
        </p:txBody>
      </p:sp>
      <p:cxnSp>
        <p:nvCxnSpPr>
          <p:cNvPr id="5" name="Straight Connector 4">
            <a:extLst>
              <a:ext uri="{FF2B5EF4-FFF2-40B4-BE49-F238E27FC236}">
                <a16:creationId xmlns:a16="http://schemas.microsoft.com/office/drawing/2014/main" id="{2743C0AD-3843-4C0A-9DA7-6FA0184D622A}"/>
              </a:ext>
            </a:extLst>
          </p:cNvPr>
          <p:cNvCxnSpPr/>
          <p:nvPr/>
        </p:nvCxnSpPr>
        <p:spPr>
          <a:xfrm>
            <a:off x="5958121" y="1822026"/>
            <a:ext cx="0" cy="360735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C3A43030-BCF6-4EB9-9421-DB51D9B96297}"/>
              </a:ext>
            </a:extLst>
          </p:cNvPr>
          <p:cNvSpPr txBox="1"/>
          <p:nvPr/>
        </p:nvSpPr>
        <p:spPr>
          <a:xfrm>
            <a:off x="6233880" y="4667150"/>
            <a:ext cx="5316049"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PE" sz="2400" b="1" i="0" u="none" strike="noStrike" kern="1200" cap="none" spc="0" normalizeH="0" baseline="0" noProof="0" dirty="0">
                <a:ln>
                  <a:noFill/>
                </a:ln>
                <a:solidFill>
                  <a:srgbClr val="C00000"/>
                </a:solidFill>
                <a:effectLst/>
                <a:uLnTx/>
                <a:uFillTx/>
                <a:latin typeface="Calibri" panose="020F0502020204030204"/>
                <a:ea typeface="+mn-ea"/>
                <a:cs typeface="+mn-cs"/>
              </a:rPr>
              <a:t>Desafíos:</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PE" dirty="0">
                <a:solidFill>
                  <a:schemeClr val="accent1">
                    <a:lumMod val="50000"/>
                  </a:schemeClr>
                </a:solidFill>
                <a:latin typeface="Calibri" panose="020F0502020204030204"/>
              </a:rPr>
              <a:t>Disponibilidad de buena conectividad.</a:t>
            </a:r>
          </a:p>
        </p:txBody>
      </p:sp>
      <p:pic>
        <p:nvPicPr>
          <p:cNvPr id="7" name="Picture 6" descr="Text&#10;&#10;Description automatically generated">
            <a:extLst>
              <a:ext uri="{FF2B5EF4-FFF2-40B4-BE49-F238E27FC236}">
                <a16:creationId xmlns:a16="http://schemas.microsoft.com/office/drawing/2014/main" id="{E4807E6F-8EC0-431F-9DB2-C54F67815565}"/>
              </a:ext>
            </a:extLst>
          </p:cNvPr>
          <p:cNvPicPr>
            <a:picLocks noChangeAspect="1"/>
          </p:cNvPicPr>
          <p:nvPr/>
        </p:nvPicPr>
        <p:blipFill rotWithShape="1">
          <a:blip r:embed="rId2">
            <a:extLst>
              <a:ext uri="{28A0092B-C50C-407E-A947-70E740481C1C}">
                <a14:useLocalDpi xmlns:a14="http://schemas.microsoft.com/office/drawing/2010/main" val="0"/>
              </a:ext>
            </a:extLst>
          </a:blip>
          <a:srcRect l="10560" t="15847" r="10322" b="14613"/>
          <a:stretch/>
        </p:blipFill>
        <p:spPr>
          <a:xfrm>
            <a:off x="237377" y="5475262"/>
            <a:ext cx="1995169" cy="646331"/>
          </a:xfrm>
          <a:prstGeom prst="rect">
            <a:avLst/>
          </a:prstGeom>
        </p:spPr>
      </p:pic>
      <p:pic>
        <p:nvPicPr>
          <p:cNvPr id="8" name="Picture 7" descr="Logo, company name&#10;&#10;Description automatically generated">
            <a:extLst>
              <a:ext uri="{FF2B5EF4-FFF2-40B4-BE49-F238E27FC236}">
                <a16:creationId xmlns:a16="http://schemas.microsoft.com/office/drawing/2014/main" id="{9AB6E7AB-A49C-4B49-A70B-E9869FBEC7C0}"/>
              </a:ext>
            </a:extLst>
          </p:cNvPr>
          <p:cNvPicPr>
            <a:picLocks noChangeAspect="1"/>
          </p:cNvPicPr>
          <p:nvPr/>
        </p:nvPicPr>
        <p:blipFill rotWithShape="1">
          <a:blip r:embed="rId3">
            <a:extLst>
              <a:ext uri="{28A0092B-C50C-407E-A947-70E740481C1C}">
                <a14:useLocalDpi xmlns:a14="http://schemas.microsoft.com/office/drawing/2010/main" val="0"/>
              </a:ext>
            </a:extLst>
          </a:blip>
          <a:srcRect t="32868" b="26045"/>
          <a:stretch/>
        </p:blipFill>
        <p:spPr>
          <a:xfrm>
            <a:off x="2381573" y="5571583"/>
            <a:ext cx="1564126" cy="504133"/>
          </a:xfrm>
          <a:prstGeom prst="rect">
            <a:avLst/>
          </a:prstGeom>
        </p:spPr>
      </p:pic>
      <p:pic>
        <p:nvPicPr>
          <p:cNvPr id="9" name="Picture 8" descr="Logo, company name&#10;&#10;Description automatically generated">
            <a:extLst>
              <a:ext uri="{FF2B5EF4-FFF2-40B4-BE49-F238E27FC236}">
                <a16:creationId xmlns:a16="http://schemas.microsoft.com/office/drawing/2014/main" id="{6B069407-DC80-4EC5-8748-28A2447C268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75672" y="5571583"/>
            <a:ext cx="1260333" cy="504133"/>
          </a:xfrm>
          <a:prstGeom prst="rect">
            <a:avLst/>
          </a:prstGeom>
        </p:spPr>
      </p:pic>
      <p:sp>
        <p:nvSpPr>
          <p:cNvPr id="10" name="Rectangle: Diagonal Corners Rounded 9">
            <a:extLst>
              <a:ext uri="{FF2B5EF4-FFF2-40B4-BE49-F238E27FC236}">
                <a16:creationId xmlns:a16="http://schemas.microsoft.com/office/drawing/2014/main" id="{47966F63-937C-4275-8F55-3F86408D9D2A}"/>
              </a:ext>
            </a:extLst>
          </p:cNvPr>
          <p:cNvSpPr/>
          <p:nvPr/>
        </p:nvSpPr>
        <p:spPr>
          <a:xfrm>
            <a:off x="6267304" y="4014731"/>
            <a:ext cx="1118858" cy="338203"/>
          </a:xfrm>
          <a:prstGeom prst="round2DiagRect">
            <a:avLst/>
          </a:prstGeom>
        </p:spPr>
        <p:style>
          <a:lnRef idx="0">
            <a:schemeClr val="accent3"/>
          </a:lnRef>
          <a:fillRef idx="3">
            <a:schemeClr val="accent3"/>
          </a:fillRef>
          <a:effectRef idx="3">
            <a:schemeClr val="accent3"/>
          </a:effectRef>
          <a:fontRef idx="minor">
            <a:schemeClr val="lt1"/>
          </a:fontRef>
        </p:style>
        <p:txBody>
          <a:bodyPr rtlCol="0" anchor="ctr"/>
          <a:lstStyle/>
          <a:p>
            <a:pPr algn="ctr"/>
            <a:r>
              <a:rPr lang="es-PE" sz="1200" dirty="0"/>
              <a:t>4to</a:t>
            </a:r>
            <a:endParaRPr lang="en-CA" sz="1200" dirty="0"/>
          </a:p>
        </p:txBody>
      </p:sp>
      <p:sp>
        <p:nvSpPr>
          <p:cNvPr id="11" name="Rectangle: Diagonal Corners Rounded 10">
            <a:extLst>
              <a:ext uri="{FF2B5EF4-FFF2-40B4-BE49-F238E27FC236}">
                <a16:creationId xmlns:a16="http://schemas.microsoft.com/office/drawing/2014/main" id="{5EFBA975-81A3-4412-B518-83592B35A3C5}"/>
              </a:ext>
            </a:extLst>
          </p:cNvPr>
          <p:cNvSpPr/>
          <p:nvPr/>
        </p:nvSpPr>
        <p:spPr>
          <a:xfrm>
            <a:off x="8236115" y="4014731"/>
            <a:ext cx="1118858" cy="338203"/>
          </a:xfrm>
          <a:prstGeom prst="round2DiagRect">
            <a:avLst/>
          </a:prstGeom>
        </p:spPr>
        <p:style>
          <a:lnRef idx="0">
            <a:schemeClr val="accent3"/>
          </a:lnRef>
          <a:fillRef idx="3">
            <a:schemeClr val="accent3"/>
          </a:fillRef>
          <a:effectRef idx="3">
            <a:schemeClr val="accent3"/>
          </a:effectRef>
          <a:fontRef idx="minor">
            <a:schemeClr val="lt1"/>
          </a:fontRef>
        </p:style>
        <p:txBody>
          <a:bodyPr rtlCol="0" anchor="ctr"/>
          <a:lstStyle/>
          <a:p>
            <a:pPr algn="ctr"/>
            <a:r>
              <a:rPr lang="es-PE" sz="1200" dirty="0"/>
              <a:t>4to y 5to</a:t>
            </a:r>
            <a:endParaRPr lang="en-CA" sz="1200" dirty="0"/>
          </a:p>
        </p:txBody>
      </p:sp>
      <p:sp>
        <p:nvSpPr>
          <p:cNvPr id="12" name="Rectangle: Diagonal Corners Rounded 11">
            <a:extLst>
              <a:ext uri="{FF2B5EF4-FFF2-40B4-BE49-F238E27FC236}">
                <a16:creationId xmlns:a16="http://schemas.microsoft.com/office/drawing/2014/main" id="{4E718FEB-165F-4C30-99D2-C942F3A73014}"/>
              </a:ext>
            </a:extLst>
          </p:cNvPr>
          <p:cNvSpPr/>
          <p:nvPr/>
        </p:nvSpPr>
        <p:spPr>
          <a:xfrm>
            <a:off x="10386505" y="4014731"/>
            <a:ext cx="1118858" cy="338203"/>
          </a:xfrm>
          <a:prstGeom prst="round2DiagRect">
            <a:avLst/>
          </a:prstGeom>
        </p:spPr>
        <p:style>
          <a:lnRef idx="0">
            <a:schemeClr val="accent3"/>
          </a:lnRef>
          <a:fillRef idx="3">
            <a:schemeClr val="accent3"/>
          </a:fillRef>
          <a:effectRef idx="3">
            <a:schemeClr val="accent3"/>
          </a:effectRef>
          <a:fontRef idx="minor">
            <a:schemeClr val="lt1"/>
          </a:fontRef>
        </p:style>
        <p:txBody>
          <a:bodyPr rtlCol="0" anchor="ctr"/>
          <a:lstStyle/>
          <a:p>
            <a:pPr algn="ctr"/>
            <a:r>
              <a:rPr lang="es-PE" sz="1200" dirty="0"/>
              <a:t>4,5 </a:t>
            </a:r>
            <a:r>
              <a:rPr lang="en-US" sz="1200" dirty="0"/>
              <a:t>&amp; 6to</a:t>
            </a:r>
            <a:endParaRPr lang="en-CA" sz="1200" dirty="0"/>
          </a:p>
        </p:txBody>
      </p:sp>
      <p:sp>
        <p:nvSpPr>
          <p:cNvPr id="13" name="TextBox 12">
            <a:extLst>
              <a:ext uri="{FF2B5EF4-FFF2-40B4-BE49-F238E27FC236}">
                <a16:creationId xmlns:a16="http://schemas.microsoft.com/office/drawing/2014/main" id="{DE925335-E8CC-42DD-8390-323FE91B6C3B}"/>
              </a:ext>
            </a:extLst>
          </p:cNvPr>
          <p:cNvSpPr txBox="1"/>
          <p:nvPr/>
        </p:nvSpPr>
        <p:spPr>
          <a:xfrm>
            <a:off x="6617108" y="3667306"/>
            <a:ext cx="960021" cy="276999"/>
          </a:xfrm>
          <a:prstGeom prst="rect">
            <a:avLst/>
          </a:prstGeom>
          <a:noFill/>
        </p:spPr>
        <p:txBody>
          <a:bodyPr wrap="square" rtlCol="0">
            <a:spAutoFit/>
          </a:bodyPr>
          <a:lstStyle/>
          <a:p>
            <a:r>
              <a:rPr lang="en-US" sz="1200" b="1" dirty="0"/>
              <a:t>2018</a:t>
            </a:r>
            <a:endParaRPr lang="en-CA" sz="1200" b="1" dirty="0"/>
          </a:p>
        </p:txBody>
      </p:sp>
      <p:sp>
        <p:nvSpPr>
          <p:cNvPr id="14" name="TextBox 13">
            <a:extLst>
              <a:ext uri="{FF2B5EF4-FFF2-40B4-BE49-F238E27FC236}">
                <a16:creationId xmlns:a16="http://schemas.microsoft.com/office/drawing/2014/main" id="{90268A18-C5C4-47F8-AA0B-2A86DF45F9B1}"/>
              </a:ext>
            </a:extLst>
          </p:cNvPr>
          <p:cNvSpPr txBox="1"/>
          <p:nvPr/>
        </p:nvSpPr>
        <p:spPr>
          <a:xfrm>
            <a:off x="8573928" y="3658820"/>
            <a:ext cx="960021" cy="276999"/>
          </a:xfrm>
          <a:prstGeom prst="rect">
            <a:avLst/>
          </a:prstGeom>
          <a:noFill/>
        </p:spPr>
        <p:txBody>
          <a:bodyPr wrap="square" rtlCol="0">
            <a:spAutoFit/>
          </a:bodyPr>
          <a:lstStyle/>
          <a:p>
            <a:r>
              <a:rPr lang="en-US" sz="1200" b="1" dirty="0"/>
              <a:t>2019</a:t>
            </a:r>
            <a:endParaRPr lang="en-CA" sz="1200" b="1" dirty="0"/>
          </a:p>
        </p:txBody>
      </p:sp>
      <p:sp>
        <p:nvSpPr>
          <p:cNvPr id="15" name="TextBox 14">
            <a:extLst>
              <a:ext uri="{FF2B5EF4-FFF2-40B4-BE49-F238E27FC236}">
                <a16:creationId xmlns:a16="http://schemas.microsoft.com/office/drawing/2014/main" id="{EAA14F4B-2EDE-468F-9252-001F142C4893}"/>
              </a:ext>
            </a:extLst>
          </p:cNvPr>
          <p:cNvSpPr txBox="1"/>
          <p:nvPr/>
        </p:nvSpPr>
        <p:spPr>
          <a:xfrm>
            <a:off x="10672946" y="3658821"/>
            <a:ext cx="960021" cy="276999"/>
          </a:xfrm>
          <a:prstGeom prst="rect">
            <a:avLst/>
          </a:prstGeom>
          <a:noFill/>
        </p:spPr>
        <p:txBody>
          <a:bodyPr wrap="square" rtlCol="0">
            <a:spAutoFit/>
          </a:bodyPr>
          <a:lstStyle/>
          <a:p>
            <a:r>
              <a:rPr lang="en-US" sz="1200" b="1" dirty="0"/>
              <a:t>2020</a:t>
            </a:r>
            <a:endParaRPr lang="en-CA" sz="1200" b="1" dirty="0"/>
          </a:p>
        </p:txBody>
      </p:sp>
      <p:sp>
        <p:nvSpPr>
          <p:cNvPr id="16" name="TextBox 15">
            <a:extLst>
              <a:ext uri="{FF2B5EF4-FFF2-40B4-BE49-F238E27FC236}">
                <a16:creationId xmlns:a16="http://schemas.microsoft.com/office/drawing/2014/main" id="{9F058731-FAE2-4D80-BE0F-5D95CBFF9132}"/>
              </a:ext>
            </a:extLst>
          </p:cNvPr>
          <p:cNvSpPr txBox="1"/>
          <p:nvPr/>
        </p:nvSpPr>
        <p:spPr>
          <a:xfrm>
            <a:off x="6085726" y="1116531"/>
            <a:ext cx="5419637" cy="230832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PE" sz="2400" b="1" i="0" u="none" strike="noStrike" kern="1200" cap="none" spc="0" normalizeH="0" baseline="0" noProof="0" dirty="0">
                <a:ln>
                  <a:noFill/>
                </a:ln>
                <a:solidFill>
                  <a:srgbClr val="000000"/>
                </a:solidFill>
                <a:effectLst/>
                <a:uLnTx/>
                <a:uFillTx/>
                <a:latin typeface="Calibri" panose="020F0502020204030204"/>
                <a:ea typeface="+mn-ea"/>
                <a:cs typeface="+mn-cs"/>
              </a:rPr>
              <a:t>Descripción de la estrategia:</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PE" sz="2400" b="1"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PE" sz="1600" dirty="0">
                <a:solidFill>
                  <a:srgbClr val="000000"/>
                </a:solidFill>
              </a:rPr>
              <a:t>1 Sesión de 90 minutos semanal (En Chile son 2 sesiones semanales)  para realizar la actividad semanal en el laboratorio.</a:t>
            </a:r>
          </a:p>
          <a:p>
            <a:pPr marR="0" lvl="0" algn="l" defTabSz="914400" rtl="0" eaLnBrk="1" fontAlgn="auto" latinLnBrk="0" hangingPunct="1">
              <a:lnSpc>
                <a:spcPct val="100000"/>
              </a:lnSpc>
              <a:spcBef>
                <a:spcPts val="0"/>
              </a:spcBef>
              <a:spcAft>
                <a:spcPts val="0"/>
              </a:spcAft>
              <a:buClrTx/>
              <a:buSzTx/>
              <a:tabLst/>
              <a:defRPr/>
            </a:pPr>
            <a:endParaRPr lang="es-PE" sz="1600" dirty="0">
              <a:solidFill>
                <a:srgbClr val="000000"/>
              </a:solidFill>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PE" sz="1600" i="0" u="none" strike="noStrike" kern="1200" cap="none" spc="0" normalizeH="0" baseline="0" noProof="0" dirty="0">
                <a:ln>
                  <a:noFill/>
                </a:ln>
                <a:solidFill>
                  <a:srgbClr val="000000"/>
                </a:solidFill>
                <a:effectLst/>
                <a:uLnTx/>
                <a:uFillTx/>
                <a:ea typeface="+mn-ea"/>
                <a:cs typeface="+mn-cs"/>
              </a:rPr>
              <a:t>En algunos casos el docente deja la actividad para ser realizada en casa de viernes a lunes</a:t>
            </a:r>
          </a:p>
        </p:txBody>
      </p:sp>
    </p:spTree>
    <p:extLst>
      <p:ext uri="{BB962C8B-B14F-4D97-AF65-F5344CB8AC3E}">
        <p14:creationId xmlns:p14="http://schemas.microsoft.com/office/powerpoint/2010/main" val="58470656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Diagonal Corners Rounded 6">
            <a:extLst>
              <a:ext uri="{FF2B5EF4-FFF2-40B4-BE49-F238E27FC236}">
                <a16:creationId xmlns:a16="http://schemas.microsoft.com/office/drawing/2014/main" id="{5DC549E6-0B6C-450B-922D-0F58D2924A72}"/>
              </a:ext>
            </a:extLst>
          </p:cNvPr>
          <p:cNvSpPr/>
          <p:nvPr/>
        </p:nvSpPr>
        <p:spPr>
          <a:xfrm>
            <a:off x="429623" y="1048649"/>
            <a:ext cx="11267440" cy="721517"/>
          </a:xfrm>
          <a:prstGeom prst="round2DiagRect">
            <a:avLst/>
          </a:prstGeom>
          <a:solidFill>
            <a:srgbClr val="C00000"/>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solidFill>
                <a:schemeClr val="bg1"/>
              </a:solidFill>
            </a:endParaRPr>
          </a:p>
        </p:txBody>
      </p:sp>
      <p:sp>
        <p:nvSpPr>
          <p:cNvPr id="2" name="Title 1">
            <a:extLst>
              <a:ext uri="{FF2B5EF4-FFF2-40B4-BE49-F238E27FC236}">
                <a16:creationId xmlns:a16="http://schemas.microsoft.com/office/drawing/2014/main" id="{16C18CE1-72D9-4719-A2FF-5C93A7E96E39}"/>
              </a:ext>
            </a:extLst>
          </p:cNvPr>
          <p:cNvSpPr>
            <a:spLocks noGrp="1"/>
          </p:cNvSpPr>
          <p:nvPr>
            <p:ph type="title"/>
          </p:nvPr>
        </p:nvSpPr>
        <p:spPr/>
        <p:txBody>
          <a:bodyPr/>
          <a:lstStyle/>
          <a:p>
            <a:r>
              <a:rPr lang="es-PE" sz="4000" dirty="0"/>
              <a:t>AGENDA</a:t>
            </a:r>
            <a:endParaRPr lang="en-CA" sz="4000" dirty="0"/>
          </a:p>
        </p:txBody>
      </p:sp>
      <p:sp>
        <p:nvSpPr>
          <p:cNvPr id="3" name="Slide Number Placeholder 2">
            <a:extLst>
              <a:ext uri="{FF2B5EF4-FFF2-40B4-BE49-F238E27FC236}">
                <a16:creationId xmlns:a16="http://schemas.microsoft.com/office/drawing/2014/main" id="{0DFD7E46-D5CE-48DD-96F3-51002A57C15D}"/>
              </a:ext>
            </a:extLst>
          </p:cNvPr>
          <p:cNvSpPr>
            <a:spLocks noGrp="1"/>
          </p:cNvSpPr>
          <p:nvPr>
            <p:ph type="sldNum" sz="quarter" idx="12"/>
          </p:nvPr>
        </p:nvSpPr>
        <p:spPr/>
        <p:txBody>
          <a:bodyPr/>
          <a:lstStyle/>
          <a:p>
            <a:fld id="{DAF31D20-51B2-49A6-91FA-1FC48A60B42D}" type="slidenum">
              <a:rPr lang="es-PE" smtClean="0"/>
              <a:t>38</a:t>
            </a:fld>
            <a:endParaRPr lang="es-PE"/>
          </a:p>
        </p:txBody>
      </p:sp>
      <p:sp>
        <p:nvSpPr>
          <p:cNvPr id="5" name="TextBox 4">
            <a:extLst>
              <a:ext uri="{FF2B5EF4-FFF2-40B4-BE49-F238E27FC236}">
                <a16:creationId xmlns:a16="http://schemas.microsoft.com/office/drawing/2014/main" id="{17CB7C5A-6404-4218-A2FD-BE386960A332}"/>
              </a:ext>
            </a:extLst>
          </p:cNvPr>
          <p:cNvSpPr txBox="1"/>
          <p:nvPr/>
        </p:nvSpPr>
        <p:spPr>
          <a:xfrm>
            <a:off x="494937" y="1249444"/>
            <a:ext cx="10739120" cy="369332"/>
          </a:xfrm>
          <a:prstGeom prst="rect">
            <a:avLst/>
          </a:prstGeom>
          <a:noFill/>
        </p:spPr>
        <p:txBody>
          <a:bodyPr wrap="square" rtlCol="0">
            <a:spAutoFit/>
          </a:bodyPr>
          <a:lstStyle/>
          <a:p>
            <a:r>
              <a:rPr lang="es-PE" b="1" dirty="0">
                <a:solidFill>
                  <a:schemeClr val="bg1"/>
                </a:solidFill>
              </a:rPr>
              <a:t>2.  Propuesta de estrategia de Educación Remedial </a:t>
            </a:r>
            <a:endParaRPr lang="en-CA" b="1" dirty="0">
              <a:solidFill>
                <a:schemeClr val="bg1"/>
              </a:solidFill>
            </a:endParaRPr>
          </a:p>
        </p:txBody>
      </p:sp>
      <p:sp>
        <p:nvSpPr>
          <p:cNvPr id="11" name="Rectangle 10">
            <a:extLst>
              <a:ext uri="{FF2B5EF4-FFF2-40B4-BE49-F238E27FC236}">
                <a16:creationId xmlns:a16="http://schemas.microsoft.com/office/drawing/2014/main" id="{73ED18D7-638E-4BF8-8DFC-833E74760777}"/>
              </a:ext>
            </a:extLst>
          </p:cNvPr>
          <p:cNvSpPr/>
          <p:nvPr/>
        </p:nvSpPr>
        <p:spPr>
          <a:xfrm>
            <a:off x="866767" y="1925671"/>
            <a:ext cx="10753725" cy="381602"/>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00050" indent="-400050">
              <a:buFont typeface="+mj-lt"/>
              <a:buAutoNum type="romanUcPeriod"/>
            </a:pPr>
            <a:r>
              <a:rPr lang="es-PE" b="1" dirty="0">
                <a:solidFill>
                  <a:schemeClr val="tx2"/>
                </a:solidFill>
              </a:rPr>
              <a:t>Información general de estrategias</a:t>
            </a:r>
            <a:endParaRPr lang="en-CA" b="1" dirty="0">
              <a:solidFill>
                <a:schemeClr val="tx2"/>
              </a:solidFill>
            </a:endParaRPr>
          </a:p>
        </p:txBody>
      </p:sp>
      <p:sp>
        <p:nvSpPr>
          <p:cNvPr id="13" name="Rectangle 12">
            <a:extLst>
              <a:ext uri="{FF2B5EF4-FFF2-40B4-BE49-F238E27FC236}">
                <a16:creationId xmlns:a16="http://schemas.microsoft.com/office/drawing/2014/main" id="{BF24706C-635F-48B8-86E0-9354C25A8312}"/>
              </a:ext>
            </a:extLst>
          </p:cNvPr>
          <p:cNvSpPr/>
          <p:nvPr/>
        </p:nvSpPr>
        <p:spPr>
          <a:xfrm>
            <a:off x="866767" y="2431388"/>
            <a:ext cx="10753725" cy="381602"/>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00050" indent="-400050">
              <a:buFont typeface="+mj-lt"/>
              <a:buAutoNum type="romanUcPeriod" startAt="2"/>
            </a:pPr>
            <a:r>
              <a:rPr lang="es-PE" b="1" dirty="0">
                <a:solidFill>
                  <a:schemeClr val="tx2"/>
                </a:solidFill>
              </a:rPr>
              <a:t>Modelo 1: Enseñanza al nivel adecuado (</a:t>
            </a:r>
            <a:r>
              <a:rPr lang="es-PE" b="1" dirty="0" err="1">
                <a:solidFill>
                  <a:schemeClr val="tx2"/>
                </a:solidFill>
              </a:rPr>
              <a:t>TaRL</a:t>
            </a:r>
            <a:r>
              <a:rPr lang="es-PE" b="1" dirty="0">
                <a:solidFill>
                  <a:schemeClr val="tx2"/>
                </a:solidFill>
              </a:rPr>
              <a:t>)</a:t>
            </a:r>
            <a:endParaRPr lang="en-CA" b="1" dirty="0">
              <a:solidFill>
                <a:schemeClr val="tx2"/>
              </a:solidFill>
            </a:endParaRPr>
          </a:p>
        </p:txBody>
      </p:sp>
      <p:sp>
        <p:nvSpPr>
          <p:cNvPr id="15" name="Rectangle 14">
            <a:extLst>
              <a:ext uri="{FF2B5EF4-FFF2-40B4-BE49-F238E27FC236}">
                <a16:creationId xmlns:a16="http://schemas.microsoft.com/office/drawing/2014/main" id="{6D048FC1-72B2-4921-BF07-AC34182DA451}"/>
              </a:ext>
            </a:extLst>
          </p:cNvPr>
          <p:cNvSpPr/>
          <p:nvPr/>
        </p:nvSpPr>
        <p:spPr>
          <a:xfrm>
            <a:off x="866767" y="4462866"/>
            <a:ext cx="10753725" cy="381602"/>
          </a:xfrm>
          <a:prstGeom prst="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00050" indent="-400050">
              <a:buFont typeface="+mj-lt"/>
              <a:buAutoNum type="romanUcPeriod" startAt="3"/>
            </a:pPr>
            <a:r>
              <a:rPr lang="es-PE" b="1" dirty="0">
                <a:solidFill>
                  <a:schemeClr val="bg1"/>
                </a:solidFill>
              </a:rPr>
              <a:t>Modelo 2: Tutoría con componente digital</a:t>
            </a:r>
            <a:endParaRPr lang="en-CA" b="1" dirty="0">
              <a:solidFill>
                <a:schemeClr val="bg1"/>
              </a:solidFill>
            </a:endParaRPr>
          </a:p>
        </p:txBody>
      </p:sp>
      <p:sp>
        <p:nvSpPr>
          <p:cNvPr id="18" name="TextBox 17">
            <a:extLst>
              <a:ext uri="{FF2B5EF4-FFF2-40B4-BE49-F238E27FC236}">
                <a16:creationId xmlns:a16="http://schemas.microsoft.com/office/drawing/2014/main" id="{1472411D-B88F-4453-A39D-EDA418DB8DC9}"/>
              </a:ext>
            </a:extLst>
          </p:cNvPr>
          <p:cNvSpPr txBox="1"/>
          <p:nvPr/>
        </p:nvSpPr>
        <p:spPr>
          <a:xfrm>
            <a:off x="1104891" y="2871988"/>
            <a:ext cx="10277475" cy="1569660"/>
          </a:xfrm>
          <a:prstGeom prst="rect">
            <a:avLst/>
          </a:prstGeom>
          <a:noFill/>
        </p:spPr>
        <p:txBody>
          <a:bodyPr wrap="square" rtlCol="0">
            <a:spAutoFit/>
          </a:bodyPr>
          <a:lstStyle/>
          <a:p>
            <a:pPr marL="285750" indent="-285750">
              <a:buFont typeface="Wingdings" panose="05000000000000000000" pitchFamily="2" charset="2"/>
              <a:buChar char="§"/>
            </a:pPr>
            <a:r>
              <a:rPr lang="es-PE" sz="1200" dirty="0">
                <a:solidFill>
                  <a:schemeClr val="bg1">
                    <a:lumMod val="65000"/>
                  </a:schemeClr>
                </a:solidFill>
              </a:rPr>
              <a:t>Antecedentes</a:t>
            </a:r>
          </a:p>
          <a:p>
            <a:pPr marL="285750" indent="-285750">
              <a:buFont typeface="Wingdings" panose="05000000000000000000" pitchFamily="2" charset="2"/>
              <a:buChar char="§"/>
            </a:pPr>
            <a:r>
              <a:rPr lang="es-PE" sz="1200" dirty="0">
                <a:solidFill>
                  <a:schemeClr val="bg1">
                    <a:lumMod val="65000"/>
                  </a:schemeClr>
                </a:solidFill>
              </a:rPr>
              <a:t>El Modelo</a:t>
            </a:r>
          </a:p>
          <a:p>
            <a:pPr marL="285750" indent="-285750">
              <a:buFont typeface="Wingdings" panose="05000000000000000000" pitchFamily="2" charset="2"/>
              <a:buChar char="§"/>
            </a:pPr>
            <a:r>
              <a:rPr lang="es-PE" sz="1200" dirty="0">
                <a:solidFill>
                  <a:schemeClr val="bg1">
                    <a:lumMod val="65000"/>
                  </a:schemeClr>
                </a:solidFill>
              </a:rPr>
              <a:t>Componentes de la estrategia</a:t>
            </a:r>
          </a:p>
          <a:p>
            <a:pPr marL="285750" indent="-285750">
              <a:buFont typeface="Wingdings" panose="05000000000000000000" pitchFamily="2" charset="2"/>
              <a:buChar char="§"/>
            </a:pPr>
            <a:r>
              <a:rPr lang="es-PE" sz="1200" dirty="0">
                <a:solidFill>
                  <a:schemeClr val="bg1">
                    <a:lumMod val="65000"/>
                  </a:schemeClr>
                </a:solidFill>
              </a:rPr>
              <a:t>Focalización</a:t>
            </a:r>
          </a:p>
          <a:p>
            <a:pPr marL="285750" indent="-285750">
              <a:buFont typeface="Wingdings" panose="05000000000000000000" pitchFamily="2" charset="2"/>
              <a:buChar char="§"/>
            </a:pPr>
            <a:r>
              <a:rPr lang="es-PE" sz="1200" dirty="0">
                <a:solidFill>
                  <a:schemeClr val="bg1">
                    <a:lumMod val="65000"/>
                  </a:schemeClr>
                </a:solidFill>
              </a:rPr>
              <a:t>Cobertura</a:t>
            </a:r>
          </a:p>
          <a:p>
            <a:pPr marL="285750" indent="-285750">
              <a:buFont typeface="Wingdings" panose="05000000000000000000" pitchFamily="2" charset="2"/>
              <a:buChar char="§"/>
            </a:pPr>
            <a:r>
              <a:rPr lang="es-PE" sz="1200" dirty="0">
                <a:solidFill>
                  <a:schemeClr val="bg1">
                    <a:lumMod val="65000"/>
                  </a:schemeClr>
                </a:solidFill>
              </a:rPr>
              <a:t>Estimación de Costos</a:t>
            </a:r>
          </a:p>
          <a:p>
            <a:pPr marL="285750" indent="-285750">
              <a:buFont typeface="Wingdings" panose="05000000000000000000" pitchFamily="2" charset="2"/>
              <a:buChar char="§"/>
            </a:pPr>
            <a:r>
              <a:rPr lang="es-PE" sz="1200" dirty="0">
                <a:solidFill>
                  <a:schemeClr val="bg1">
                    <a:lumMod val="65000"/>
                  </a:schemeClr>
                </a:solidFill>
              </a:rPr>
              <a:t>Cronograma</a:t>
            </a:r>
          </a:p>
          <a:p>
            <a:pPr marL="285750" indent="-285750">
              <a:buFont typeface="Wingdings" panose="05000000000000000000" pitchFamily="2" charset="2"/>
              <a:buChar char="§"/>
            </a:pPr>
            <a:r>
              <a:rPr lang="es-PE" sz="1200" dirty="0">
                <a:solidFill>
                  <a:schemeClr val="bg1">
                    <a:lumMod val="65000"/>
                  </a:schemeClr>
                </a:solidFill>
              </a:rPr>
              <a:t>Complementariedad con otras estrategias y recomendaciones</a:t>
            </a:r>
          </a:p>
        </p:txBody>
      </p:sp>
      <p:sp>
        <p:nvSpPr>
          <p:cNvPr id="19" name="TextBox 18">
            <a:extLst>
              <a:ext uri="{FF2B5EF4-FFF2-40B4-BE49-F238E27FC236}">
                <a16:creationId xmlns:a16="http://schemas.microsoft.com/office/drawing/2014/main" id="{5947BA55-15C3-4040-9B5B-8EAC7B3B3343}"/>
              </a:ext>
            </a:extLst>
          </p:cNvPr>
          <p:cNvSpPr txBox="1"/>
          <p:nvPr/>
        </p:nvSpPr>
        <p:spPr>
          <a:xfrm>
            <a:off x="1047755" y="4980330"/>
            <a:ext cx="10277475" cy="1754326"/>
          </a:xfrm>
          <a:prstGeom prst="rect">
            <a:avLst/>
          </a:prstGeom>
          <a:noFill/>
        </p:spPr>
        <p:txBody>
          <a:bodyPr wrap="square" rtlCol="0">
            <a:spAutoFit/>
          </a:bodyPr>
          <a:lstStyle/>
          <a:p>
            <a:pPr marL="285750" indent="-285750">
              <a:buFont typeface="Wingdings" panose="05000000000000000000" pitchFamily="2" charset="2"/>
              <a:buChar char="§"/>
            </a:pPr>
            <a:r>
              <a:rPr lang="es-PE" sz="1200" dirty="0">
                <a:solidFill>
                  <a:schemeClr val="bg1">
                    <a:lumMod val="65000"/>
                  </a:schemeClr>
                </a:solidFill>
              </a:rPr>
              <a:t>Antecedentes</a:t>
            </a:r>
          </a:p>
          <a:p>
            <a:pPr marL="285750" indent="-285750">
              <a:buFont typeface="Wingdings" panose="05000000000000000000" pitchFamily="2" charset="2"/>
              <a:buChar char="§"/>
            </a:pPr>
            <a:r>
              <a:rPr lang="es-PE" sz="1200" b="1" dirty="0">
                <a:solidFill>
                  <a:schemeClr val="tx2"/>
                </a:solidFill>
              </a:rPr>
              <a:t>Oportunidades</a:t>
            </a:r>
          </a:p>
          <a:p>
            <a:pPr marL="285750" indent="-285750">
              <a:buFont typeface="Wingdings" panose="05000000000000000000" pitchFamily="2" charset="2"/>
              <a:buChar char="§"/>
            </a:pPr>
            <a:r>
              <a:rPr lang="es-PE" sz="1200" dirty="0">
                <a:solidFill>
                  <a:schemeClr val="bg1">
                    <a:lumMod val="65000"/>
                  </a:schemeClr>
                </a:solidFill>
              </a:rPr>
              <a:t>El Modelo</a:t>
            </a:r>
          </a:p>
          <a:p>
            <a:pPr marL="285750" indent="-285750">
              <a:buFont typeface="Wingdings" panose="05000000000000000000" pitchFamily="2" charset="2"/>
              <a:buChar char="§"/>
            </a:pPr>
            <a:r>
              <a:rPr lang="es-PE" sz="1200" dirty="0">
                <a:solidFill>
                  <a:schemeClr val="bg1">
                    <a:lumMod val="65000"/>
                  </a:schemeClr>
                </a:solidFill>
              </a:rPr>
              <a:t>Componentes de la estrategia</a:t>
            </a:r>
          </a:p>
          <a:p>
            <a:pPr marL="285750" indent="-285750">
              <a:buFont typeface="Wingdings" panose="05000000000000000000" pitchFamily="2" charset="2"/>
              <a:buChar char="§"/>
            </a:pPr>
            <a:r>
              <a:rPr lang="es-PE" sz="1200" dirty="0">
                <a:solidFill>
                  <a:schemeClr val="bg1">
                    <a:lumMod val="65000"/>
                  </a:schemeClr>
                </a:solidFill>
              </a:rPr>
              <a:t>Focalización</a:t>
            </a:r>
          </a:p>
          <a:p>
            <a:pPr marL="285750" indent="-285750">
              <a:buFont typeface="Wingdings" panose="05000000000000000000" pitchFamily="2" charset="2"/>
              <a:buChar char="§"/>
            </a:pPr>
            <a:r>
              <a:rPr lang="es-PE" sz="1200" dirty="0">
                <a:solidFill>
                  <a:schemeClr val="bg1">
                    <a:lumMod val="65000"/>
                  </a:schemeClr>
                </a:solidFill>
              </a:rPr>
              <a:t>Cobertura</a:t>
            </a:r>
          </a:p>
          <a:p>
            <a:pPr marL="285750" indent="-285750">
              <a:buFont typeface="Wingdings" panose="05000000000000000000" pitchFamily="2" charset="2"/>
              <a:buChar char="§"/>
            </a:pPr>
            <a:r>
              <a:rPr lang="es-PE" sz="1200" dirty="0">
                <a:solidFill>
                  <a:schemeClr val="bg1">
                    <a:lumMod val="65000"/>
                  </a:schemeClr>
                </a:solidFill>
              </a:rPr>
              <a:t>Estimación de Costos</a:t>
            </a:r>
          </a:p>
          <a:p>
            <a:pPr marL="285750" indent="-285750">
              <a:buFont typeface="Wingdings" panose="05000000000000000000" pitchFamily="2" charset="2"/>
              <a:buChar char="§"/>
            </a:pPr>
            <a:r>
              <a:rPr lang="es-PE" sz="1200" dirty="0">
                <a:solidFill>
                  <a:schemeClr val="bg1">
                    <a:lumMod val="65000"/>
                  </a:schemeClr>
                </a:solidFill>
              </a:rPr>
              <a:t>Cronograma</a:t>
            </a:r>
          </a:p>
          <a:p>
            <a:pPr marL="285750" indent="-285750">
              <a:buFont typeface="Wingdings" panose="05000000000000000000" pitchFamily="2" charset="2"/>
              <a:buChar char="§"/>
            </a:pPr>
            <a:r>
              <a:rPr lang="es-PE" sz="1200" dirty="0">
                <a:solidFill>
                  <a:schemeClr val="bg1">
                    <a:lumMod val="65000"/>
                  </a:schemeClr>
                </a:solidFill>
              </a:rPr>
              <a:t>Complementariedad con otras estrategias y recomendaciones</a:t>
            </a:r>
          </a:p>
        </p:txBody>
      </p:sp>
    </p:spTree>
    <p:extLst>
      <p:ext uri="{BB962C8B-B14F-4D97-AF65-F5344CB8AC3E}">
        <p14:creationId xmlns:p14="http://schemas.microsoft.com/office/powerpoint/2010/main" val="172699066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516F76-5616-4DB2-BF7E-2D60D9EFE513}"/>
              </a:ext>
            </a:extLst>
          </p:cNvPr>
          <p:cNvSpPr>
            <a:spLocks noGrp="1"/>
          </p:cNvSpPr>
          <p:nvPr>
            <p:ph type="title"/>
          </p:nvPr>
        </p:nvSpPr>
        <p:spPr/>
        <p:txBody>
          <a:bodyPr/>
          <a:lstStyle/>
          <a:p>
            <a:r>
              <a:rPr lang="es-PE" dirty="0"/>
              <a:t>Oportunidades</a:t>
            </a:r>
            <a:endParaRPr lang="en-CA" dirty="0"/>
          </a:p>
        </p:txBody>
      </p:sp>
      <p:sp>
        <p:nvSpPr>
          <p:cNvPr id="3" name="Slide Number Placeholder 2">
            <a:extLst>
              <a:ext uri="{FF2B5EF4-FFF2-40B4-BE49-F238E27FC236}">
                <a16:creationId xmlns:a16="http://schemas.microsoft.com/office/drawing/2014/main" id="{A9D3161B-C8BD-47CA-9D35-9F3902C37739}"/>
              </a:ext>
            </a:extLst>
          </p:cNvPr>
          <p:cNvSpPr>
            <a:spLocks noGrp="1"/>
          </p:cNvSpPr>
          <p:nvPr>
            <p:ph type="sldNum" sz="quarter" idx="12"/>
          </p:nvPr>
        </p:nvSpPr>
        <p:spPr>
          <a:xfrm>
            <a:off x="11808614" y="6193737"/>
            <a:ext cx="432000" cy="252000"/>
          </a:xfrm>
        </p:spPr>
        <p:txBody>
          <a:bodyPr/>
          <a:lstStyle/>
          <a:p>
            <a:fld id="{DAF31D20-51B2-49A6-91FA-1FC48A60B42D}" type="slidenum">
              <a:rPr lang="es-PE" smtClean="0"/>
              <a:t>39</a:t>
            </a:fld>
            <a:endParaRPr lang="es-PE"/>
          </a:p>
        </p:txBody>
      </p:sp>
      <p:sp>
        <p:nvSpPr>
          <p:cNvPr id="4" name="TextBox 3">
            <a:extLst>
              <a:ext uri="{FF2B5EF4-FFF2-40B4-BE49-F238E27FC236}">
                <a16:creationId xmlns:a16="http://schemas.microsoft.com/office/drawing/2014/main" id="{481FA274-FF00-470F-8C40-EAC2ADE7B32C}"/>
              </a:ext>
            </a:extLst>
          </p:cNvPr>
          <p:cNvSpPr txBox="1"/>
          <p:nvPr/>
        </p:nvSpPr>
        <p:spPr>
          <a:xfrm>
            <a:off x="721359" y="1165024"/>
            <a:ext cx="10749282" cy="646331"/>
          </a:xfrm>
          <a:prstGeom prst="rect">
            <a:avLst/>
          </a:prstGeom>
          <a:noFill/>
        </p:spPr>
        <p:txBody>
          <a:bodyPr wrap="square" rtlCol="0">
            <a:spAutoFit/>
          </a:bodyPr>
          <a:lstStyle/>
          <a:p>
            <a:r>
              <a:rPr lang="es-PE" b="1" dirty="0">
                <a:solidFill>
                  <a:schemeClr val="tx2"/>
                </a:solidFill>
              </a:rPr>
              <a:t>1. </a:t>
            </a:r>
            <a:r>
              <a:rPr lang="es-PE" dirty="0">
                <a:solidFill>
                  <a:schemeClr val="tx2"/>
                </a:solidFill>
              </a:rPr>
              <a:t>Actualmente Conecta Ideas en Lima Metropolitana para el refuerzo en actividades de matemática en estudiantes de 4to a 6to de primaria.</a:t>
            </a:r>
            <a:endParaRPr lang="en-CA" dirty="0">
              <a:solidFill>
                <a:schemeClr val="tx2"/>
              </a:solidFill>
            </a:endParaRPr>
          </a:p>
        </p:txBody>
      </p:sp>
      <p:graphicFrame>
        <p:nvGraphicFramePr>
          <p:cNvPr id="5" name="Tabla 16">
            <a:extLst>
              <a:ext uri="{FF2B5EF4-FFF2-40B4-BE49-F238E27FC236}">
                <a16:creationId xmlns:a16="http://schemas.microsoft.com/office/drawing/2014/main" id="{F15EBF84-103A-4C92-BC67-585A79CD7D9E}"/>
              </a:ext>
            </a:extLst>
          </p:cNvPr>
          <p:cNvGraphicFramePr>
            <a:graphicFrameLocks noGrp="1"/>
          </p:cNvGraphicFramePr>
          <p:nvPr>
            <p:extLst>
              <p:ext uri="{D42A27DB-BD31-4B8C-83A1-F6EECF244321}">
                <p14:modId xmlns:p14="http://schemas.microsoft.com/office/powerpoint/2010/main" val="3433561746"/>
              </p:ext>
            </p:extLst>
          </p:nvPr>
        </p:nvGraphicFramePr>
        <p:xfrm>
          <a:off x="2383757" y="2994676"/>
          <a:ext cx="6900447" cy="1990725"/>
        </p:xfrm>
        <a:graphic>
          <a:graphicData uri="http://schemas.openxmlformats.org/drawingml/2006/table">
            <a:tbl>
              <a:tblPr/>
              <a:tblGrid>
                <a:gridCol w="675861">
                  <a:extLst>
                    <a:ext uri="{9D8B030D-6E8A-4147-A177-3AD203B41FA5}">
                      <a16:colId xmlns:a16="http://schemas.microsoft.com/office/drawing/2014/main" val="1840750536"/>
                    </a:ext>
                  </a:extLst>
                </a:gridCol>
                <a:gridCol w="836865">
                  <a:extLst>
                    <a:ext uri="{9D8B030D-6E8A-4147-A177-3AD203B41FA5}">
                      <a16:colId xmlns:a16="http://schemas.microsoft.com/office/drawing/2014/main" val="1309305338"/>
                    </a:ext>
                  </a:extLst>
                </a:gridCol>
                <a:gridCol w="414440">
                  <a:extLst>
                    <a:ext uri="{9D8B030D-6E8A-4147-A177-3AD203B41FA5}">
                      <a16:colId xmlns:a16="http://schemas.microsoft.com/office/drawing/2014/main" val="2514444931"/>
                    </a:ext>
                  </a:extLst>
                </a:gridCol>
                <a:gridCol w="414440">
                  <a:extLst>
                    <a:ext uri="{9D8B030D-6E8A-4147-A177-3AD203B41FA5}">
                      <a16:colId xmlns:a16="http://schemas.microsoft.com/office/drawing/2014/main" val="389297233"/>
                    </a:ext>
                  </a:extLst>
                </a:gridCol>
                <a:gridCol w="414440">
                  <a:extLst>
                    <a:ext uri="{9D8B030D-6E8A-4147-A177-3AD203B41FA5}">
                      <a16:colId xmlns:a16="http://schemas.microsoft.com/office/drawing/2014/main" val="3585354291"/>
                    </a:ext>
                  </a:extLst>
                </a:gridCol>
                <a:gridCol w="414440">
                  <a:extLst>
                    <a:ext uri="{9D8B030D-6E8A-4147-A177-3AD203B41FA5}">
                      <a16:colId xmlns:a16="http://schemas.microsoft.com/office/drawing/2014/main" val="1244951310"/>
                    </a:ext>
                  </a:extLst>
                </a:gridCol>
                <a:gridCol w="414440">
                  <a:extLst>
                    <a:ext uri="{9D8B030D-6E8A-4147-A177-3AD203B41FA5}">
                      <a16:colId xmlns:a16="http://schemas.microsoft.com/office/drawing/2014/main" val="1667617524"/>
                    </a:ext>
                  </a:extLst>
                </a:gridCol>
                <a:gridCol w="414440">
                  <a:extLst>
                    <a:ext uri="{9D8B030D-6E8A-4147-A177-3AD203B41FA5}">
                      <a16:colId xmlns:a16="http://schemas.microsoft.com/office/drawing/2014/main" val="3680100762"/>
                    </a:ext>
                  </a:extLst>
                </a:gridCol>
                <a:gridCol w="414440">
                  <a:extLst>
                    <a:ext uri="{9D8B030D-6E8A-4147-A177-3AD203B41FA5}">
                      <a16:colId xmlns:a16="http://schemas.microsoft.com/office/drawing/2014/main" val="1609380052"/>
                    </a:ext>
                  </a:extLst>
                </a:gridCol>
                <a:gridCol w="414440">
                  <a:extLst>
                    <a:ext uri="{9D8B030D-6E8A-4147-A177-3AD203B41FA5}">
                      <a16:colId xmlns:a16="http://schemas.microsoft.com/office/drawing/2014/main" val="3553772750"/>
                    </a:ext>
                  </a:extLst>
                </a:gridCol>
                <a:gridCol w="414440">
                  <a:extLst>
                    <a:ext uri="{9D8B030D-6E8A-4147-A177-3AD203B41FA5}">
                      <a16:colId xmlns:a16="http://schemas.microsoft.com/office/drawing/2014/main" val="2839605782"/>
                    </a:ext>
                  </a:extLst>
                </a:gridCol>
                <a:gridCol w="414440">
                  <a:extLst>
                    <a:ext uri="{9D8B030D-6E8A-4147-A177-3AD203B41FA5}">
                      <a16:colId xmlns:a16="http://schemas.microsoft.com/office/drawing/2014/main" val="2926539270"/>
                    </a:ext>
                  </a:extLst>
                </a:gridCol>
                <a:gridCol w="414440">
                  <a:extLst>
                    <a:ext uri="{9D8B030D-6E8A-4147-A177-3AD203B41FA5}">
                      <a16:colId xmlns:a16="http://schemas.microsoft.com/office/drawing/2014/main" val="229368375"/>
                    </a:ext>
                  </a:extLst>
                </a:gridCol>
                <a:gridCol w="828881">
                  <a:extLst>
                    <a:ext uri="{9D8B030D-6E8A-4147-A177-3AD203B41FA5}">
                      <a16:colId xmlns:a16="http://schemas.microsoft.com/office/drawing/2014/main" val="2142878866"/>
                    </a:ext>
                  </a:extLst>
                </a:gridCol>
              </a:tblGrid>
              <a:tr h="180975">
                <a:tc rowSpan="2">
                  <a:txBody>
                    <a:bodyPr/>
                    <a:lstStyle/>
                    <a:p>
                      <a:pPr algn="ctr" fontAlgn="ctr"/>
                      <a:r>
                        <a:rPr lang="es-PE" sz="1100" b="1" i="0" u="none" strike="noStrike">
                          <a:solidFill>
                            <a:srgbClr val="FFFFFF"/>
                          </a:solidFill>
                          <a:effectLst/>
                          <a:latin typeface="Calibri" panose="020F0502020204030204" pitchFamily="34" charset="0"/>
                        </a:rPr>
                        <a:t>Area</a:t>
                      </a:r>
                    </a:p>
                  </a:txBody>
                  <a:tcPr marL="4763" marR="4763" marT="4763"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2060"/>
                    </a:solidFill>
                  </a:tcPr>
                </a:tc>
                <a:tc rowSpan="2">
                  <a:txBody>
                    <a:bodyPr/>
                    <a:lstStyle/>
                    <a:p>
                      <a:pPr algn="ctr" fontAlgn="ctr"/>
                      <a:r>
                        <a:rPr lang="es-PE" sz="1100" b="1" i="0" u="none" strike="noStrike" dirty="0">
                          <a:solidFill>
                            <a:srgbClr val="FFFFFF"/>
                          </a:solidFill>
                          <a:effectLst/>
                          <a:latin typeface="Calibri" panose="020F0502020204030204" pitchFamily="34" charset="0"/>
                        </a:rPr>
                        <a:t>Ruralidad/</a:t>
                      </a:r>
                    </a:p>
                    <a:p>
                      <a:pPr algn="ctr" fontAlgn="ctr"/>
                      <a:r>
                        <a:rPr lang="es-PE" sz="1100" b="1" i="0" u="none" strike="noStrike" dirty="0">
                          <a:solidFill>
                            <a:srgbClr val="FFFFFF"/>
                          </a:solidFill>
                          <a:effectLst/>
                          <a:latin typeface="Calibri" panose="020F0502020204030204" pitchFamily="34" charset="0"/>
                        </a:rPr>
                        <a:t>Quintil</a:t>
                      </a:r>
                    </a:p>
                  </a:txBody>
                  <a:tcPr marL="4763" marR="4763" marT="4763"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2060"/>
                    </a:solidFill>
                  </a:tcPr>
                </a:tc>
                <a:tc gridSpan="6">
                  <a:txBody>
                    <a:bodyPr/>
                    <a:lstStyle/>
                    <a:p>
                      <a:pPr algn="ctr" fontAlgn="b"/>
                      <a:r>
                        <a:rPr lang="es-PE" sz="1100" b="1" i="0" u="none" strike="noStrike">
                          <a:solidFill>
                            <a:srgbClr val="FFFFFF"/>
                          </a:solidFill>
                          <a:effectLst/>
                          <a:latin typeface="Calibri" panose="020F0502020204030204" pitchFamily="34" charset="0"/>
                        </a:rPr>
                        <a:t>Primaria</a:t>
                      </a:r>
                    </a:p>
                  </a:txBody>
                  <a:tcPr marL="4763" marR="4763" marT="4763" marB="0"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2060"/>
                    </a:solidFill>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gridSpan="5">
                  <a:txBody>
                    <a:bodyPr/>
                    <a:lstStyle/>
                    <a:p>
                      <a:pPr algn="ctr" fontAlgn="b"/>
                      <a:r>
                        <a:rPr lang="es-PE" sz="1100" b="1" i="0" u="none" strike="noStrike">
                          <a:solidFill>
                            <a:srgbClr val="FFFFFF"/>
                          </a:solidFill>
                          <a:effectLst/>
                          <a:latin typeface="Calibri" panose="020F0502020204030204" pitchFamily="34" charset="0"/>
                        </a:rPr>
                        <a:t>Secundaria </a:t>
                      </a:r>
                    </a:p>
                  </a:txBody>
                  <a:tcPr marL="4763" marR="4763" marT="4763" marB="0"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2060"/>
                    </a:solidFill>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rowSpan="2">
                  <a:txBody>
                    <a:bodyPr/>
                    <a:lstStyle/>
                    <a:p>
                      <a:pPr algn="ctr" fontAlgn="ctr"/>
                      <a:r>
                        <a:rPr lang="es-PE" sz="1100" b="1" i="0" u="none" strike="noStrike">
                          <a:solidFill>
                            <a:srgbClr val="FFFFFF"/>
                          </a:solidFill>
                          <a:effectLst/>
                          <a:latin typeface="Calibri" panose="020F0502020204030204" pitchFamily="34" charset="0"/>
                        </a:rPr>
                        <a:t>Total</a:t>
                      </a:r>
                    </a:p>
                  </a:txBody>
                  <a:tcPr marL="4763" marR="4763" marT="4763"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2060"/>
                    </a:solidFill>
                  </a:tcPr>
                </a:tc>
                <a:extLst>
                  <a:ext uri="{0D108BD9-81ED-4DB2-BD59-A6C34878D82A}">
                    <a16:rowId xmlns:a16="http://schemas.microsoft.com/office/drawing/2014/main" val="3089635194"/>
                  </a:ext>
                </a:extLst>
              </a:tr>
              <a:tr h="180975">
                <a:tc vMerge="1">
                  <a:txBody>
                    <a:bodyPr/>
                    <a:lstStyle/>
                    <a:p>
                      <a:endParaRPr lang="es-PE"/>
                    </a:p>
                  </a:txBody>
                  <a:tcPr/>
                </a:tc>
                <a:tc vMerge="1">
                  <a:txBody>
                    <a:bodyPr/>
                    <a:lstStyle/>
                    <a:p>
                      <a:endParaRPr lang="es-PE"/>
                    </a:p>
                  </a:txBody>
                  <a:tcPr/>
                </a:tc>
                <a:tc>
                  <a:txBody>
                    <a:bodyPr/>
                    <a:lstStyle/>
                    <a:p>
                      <a:pPr algn="ctr" fontAlgn="b"/>
                      <a:r>
                        <a:rPr lang="es-PE" sz="1100" b="1" i="0" u="none" strike="noStrike">
                          <a:solidFill>
                            <a:srgbClr val="FFFFFF"/>
                          </a:solidFill>
                          <a:effectLst/>
                          <a:latin typeface="Calibri" panose="020F0502020204030204" pitchFamily="34" charset="0"/>
                        </a:rPr>
                        <a:t>1</a:t>
                      </a:r>
                    </a:p>
                  </a:txBody>
                  <a:tcPr marL="4763" marR="4763" marT="4763" marB="0"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2060"/>
                    </a:solidFill>
                  </a:tcPr>
                </a:tc>
                <a:tc>
                  <a:txBody>
                    <a:bodyPr/>
                    <a:lstStyle/>
                    <a:p>
                      <a:pPr algn="ctr" fontAlgn="b"/>
                      <a:r>
                        <a:rPr lang="es-PE" sz="1100" b="1" i="0" u="none" strike="noStrike">
                          <a:solidFill>
                            <a:srgbClr val="FFFFFF"/>
                          </a:solidFill>
                          <a:effectLst/>
                          <a:latin typeface="Calibri" panose="020F0502020204030204" pitchFamily="34" charset="0"/>
                        </a:rPr>
                        <a:t>2</a:t>
                      </a:r>
                    </a:p>
                  </a:txBody>
                  <a:tcPr marL="4763" marR="4763" marT="4763" marB="0"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2060"/>
                    </a:solidFill>
                  </a:tcPr>
                </a:tc>
                <a:tc>
                  <a:txBody>
                    <a:bodyPr/>
                    <a:lstStyle/>
                    <a:p>
                      <a:pPr algn="ctr" fontAlgn="b"/>
                      <a:r>
                        <a:rPr lang="es-PE" sz="1100" b="1" i="0" u="none" strike="noStrike">
                          <a:solidFill>
                            <a:srgbClr val="FFFFFF"/>
                          </a:solidFill>
                          <a:effectLst/>
                          <a:latin typeface="Calibri" panose="020F0502020204030204" pitchFamily="34" charset="0"/>
                        </a:rPr>
                        <a:t>3</a:t>
                      </a:r>
                    </a:p>
                  </a:txBody>
                  <a:tcPr marL="4763" marR="4763" marT="4763" marB="0"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2060"/>
                    </a:solidFill>
                  </a:tcPr>
                </a:tc>
                <a:tc>
                  <a:txBody>
                    <a:bodyPr/>
                    <a:lstStyle/>
                    <a:p>
                      <a:pPr algn="ctr" fontAlgn="b"/>
                      <a:r>
                        <a:rPr lang="es-PE" sz="1100" b="1" i="0" u="none" strike="noStrike">
                          <a:solidFill>
                            <a:srgbClr val="FFFFFF"/>
                          </a:solidFill>
                          <a:effectLst/>
                          <a:latin typeface="Calibri" panose="020F0502020204030204" pitchFamily="34" charset="0"/>
                        </a:rPr>
                        <a:t>4</a:t>
                      </a:r>
                    </a:p>
                  </a:txBody>
                  <a:tcPr marL="4763" marR="4763" marT="4763" marB="0"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2060"/>
                    </a:solidFill>
                  </a:tcPr>
                </a:tc>
                <a:tc>
                  <a:txBody>
                    <a:bodyPr/>
                    <a:lstStyle/>
                    <a:p>
                      <a:pPr algn="ctr" fontAlgn="b"/>
                      <a:r>
                        <a:rPr lang="es-PE" sz="1100" b="1" i="0" u="none" strike="noStrike">
                          <a:solidFill>
                            <a:srgbClr val="FFFFFF"/>
                          </a:solidFill>
                          <a:effectLst/>
                          <a:latin typeface="Calibri" panose="020F0502020204030204" pitchFamily="34" charset="0"/>
                        </a:rPr>
                        <a:t>5</a:t>
                      </a:r>
                    </a:p>
                  </a:txBody>
                  <a:tcPr marL="4763" marR="4763" marT="4763" marB="0"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2060"/>
                    </a:solidFill>
                  </a:tcPr>
                </a:tc>
                <a:tc>
                  <a:txBody>
                    <a:bodyPr/>
                    <a:lstStyle/>
                    <a:p>
                      <a:pPr algn="ctr" fontAlgn="b"/>
                      <a:r>
                        <a:rPr lang="es-PE" sz="1100" b="1" i="0" u="none" strike="noStrike">
                          <a:solidFill>
                            <a:srgbClr val="FFFFFF"/>
                          </a:solidFill>
                          <a:effectLst/>
                          <a:latin typeface="Calibri" panose="020F0502020204030204" pitchFamily="34" charset="0"/>
                        </a:rPr>
                        <a:t>6</a:t>
                      </a:r>
                    </a:p>
                  </a:txBody>
                  <a:tcPr marL="4763" marR="4763" marT="4763" marB="0"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2060"/>
                    </a:solidFill>
                  </a:tcPr>
                </a:tc>
                <a:tc>
                  <a:txBody>
                    <a:bodyPr/>
                    <a:lstStyle/>
                    <a:p>
                      <a:pPr algn="ctr" fontAlgn="b"/>
                      <a:r>
                        <a:rPr lang="es-PE" sz="1100" b="1" i="0" u="none" strike="noStrike">
                          <a:solidFill>
                            <a:srgbClr val="FFFFFF"/>
                          </a:solidFill>
                          <a:effectLst/>
                          <a:latin typeface="Calibri" panose="020F0502020204030204" pitchFamily="34" charset="0"/>
                        </a:rPr>
                        <a:t>1</a:t>
                      </a:r>
                    </a:p>
                  </a:txBody>
                  <a:tcPr marL="4763" marR="4763" marT="4763" marB="0"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2060"/>
                    </a:solidFill>
                  </a:tcPr>
                </a:tc>
                <a:tc>
                  <a:txBody>
                    <a:bodyPr/>
                    <a:lstStyle/>
                    <a:p>
                      <a:pPr algn="ctr" fontAlgn="b"/>
                      <a:r>
                        <a:rPr lang="es-PE" sz="1100" b="1" i="0" u="none" strike="noStrike">
                          <a:solidFill>
                            <a:srgbClr val="FFFFFF"/>
                          </a:solidFill>
                          <a:effectLst/>
                          <a:latin typeface="Calibri" panose="020F0502020204030204" pitchFamily="34" charset="0"/>
                        </a:rPr>
                        <a:t>2</a:t>
                      </a:r>
                    </a:p>
                  </a:txBody>
                  <a:tcPr marL="4763" marR="4763" marT="4763" marB="0"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2060"/>
                    </a:solidFill>
                  </a:tcPr>
                </a:tc>
                <a:tc>
                  <a:txBody>
                    <a:bodyPr/>
                    <a:lstStyle/>
                    <a:p>
                      <a:pPr algn="ctr" fontAlgn="b"/>
                      <a:r>
                        <a:rPr lang="es-PE" sz="1100" b="1" i="0" u="none" strike="noStrike">
                          <a:solidFill>
                            <a:srgbClr val="FFFFFF"/>
                          </a:solidFill>
                          <a:effectLst/>
                          <a:latin typeface="Calibri" panose="020F0502020204030204" pitchFamily="34" charset="0"/>
                        </a:rPr>
                        <a:t>3</a:t>
                      </a:r>
                    </a:p>
                  </a:txBody>
                  <a:tcPr marL="4763" marR="4763" marT="4763" marB="0"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2060"/>
                    </a:solidFill>
                  </a:tcPr>
                </a:tc>
                <a:tc>
                  <a:txBody>
                    <a:bodyPr/>
                    <a:lstStyle/>
                    <a:p>
                      <a:pPr algn="ctr" fontAlgn="b"/>
                      <a:r>
                        <a:rPr lang="es-PE" sz="1100" b="1" i="0" u="none" strike="noStrike">
                          <a:solidFill>
                            <a:srgbClr val="FFFFFF"/>
                          </a:solidFill>
                          <a:effectLst/>
                          <a:latin typeface="Calibri" panose="020F0502020204030204" pitchFamily="34" charset="0"/>
                        </a:rPr>
                        <a:t>4</a:t>
                      </a:r>
                    </a:p>
                  </a:txBody>
                  <a:tcPr marL="4763" marR="4763" marT="4763" marB="0"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2060"/>
                    </a:solidFill>
                  </a:tcPr>
                </a:tc>
                <a:tc>
                  <a:txBody>
                    <a:bodyPr/>
                    <a:lstStyle/>
                    <a:p>
                      <a:pPr algn="ctr" fontAlgn="b"/>
                      <a:r>
                        <a:rPr lang="es-PE" sz="1100" b="1" i="0" u="none" strike="noStrike">
                          <a:solidFill>
                            <a:srgbClr val="FFFFFF"/>
                          </a:solidFill>
                          <a:effectLst/>
                          <a:latin typeface="Calibri" panose="020F0502020204030204" pitchFamily="34" charset="0"/>
                        </a:rPr>
                        <a:t>5</a:t>
                      </a:r>
                    </a:p>
                  </a:txBody>
                  <a:tcPr marL="4763" marR="4763" marT="4763" marB="0"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2060"/>
                    </a:solidFill>
                  </a:tcPr>
                </a:tc>
                <a:tc vMerge="1">
                  <a:txBody>
                    <a:bodyPr/>
                    <a:lstStyle/>
                    <a:p>
                      <a:endParaRPr lang="es-PE"/>
                    </a:p>
                  </a:txBody>
                  <a:tcPr/>
                </a:tc>
                <a:extLst>
                  <a:ext uri="{0D108BD9-81ED-4DB2-BD59-A6C34878D82A}">
                    <a16:rowId xmlns:a16="http://schemas.microsoft.com/office/drawing/2014/main" val="2756587122"/>
                  </a:ext>
                </a:extLst>
              </a:tr>
              <a:tr h="180975">
                <a:tc rowSpan="3">
                  <a:txBody>
                    <a:bodyPr/>
                    <a:lstStyle/>
                    <a:p>
                      <a:pPr algn="ctr" fontAlgn="ctr"/>
                      <a:r>
                        <a:rPr lang="es-PE" sz="1100" b="1" i="0" u="none" strike="noStrike">
                          <a:solidFill>
                            <a:srgbClr val="FFFFFF"/>
                          </a:solidFill>
                          <a:effectLst/>
                          <a:latin typeface="Calibri" panose="020F0502020204030204" pitchFamily="34" charset="0"/>
                        </a:rPr>
                        <a:t>Rural </a:t>
                      </a:r>
                    </a:p>
                  </a:txBody>
                  <a:tcPr marL="4763" marR="4763" marT="4763"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2060"/>
                    </a:solidFill>
                  </a:tcPr>
                </a:tc>
                <a:tc>
                  <a:txBody>
                    <a:bodyPr/>
                    <a:lstStyle/>
                    <a:p>
                      <a:pPr algn="ctr" fontAlgn="b"/>
                      <a:r>
                        <a:rPr lang="es-PE" sz="1100" b="1" i="0" u="none" strike="noStrike" dirty="0">
                          <a:solidFill>
                            <a:srgbClr val="FFFFFF"/>
                          </a:solidFill>
                          <a:effectLst/>
                          <a:latin typeface="Calibri" panose="020F0502020204030204" pitchFamily="34" charset="0"/>
                        </a:rPr>
                        <a:t>3 </a:t>
                      </a:r>
                    </a:p>
                  </a:txBody>
                  <a:tcPr marL="4763" marR="4763" marT="4763" marB="0"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2060"/>
                    </a:solidFill>
                  </a:tcPr>
                </a:tc>
                <a:tc>
                  <a:txBody>
                    <a:bodyPr/>
                    <a:lstStyle/>
                    <a:p>
                      <a:pPr algn="r" fontAlgn="b"/>
                      <a:r>
                        <a:rPr lang="es-PE" sz="1100" b="0" i="0" u="none" strike="noStrike">
                          <a:solidFill>
                            <a:srgbClr val="000000"/>
                          </a:solidFill>
                          <a:effectLst/>
                          <a:latin typeface="Calibri" panose="020F0502020204030204" pitchFamily="34" charset="0"/>
                        </a:rPr>
                        <a:t>0%</a:t>
                      </a:r>
                    </a:p>
                  </a:txBody>
                  <a:tcPr marL="4763" marR="4763" marT="4763" marB="0" anchor="b">
                    <a:lnL w="6350" cap="flat" cmpd="sng" algn="ctr">
                      <a:solidFill>
                        <a:srgbClr val="D9D9D9"/>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r" fontAlgn="b"/>
                      <a:r>
                        <a:rPr lang="es-PE" sz="1100" b="0" i="0" u="none" strike="noStrike">
                          <a:solidFill>
                            <a:srgbClr val="000000"/>
                          </a:solidFill>
                          <a:effectLst/>
                          <a:latin typeface="Calibri" panose="020F0502020204030204" pitchFamily="34" charset="0"/>
                        </a:rPr>
                        <a:t>0%</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r" fontAlgn="b"/>
                      <a:r>
                        <a:rPr lang="es-PE" sz="1100" b="0" i="0" u="none" strike="noStrike">
                          <a:solidFill>
                            <a:srgbClr val="000000"/>
                          </a:solidFill>
                          <a:effectLst/>
                          <a:latin typeface="Calibri" panose="020F0502020204030204" pitchFamily="34" charset="0"/>
                        </a:rPr>
                        <a:t>0%</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r" fontAlgn="b"/>
                      <a:r>
                        <a:rPr lang="es-PE" sz="1100" b="0" i="0" u="none" strike="noStrike">
                          <a:solidFill>
                            <a:srgbClr val="000000"/>
                          </a:solidFill>
                          <a:effectLst/>
                          <a:latin typeface="Calibri" panose="020F0502020204030204" pitchFamily="34" charset="0"/>
                        </a:rPr>
                        <a:t>98%</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6BF7C"/>
                    </a:solidFill>
                  </a:tcPr>
                </a:tc>
                <a:tc>
                  <a:txBody>
                    <a:bodyPr/>
                    <a:lstStyle/>
                    <a:p>
                      <a:pPr algn="r" fontAlgn="b"/>
                      <a:r>
                        <a:rPr lang="es-PE" sz="1100" b="0" i="0" u="none" strike="noStrike">
                          <a:solidFill>
                            <a:srgbClr val="000000"/>
                          </a:solidFill>
                          <a:effectLst/>
                          <a:latin typeface="Calibri" panose="020F0502020204030204" pitchFamily="34" charset="0"/>
                        </a:rPr>
                        <a:t>93%</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EC27C"/>
                    </a:solidFill>
                  </a:tcPr>
                </a:tc>
                <a:tc>
                  <a:txBody>
                    <a:bodyPr/>
                    <a:lstStyle/>
                    <a:p>
                      <a:pPr algn="r" fontAlgn="b"/>
                      <a:r>
                        <a:rPr lang="es-PE" sz="1100" b="0" i="0" u="none" strike="noStrike">
                          <a:solidFill>
                            <a:srgbClr val="000000"/>
                          </a:solidFill>
                          <a:effectLst/>
                          <a:latin typeface="Calibri" panose="020F0502020204030204" pitchFamily="34" charset="0"/>
                        </a:rPr>
                        <a:t>83%</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5C87D"/>
                    </a:solidFill>
                  </a:tcPr>
                </a:tc>
                <a:tc>
                  <a:txBody>
                    <a:bodyPr/>
                    <a:lstStyle/>
                    <a:p>
                      <a:pPr algn="r" fontAlgn="b"/>
                      <a:r>
                        <a:rPr lang="es-PE" sz="1100" b="0" i="0" u="none" strike="noStrike">
                          <a:solidFill>
                            <a:srgbClr val="000000"/>
                          </a:solidFill>
                          <a:effectLst/>
                          <a:latin typeface="Calibri" panose="020F0502020204030204" pitchFamily="34" charset="0"/>
                        </a:rPr>
                        <a:t>91%</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4C37C"/>
                    </a:solidFill>
                  </a:tcPr>
                </a:tc>
                <a:tc>
                  <a:txBody>
                    <a:bodyPr/>
                    <a:lstStyle/>
                    <a:p>
                      <a:pPr algn="r" fontAlgn="b"/>
                      <a:r>
                        <a:rPr lang="es-PE" sz="1100" b="0" i="0" u="none" strike="noStrike">
                          <a:solidFill>
                            <a:srgbClr val="000000"/>
                          </a:solidFill>
                          <a:effectLst/>
                          <a:latin typeface="Calibri" panose="020F0502020204030204" pitchFamily="34" charset="0"/>
                        </a:rPr>
                        <a:t>93%</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C27C"/>
                    </a:solidFill>
                  </a:tcPr>
                </a:tc>
                <a:tc>
                  <a:txBody>
                    <a:bodyPr/>
                    <a:lstStyle/>
                    <a:p>
                      <a:pPr algn="r" fontAlgn="b"/>
                      <a:r>
                        <a:rPr lang="es-PE" sz="1100" b="0" i="0" u="none" strike="noStrike">
                          <a:solidFill>
                            <a:srgbClr val="000000"/>
                          </a:solidFill>
                          <a:effectLst/>
                          <a:latin typeface="Calibri" panose="020F0502020204030204" pitchFamily="34" charset="0"/>
                        </a:rPr>
                        <a:t>84%</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1C77D"/>
                    </a:solidFill>
                  </a:tcPr>
                </a:tc>
                <a:tc>
                  <a:txBody>
                    <a:bodyPr/>
                    <a:lstStyle/>
                    <a:p>
                      <a:pPr algn="r" fontAlgn="b"/>
                      <a:r>
                        <a:rPr lang="es-PE" sz="1100" b="0" i="0" u="none" strike="noStrike">
                          <a:solidFill>
                            <a:srgbClr val="000000"/>
                          </a:solidFill>
                          <a:effectLst/>
                          <a:latin typeface="Calibri" panose="020F0502020204030204" pitchFamily="34" charset="0"/>
                        </a:rPr>
                        <a:t>79%</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DCA7E"/>
                    </a:solidFill>
                  </a:tcPr>
                </a:tc>
                <a:tc>
                  <a:txBody>
                    <a:bodyPr/>
                    <a:lstStyle/>
                    <a:p>
                      <a:pPr algn="r" fontAlgn="b"/>
                      <a:r>
                        <a:rPr lang="es-PE" sz="1100" b="0" i="0" u="none" strike="noStrike">
                          <a:solidFill>
                            <a:srgbClr val="000000"/>
                          </a:solidFill>
                          <a:effectLst/>
                          <a:latin typeface="Calibri" panose="020F0502020204030204" pitchFamily="34" charset="0"/>
                        </a:rPr>
                        <a:t>68%</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3D17F"/>
                    </a:solidFill>
                  </a:tcPr>
                </a:tc>
                <a:tc>
                  <a:txBody>
                    <a:bodyPr/>
                    <a:lstStyle/>
                    <a:p>
                      <a:pPr algn="ctr" fontAlgn="b"/>
                      <a:r>
                        <a:rPr lang="es-PE" sz="1100" b="1" i="0" u="none" strike="noStrike">
                          <a:solidFill>
                            <a:srgbClr val="FFFFFF"/>
                          </a:solidFill>
                          <a:effectLst/>
                          <a:latin typeface="Calibri" panose="020F0502020204030204" pitchFamily="34" charset="0"/>
                        </a:rPr>
                        <a:t>62%</a:t>
                      </a:r>
                    </a:p>
                  </a:txBody>
                  <a:tcPr marL="4763" marR="4763" marT="4763" marB="0"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2060"/>
                    </a:solidFill>
                  </a:tcPr>
                </a:tc>
                <a:extLst>
                  <a:ext uri="{0D108BD9-81ED-4DB2-BD59-A6C34878D82A}">
                    <a16:rowId xmlns:a16="http://schemas.microsoft.com/office/drawing/2014/main" val="219159576"/>
                  </a:ext>
                </a:extLst>
              </a:tr>
              <a:tr h="180975">
                <a:tc vMerge="1">
                  <a:txBody>
                    <a:bodyPr/>
                    <a:lstStyle/>
                    <a:p>
                      <a:endParaRPr lang="es-PE"/>
                    </a:p>
                  </a:txBody>
                  <a:tcPr/>
                </a:tc>
                <a:tc>
                  <a:txBody>
                    <a:bodyPr/>
                    <a:lstStyle/>
                    <a:p>
                      <a:pPr algn="ctr" fontAlgn="b"/>
                      <a:r>
                        <a:rPr lang="es-PE" sz="1100" b="1" i="0" u="none" strike="noStrike" dirty="0">
                          <a:solidFill>
                            <a:srgbClr val="FFFFFF"/>
                          </a:solidFill>
                          <a:effectLst/>
                          <a:latin typeface="Calibri" panose="020F0502020204030204" pitchFamily="34" charset="0"/>
                        </a:rPr>
                        <a:t>2</a:t>
                      </a:r>
                    </a:p>
                  </a:txBody>
                  <a:tcPr marL="4763" marR="4763" marT="4763" marB="0"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2060"/>
                    </a:solidFill>
                  </a:tcPr>
                </a:tc>
                <a:tc>
                  <a:txBody>
                    <a:bodyPr/>
                    <a:lstStyle/>
                    <a:p>
                      <a:pPr algn="r" fontAlgn="b"/>
                      <a:r>
                        <a:rPr lang="es-PE" sz="1100" b="0" i="0" u="none" strike="noStrike">
                          <a:solidFill>
                            <a:srgbClr val="000000"/>
                          </a:solidFill>
                          <a:effectLst/>
                          <a:latin typeface="Calibri" panose="020F0502020204030204" pitchFamily="34" charset="0"/>
                        </a:rPr>
                        <a:t>0%</a:t>
                      </a:r>
                    </a:p>
                  </a:txBody>
                  <a:tcPr marL="4763" marR="4763" marT="4763" marB="0" anchor="b">
                    <a:lnL w="6350" cap="flat" cmpd="sng" algn="ctr">
                      <a:solidFill>
                        <a:srgbClr val="D9D9D9"/>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r" fontAlgn="b"/>
                      <a:r>
                        <a:rPr lang="es-PE" sz="1100" b="0" i="0" u="none" strike="noStrike">
                          <a:solidFill>
                            <a:srgbClr val="000000"/>
                          </a:solidFill>
                          <a:effectLst/>
                          <a:latin typeface="Calibri" panose="020F0502020204030204" pitchFamily="34" charset="0"/>
                        </a:rPr>
                        <a:t>0%</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r" fontAlgn="b"/>
                      <a:r>
                        <a:rPr lang="es-PE" sz="1100" b="0" i="0" u="none" strike="noStrike">
                          <a:solidFill>
                            <a:srgbClr val="000000"/>
                          </a:solidFill>
                          <a:effectLst/>
                          <a:latin typeface="Calibri" panose="020F0502020204030204" pitchFamily="34" charset="0"/>
                        </a:rPr>
                        <a:t>0%</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r" fontAlgn="b"/>
                      <a:r>
                        <a:rPr lang="es-PE" sz="1100" b="0" i="0" u="none" strike="noStrike">
                          <a:solidFill>
                            <a:srgbClr val="000000"/>
                          </a:solidFill>
                          <a:effectLst/>
                          <a:latin typeface="Calibri" panose="020F0502020204030204" pitchFamily="34" charset="0"/>
                        </a:rPr>
                        <a:t>97%</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8C07C"/>
                    </a:solidFill>
                  </a:tcPr>
                </a:tc>
                <a:tc>
                  <a:txBody>
                    <a:bodyPr/>
                    <a:lstStyle/>
                    <a:p>
                      <a:pPr algn="r" fontAlgn="b"/>
                      <a:r>
                        <a:rPr lang="es-PE" sz="1100" b="0" i="0" u="none" strike="noStrike">
                          <a:solidFill>
                            <a:srgbClr val="000000"/>
                          </a:solidFill>
                          <a:effectLst/>
                          <a:latin typeface="Calibri" panose="020F0502020204030204" pitchFamily="34" charset="0"/>
                        </a:rPr>
                        <a:t>92%</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C27C"/>
                    </a:solidFill>
                  </a:tcPr>
                </a:tc>
                <a:tc>
                  <a:txBody>
                    <a:bodyPr/>
                    <a:lstStyle/>
                    <a:p>
                      <a:pPr algn="r" fontAlgn="b"/>
                      <a:r>
                        <a:rPr lang="es-PE" sz="1100" b="0" i="0" u="none" strike="noStrike">
                          <a:solidFill>
                            <a:srgbClr val="000000"/>
                          </a:solidFill>
                          <a:effectLst/>
                          <a:latin typeface="Calibri" panose="020F0502020204030204" pitchFamily="34" charset="0"/>
                        </a:rPr>
                        <a:t>82%</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6C87D"/>
                    </a:solidFill>
                  </a:tcPr>
                </a:tc>
                <a:tc>
                  <a:txBody>
                    <a:bodyPr/>
                    <a:lstStyle/>
                    <a:p>
                      <a:pPr algn="r" fontAlgn="b"/>
                      <a:r>
                        <a:rPr lang="es-PE" sz="1100" b="0" i="0" u="none" strike="noStrike">
                          <a:solidFill>
                            <a:srgbClr val="000000"/>
                          </a:solidFill>
                          <a:effectLst/>
                          <a:latin typeface="Calibri" panose="020F0502020204030204" pitchFamily="34" charset="0"/>
                        </a:rPr>
                        <a:t>94%</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CC17C"/>
                    </a:solidFill>
                  </a:tcPr>
                </a:tc>
                <a:tc>
                  <a:txBody>
                    <a:bodyPr/>
                    <a:lstStyle/>
                    <a:p>
                      <a:pPr algn="r" fontAlgn="b"/>
                      <a:r>
                        <a:rPr lang="es-PE" sz="1100" b="0" i="0" u="none" strike="noStrike" dirty="0">
                          <a:solidFill>
                            <a:srgbClr val="000000"/>
                          </a:solidFill>
                          <a:effectLst/>
                          <a:latin typeface="Calibri" panose="020F0502020204030204" pitchFamily="34" charset="0"/>
                        </a:rPr>
                        <a:t>93%</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FC27C"/>
                    </a:solidFill>
                  </a:tcPr>
                </a:tc>
                <a:tc>
                  <a:txBody>
                    <a:bodyPr/>
                    <a:lstStyle/>
                    <a:p>
                      <a:pPr algn="r" fontAlgn="b"/>
                      <a:r>
                        <a:rPr lang="es-PE" sz="1100" b="0" i="0" u="none" strike="noStrike">
                          <a:solidFill>
                            <a:srgbClr val="000000"/>
                          </a:solidFill>
                          <a:effectLst/>
                          <a:latin typeface="Calibri" panose="020F0502020204030204" pitchFamily="34" charset="0"/>
                        </a:rPr>
                        <a:t>83%</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4C87D"/>
                    </a:solidFill>
                  </a:tcPr>
                </a:tc>
                <a:tc>
                  <a:txBody>
                    <a:bodyPr/>
                    <a:lstStyle/>
                    <a:p>
                      <a:pPr algn="r" fontAlgn="b"/>
                      <a:r>
                        <a:rPr lang="es-PE" sz="1100" b="0" i="0" u="none" strike="noStrike">
                          <a:solidFill>
                            <a:srgbClr val="000000"/>
                          </a:solidFill>
                          <a:effectLst/>
                          <a:latin typeface="Calibri" panose="020F0502020204030204" pitchFamily="34" charset="0"/>
                        </a:rPr>
                        <a:t>77%</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0CB7E"/>
                    </a:solidFill>
                  </a:tcPr>
                </a:tc>
                <a:tc>
                  <a:txBody>
                    <a:bodyPr/>
                    <a:lstStyle/>
                    <a:p>
                      <a:pPr algn="r" fontAlgn="b"/>
                      <a:r>
                        <a:rPr lang="es-PE" sz="1100" b="0" i="0" u="none" strike="noStrike">
                          <a:solidFill>
                            <a:srgbClr val="000000"/>
                          </a:solidFill>
                          <a:effectLst/>
                          <a:latin typeface="Calibri" panose="020F0502020204030204" pitchFamily="34" charset="0"/>
                        </a:rPr>
                        <a:t>63%</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CD380"/>
                    </a:solidFill>
                  </a:tcPr>
                </a:tc>
                <a:tc>
                  <a:txBody>
                    <a:bodyPr/>
                    <a:lstStyle/>
                    <a:p>
                      <a:pPr algn="ctr" fontAlgn="b"/>
                      <a:r>
                        <a:rPr lang="es-PE" sz="1100" b="1" i="0" u="none" strike="noStrike">
                          <a:solidFill>
                            <a:srgbClr val="FFFFFF"/>
                          </a:solidFill>
                          <a:effectLst/>
                          <a:latin typeface="Calibri" panose="020F0502020204030204" pitchFamily="34" charset="0"/>
                        </a:rPr>
                        <a:t>61%</a:t>
                      </a:r>
                    </a:p>
                  </a:txBody>
                  <a:tcPr marL="4763" marR="4763" marT="4763" marB="0"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2060"/>
                    </a:solidFill>
                  </a:tcPr>
                </a:tc>
                <a:extLst>
                  <a:ext uri="{0D108BD9-81ED-4DB2-BD59-A6C34878D82A}">
                    <a16:rowId xmlns:a16="http://schemas.microsoft.com/office/drawing/2014/main" val="991557965"/>
                  </a:ext>
                </a:extLst>
              </a:tr>
              <a:tr h="180975">
                <a:tc vMerge="1">
                  <a:txBody>
                    <a:bodyPr/>
                    <a:lstStyle/>
                    <a:p>
                      <a:endParaRPr lang="es-PE"/>
                    </a:p>
                  </a:txBody>
                  <a:tcPr/>
                </a:tc>
                <a:tc>
                  <a:txBody>
                    <a:bodyPr/>
                    <a:lstStyle/>
                    <a:p>
                      <a:pPr algn="ctr" fontAlgn="b"/>
                      <a:r>
                        <a:rPr lang="es-PE" sz="1100" b="1" i="0" u="none" strike="noStrike" dirty="0">
                          <a:solidFill>
                            <a:srgbClr val="FFFFFF"/>
                          </a:solidFill>
                          <a:effectLst/>
                          <a:latin typeface="Calibri" panose="020F0502020204030204" pitchFamily="34" charset="0"/>
                        </a:rPr>
                        <a:t>1</a:t>
                      </a:r>
                    </a:p>
                  </a:txBody>
                  <a:tcPr marL="4763" marR="4763" marT="4763" marB="0"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2060"/>
                    </a:solidFill>
                  </a:tcPr>
                </a:tc>
                <a:tc>
                  <a:txBody>
                    <a:bodyPr/>
                    <a:lstStyle/>
                    <a:p>
                      <a:pPr algn="r" fontAlgn="b"/>
                      <a:r>
                        <a:rPr lang="es-PE" sz="1100" b="0" i="0" u="none" strike="noStrike">
                          <a:solidFill>
                            <a:srgbClr val="000000"/>
                          </a:solidFill>
                          <a:effectLst/>
                          <a:latin typeface="Calibri" panose="020F0502020204030204" pitchFamily="34" charset="0"/>
                        </a:rPr>
                        <a:t>0%</a:t>
                      </a:r>
                    </a:p>
                  </a:txBody>
                  <a:tcPr marL="4763" marR="4763" marT="4763" marB="0" anchor="b">
                    <a:lnL w="6350" cap="flat" cmpd="sng" algn="ctr">
                      <a:solidFill>
                        <a:srgbClr val="D9D9D9"/>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r" fontAlgn="b"/>
                      <a:r>
                        <a:rPr lang="es-PE" sz="1100" b="0" i="0" u="none" strike="noStrike">
                          <a:solidFill>
                            <a:srgbClr val="000000"/>
                          </a:solidFill>
                          <a:effectLst/>
                          <a:latin typeface="Calibri" panose="020F0502020204030204" pitchFamily="34" charset="0"/>
                        </a:rPr>
                        <a:t>0%</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r" fontAlgn="b"/>
                      <a:r>
                        <a:rPr lang="es-PE" sz="1100" b="0" i="0" u="none" strike="noStrike">
                          <a:solidFill>
                            <a:srgbClr val="000000"/>
                          </a:solidFill>
                          <a:effectLst/>
                          <a:latin typeface="Calibri" panose="020F0502020204030204" pitchFamily="34" charset="0"/>
                        </a:rPr>
                        <a:t>0%</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r" fontAlgn="b"/>
                      <a:r>
                        <a:rPr lang="es-PE" sz="1100" b="0" i="0" u="none" strike="noStrike">
                          <a:solidFill>
                            <a:srgbClr val="000000"/>
                          </a:solidFill>
                          <a:effectLst/>
                          <a:latin typeface="Calibri" panose="020F0502020204030204" pitchFamily="34" charset="0"/>
                        </a:rPr>
                        <a:t>96%</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AC07C"/>
                    </a:solidFill>
                  </a:tcPr>
                </a:tc>
                <a:tc>
                  <a:txBody>
                    <a:bodyPr/>
                    <a:lstStyle/>
                    <a:p>
                      <a:pPr algn="r" fontAlgn="b"/>
                      <a:r>
                        <a:rPr lang="es-PE" sz="1100" b="0" i="0" u="none" strike="noStrike">
                          <a:solidFill>
                            <a:srgbClr val="000000"/>
                          </a:solidFill>
                          <a:effectLst/>
                          <a:latin typeface="Calibri" panose="020F0502020204030204" pitchFamily="34" charset="0"/>
                        </a:rPr>
                        <a:t>90%</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6C47D"/>
                    </a:solidFill>
                  </a:tcPr>
                </a:tc>
                <a:tc>
                  <a:txBody>
                    <a:bodyPr/>
                    <a:lstStyle/>
                    <a:p>
                      <a:pPr algn="r" fontAlgn="b"/>
                      <a:r>
                        <a:rPr lang="es-PE" sz="1100" b="0" i="0" u="none" strike="noStrike">
                          <a:solidFill>
                            <a:srgbClr val="000000"/>
                          </a:solidFill>
                          <a:effectLst/>
                          <a:latin typeface="Calibri" panose="020F0502020204030204" pitchFamily="34" charset="0"/>
                        </a:rPr>
                        <a:t>77%</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FCB7E"/>
                    </a:solidFill>
                  </a:tcPr>
                </a:tc>
                <a:tc>
                  <a:txBody>
                    <a:bodyPr/>
                    <a:lstStyle/>
                    <a:p>
                      <a:pPr algn="r" fontAlgn="b"/>
                      <a:r>
                        <a:rPr lang="es-PE" sz="1100" b="0" i="0" u="none" strike="noStrike">
                          <a:solidFill>
                            <a:srgbClr val="000000"/>
                          </a:solidFill>
                          <a:effectLst/>
                          <a:latin typeface="Calibri" panose="020F0502020204030204" pitchFamily="34" charset="0"/>
                        </a:rPr>
                        <a:t>96%</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9C07C"/>
                    </a:solidFill>
                  </a:tcPr>
                </a:tc>
                <a:tc>
                  <a:txBody>
                    <a:bodyPr/>
                    <a:lstStyle/>
                    <a:p>
                      <a:pPr algn="r" fontAlgn="b"/>
                      <a:r>
                        <a:rPr lang="es-PE" sz="1100" b="0" i="0" u="none" strike="noStrike">
                          <a:solidFill>
                            <a:srgbClr val="000000"/>
                          </a:solidFill>
                          <a:effectLst/>
                          <a:latin typeface="Calibri" panose="020F0502020204030204" pitchFamily="34" charset="0"/>
                        </a:rPr>
                        <a:t>94%</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DC17C"/>
                    </a:solidFill>
                  </a:tcPr>
                </a:tc>
                <a:tc>
                  <a:txBody>
                    <a:bodyPr/>
                    <a:lstStyle/>
                    <a:p>
                      <a:pPr algn="r" fontAlgn="b"/>
                      <a:r>
                        <a:rPr lang="es-PE" sz="1100" b="0" i="0" u="none" strike="noStrike">
                          <a:solidFill>
                            <a:srgbClr val="000000"/>
                          </a:solidFill>
                          <a:effectLst/>
                          <a:latin typeface="Calibri" panose="020F0502020204030204" pitchFamily="34" charset="0"/>
                        </a:rPr>
                        <a:t>80%</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9C97E"/>
                    </a:solidFill>
                  </a:tcPr>
                </a:tc>
                <a:tc>
                  <a:txBody>
                    <a:bodyPr/>
                    <a:lstStyle/>
                    <a:p>
                      <a:pPr algn="r" fontAlgn="b"/>
                      <a:r>
                        <a:rPr lang="es-PE" sz="1100" b="0" i="0" u="none" strike="noStrike">
                          <a:solidFill>
                            <a:srgbClr val="000000"/>
                          </a:solidFill>
                          <a:effectLst/>
                          <a:latin typeface="Calibri" panose="020F0502020204030204" pitchFamily="34" charset="0"/>
                        </a:rPr>
                        <a:t>73%</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8CE7F"/>
                    </a:solidFill>
                  </a:tcPr>
                </a:tc>
                <a:tc>
                  <a:txBody>
                    <a:bodyPr/>
                    <a:lstStyle/>
                    <a:p>
                      <a:pPr algn="r" fontAlgn="b"/>
                      <a:r>
                        <a:rPr lang="es-PE" sz="1100" b="0" i="0" u="none" strike="noStrike">
                          <a:solidFill>
                            <a:srgbClr val="000000"/>
                          </a:solidFill>
                          <a:effectLst/>
                          <a:latin typeface="Calibri" panose="020F0502020204030204" pitchFamily="34" charset="0"/>
                        </a:rPr>
                        <a:t>61%</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1D580"/>
                    </a:solidFill>
                  </a:tcPr>
                </a:tc>
                <a:tc>
                  <a:txBody>
                    <a:bodyPr/>
                    <a:lstStyle/>
                    <a:p>
                      <a:pPr algn="ctr" fontAlgn="b"/>
                      <a:r>
                        <a:rPr lang="es-PE" sz="1100" b="1" i="0" u="none" strike="noStrike" dirty="0">
                          <a:solidFill>
                            <a:srgbClr val="FFFFFF"/>
                          </a:solidFill>
                          <a:effectLst/>
                          <a:latin typeface="Calibri" panose="020F0502020204030204" pitchFamily="34" charset="0"/>
                        </a:rPr>
                        <a:t>58%</a:t>
                      </a:r>
                    </a:p>
                  </a:txBody>
                  <a:tcPr marL="4763" marR="4763" marT="4763" marB="0"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2060"/>
                    </a:solidFill>
                  </a:tcPr>
                </a:tc>
                <a:extLst>
                  <a:ext uri="{0D108BD9-81ED-4DB2-BD59-A6C34878D82A}">
                    <a16:rowId xmlns:a16="http://schemas.microsoft.com/office/drawing/2014/main" val="1656330323"/>
                  </a:ext>
                </a:extLst>
              </a:tr>
              <a:tr h="180975">
                <a:tc rowSpan="5">
                  <a:txBody>
                    <a:bodyPr/>
                    <a:lstStyle/>
                    <a:p>
                      <a:pPr algn="ctr" fontAlgn="ctr"/>
                      <a:r>
                        <a:rPr lang="es-PE" sz="1100" b="1" i="0" u="none" strike="noStrike">
                          <a:solidFill>
                            <a:srgbClr val="FFFFFF"/>
                          </a:solidFill>
                          <a:effectLst/>
                          <a:latin typeface="Calibri" panose="020F0502020204030204" pitchFamily="34" charset="0"/>
                        </a:rPr>
                        <a:t>Urbano</a:t>
                      </a:r>
                    </a:p>
                  </a:txBody>
                  <a:tcPr marL="4763" marR="4763" marT="4763"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2060"/>
                    </a:solidFill>
                  </a:tcPr>
                </a:tc>
                <a:tc>
                  <a:txBody>
                    <a:bodyPr/>
                    <a:lstStyle/>
                    <a:p>
                      <a:pPr algn="ctr" fontAlgn="b"/>
                      <a:r>
                        <a:rPr lang="es-PE" sz="1100" b="1" i="0" u="none" strike="noStrike">
                          <a:solidFill>
                            <a:srgbClr val="FFFFFF"/>
                          </a:solidFill>
                          <a:effectLst/>
                          <a:latin typeface="Calibri" panose="020F0502020204030204" pitchFamily="34" charset="0"/>
                        </a:rPr>
                        <a:t>1</a:t>
                      </a:r>
                    </a:p>
                  </a:txBody>
                  <a:tcPr marL="4763" marR="4763" marT="4763" marB="0"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2060"/>
                    </a:solidFill>
                  </a:tcPr>
                </a:tc>
                <a:tc>
                  <a:txBody>
                    <a:bodyPr/>
                    <a:lstStyle/>
                    <a:p>
                      <a:pPr algn="r" fontAlgn="b"/>
                      <a:r>
                        <a:rPr lang="es-PE" sz="1100" b="0" i="0" u="none" strike="noStrike">
                          <a:solidFill>
                            <a:srgbClr val="000000"/>
                          </a:solidFill>
                          <a:effectLst/>
                          <a:latin typeface="Calibri" panose="020F0502020204030204" pitchFamily="34" charset="0"/>
                        </a:rPr>
                        <a:t>0%</a:t>
                      </a:r>
                    </a:p>
                  </a:txBody>
                  <a:tcPr marL="4763" marR="4763" marT="4763" marB="0" anchor="b">
                    <a:lnL w="6350" cap="flat" cmpd="sng" algn="ctr">
                      <a:solidFill>
                        <a:srgbClr val="D9D9D9"/>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r" fontAlgn="b"/>
                      <a:r>
                        <a:rPr lang="es-PE" sz="1100" b="0" i="0" u="none" strike="noStrike">
                          <a:solidFill>
                            <a:srgbClr val="000000"/>
                          </a:solidFill>
                          <a:effectLst/>
                          <a:latin typeface="Calibri" panose="020F0502020204030204" pitchFamily="34" charset="0"/>
                        </a:rPr>
                        <a:t>0%</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r" fontAlgn="b"/>
                      <a:r>
                        <a:rPr lang="es-PE" sz="1100" b="0" i="0" u="none" strike="noStrike">
                          <a:solidFill>
                            <a:srgbClr val="000000"/>
                          </a:solidFill>
                          <a:effectLst/>
                          <a:latin typeface="Calibri" panose="020F0502020204030204" pitchFamily="34" charset="0"/>
                        </a:rPr>
                        <a:t>0%</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r" fontAlgn="b"/>
                      <a:r>
                        <a:rPr lang="es-PE" sz="1100" b="0" i="0" u="none" strike="noStrike">
                          <a:solidFill>
                            <a:srgbClr val="000000"/>
                          </a:solidFill>
                          <a:effectLst/>
                          <a:latin typeface="Calibri" panose="020F0502020204030204" pitchFamily="34" charset="0"/>
                        </a:rPr>
                        <a:t>99%</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3BE7B"/>
                    </a:solidFill>
                  </a:tcPr>
                </a:tc>
                <a:tc>
                  <a:txBody>
                    <a:bodyPr/>
                    <a:lstStyle/>
                    <a:p>
                      <a:pPr algn="r" fontAlgn="b"/>
                      <a:r>
                        <a:rPr lang="es-PE" sz="1100" b="0" i="0" u="none" strike="noStrike">
                          <a:solidFill>
                            <a:srgbClr val="000000"/>
                          </a:solidFill>
                          <a:effectLst/>
                          <a:latin typeface="Calibri" panose="020F0502020204030204" pitchFamily="34" charset="0"/>
                        </a:rPr>
                        <a:t>93%</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C27C"/>
                    </a:solidFill>
                  </a:tcPr>
                </a:tc>
                <a:tc>
                  <a:txBody>
                    <a:bodyPr/>
                    <a:lstStyle/>
                    <a:p>
                      <a:pPr algn="r" fontAlgn="b"/>
                      <a:r>
                        <a:rPr lang="es-PE" sz="1100" b="0" i="0" u="none" strike="noStrike">
                          <a:solidFill>
                            <a:srgbClr val="000000"/>
                          </a:solidFill>
                          <a:effectLst/>
                          <a:latin typeface="Calibri" panose="020F0502020204030204" pitchFamily="34" charset="0"/>
                        </a:rPr>
                        <a:t>85%</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C77D"/>
                    </a:solidFill>
                  </a:tcPr>
                </a:tc>
                <a:tc>
                  <a:txBody>
                    <a:bodyPr/>
                    <a:lstStyle/>
                    <a:p>
                      <a:pPr algn="r" fontAlgn="b"/>
                      <a:r>
                        <a:rPr lang="es-PE" sz="1100" b="0" i="0" u="none" strike="noStrike">
                          <a:solidFill>
                            <a:srgbClr val="000000"/>
                          </a:solidFill>
                          <a:effectLst/>
                          <a:latin typeface="Calibri" panose="020F0502020204030204" pitchFamily="34" charset="0"/>
                        </a:rPr>
                        <a:t>89%</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7C47D"/>
                    </a:solidFill>
                  </a:tcPr>
                </a:tc>
                <a:tc>
                  <a:txBody>
                    <a:bodyPr/>
                    <a:lstStyle/>
                    <a:p>
                      <a:pPr algn="r" fontAlgn="b"/>
                      <a:r>
                        <a:rPr lang="es-PE" sz="1100" b="0" i="0" u="none" strike="noStrike">
                          <a:solidFill>
                            <a:srgbClr val="000000"/>
                          </a:solidFill>
                          <a:effectLst/>
                          <a:latin typeface="Calibri" panose="020F0502020204030204" pitchFamily="34" charset="0"/>
                        </a:rPr>
                        <a:t>90%</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6C47D"/>
                    </a:solidFill>
                  </a:tcPr>
                </a:tc>
                <a:tc>
                  <a:txBody>
                    <a:bodyPr/>
                    <a:lstStyle/>
                    <a:p>
                      <a:pPr algn="r" fontAlgn="b"/>
                      <a:r>
                        <a:rPr lang="es-PE" sz="1100" b="0" i="0" u="none" strike="noStrike">
                          <a:solidFill>
                            <a:srgbClr val="000000"/>
                          </a:solidFill>
                          <a:effectLst/>
                          <a:latin typeface="Calibri" panose="020F0502020204030204" pitchFamily="34" charset="0"/>
                        </a:rPr>
                        <a:t>78%</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DCB7E"/>
                    </a:solidFill>
                  </a:tcPr>
                </a:tc>
                <a:tc>
                  <a:txBody>
                    <a:bodyPr/>
                    <a:lstStyle/>
                    <a:p>
                      <a:pPr algn="r" fontAlgn="b"/>
                      <a:r>
                        <a:rPr lang="es-PE" sz="1100" b="0" i="0" u="none" strike="noStrike">
                          <a:solidFill>
                            <a:srgbClr val="000000"/>
                          </a:solidFill>
                          <a:effectLst/>
                          <a:latin typeface="Calibri" panose="020F0502020204030204" pitchFamily="34" charset="0"/>
                        </a:rPr>
                        <a:t>70%</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ECF7F"/>
                    </a:solidFill>
                  </a:tcPr>
                </a:tc>
                <a:tc>
                  <a:txBody>
                    <a:bodyPr/>
                    <a:lstStyle/>
                    <a:p>
                      <a:pPr algn="r" fontAlgn="b"/>
                      <a:r>
                        <a:rPr lang="es-PE" sz="1100" b="0" i="0" u="none" strike="noStrike">
                          <a:solidFill>
                            <a:srgbClr val="000000"/>
                          </a:solidFill>
                          <a:effectLst/>
                          <a:latin typeface="Calibri" panose="020F0502020204030204" pitchFamily="34" charset="0"/>
                        </a:rPr>
                        <a:t>67%</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5D17F"/>
                    </a:solidFill>
                  </a:tcPr>
                </a:tc>
                <a:tc>
                  <a:txBody>
                    <a:bodyPr/>
                    <a:lstStyle/>
                    <a:p>
                      <a:pPr algn="ctr" fontAlgn="b"/>
                      <a:r>
                        <a:rPr lang="es-PE" sz="1100" b="1" i="0" u="none" strike="noStrike">
                          <a:solidFill>
                            <a:srgbClr val="FFFFFF"/>
                          </a:solidFill>
                          <a:effectLst/>
                          <a:latin typeface="Calibri" panose="020F0502020204030204" pitchFamily="34" charset="0"/>
                        </a:rPr>
                        <a:t>63%</a:t>
                      </a:r>
                    </a:p>
                  </a:txBody>
                  <a:tcPr marL="4763" marR="4763" marT="4763" marB="0"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2060"/>
                    </a:solidFill>
                  </a:tcPr>
                </a:tc>
                <a:extLst>
                  <a:ext uri="{0D108BD9-81ED-4DB2-BD59-A6C34878D82A}">
                    <a16:rowId xmlns:a16="http://schemas.microsoft.com/office/drawing/2014/main" val="3738853342"/>
                  </a:ext>
                </a:extLst>
              </a:tr>
              <a:tr h="180975">
                <a:tc vMerge="1">
                  <a:txBody>
                    <a:bodyPr/>
                    <a:lstStyle/>
                    <a:p>
                      <a:endParaRPr lang="es-PE"/>
                    </a:p>
                  </a:txBody>
                  <a:tcPr/>
                </a:tc>
                <a:tc>
                  <a:txBody>
                    <a:bodyPr/>
                    <a:lstStyle/>
                    <a:p>
                      <a:pPr algn="ctr" fontAlgn="b"/>
                      <a:r>
                        <a:rPr lang="es-PE" sz="1100" b="1" i="0" u="none" strike="noStrike">
                          <a:solidFill>
                            <a:srgbClr val="FFFFFF"/>
                          </a:solidFill>
                          <a:effectLst/>
                          <a:latin typeface="Calibri" panose="020F0502020204030204" pitchFamily="34" charset="0"/>
                        </a:rPr>
                        <a:t>2</a:t>
                      </a:r>
                    </a:p>
                  </a:txBody>
                  <a:tcPr marL="4763" marR="4763" marT="4763" marB="0"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2060"/>
                    </a:solidFill>
                  </a:tcPr>
                </a:tc>
                <a:tc>
                  <a:txBody>
                    <a:bodyPr/>
                    <a:lstStyle/>
                    <a:p>
                      <a:pPr algn="r" fontAlgn="b"/>
                      <a:r>
                        <a:rPr lang="es-PE" sz="1100" b="0" i="0" u="none" strike="noStrike">
                          <a:solidFill>
                            <a:srgbClr val="000000"/>
                          </a:solidFill>
                          <a:effectLst/>
                          <a:latin typeface="Calibri" panose="020F0502020204030204" pitchFamily="34" charset="0"/>
                        </a:rPr>
                        <a:t>0%</a:t>
                      </a:r>
                    </a:p>
                  </a:txBody>
                  <a:tcPr marL="4763" marR="4763" marT="4763" marB="0" anchor="b">
                    <a:lnL w="6350" cap="flat" cmpd="sng" algn="ctr">
                      <a:solidFill>
                        <a:srgbClr val="D9D9D9"/>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r" fontAlgn="b"/>
                      <a:r>
                        <a:rPr lang="es-PE" sz="1100" b="0" i="0" u="none" strike="noStrike">
                          <a:solidFill>
                            <a:srgbClr val="000000"/>
                          </a:solidFill>
                          <a:effectLst/>
                          <a:latin typeface="Calibri" panose="020F0502020204030204" pitchFamily="34" charset="0"/>
                        </a:rPr>
                        <a:t>0%</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r" fontAlgn="b"/>
                      <a:r>
                        <a:rPr lang="es-PE" sz="1100" b="0" i="0" u="none" strike="noStrike">
                          <a:solidFill>
                            <a:srgbClr val="000000"/>
                          </a:solidFill>
                          <a:effectLst/>
                          <a:latin typeface="Calibri" panose="020F0502020204030204" pitchFamily="34" charset="0"/>
                        </a:rPr>
                        <a:t>0%</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r" fontAlgn="b"/>
                      <a:r>
                        <a:rPr lang="es-PE" sz="1100" b="0" i="0" u="none" strike="noStrike">
                          <a:solidFill>
                            <a:srgbClr val="000000"/>
                          </a:solidFill>
                          <a:effectLst/>
                          <a:latin typeface="Calibri" panose="020F0502020204030204" pitchFamily="34" charset="0"/>
                        </a:rPr>
                        <a:t>93%</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FC27C"/>
                    </a:solidFill>
                  </a:tcPr>
                </a:tc>
                <a:tc>
                  <a:txBody>
                    <a:bodyPr/>
                    <a:lstStyle/>
                    <a:p>
                      <a:pPr algn="r" fontAlgn="b"/>
                      <a:r>
                        <a:rPr lang="es-PE" sz="1100" b="0" i="0" u="none" strike="noStrike">
                          <a:solidFill>
                            <a:srgbClr val="000000"/>
                          </a:solidFill>
                          <a:effectLst/>
                          <a:latin typeface="Calibri" panose="020F0502020204030204" pitchFamily="34" charset="0"/>
                        </a:rPr>
                        <a:t>91%</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2C37C"/>
                    </a:solidFill>
                  </a:tcPr>
                </a:tc>
                <a:tc>
                  <a:txBody>
                    <a:bodyPr/>
                    <a:lstStyle/>
                    <a:p>
                      <a:pPr algn="r" fontAlgn="b"/>
                      <a:r>
                        <a:rPr lang="es-PE" sz="1100" b="0" i="0" u="none" strike="noStrike">
                          <a:solidFill>
                            <a:srgbClr val="000000"/>
                          </a:solidFill>
                          <a:effectLst/>
                          <a:latin typeface="Calibri" panose="020F0502020204030204" pitchFamily="34" charset="0"/>
                        </a:rPr>
                        <a:t>80%</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ACA7E"/>
                    </a:solidFill>
                  </a:tcPr>
                </a:tc>
                <a:tc>
                  <a:txBody>
                    <a:bodyPr/>
                    <a:lstStyle/>
                    <a:p>
                      <a:pPr algn="r" fontAlgn="b"/>
                      <a:r>
                        <a:rPr lang="es-PE" sz="1100" b="0" i="0" u="none" strike="noStrike">
                          <a:solidFill>
                            <a:srgbClr val="000000"/>
                          </a:solidFill>
                          <a:effectLst/>
                          <a:latin typeface="Calibri" panose="020F0502020204030204" pitchFamily="34" charset="0"/>
                        </a:rPr>
                        <a:t>94%</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EC17C"/>
                    </a:solidFill>
                  </a:tcPr>
                </a:tc>
                <a:tc>
                  <a:txBody>
                    <a:bodyPr/>
                    <a:lstStyle/>
                    <a:p>
                      <a:pPr algn="r" fontAlgn="b"/>
                      <a:r>
                        <a:rPr lang="es-PE" sz="1100" b="0" i="0" u="none" strike="noStrike" dirty="0">
                          <a:solidFill>
                            <a:srgbClr val="000000"/>
                          </a:solidFill>
                          <a:effectLst/>
                          <a:latin typeface="Calibri" panose="020F0502020204030204" pitchFamily="34" charset="0"/>
                        </a:rPr>
                        <a:t>92%</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1C37C"/>
                    </a:solidFill>
                  </a:tcPr>
                </a:tc>
                <a:tc>
                  <a:txBody>
                    <a:bodyPr/>
                    <a:lstStyle/>
                    <a:p>
                      <a:pPr algn="r" fontAlgn="b"/>
                      <a:r>
                        <a:rPr lang="es-PE" sz="1100" b="0" i="0" u="none" strike="noStrike">
                          <a:solidFill>
                            <a:srgbClr val="000000"/>
                          </a:solidFill>
                          <a:effectLst/>
                          <a:latin typeface="Calibri" panose="020F0502020204030204" pitchFamily="34" charset="0"/>
                        </a:rPr>
                        <a:t>80%</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9C97E"/>
                    </a:solidFill>
                  </a:tcPr>
                </a:tc>
                <a:tc>
                  <a:txBody>
                    <a:bodyPr/>
                    <a:lstStyle/>
                    <a:p>
                      <a:pPr algn="r" fontAlgn="b"/>
                      <a:r>
                        <a:rPr lang="es-PE" sz="1100" b="0" i="0" u="none" strike="noStrike">
                          <a:solidFill>
                            <a:srgbClr val="000000"/>
                          </a:solidFill>
                          <a:effectLst/>
                          <a:latin typeface="Calibri" panose="020F0502020204030204" pitchFamily="34" charset="0"/>
                        </a:rPr>
                        <a:t>79%</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CCA7E"/>
                    </a:solidFill>
                  </a:tcPr>
                </a:tc>
                <a:tc>
                  <a:txBody>
                    <a:bodyPr/>
                    <a:lstStyle/>
                    <a:p>
                      <a:pPr algn="r" fontAlgn="b"/>
                      <a:r>
                        <a:rPr lang="es-PE" sz="1100" b="0" i="0" u="none" strike="noStrike">
                          <a:solidFill>
                            <a:srgbClr val="000000"/>
                          </a:solidFill>
                          <a:effectLst/>
                          <a:latin typeface="Calibri" panose="020F0502020204030204" pitchFamily="34" charset="0"/>
                        </a:rPr>
                        <a:t>67%</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5D17F"/>
                    </a:solidFill>
                  </a:tcPr>
                </a:tc>
                <a:tc>
                  <a:txBody>
                    <a:bodyPr/>
                    <a:lstStyle/>
                    <a:p>
                      <a:pPr algn="ctr" fontAlgn="b"/>
                      <a:r>
                        <a:rPr lang="es-PE" sz="1100" b="1" i="0" u="none" strike="noStrike">
                          <a:solidFill>
                            <a:srgbClr val="FFFFFF"/>
                          </a:solidFill>
                          <a:effectLst/>
                          <a:latin typeface="Calibri" panose="020F0502020204030204" pitchFamily="34" charset="0"/>
                        </a:rPr>
                        <a:t>63%</a:t>
                      </a:r>
                    </a:p>
                  </a:txBody>
                  <a:tcPr marL="4763" marR="4763" marT="4763" marB="0"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2060"/>
                    </a:solidFill>
                  </a:tcPr>
                </a:tc>
                <a:extLst>
                  <a:ext uri="{0D108BD9-81ED-4DB2-BD59-A6C34878D82A}">
                    <a16:rowId xmlns:a16="http://schemas.microsoft.com/office/drawing/2014/main" val="3680994359"/>
                  </a:ext>
                </a:extLst>
              </a:tr>
              <a:tr h="180975">
                <a:tc vMerge="1">
                  <a:txBody>
                    <a:bodyPr/>
                    <a:lstStyle/>
                    <a:p>
                      <a:endParaRPr lang="es-PE"/>
                    </a:p>
                  </a:txBody>
                  <a:tcPr/>
                </a:tc>
                <a:tc>
                  <a:txBody>
                    <a:bodyPr/>
                    <a:lstStyle/>
                    <a:p>
                      <a:pPr algn="ctr" fontAlgn="b"/>
                      <a:r>
                        <a:rPr lang="es-PE" sz="1100" b="1" i="0" u="none" strike="noStrike">
                          <a:solidFill>
                            <a:srgbClr val="FFFFFF"/>
                          </a:solidFill>
                          <a:effectLst/>
                          <a:latin typeface="Calibri" panose="020F0502020204030204" pitchFamily="34" charset="0"/>
                        </a:rPr>
                        <a:t>3</a:t>
                      </a:r>
                    </a:p>
                  </a:txBody>
                  <a:tcPr marL="4763" marR="4763" marT="4763" marB="0"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2060"/>
                    </a:solidFill>
                  </a:tcPr>
                </a:tc>
                <a:tc>
                  <a:txBody>
                    <a:bodyPr/>
                    <a:lstStyle/>
                    <a:p>
                      <a:pPr algn="r" fontAlgn="b"/>
                      <a:r>
                        <a:rPr lang="es-PE" sz="1100" b="0" i="0" u="none" strike="noStrike">
                          <a:solidFill>
                            <a:srgbClr val="000000"/>
                          </a:solidFill>
                          <a:effectLst/>
                          <a:latin typeface="Calibri" panose="020F0502020204030204" pitchFamily="34" charset="0"/>
                        </a:rPr>
                        <a:t>0%</a:t>
                      </a:r>
                    </a:p>
                  </a:txBody>
                  <a:tcPr marL="4763" marR="4763" marT="4763" marB="0" anchor="b">
                    <a:lnL w="6350" cap="flat" cmpd="sng" algn="ctr">
                      <a:solidFill>
                        <a:srgbClr val="D9D9D9"/>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r" fontAlgn="b"/>
                      <a:r>
                        <a:rPr lang="es-PE" sz="1100" b="0" i="0" u="none" strike="noStrike">
                          <a:solidFill>
                            <a:srgbClr val="000000"/>
                          </a:solidFill>
                          <a:effectLst/>
                          <a:latin typeface="Calibri" panose="020F0502020204030204" pitchFamily="34" charset="0"/>
                        </a:rPr>
                        <a:t>0%</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r" fontAlgn="b"/>
                      <a:r>
                        <a:rPr lang="es-PE" sz="1100" b="0" i="0" u="none" strike="noStrike">
                          <a:solidFill>
                            <a:srgbClr val="000000"/>
                          </a:solidFill>
                          <a:effectLst/>
                          <a:latin typeface="Calibri" panose="020F0502020204030204" pitchFamily="34" charset="0"/>
                        </a:rPr>
                        <a:t>0%</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r" fontAlgn="b"/>
                      <a:r>
                        <a:rPr lang="es-PE" sz="1100" b="0" i="0" u="none" strike="noStrike">
                          <a:solidFill>
                            <a:srgbClr val="000000"/>
                          </a:solidFill>
                          <a:effectLst/>
                          <a:latin typeface="Calibri" panose="020F0502020204030204" pitchFamily="34" charset="0"/>
                        </a:rPr>
                        <a:t>22%</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883"/>
                    </a:solidFill>
                  </a:tcPr>
                </a:tc>
                <a:tc>
                  <a:txBody>
                    <a:bodyPr/>
                    <a:lstStyle/>
                    <a:p>
                      <a:pPr algn="r" fontAlgn="b"/>
                      <a:r>
                        <a:rPr lang="es-PE" sz="1100" b="0" i="0" u="none" strike="noStrike">
                          <a:solidFill>
                            <a:srgbClr val="000000"/>
                          </a:solidFill>
                          <a:effectLst/>
                          <a:latin typeface="Calibri" panose="020F0502020204030204" pitchFamily="34" charset="0"/>
                        </a:rPr>
                        <a:t>23%</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B84"/>
                    </a:solidFill>
                  </a:tcPr>
                </a:tc>
                <a:tc>
                  <a:txBody>
                    <a:bodyPr/>
                    <a:lstStyle/>
                    <a:p>
                      <a:pPr algn="r" fontAlgn="b"/>
                      <a:r>
                        <a:rPr lang="es-PE" sz="1100" b="0" i="0" u="none" strike="noStrike">
                          <a:solidFill>
                            <a:srgbClr val="000000"/>
                          </a:solidFill>
                          <a:effectLst/>
                          <a:latin typeface="Calibri" panose="020F0502020204030204" pitchFamily="34" charset="0"/>
                        </a:rPr>
                        <a:t>20%</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081"/>
                    </a:solidFill>
                  </a:tcPr>
                </a:tc>
                <a:tc>
                  <a:txBody>
                    <a:bodyPr/>
                    <a:lstStyle/>
                    <a:p>
                      <a:pPr algn="r" fontAlgn="b"/>
                      <a:r>
                        <a:rPr lang="es-PE" sz="1100" b="0" i="0" u="none" strike="noStrike">
                          <a:solidFill>
                            <a:srgbClr val="000000"/>
                          </a:solidFill>
                          <a:effectLst/>
                          <a:latin typeface="Calibri" panose="020F0502020204030204" pitchFamily="34" charset="0"/>
                        </a:rPr>
                        <a:t>23%</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B84"/>
                    </a:solidFill>
                  </a:tcPr>
                </a:tc>
                <a:tc>
                  <a:txBody>
                    <a:bodyPr/>
                    <a:lstStyle/>
                    <a:p>
                      <a:pPr algn="r" fontAlgn="b"/>
                      <a:r>
                        <a:rPr lang="es-PE" sz="1100" b="0" i="0" u="none" strike="noStrike">
                          <a:solidFill>
                            <a:srgbClr val="000000"/>
                          </a:solidFill>
                          <a:effectLst/>
                          <a:latin typeface="Calibri" panose="020F0502020204030204" pitchFamily="34" charset="0"/>
                        </a:rPr>
                        <a:t>24%</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A84"/>
                    </a:solidFill>
                  </a:tcPr>
                </a:tc>
                <a:tc>
                  <a:txBody>
                    <a:bodyPr/>
                    <a:lstStyle/>
                    <a:p>
                      <a:pPr algn="r" fontAlgn="b"/>
                      <a:r>
                        <a:rPr lang="es-PE" sz="1100" b="0" i="0" u="none" strike="noStrike">
                          <a:solidFill>
                            <a:srgbClr val="000000"/>
                          </a:solidFill>
                          <a:effectLst/>
                          <a:latin typeface="Calibri" panose="020F0502020204030204" pitchFamily="34" charset="0"/>
                        </a:rPr>
                        <a:t>22%</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A83"/>
                    </a:solidFill>
                  </a:tcPr>
                </a:tc>
                <a:tc>
                  <a:txBody>
                    <a:bodyPr/>
                    <a:lstStyle/>
                    <a:p>
                      <a:pPr algn="r" fontAlgn="b"/>
                      <a:r>
                        <a:rPr lang="es-PE" sz="1100" b="0" i="0" u="none" strike="noStrike">
                          <a:solidFill>
                            <a:srgbClr val="000000"/>
                          </a:solidFill>
                          <a:effectLst/>
                          <a:latin typeface="Calibri" panose="020F0502020204030204" pitchFamily="34" charset="0"/>
                        </a:rPr>
                        <a:t>22%</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B84"/>
                    </a:solidFill>
                  </a:tcPr>
                </a:tc>
                <a:tc>
                  <a:txBody>
                    <a:bodyPr/>
                    <a:lstStyle/>
                    <a:p>
                      <a:pPr algn="r" fontAlgn="b"/>
                      <a:r>
                        <a:rPr lang="es-PE" sz="1100" b="0" i="0" u="none" strike="noStrike">
                          <a:solidFill>
                            <a:srgbClr val="000000"/>
                          </a:solidFill>
                          <a:effectLst/>
                          <a:latin typeface="Calibri" panose="020F0502020204030204" pitchFamily="34" charset="0"/>
                        </a:rPr>
                        <a:t>19%</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D880"/>
                    </a:solidFill>
                  </a:tcPr>
                </a:tc>
                <a:tc>
                  <a:txBody>
                    <a:bodyPr/>
                    <a:lstStyle/>
                    <a:p>
                      <a:pPr algn="ctr" fontAlgn="b"/>
                      <a:r>
                        <a:rPr lang="es-PE" sz="1100" b="1" i="0" u="none" strike="noStrike">
                          <a:solidFill>
                            <a:srgbClr val="FFFFFF"/>
                          </a:solidFill>
                          <a:effectLst/>
                          <a:latin typeface="Calibri" panose="020F0502020204030204" pitchFamily="34" charset="0"/>
                        </a:rPr>
                        <a:t>16%</a:t>
                      </a:r>
                    </a:p>
                  </a:txBody>
                  <a:tcPr marL="4763" marR="4763" marT="4763" marB="0"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2060"/>
                    </a:solidFill>
                  </a:tcPr>
                </a:tc>
                <a:extLst>
                  <a:ext uri="{0D108BD9-81ED-4DB2-BD59-A6C34878D82A}">
                    <a16:rowId xmlns:a16="http://schemas.microsoft.com/office/drawing/2014/main" val="2463711265"/>
                  </a:ext>
                </a:extLst>
              </a:tr>
              <a:tr h="180975">
                <a:tc vMerge="1">
                  <a:txBody>
                    <a:bodyPr/>
                    <a:lstStyle/>
                    <a:p>
                      <a:endParaRPr lang="es-PE"/>
                    </a:p>
                  </a:txBody>
                  <a:tcPr/>
                </a:tc>
                <a:tc>
                  <a:txBody>
                    <a:bodyPr/>
                    <a:lstStyle/>
                    <a:p>
                      <a:pPr algn="ctr" fontAlgn="b"/>
                      <a:r>
                        <a:rPr lang="es-PE" sz="1100" b="1" i="0" u="none" strike="noStrike">
                          <a:solidFill>
                            <a:srgbClr val="FFFFFF"/>
                          </a:solidFill>
                          <a:effectLst/>
                          <a:latin typeface="Calibri" panose="020F0502020204030204" pitchFamily="34" charset="0"/>
                        </a:rPr>
                        <a:t>4</a:t>
                      </a:r>
                    </a:p>
                  </a:txBody>
                  <a:tcPr marL="4763" marR="4763" marT="4763" marB="0"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2060"/>
                    </a:solidFill>
                  </a:tcPr>
                </a:tc>
                <a:tc>
                  <a:txBody>
                    <a:bodyPr/>
                    <a:lstStyle/>
                    <a:p>
                      <a:pPr algn="r" fontAlgn="b"/>
                      <a:r>
                        <a:rPr lang="es-PE" sz="1100" b="0" i="0" u="none" strike="noStrike">
                          <a:solidFill>
                            <a:srgbClr val="000000"/>
                          </a:solidFill>
                          <a:effectLst/>
                          <a:latin typeface="Calibri" panose="020F0502020204030204" pitchFamily="34" charset="0"/>
                        </a:rPr>
                        <a:t>0%</a:t>
                      </a:r>
                    </a:p>
                  </a:txBody>
                  <a:tcPr marL="4763" marR="4763" marT="4763" marB="0" anchor="b">
                    <a:lnL w="6350" cap="flat" cmpd="sng" algn="ctr">
                      <a:solidFill>
                        <a:srgbClr val="D9D9D9"/>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r" fontAlgn="b"/>
                      <a:r>
                        <a:rPr lang="es-PE" sz="1100" b="0" i="0" u="none" strike="noStrike">
                          <a:solidFill>
                            <a:srgbClr val="000000"/>
                          </a:solidFill>
                          <a:effectLst/>
                          <a:latin typeface="Calibri" panose="020F0502020204030204" pitchFamily="34" charset="0"/>
                        </a:rPr>
                        <a:t>0%</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r" fontAlgn="b"/>
                      <a:r>
                        <a:rPr lang="es-PE" sz="1100" b="0" i="0" u="none" strike="noStrike">
                          <a:solidFill>
                            <a:srgbClr val="000000"/>
                          </a:solidFill>
                          <a:effectLst/>
                          <a:latin typeface="Calibri" panose="020F0502020204030204" pitchFamily="34" charset="0"/>
                        </a:rPr>
                        <a:t>0%</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tc>
                  <a:txBody>
                    <a:bodyPr/>
                    <a:lstStyle/>
                    <a:p>
                      <a:pPr algn="r" fontAlgn="b"/>
                      <a:r>
                        <a:rPr lang="es-PE" sz="1100" b="0" i="0" u="none" strike="noStrike">
                          <a:solidFill>
                            <a:srgbClr val="000000"/>
                          </a:solidFill>
                          <a:effectLst/>
                          <a:latin typeface="Calibri" panose="020F0502020204030204" pitchFamily="34" charset="0"/>
                        </a:rPr>
                        <a:t>19%</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D780"/>
                    </a:solidFill>
                  </a:tcPr>
                </a:tc>
                <a:tc>
                  <a:txBody>
                    <a:bodyPr/>
                    <a:lstStyle/>
                    <a:p>
                      <a:pPr algn="r" fontAlgn="b"/>
                      <a:r>
                        <a:rPr lang="es-PE" sz="1100" b="0" i="0" u="none" strike="noStrike">
                          <a:solidFill>
                            <a:srgbClr val="000000"/>
                          </a:solidFill>
                          <a:effectLst/>
                          <a:latin typeface="Calibri" panose="020F0502020204030204" pitchFamily="34" charset="0"/>
                        </a:rPr>
                        <a:t>18%</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D47F"/>
                    </a:solidFill>
                  </a:tcPr>
                </a:tc>
                <a:tc>
                  <a:txBody>
                    <a:bodyPr/>
                    <a:lstStyle/>
                    <a:p>
                      <a:pPr algn="r" fontAlgn="b"/>
                      <a:r>
                        <a:rPr lang="es-PE" sz="1100" b="0" i="0" u="none" strike="noStrike">
                          <a:solidFill>
                            <a:srgbClr val="000000"/>
                          </a:solidFill>
                          <a:effectLst/>
                          <a:latin typeface="Calibri" panose="020F0502020204030204" pitchFamily="34" charset="0"/>
                        </a:rPr>
                        <a:t>17%</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CA7D"/>
                    </a:solidFill>
                  </a:tcPr>
                </a:tc>
                <a:tc>
                  <a:txBody>
                    <a:bodyPr/>
                    <a:lstStyle/>
                    <a:p>
                      <a:pPr algn="r" fontAlgn="b"/>
                      <a:r>
                        <a:rPr lang="es-PE" sz="1100" b="0" i="0" u="none" strike="noStrike">
                          <a:solidFill>
                            <a:srgbClr val="000000"/>
                          </a:solidFill>
                          <a:effectLst/>
                          <a:latin typeface="Calibri" panose="020F0502020204030204" pitchFamily="34" charset="0"/>
                        </a:rPr>
                        <a:t>19%</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D57F"/>
                    </a:solidFill>
                  </a:tcPr>
                </a:tc>
                <a:tc>
                  <a:txBody>
                    <a:bodyPr/>
                    <a:lstStyle/>
                    <a:p>
                      <a:pPr algn="r" fontAlgn="b"/>
                      <a:r>
                        <a:rPr lang="es-PE" sz="1100" b="0" i="0" u="none" strike="noStrike">
                          <a:solidFill>
                            <a:srgbClr val="000000"/>
                          </a:solidFill>
                          <a:effectLst/>
                          <a:latin typeface="Calibri" panose="020F0502020204030204" pitchFamily="34" charset="0"/>
                        </a:rPr>
                        <a:t>18%</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D17F"/>
                    </a:solidFill>
                  </a:tcPr>
                </a:tc>
                <a:tc>
                  <a:txBody>
                    <a:bodyPr/>
                    <a:lstStyle/>
                    <a:p>
                      <a:pPr algn="r" fontAlgn="b"/>
                      <a:r>
                        <a:rPr lang="es-PE" sz="1100" b="0" i="0" u="none" strike="noStrike">
                          <a:solidFill>
                            <a:srgbClr val="000000"/>
                          </a:solidFill>
                          <a:effectLst/>
                          <a:latin typeface="Calibri" panose="020F0502020204030204" pitchFamily="34" charset="0"/>
                        </a:rPr>
                        <a:t>17%</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C97D"/>
                    </a:solidFill>
                  </a:tcPr>
                </a:tc>
                <a:tc>
                  <a:txBody>
                    <a:bodyPr/>
                    <a:lstStyle/>
                    <a:p>
                      <a:pPr algn="r" fontAlgn="b"/>
                      <a:r>
                        <a:rPr lang="es-PE" sz="1100" b="0" i="0" u="none" strike="noStrike">
                          <a:solidFill>
                            <a:srgbClr val="000000"/>
                          </a:solidFill>
                          <a:effectLst/>
                          <a:latin typeface="Calibri" panose="020F0502020204030204" pitchFamily="34" charset="0"/>
                        </a:rPr>
                        <a:t>17%</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CE7E"/>
                    </a:solidFill>
                  </a:tcPr>
                </a:tc>
                <a:tc>
                  <a:txBody>
                    <a:bodyPr/>
                    <a:lstStyle/>
                    <a:p>
                      <a:pPr algn="r" fontAlgn="b"/>
                      <a:r>
                        <a:rPr lang="es-PE" sz="1100" b="0" i="0" u="none" strike="noStrike">
                          <a:solidFill>
                            <a:srgbClr val="000000"/>
                          </a:solidFill>
                          <a:effectLst/>
                          <a:latin typeface="Calibri" panose="020F0502020204030204" pitchFamily="34" charset="0"/>
                        </a:rPr>
                        <a:t>16%</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C67C"/>
                    </a:solidFill>
                  </a:tcPr>
                </a:tc>
                <a:tc>
                  <a:txBody>
                    <a:bodyPr/>
                    <a:lstStyle/>
                    <a:p>
                      <a:pPr algn="ctr" fontAlgn="b"/>
                      <a:r>
                        <a:rPr lang="es-PE" sz="1100" b="1" i="0" u="none" strike="noStrike">
                          <a:solidFill>
                            <a:srgbClr val="FFFFFF"/>
                          </a:solidFill>
                          <a:effectLst/>
                          <a:latin typeface="Calibri" panose="020F0502020204030204" pitchFamily="34" charset="0"/>
                        </a:rPr>
                        <a:t>13%</a:t>
                      </a:r>
                    </a:p>
                  </a:txBody>
                  <a:tcPr marL="4763" marR="4763" marT="4763" marB="0"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2060"/>
                    </a:solidFill>
                  </a:tcPr>
                </a:tc>
                <a:extLst>
                  <a:ext uri="{0D108BD9-81ED-4DB2-BD59-A6C34878D82A}">
                    <a16:rowId xmlns:a16="http://schemas.microsoft.com/office/drawing/2014/main" val="2332020601"/>
                  </a:ext>
                </a:extLst>
              </a:tr>
              <a:tr h="180975">
                <a:tc vMerge="1">
                  <a:txBody>
                    <a:bodyPr/>
                    <a:lstStyle/>
                    <a:p>
                      <a:endParaRPr lang="es-PE"/>
                    </a:p>
                  </a:txBody>
                  <a:tcPr/>
                </a:tc>
                <a:tc>
                  <a:txBody>
                    <a:bodyPr/>
                    <a:lstStyle/>
                    <a:p>
                      <a:pPr algn="ctr" fontAlgn="b"/>
                      <a:r>
                        <a:rPr lang="es-PE" sz="1100" b="1" i="0" u="none" strike="noStrike">
                          <a:solidFill>
                            <a:srgbClr val="FFFFFF"/>
                          </a:solidFill>
                          <a:effectLst/>
                          <a:latin typeface="Calibri" panose="020F0502020204030204" pitchFamily="34" charset="0"/>
                        </a:rPr>
                        <a:t>5</a:t>
                      </a:r>
                    </a:p>
                  </a:txBody>
                  <a:tcPr marL="4763" marR="4763" marT="4763" marB="0"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2060"/>
                    </a:solidFill>
                  </a:tcPr>
                </a:tc>
                <a:tc>
                  <a:txBody>
                    <a:bodyPr/>
                    <a:lstStyle/>
                    <a:p>
                      <a:pPr algn="r" fontAlgn="b"/>
                      <a:r>
                        <a:rPr lang="es-PE" sz="1100" b="0" i="0" u="none" strike="noStrike">
                          <a:solidFill>
                            <a:srgbClr val="000000"/>
                          </a:solidFill>
                          <a:effectLst/>
                          <a:latin typeface="Calibri" panose="020F0502020204030204" pitchFamily="34" charset="0"/>
                        </a:rPr>
                        <a:t>0%</a:t>
                      </a:r>
                    </a:p>
                  </a:txBody>
                  <a:tcPr marL="4763" marR="4763" marT="4763" marB="0" anchor="b">
                    <a:lnL w="6350" cap="flat" cmpd="sng" algn="ctr">
                      <a:solidFill>
                        <a:srgbClr val="D9D9D9"/>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8696B"/>
                    </a:solidFill>
                  </a:tcPr>
                </a:tc>
                <a:tc>
                  <a:txBody>
                    <a:bodyPr/>
                    <a:lstStyle/>
                    <a:p>
                      <a:pPr algn="r" fontAlgn="b"/>
                      <a:r>
                        <a:rPr lang="es-PE" sz="1100" b="0" i="0" u="none" strike="noStrike">
                          <a:solidFill>
                            <a:srgbClr val="000000"/>
                          </a:solidFill>
                          <a:effectLst/>
                          <a:latin typeface="Calibri" panose="020F0502020204030204" pitchFamily="34" charset="0"/>
                        </a:rPr>
                        <a:t>0%</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8696B"/>
                    </a:solidFill>
                  </a:tcPr>
                </a:tc>
                <a:tc>
                  <a:txBody>
                    <a:bodyPr/>
                    <a:lstStyle/>
                    <a:p>
                      <a:pPr algn="r" fontAlgn="b"/>
                      <a:r>
                        <a:rPr lang="es-PE" sz="1100" b="0" i="0" u="none" strike="noStrike">
                          <a:solidFill>
                            <a:srgbClr val="000000"/>
                          </a:solidFill>
                          <a:effectLst/>
                          <a:latin typeface="Calibri" panose="020F0502020204030204" pitchFamily="34" charset="0"/>
                        </a:rPr>
                        <a:t>0%</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8696B"/>
                    </a:solidFill>
                  </a:tcPr>
                </a:tc>
                <a:tc>
                  <a:txBody>
                    <a:bodyPr/>
                    <a:lstStyle/>
                    <a:p>
                      <a:pPr algn="r" fontAlgn="b"/>
                      <a:r>
                        <a:rPr lang="es-PE" sz="1100" b="0" i="0" u="none" strike="noStrike">
                          <a:solidFill>
                            <a:srgbClr val="000000"/>
                          </a:solidFill>
                          <a:effectLst/>
                          <a:latin typeface="Calibri" panose="020F0502020204030204" pitchFamily="34" charset="0"/>
                        </a:rPr>
                        <a:t>4%</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97F6F"/>
                    </a:solidFill>
                  </a:tcPr>
                </a:tc>
                <a:tc>
                  <a:txBody>
                    <a:bodyPr/>
                    <a:lstStyle/>
                    <a:p>
                      <a:pPr algn="r" fontAlgn="b"/>
                      <a:r>
                        <a:rPr lang="es-PE" sz="1100" b="0" i="0" u="none" strike="noStrike">
                          <a:solidFill>
                            <a:srgbClr val="000000"/>
                          </a:solidFill>
                          <a:effectLst/>
                          <a:latin typeface="Calibri" panose="020F0502020204030204" pitchFamily="34" charset="0"/>
                        </a:rPr>
                        <a:t>4%</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97F6F"/>
                    </a:solidFill>
                  </a:tcPr>
                </a:tc>
                <a:tc>
                  <a:txBody>
                    <a:bodyPr/>
                    <a:lstStyle/>
                    <a:p>
                      <a:pPr algn="r" fontAlgn="b"/>
                      <a:r>
                        <a:rPr lang="es-PE" sz="1100" b="0" i="0" u="none" strike="noStrike">
                          <a:solidFill>
                            <a:srgbClr val="000000"/>
                          </a:solidFill>
                          <a:effectLst/>
                          <a:latin typeface="Calibri" panose="020F0502020204030204" pitchFamily="34" charset="0"/>
                        </a:rPr>
                        <a:t>4%</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97D6E"/>
                    </a:solidFill>
                  </a:tcPr>
                </a:tc>
                <a:tc>
                  <a:txBody>
                    <a:bodyPr/>
                    <a:lstStyle/>
                    <a:p>
                      <a:pPr algn="r" fontAlgn="b"/>
                      <a:r>
                        <a:rPr lang="es-PE" sz="1100" b="0" i="0" u="none" strike="noStrike">
                          <a:solidFill>
                            <a:srgbClr val="000000"/>
                          </a:solidFill>
                          <a:effectLst/>
                          <a:latin typeface="Calibri" panose="020F0502020204030204" pitchFamily="34" charset="0"/>
                        </a:rPr>
                        <a:t>4%</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9826F"/>
                    </a:solidFill>
                  </a:tcPr>
                </a:tc>
                <a:tc>
                  <a:txBody>
                    <a:bodyPr/>
                    <a:lstStyle/>
                    <a:p>
                      <a:pPr algn="r" fontAlgn="b"/>
                      <a:r>
                        <a:rPr lang="es-PE" sz="1100" b="0" i="0" u="none" strike="noStrike">
                          <a:solidFill>
                            <a:srgbClr val="000000"/>
                          </a:solidFill>
                          <a:effectLst/>
                          <a:latin typeface="Calibri" panose="020F0502020204030204" pitchFamily="34" charset="0"/>
                        </a:rPr>
                        <a:t>4%</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9816F"/>
                    </a:solidFill>
                  </a:tcPr>
                </a:tc>
                <a:tc>
                  <a:txBody>
                    <a:bodyPr/>
                    <a:lstStyle/>
                    <a:p>
                      <a:pPr algn="r" fontAlgn="b"/>
                      <a:r>
                        <a:rPr lang="es-PE" sz="1100" b="0" i="0" u="none" strike="noStrike">
                          <a:solidFill>
                            <a:srgbClr val="000000"/>
                          </a:solidFill>
                          <a:effectLst/>
                          <a:latin typeface="Calibri" panose="020F0502020204030204" pitchFamily="34" charset="0"/>
                        </a:rPr>
                        <a:t>4%</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97F6F"/>
                    </a:solidFill>
                  </a:tcPr>
                </a:tc>
                <a:tc>
                  <a:txBody>
                    <a:bodyPr/>
                    <a:lstStyle/>
                    <a:p>
                      <a:pPr algn="r" fontAlgn="b"/>
                      <a:r>
                        <a:rPr lang="es-PE" sz="1100" b="0" i="0" u="none" strike="noStrike">
                          <a:solidFill>
                            <a:srgbClr val="000000"/>
                          </a:solidFill>
                          <a:effectLst/>
                          <a:latin typeface="Calibri" panose="020F0502020204030204" pitchFamily="34" charset="0"/>
                        </a:rPr>
                        <a:t>4%</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9806F"/>
                    </a:solidFill>
                  </a:tcPr>
                </a:tc>
                <a:tc>
                  <a:txBody>
                    <a:bodyPr/>
                    <a:lstStyle/>
                    <a:p>
                      <a:pPr algn="r" fontAlgn="b"/>
                      <a:r>
                        <a:rPr lang="es-PE" sz="1100" b="0" i="0" u="none" strike="noStrike">
                          <a:solidFill>
                            <a:srgbClr val="000000"/>
                          </a:solidFill>
                          <a:effectLst/>
                          <a:latin typeface="Calibri" panose="020F0502020204030204" pitchFamily="34" charset="0"/>
                        </a:rPr>
                        <a:t>4%</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97E6F"/>
                    </a:solidFill>
                  </a:tcPr>
                </a:tc>
                <a:tc>
                  <a:txBody>
                    <a:bodyPr/>
                    <a:lstStyle/>
                    <a:p>
                      <a:pPr algn="ctr" fontAlgn="b"/>
                      <a:r>
                        <a:rPr lang="es-PE" sz="1100" b="1" i="0" u="none" strike="noStrike">
                          <a:solidFill>
                            <a:srgbClr val="FFFFFF"/>
                          </a:solidFill>
                          <a:effectLst/>
                          <a:latin typeface="Calibri" panose="020F0502020204030204" pitchFamily="34" charset="0"/>
                        </a:rPr>
                        <a:t>3%</a:t>
                      </a:r>
                    </a:p>
                  </a:txBody>
                  <a:tcPr marL="4763" marR="4763" marT="4763" marB="0"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2060"/>
                    </a:solidFill>
                  </a:tcPr>
                </a:tc>
                <a:extLst>
                  <a:ext uri="{0D108BD9-81ED-4DB2-BD59-A6C34878D82A}">
                    <a16:rowId xmlns:a16="http://schemas.microsoft.com/office/drawing/2014/main" val="1665505481"/>
                  </a:ext>
                </a:extLst>
              </a:tr>
              <a:tr h="180975">
                <a:tc gridSpan="2">
                  <a:txBody>
                    <a:bodyPr/>
                    <a:lstStyle/>
                    <a:p>
                      <a:pPr algn="ctr" fontAlgn="b"/>
                      <a:r>
                        <a:rPr lang="es-PE" sz="1100" b="1" i="0" u="none" strike="noStrike">
                          <a:solidFill>
                            <a:srgbClr val="FFFFFF"/>
                          </a:solidFill>
                          <a:effectLst/>
                          <a:latin typeface="Calibri" panose="020F0502020204030204" pitchFamily="34" charset="0"/>
                        </a:rPr>
                        <a:t>Total</a:t>
                      </a:r>
                    </a:p>
                  </a:txBody>
                  <a:tcPr marL="4763" marR="4763" marT="4763" marB="0"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2060"/>
                    </a:solidFill>
                  </a:tcPr>
                </a:tc>
                <a:tc hMerge="1">
                  <a:txBody>
                    <a:bodyPr/>
                    <a:lstStyle/>
                    <a:p>
                      <a:endParaRPr lang="es-PE"/>
                    </a:p>
                  </a:txBody>
                  <a:tcPr/>
                </a:tc>
                <a:tc>
                  <a:txBody>
                    <a:bodyPr/>
                    <a:lstStyle/>
                    <a:p>
                      <a:pPr algn="r" fontAlgn="b"/>
                      <a:r>
                        <a:rPr lang="es-PE" sz="1100" b="1" i="0" u="none" strike="noStrike">
                          <a:solidFill>
                            <a:srgbClr val="FFFFFF"/>
                          </a:solidFill>
                          <a:effectLst/>
                          <a:latin typeface="Calibri" panose="020F0502020204030204" pitchFamily="34" charset="0"/>
                        </a:rPr>
                        <a:t>0%</a:t>
                      </a:r>
                    </a:p>
                  </a:txBody>
                  <a:tcPr marL="4763" marR="4763" marT="4763" marB="0"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2060"/>
                    </a:solidFill>
                  </a:tcPr>
                </a:tc>
                <a:tc>
                  <a:txBody>
                    <a:bodyPr/>
                    <a:lstStyle/>
                    <a:p>
                      <a:pPr algn="r" fontAlgn="b"/>
                      <a:r>
                        <a:rPr lang="es-PE" sz="1100" b="1" i="0" u="none" strike="noStrike">
                          <a:solidFill>
                            <a:srgbClr val="FFFFFF"/>
                          </a:solidFill>
                          <a:effectLst/>
                          <a:latin typeface="Calibri" panose="020F0502020204030204" pitchFamily="34" charset="0"/>
                        </a:rPr>
                        <a:t>0%</a:t>
                      </a:r>
                    </a:p>
                  </a:txBody>
                  <a:tcPr marL="4763" marR="4763" marT="4763" marB="0"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2060"/>
                    </a:solidFill>
                  </a:tcPr>
                </a:tc>
                <a:tc>
                  <a:txBody>
                    <a:bodyPr/>
                    <a:lstStyle/>
                    <a:p>
                      <a:pPr algn="r" fontAlgn="b"/>
                      <a:r>
                        <a:rPr lang="es-PE" sz="1100" b="1" i="0" u="none" strike="noStrike">
                          <a:solidFill>
                            <a:srgbClr val="FFFFFF"/>
                          </a:solidFill>
                          <a:effectLst/>
                          <a:latin typeface="Calibri" panose="020F0502020204030204" pitchFamily="34" charset="0"/>
                        </a:rPr>
                        <a:t>0%</a:t>
                      </a:r>
                    </a:p>
                  </a:txBody>
                  <a:tcPr marL="4763" marR="4763" marT="4763" marB="0"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2060"/>
                    </a:solidFill>
                  </a:tcPr>
                </a:tc>
                <a:tc>
                  <a:txBody>
                    <a:bodyPr/>
                    <a:lstStyle/>
                    <a:p>
                      <a:pPr algn="r" fontAlgn="b"/>
                      <a:r>
                        <a:rPr lang="es-PE" sz="1100" b="1" i="0" u="none" strike="noStrike">
                          <a:solidFill>
                            <a:srgbClr val="FFFFFF"/>
                          </a:solidFill>
                          <a:effectLst/>
                          <a:latin typeface="Calibri" panose="020F0502020204030204" pitchFamily="34" charset="0"/>
                        </a:rPr>
                        <a:t>41%</a:t>
                      </a:r>
                    </a:p>
                  </a:txBody>
                  <a:tcPr marL="4763" marR="4763" marT="4763" marB="0"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2060"/>
                    </a:solidFill>
                  </a:tcPr>
                </a:tc>
                <a:tc>
                  <a:txBody>
                    <a:bodyPr/>
                    <a:lstStyle/>
                    <a:p>
                      <a:pPr algn="r" fontAlgn="b"/>
                      <a:r>
                        <a:rPr lang="es-PE" sz="1100" b="1" i="0" u="none" strike="noStrike">
                          <a:solidFill>
                            <a:srgbClr val="FFFFFF"/>
                          </a:solidFill>
                          <a:effectLst/>
                          <a:latin typeface="Calibri" panose="020F0502020204030204" pitchFamily="34" charset="0"/>
                        </a:rPr>
                        <a:t>39%</a:t>
                      </a:r>
                    </a:p>
                  </a:txBody>
                  <a:tcPr marL="4763" marR="4763" marT="4763" marB="0"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2060"/>
                    </a:solidFill>
                  </a:tcPr>
                </a:tc>
                <a:tc>
                  <a:txBody>
                    <a:bodyPr/>
                    <a:lstStyle/>
                    <a:p>
                      <a:pPr algn="r" fontAlgn="b"/>
                      <a:r>
                        <a:rPr lang="es-PE" sz="1100" b="1" i="0" u="none" strike="noStrike">
                          <a:solidFill>
                            <a:srgbClr val="FFFFFF"/>
                          </a:solidFill>
                          <a:effectLst/>
                          <a:latin typeface="Calibri" panose="020F0502020204030204" pitchFamily="34" charset="0"/>
                        </a:rPr>
                        <a:t>34%</a:t>
                      </a:r>
                    </a:p>
                  </a:txBody>
                  <a:tcPr marL="4763" marR="4763" marT="4763" marB="0"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2060"/>
                    </a:solidFill>
                  </a:tcPr>
                </a:tc>
                <a:tc>
                  <a:txBody>
                    <a:bodyPr/>
                    <a:lstStyle/>
                    <a:p>
                      <a:pPr algn="r" fontAlgn="b"/>
                      <a:r>
                        <a:rPr lang="es-PE" sz="1100" b="1" i="0" u="none" strike="noStrike">
                          <a:solidFill>
                            <a:srgbClr val="FFFFFF"/>
                          </a:solidFill>
                          <a:effectLst/>
                          <a:latin typeface="Calibri" panose="020F0502020204030204" pitchFamily="34" charset="0"/>
                        </a:rPr>
                        <a:t>37%</a:t>
                      </a:r>
                    </a:p>
                  </a:txBody>
                  <a:tcPr marL="4763" marR="4763" marT="4763" marB="0"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2060"/>
                    </a:solidFill>
                  </a:tcPr>
                </a:tc>
                <a:tc>
                  <a:txBody>
                    <a:bodyPr/>
                    <a:lstStyle/>
                    <a:p>
                      <a:pPr algn="r" fontAlgn="b"/>
                      <a:r>
                        <a:rPr lang="es-PE" sz="1100" b="1" i="0" u="none" strike="noStrike">
                          <a:solidFill>
                            <a:srgbClr val="FFFFFF"/>
                          </a:solidFill>
                          <a:effectLst/>
                          <a:latin typeface="Calibri" panose="020F0502020204030204" pitchFamily="34" charset="0"/>
                        </a:rPr>
                        <a:t>37%</a:t>
                      </a:r>
                    </a:p>
                  </a:txBody>
                  <a:tcPr marL="4763" marR="4763" marT="4763" marB="0"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2060"/>
                    </a:solidFill>
                  </a:tcPr>
                </a:tc>
                <a:tc>
                  <a:txBody>
                    <a:bodyPr/>
                    <a:lstStyle/>
                    <a:p>
                      <a:pPr algn="r" fontAlgn="b"/>
                      <a:r>
                        <a:rPr lang="es-PE" sz="1100" b="1" i="0" u="none" strike="noStrike">
                          <a:solidFill>
                            <a:srgbClr val="FFFFFF"/>
                          </a:solidFill>
                          <a:effectLst/>
                          <a:latin typeface="Calibri" panose="020F0502020204030204" pitchFamily="34" charset="0"/>
                        </a:rPr>
                        <a:t>33%</a:t>
                      </a:r>
                    </a:p>
                  </a:txBody>
                  <a:tcPr marL="4763" marR="4763" marT="4763" marB="0"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2060"/>
                    </a:solidFill>
                  </a:tcPr>
                </a:tc>
                <a:tc>
                  <a:txBody>
                    <a:bodyPr/>
                    <a:lstStyle/>
                    <a:p>
                      <a:pPr algn="r" fontAlgn="b"/>
                      <a:r>
                        <a:rPr lang="es-PE" sz="1100" b="1" i="0" u="none" strike="noStrike">
                          <a:solidFill>
                            <a:srgbClr val="FFFFFF"/>
                          </a:solidFill>
                          <a:effectLst/>
                          <a:latin typeface="Calibri" panose="020F0502020204030204" pitchFamily="34" charset="0"/>
                        </a:rPr>
                        <a:t>32%</a:t>
                      </a:r>
                    </a:p>
                  </a:txBody>
                  <a:tcPr marL="4763" marR="4763" marT="4763" marB="0"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2060"/>
                    </a:solidFill>
                  </a:tcPr>
                </a:tc>
                <a:tc>
                  <a:txBody>
                    <a:bodyPr/>
                    <a:lstStyle/>
                    <a:p>
                      <a:pPr algn="r" fontAlgn="b"/>
                      <a:r>
                        <a:rPr lang="es-PE" sz="1100" b="1" i="0" u="none" strike="noStrike">
                          <a:solidFill>
                            <a:srgbClr val="FFFFFF"/>
                          </a:solidFill>
                          <a:effectLst/>
                          <a:latin typeface="Calibri" panose="020F0502020204030204" pitchFamily="34" charset="0"/>
                        </a:rPr>
                        <a:t>26%</a:t>
                      </a:r>
                    </a:p>
                  </a:txBody>
                  <a:tcPr marL="4763" marR="4763" marT="4763" marB="0"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2060"/>
                    </a:solidFill>
                  </a:tcPr>
                </a:tc>
                <a:tc>
                  <a:txBody>
                    <a:bodyPr/>
                    <a:lstStyle/>
                    <a:p>
                      <a:pPr algn="ctr" fontAlgn="b"/>
                      <a:r>
                        <a:rPr lang="es-PE" sz="1100" b="1" i="0" u="none" strike="noStrike" dirty="0">
                          <a:solidFill>
                            <a:srgbClr val="FFFFFF"/>
                          </a:solidFill>
                          <a:effectLst/>
                          <a:latin typeface="Calibri" panose="020F0502020204030204" pitchFamily="34" charset="0"/>
                        </a:rPr>
                        <a:t>25%</a:t>
                      </a:r>
                    </a:p>
                  </a:txBody>
                  <a:tcPr marL="4763" marR="4763" marT="4763" marB="0"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2060"/>
                    </a:solidFill>
                  </a:tcPr>
                </a:tc>
                <a:extLst>
                  <a:ext uri="{0D108BD9-81ED-4DB2-BD59-A6C34878D82A}">
                    <a16:rowId xmlns:a16="http://schemas.microsoft.com/office/drawing/2014/main" val="3274109550"/>
                  </a:ext>
                </a:extLst>
              </a:tr>
            </a:tbl>
          </a:graphicData>
        </a:graphic>
      </p:graphicFrame>
      <p:sp>
        <p:nvSpPr>
          <p:cNvPr id="6" name="TextBox 5">
            <a:extLst>
              <a:ext uri="{FF2B5EF4-FFF2-40B4-BE49-F238E27FC236}">
                <a16:creationId xmlns:a16="http://schemas.microsoft.com/office/drawing/2014/main" id="{2F053A4F-1A50-4CA3-ADBD-90ECA225634A}"/>
              </a:ext>
            </a:extLst>
          </p:cNvPr>
          <p:cNvSpPr txBox="1"/>
          <p:nvPr/>
        </p:nvSpPr>
        <p:spPr>
          <a:xfrm>
            <a:off x="721359" y="1948563"/>
            <a:ext cx="11178695" cy="369332"/>
          </a:xfrm>
          <a:prstGeom prst="rect">
            <a:avLst/>
          </a:prstGeom>
          <a:noFill/>
        </p:spPr>
        <p:txBody>
          <a:bodyPr wrap="square" rtlCol="0">
            <a:spAutoFit/>
          </a:bodyPr>
          <a:lstStyle/>
          <a:p>
            <a:r>
              <a:rPr lang="es-PE" b="1" dirty="0">
                <a:solidFill>
                  <a:schemeClr val="tx2"/>
                </a:solidFill>
              </a:rPr>
              <a:t>2. </a:t>
            </a:r>
            <a:r>
              <a:rPr lang="es-PE" dirty="0">
                <a:solidFill>
                  <a:schemeClr val="tx2"/>
                </a:solidFill>
              </a:rPr>
              <a:t>En el marco de la pandemia, se ha logrado una asignación de tabletas al 25% de la Educación básica.</a:t>
            </a:r>
            <a:endParaRPr lang="en-CA" dirty="0">
              <a:solidFill>
                <a:schemeClr val="tx2"/>
              </a:solidFill>
            </a:endParaRPr>
          </a:p>
        </p:txBody>
      </p:sp>
      <p:sp>
        <p:nvSpPr>
          <p:cNvPr id="7" name="CuadroTexto 18">
            <a:extLst>
              <a:ext uri="{FF2B5EF4-FFF2-40B4-BE49-F238E27FC236}">
                <a16:creationId xmlns:a16="http://schemas.microsoft.com/office/drawing/2014/main" id="{132516A3-4C26-43A3-8AFE-71B4ECD63B39}"/>
              </a:ext>
            </a:extLst>
          </p:cNvPr>
          <p:cNvSpPr txBox="1"/>
          <p:nvPr/>
        </p:nvSpPr>
        <p:spPr>
          <a:xfrm>
            <a:off x="6748382" y="5101255"/>
            <a:ext cx="2822338" cy="246221"/>
          </a:xfrm>
          <a:prstGeom prst="rect">
            <a:avLst/>
          </a:prstGeom>
          <a:noFill/>
        </p:spPr>
        <p:txBody>
          <a:bodyPr wrap="square">
            <a:spAutoFit/>
          </a:bodyPr>
          <a:lstStyle/>
          <a:p>
            <a:r>
              <a:rPr lang="es-PE" sz="1000" dirty="0">
                <a:solidFill>
                  <a:schemeClr val="tx2"/>
                </a:solidFill>
              </a:rPr>
              <a:t>Fuente: SIAGIE 2021 al 30 de junio de 2021</a:t>
            </a:r>
          </a:p>
        </p:txBody>
      </p:sp>
      <p:sp>
        <p:nvSpPr>
          <p:cNvPr id="8" name="CuadroTexto 6">
            <a:extLst>
              <a:ext uri="{FF2B5EF4-FFF2-40B4-BE49-F238E27FC236}">
                <a16:creationId xmlns:a16="http://schemas.microsoft.com/office/drawing/2014/main" id="{A4CF9FC2-9D32-4AFE-8582-60BA63EE1005}"/>
              </a:ext>
            </a:extLst>
          </p:cNvPr>
          <p:cNvSpPr txBox="1"/>
          <p:nvPr/>
        </p:nvSpPr>
        <p:spPr>
          <a:xfrm>
            <a:off x="2584406" y="2523893"/>
            <a:ext cx="6499150" cy="344069"/>
          </a:xfrm>
          <a:prstGeom prst="rect">
            <a:avLst/>
          </a:prstGeom>
          <a:noFill/>
        </p:spPr>
        <p:txBody>
          <a:bodyPr wrap="square">
            <a:spAutoFit/>
          </a:bodyPr>
          <a:lstStyle/>
          <a:p>
            <a:pPr marL="457200" algn="just">
              <a:lnSpc>
                <a:spcPct val="107000"/>
              </a:lnSpc>
            </a:pPr>
            <a:r>
              <a:rPr lang="es-PE" sz="1600" b="1" dirty="0">
                <a:solidFill>
                  <a:schemeClr val="tx2"/>
                </a:solidFill>
                <a:effectLst/>
                <a:latin typeface="Calibri" panose="020F0502020204030204" pitchFamily="34" charset="0"/>
                <a:ea typeface="Calibri" panose="020F0502020204030204" pitchFamily="34" charset="0"/>
                <a:cs typeface="Times New Roman" panose="02020603050405020304" pitchFamily="18" charset="0"/>
              </a:rPr>
              <a:t>(%) de matricula que </a:t>
            </a:r>
            <a:r>
              <a:rPr lang="es-PE" sz="1600" b="1" dirty="0">
                <a:solidFill>
                  <a:schemeClr val="tx2"/>
                </a:solidFill>
                <a:latin typeface="Calibri" panose="020F0502020204030204" pitchFamily="34" charset="0"/>
                <a:ea typeface="Calibri" panose="020F0502020204030204" pitchFamily="34" charset="0"/>
                <a:cs typeface="Times New Roman" panose="02020603050405020304" pitchFamily="18" charset="0"/>
              </a:rPr>
              <a:t>recibirá</a:t>
            </a:r>
            <a:r>
              <a:rPr lang="es-PE" sz="1600" b="1" dirty="0">
                <a:solidFill>
                  <a:schemeClr val="tx2"/>
                </a:solidFill>
                <a:effectLst/>
                <a:latin typeface="Calibri" panose="020F0502020204030204" pitchFamily="34" charset="0"/>
                <a:ea typeface="Calibri" panose="020F0502020204030204" pitchFamily="34" charset="0"/>
                <a:cs typeface="Times New Roman" panose="02020603050405020304" pitchFamily="18" charset="0"/>
              </a:rPr>
              <a:t> Tablet de acuerdo área y grado escolar</a:t>
            </a:r>
          </a:p>
        </p:txBody>
      </p:sp>
      <p:sp>
        <p:nvSpPr>
          <p:cNvPr id="9" name="TextBox 8">
            <a:extLst>
              <a:ext uri="{FF2B5EF4-FFF2-40B4-BE49-F238E27FC236}">
                <a16:creationId xmlns:a16="http://schemas.microsoft.com/office/drawing/2014/main" id="{AFFBCCC0-9B65-4B35-AF04-7BECE36C21C4}"/>
              </a:ext>
            </a:extLst>
          </p:cNvPr>
          <p:cNvSpPr txBox="1"/>
          <p:nvPr/>
        </p:nvSpPr>
        <p:spPr>
          <a:xfrm>
            <a:off x="721359" y="5623522"/>
            <a:ext cx="11178695" cy="923330"/>
          </a:xfrm>
          <a:prstGeom prst="rect">
            <a:avLst/>
          </a:prstGeom>
          <a:noFill/>
        </p:spPr>
        <p:txBody>
          <a:bodyPr wrap="square" rtlCol="0">
            <a:spAutoFit/>
          </a:bodyPr>
          <a:lstStyle/>
          <a:p>
            <a:r>
              <a:rPr lang="es-PE" b="1" dirty="0">
                <a:solidFill>
                  <a:schemeClr val="tx2"/>
                </a:solidFill>
              </a:rPr>
              <a:t>3</a:t>
            </a:r>
            <a:r>
              <a:rPr lang="es-PE" dirty="0">
                <a:solidFill>
                  <a:schemeClr val="tx2"/>
                </a:solidFill>
              </a:rPr>
              <a:t>.  Actualmente se encuentra en curso la estrategia de </a:t>
            </a:r>
            <a:r>
              <a:rPr lang="es-PE" dirty="0" err="1">
                <a:solidFill>
                  <a:schemeClr val="tx2"/>
                </a:solidFill>
              </a:rPr>
              <a:t>AcompañaTIC</a:t>
            </a:r>
            <a:r>
              <a:rPr lang="es-PE" dirty="0">
                <a:solidFill>
                  <a:schemeClr val="tx2"/>
                </a:solidFill>
              </a:rPr>
              <a:t>, la cual en años siguientes deberá ser reformulada para poder trabajar incorporar un componente pedagógico para el uso de las herramientas digitales.</a:t>
            </a:r>
            <a:endParaRPr lang="en-CA" dirty="0">
              <a:solidFill>
                <a:schemeClr val="tx2"/>
              </a:solidFill>
            </a:endParaRPr>
          </a:p>
        </p:txBody>
      </p:sp>
    </p:spTree>
    <p:extLst>
      <p:ext uri="{BB962C8B-B14F-4D97-AF65-F5344CB8AC3E}">
        <p14:creationId xmlns:p14="http://schemas.microsoft.com/office/powerpoint/2010/main" val="58817111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Diagonal Corners Rounded 6">
            <a:extLst>
              <a:ext uri="{FF2B5EF4-FFF2-40B4-BE49-F238E27FC236}">
                <a16:creationId xmlns:a16="http://schemas.microsoft.com/office/drawing/2014/main" id="{5DC549E6-0B6C-450B-922D-0F58D2924A72}"/>
              </a:ext>
            </a:extLst>
          </p:cNvPr>
          <p:cNvSpPr/>
          <p:nvPr/>
        </p:nvSpPr>
        <p:spPr>
          <a:xfrm>
            <a:off x="429623" y="1048649"/>
            <a:ext cx="11267440" cy="721517"/>
          </a:xfrm>
          <a:prstGeom prst="round2DiagRect">
            <a:avLst/>
          </a:prstGeom>
          <a:solidFill>
            <a:srgbClr val="C00000"/>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solidFill>
                <a:schemeClr val="bg1"/>
              </a:solidFill>
            </a:endParaRPr>
          </a:p>
        </p:txBody>
      </p:sp>
      <p:sp>
        <p:nvSpPr>
          <p:cNvPr id="2" name="Title 1">
            <a:extLst>
              <a:ext uri="{FF2B5EF4-FFF2-40B4-BE49-F238E27FC236}">
                <a16:creationId xmlns:a16="http://schemas.microsoft.com/office/drawing/2014/main" id="{16C18CE1-72D9-4719-A2FF-5C93A7E96E39}"/>
              </a:ext>
            </a:extLst>
          </p:cNvPr>
          <p:cNvSpPr>
            <a:spLocks noGrp="1"/>
          </p:cNvSpPr>
          <p:nvPr>
            <p:ph type="title"/>
          </p:nvPr>
        </p:nvSpPr>
        <p:spPr/>
        <p:txBody>
          <a:bodyPr/>
          <a:lstStyle/>
          <a:p>
            <a:r>
              <a:rPr lang="es-PE" sz="4000" dirty="0"/>
              <a:t>AGENDA</a:t>
            </a:r>
            <a:endParaRPr lang="en-CA" sz="4000" dirty="0"/>
          </a:p>
        </p:txBody>
      </p:sp>
      <p:sp>
        <p:nvSpPr>
          <p:cNvPr id="3" name="Slide Number Placeholder 2">
            <a:extLst>
              <a:ext uri="{FF2B5EF4-FFF2-40B4-BE49-F238E27FC236}">
                <a16:creationId xmlns:a16="http://schemas.microsoft.com/office/drawing/2014/main" id="{0DFD7E46-D5CE-48DD-96F3-51002A57C15D}"/>
              </a:ext>
            </a:extLst>
          </p:cNvPr>
          <p:cNvSpPr>
            <a:spLocks noGrp="1"/>
          </p:cNvSpPr>
          <p:nvPr>
            <p:ph type="sldNum" sz="quarter" idx="12"/>
          </p:nvPr>
        </p:nvSpPr>
        <p:spPr/>
        <p:txBody>
          <a:bodyPr/>
          <a:lstStyle/>
          <a:p>
            <a:fld id="{DAF31D20-51B2-49A6-91FA-1FC48A60B42D}" type="slidenum">
              <a:rPr lang="es-PE" smtClean="0"/>
              <a:t>40</a:t>
            </a:fld>
            <a:endParaRPr lang="es-PE"/>
          </a:p>
        </p:txBody>
      </p:sp>
      <p:sp>
        <p:nvSpPr>
          <p:cNvPr id="5" name="TextBox 4">
            <a:extLst>
              <a:ext uri="{FF2B5EF4-FFF2-40B4-BE49-F238E27FC236}">
                <a16:creationId xmlns:a16="http://schemas.microsoft.com/office/drawing/2014/main" id="{17CB7C5A-6404-4218-A2FD-BE386960A332}"/>
              </a:ext>
            </a:extLst>
          </p:cNvPr>
          <p:cNvSpPr txBox="1"/>
          <p:nvPr/>
        </p:nvSpPr>
        <p:spPr>
          <a:xfrm>
            <a:off x="494937" y="1249444"/>
            <a:ext cx="10739120" cy="369332"/>
          </a:xfrm>
          <a:prstGeom prst="rect">
            <a:avLst/>
          </a:prstGeom>
          <a:noFill/>
        </p:spPr>
        <p:txBody>
          <a:bodyPr wrap="square" rtlCol="0">
            <a:spAutoFit/>
          </a:bodyPr>
          <a:lstStyle/>
          <a:p>
            <a:r>
              <a:rPr lang="es-PE" b="1" dirty="0">
                <a:solidFill>
                  <a:schemeClr val="bg1"/>
                </a:solidFill>
              </a:rPr>
              <a:t>2.  Propuesta de estrategia de Educación Remedial </a:t>
            </a:r>
            <a:endParaRPr lang="en-CA" b="1" dirty="0">
              <a:solidFill>
                <a:schemeClr val="bg1"/>
              </a:solidFill>
            </a:endParaRPr>
          </a:p>
        </p:txBody>
      </p:sp>
      <p:sp>
        <p:nvSpPr>
          <p:cNvPr id="11" name="Rectangle 10">
            <a:extLst>
              <a:ext uri="{FF2B5EF4-FFF2-40B4-BE49-F238E27FC236}">
                <a16:creationId xmlns:a16="http://schemas.microsoft.com/office/drawing/2014/main" id="{73ED18D7-638E-4BF8-8DFC-833E74760777}"/>
              </a:ext>
            </a:extLst>
          </p:cNvPr>
          <p:cNvSpPr/>
          <p:nvPr/>
        </p:nvSpPr>
        <p:spPr>
          <a:xfrm>
            <a:off x="866767" y="1925671"/>
            <a:ext cx="10753725" cy="381602"/>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00050" indent="-400050">
              <a:buFont typeface="+mj-lt"/>
              <a:buAutoNum type="romanUcPeriod"/>
            </a:pPr>
            <a:r>
              <a:rPr lang="es-PE" b="1" dirty="0">
                <a:solidFill>
                  <a:schemeClr val="tx2"/>
                </a:solidFill>
              </a:rPr>
              <a:t>Información general de estrategias</a:t>
            </a:r>
            <a:endParaRPr lang="en-CA" b="1" dirty="0">
              <a:solidFill>
                <a:schemeClr val="tx2"/>
              </a:solidFill>
            </a:endParaRPr>
          </a:p>
        </p:txBody>
      </p:sp>
      <p:sp>
        <p:nvSpPr>
          <p:cNvPr id="13" name="Rectangle 12">
            <a:extLst>
              <a:ext uri="{FF2B5EF4-FFF2-40B4-BE49-F238E27FC236}">
                <a16:creationId xmlns:a16="http://schemas.microsoft.com/office/drawing/2014/main" id="{BF24706C-635F-48B8-86E0-9354C25A8312}"/>
              </a:ext>
            </a:extLst>
          </p:cNvPr>
          <p:cNvSpPr/>
          <p:nvPr/>
        </p:nvSpPr>
        <p:spPr>
          <a:xfrm>
            <a:off x="866767" y="2431388"/>
            <a:ext cx="10753725" cy="381602"/>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00050" indent="-400050">
              <a:buFont typeface="+mj-lt"/>
              <a:buAutoNum type="romanUcPeriod" startAt="2"/>
            </a:pPr>
            <a:r>
              <a:rPr lang="es-PE" b="1" dirty="0">
                <a:solidFill>
                  <a:schemeClr val="tx2"/>
                </a:solidFill>
              </a:rPr>
              <a:t>Modelo 1: Enseñanza al nivel adecuado (</a:t>
            </a:r>
            <a:r>
              <a:rPr lang="es-PE" b="1" dirty="0" err="1">
                <a:solidFill>
                  <a:schemeClr val="tx2"/>
                </a:solidFill>
              </a:rPr>
              <a:t>TaRL</a:t>
            </a:r>
            <a:r>
              <a:rPr lang="es-PE" b="1" dirty="0">
                <a:solidFill>
                  <a:schemeClr val="tx2"/>
                </a:solidFill>
              </a:rPr>
              <a:t>)</a:t>
            </a:r>
            <a:endParaRPr lang="en-CA" b="1" dirty="0">
              <a:solidFill>
                <a:schemeClr val="tx2"/>
              </a:solidFill>
            </a:endParaRPr>
          </a:p>
        </p:txBody>
      </p:sp>
      <p:sp>
        <p:nvSpPr>
          <p:cNvPr id="15" name="Rectangle 14">
            <a:extLst>
              <a:ext uri="{FF2B5EF4-FFF2-40B4-BE49-F238E27FC236}">
                <a16:creationId xmlns:a16="http://schemas.microsoft.com/office/drawing/2014/main" id="{6D048FC1-72B2-4921-BF07-AC34182DA451}"/>
              </a:ext>
            </a:extLst>
          </p:cNvPr>
          <p:cNvSpPr/>
          <p:nvPr/>
        </p:nvSpPr>
        <p:spPr>
          <a:xfrm>
            <a:off x="866767" y="4462866"/>
            <a:ext cx="10753725" cy="381602"/>
          </a:xfrm>
          <a:prstGeom prst="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00050" indent="-400050">
              <a:buFont typeface="+mj-lt"/>
              <a:buAutoNum type="romanUcPeriod" startAt="3"/>
            </a:pPr>
            <a:r>
              <a:rPr lang="es-PE" b="1" dirty="0">
                <a:solidFill>
                  <a:schemeClr val="bg1"/>
                </a:solidFill>
              </a:rPr>
              <a:t>Modelo 2: Tutoría con componente digital</a:t>
            </a:r>
            <a:endParaRPr lang="en-CA" b="1" dirty="0">
              <a:solidFill>
                <a:schemeClr val="bg1"/>
              </a:solidFill>
            </a:endParaRPr>
          </a:p>
        </p:txBody>
      </p:sp>
      <p:sp>
        <p:nvSpPr>
          <p:cNvPr id="18" name="TextBox 17">
            <a:extLst>
              <a:ext uri="{FF2B5EF4-FFF2-40B4-BE49-F238E27FC236}">
                <a16:creationId xmlns:a16="http://schemas.microsoft.com/office/drawing/2014/main" id="{1472411D-B88F-4453-A39D-EDA418DB8DC9}"/>
              </a:ext>
            </a:extLst>
          </p:cNvPr>
          <p:cNvSpPr txBox="1"/>
          <p:nvPr/>
        </p:nvSpPr>
        <p:spPr>
          <a:xfrm>
            <a:off x="1104891" y="2871988"/>
            <a:ext cx="10277475" cy="1569660"/>
          </a:xfrm>
          <a:prstGeom prst="rect">
            <a:avLst/>
          </a:prstGeom>
          <a:noFill/>
        </p:spPr>
        <p:txBody>
          <a:bodyPr wrap="square" rtlCol="0">
            <a:spAutoFit/>
          </a:bodyPr>
          <a:lstStyle/>
          <a:p>
            <a:pPr marL="285750" indent="-285750">
              <a:buFont typeface="Wingdings" panose="05000000000000000000" pitchFamily="2" charset="2"/>
              <a:buChar char="§"/>
            </a:pPr>
            <a:r>
              <a:rPr lang="es-PE" sz="1200" dirty="0">
                <a:solidFill>
                  <a:schemeClr val="bg1">
                    <a:lumMod val="65000"/>
                  </a:schemeClr>
                </a:solidFill>
              </a:rPr>
              <a:t>Antecedentes</a:t>
            </a:r>
          </a:p>
          <a:p>
            <a:pPr marL="285750" indent="-285750">
              <a:buFont typeface="Wingdings" panose="05000000000000000000" pitchFamily="2" charset="2"/>
              <a:buChar char="§"/>
            </a:pPr>
            <a:r>
              <a:rPr lang="es-PE" sz="1200" dirty="0">
                <a:solidFill>
                  <a:schemeClr val="bg1">
                    <a:lumMod val="65000"/>
                  </a:schemeClr>
                </a:solidFill>
              </a:rPr>
              <a:t>El Modelo</a:t>
            </a:r>
          </a:p>
          <a:p>
            <a:pPr marL="285750" indent="-285750">
              <a:buFont typeface="Wingdings" panose="05000000000000000000" pitchFamily="2" charset="2"/>
              <a:buChar char="§"/>
            </a:pPr>
            <a:r>
              <a:rPr lang="es-PE" sz="1200" dirty="0">
                <a:solidFill>
                  <a:schemeClr val="bg1">
                    <a:lumMod val="65000"/>
                  </a:schemeClr>
                </a:solidFill>
              </a:rPr>
              <a:t>Componentes de la estrategia</a:t>
            </a:r>
          </a:p>
          <a:p>
            <a:pPr marL="285750" indent="-285750">
              <a:buFont typeface="Wingdings" panose="05000000000000000000" pitchFamily="2" charset="2"/>
              <a:buChar char="§"/>
            </a:pPr>
            <a:r>
              <a:rPr lang="es-PE" sz="1200" dirty="0">
                <a:solidFill>
                  <a:schemeClr val="bg1">
                    <a:lumMod val="65000"/>
                  </a:schemeClr>
                </a:solidFill>
              </a:rPr>
              <a:t>Focalización</a:t>
            </a:r>
          </a:p>
          <a:p>
            <a:pPr marL="285750" indent="-285750">
              <a:buFont typeface="Wingdings" panose="05000000000000000000" pitchFamily="2" charset="2"/>
              <a:buChar char="§"/>
            </a:pPr>
            <a:r>
              <a:rPr lang="es-PE" sz="1200" dirty="0">
                <a:solidFill>
                  <a:schemeClr val="bg1">
                    <a:lumMod val="65000"/>
                  </a:schemeClr>
                </a:solidFill>
              </a:rPr>
              <a:t>Cobertura</a:t>
            </a:r>
          </a:p>
          <a:p>
            <a:pPr marL="285750" indent="-285750">
              <a:buFont typeface="Wingdings" panose="05000000000000000000" pitchFamily="2" charset="2"/>
              <a:buChar char="§"/>
            </a:pPr>
            <a:r>
              <a:rPr lang="es-PE" sz="1200" dirty="0">
                <a:solidFill>
                  <a:schemeClr val="bg1">
                    <a:lumMod val="65000"/>
                  </a:schemeClr>
                </a:solidFill>
              </a:rPr>
              <a:t>Estimación de Costos</a:t>
            </a:r>
          </a:p>
          <a:p>
            <a:pPr marL="285750" indent="-285750">
              <a:buFont typeface="Wingdings" panose="05000000000000000000" pitchFamily="2" charset="2"/>
              <a:buChar char="§"/>
            </a:pPr>
            <a:r>
              <a:rPr lang="es-PE" sz="1200" dirty="0">
                <a:solidFill>
                  <a:schemeClr val="bg1">
                    <a:lumMod val="65000"/>
                  </a:schemeClr>
                </a:solidFill>
              </a:rPr>
              <a:t>Cronograma</a:t>
            </a:r>
          </a:p>
          <a:p>
            <a:pPr marL="285750" indent="-285750">
              <a:buFont typeface="Wingdings" panose="05000000000000000000" pitchFamily="2" charset="2"/>
              <a:buChar char="§"/>
            </a:pPr>
            <a:r>
              <a:rPr lang="es-PE" sz="1200" dirty="0">
                <a:solidFill>
                  <a:schemeClr val="bg1">
                    <a:lumMod val="65000"/>
                  </a:schemeClr>
                </a:solidFill>
              </a:rPr>
              <a:t>Complementariedad con otras estrategias y recomendaciones</a:t>
            </a:r>
          </a:p>
        </p:txBody>
      </p:sp>
      <p:sp>
        <p:nvSpPr>
          <p:cNvPr id="19" name="TextBox 18">
            <a:extLst>
              <a:ext uri="{FF2B5EF4-FFF2-40B4-BE49-F238E27FC236}">
                <a16:creationId xmlns:a16="http://schemas.microsoft.com/office/drawing/2014/main" id="{5947BA55-15C3-4040-9B5B-8EAC7B3B3343}"/>
              </a:ext>
            </a:extLst>
          </p:cNvPr>
          <p:cNvSpPr txBox="1"/>
          <p:nvPr/>
        </p:nvSpPr>
        <p:spPr>
          <a:xfrm>
            <a:off x="1047755" y="4980330"/>
            <a:ext cx="10277475" cy="1754326"/>
          </a:xfrm>
          <a:prstGeom prst="rect">
            <a:avLst/>
          </a:prstGeom>
          <a:noFill/>
        </p:spPr>
        <p:txBody>
          <a:bodyPr wrap="square" rtlCol="0">
            <a:spAutoFit/>
          </a:bodyPr>
          <a:lstStyle/>
          <a:p>
            <a:pPr marL="285750" indent="-285750">
              <a:buFont typeface="Wingdings" panose="05000000000000000000" pitchFamily="2" charset="2"/>
              <a:buChar char="§"/>
            </a:pPr>
            <a:r>
              <a:rPr lang="es-PE" sz="1200" dirty="0">
                <a:solidFill>
                  <a:schemeClr val="bg1">
                    <a:lumMod val="65000"/>
                  </a:schemeClr>
                </a:solidFill>
              </a:rPr>
              <a:t>Antecedentes</a:t>
            </a:r>
          </a:p>
          <a:p>
            <a:pPr marL="285750" indent="-285750">
              <a:buFont typeface="Wingdings" panose="05000000000000000000" pitchFamily="2" charset="2"/>
              <a:buChar char="§"/>
            </a:pPr>
            <a:r>
              <a:rPr lang="es-PE" sz="1200" dirty="0">
                <a:solidFill>
                  <a:schemeClr val="bg1">
                    <a:lumMod val="65000"/>
                  </a:schemeClr>
                </a:solidFill>
              </a:rPr>
              <a:t>Oportunidades</a:t>
            </a:r>
          </a:p>
          <a:p>
            <a:pPr marL="285750" indent="-285750">
              <a:buFont typeface="Wingdings" panose="05000000000000000000" pitchFamily="2" charset="2"/>
              <a:buChar char="§"/>
            </a:pPr>
            <a:r>
              <a:rPr lang="es-PE" sz="1200" b="1" dirty="0">
                <a:solidFill>
                  <a:schemeClr val="tx2"/>
                </a:solidFill>
              </a:rPr>
              <a:t>El Modelo</a:t>
            </a:r>
          </a:p>
          <a:p>
            <a:pPr marL="285750" indent="-285750">
              <a:buFont typeface="Wingdings" panose="05000000000000000000" pitchFamily="2" charset="2"/>
              <a:buChar char="§"/>
            </a:pPr>
            <a:r>
              <a:rPr lang="es-PE" sz="1200" dirty="0">
                <a:solidFill>
                  <a:schemeClr val="bg1">
                    <a:lumMod val="65000"/>
                  </a:schemeClr>
                </a:solidFill>
              </a:rPr>
              <a:t>Componentes de la estrategia</a:t>
            </a:r>
          </a:p>
          <a:p>
            <a:pPr marL="285750" indent="-285750">
              <a:buFont typeface="Wingdings" panose="05000000000000000000" pitchFamily="2" charset="2"/>
              <a:buChar char="§"/>
            </a:pPr>
            <a:r>
              <a:rPr lang="es-PE" sz="1200" dirty="0">
                <a:solidFill>
                  <a:schemeClr val="bg1">
                    <a:lumMod val="65000"/>
                  </a:schemeClr>
                </a:solidFill>
              </a:rPr>
              <a:t>Focalización</a:t>
            </a:r>
          </a:p>
          <a:p>
            <a:pPr marL="285750" indent="-285750">
              <a:buFont typeface="Wingdings" panose="05000000000000000000" pitchFamily="2" charset="2"/>
              <a:buChar char="§"/>
            </a:pPr>
            <a:r>
              <a:rPr lang="es-PE" sz="1200" dirty="0">
                <a:solidFill>
                  <a:schemeClr val="bg1">
                    <a:lumMod val="65000"/>
                  </a:schemeClr>
                </a:solidFill>
              </a:rPr>
              <a:t>Cobertura</a:t>
            </a:r>
          </a:p>
          <a:p>
            <a:pPr marL="285750" indent="-285750">
              <a:buFont typeface="Wingdings" panose="05000000000000000000" pitchFamily="2" charset="2"/>
              <a:buChar char="§"/>
            </a:pPr>
            <a:r>
              <a:rPr lang="es-PE" sz="1200" dirty="0">
                <a:solidFill>
                  <a:schemeClr val="bg1">
                    <a:lumMod val="65000"/>
                  </a:schemeClr>
                </a:solidFill>
              </a:rPr>
              <a:t>Estimación de Costos</a:t>
            </a:r>
          </a:p>
          <a:p>
            <a:pPr marL="285750" indent="-285750">
              <a:buFont typeface="Wingdings" panose="05000000000000000000" pitchFamily="2" charset="2"/>
              <a:buChar char="§"/>
            </a:pPr>
            <a:r>
              <a:rPr lang="es-PE" sz="1200" dirty="0">
                <a:solidFill>
                  <a:schemeClr val="bg1">
                    <a:lumMod val="65000"/>
                  </a:schemeClr>
                </a:solidFill>
              </a:rPr>
              <a:t>Cronograma</a:t>
            </a:r>
          </a:p>
          <a:p>
            <a:pPr marL="285750" indent="-285750">
              <a:buFont typeface="Wingdings" panose="05000000000000000000" pitchFamily="2" charset="2"/>
              <a:buChar char="§"/>
            </a:pPr>
            <a:r>
              <a:rPr lang="es-PE" sz="1200" dirty="0">
                <a:solidFill>
                  <a:schemeClr val="bg1">
                    <a:lumMod val="65000"/>
                  </a:schemeClr>
                </a:solidFill>
              </a:rPr>
              <a:t>Complementariedad con otras estrategias y recomendaciones</a:t>
            </a:r>
          </a:p>
        </p:txBody>
      </p:sp>
    </p:spTree>
    <p:extLst>
      <p:ext uri="{BB962C8B-B14F-4D97-AF65-F5344CB8AC3E}">
        <p14:creationId xmlns:p14="http://schemas.microsoft.com/office/powerpoint/2010/main" val="94121802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34F100-A7EC-4671-A397-E2CE2F99E0D8}"/>
              </a:ext>
            </a:extLst>
          </p:cNvPr>
          <p:cNvSpPr>
            <a:spLocks noGrp="1"/>
          </p:cNvSpPr>
          <p:nvPr>
            <p:ph type="title"/>
          </p:nvPr>
        </p:nvSpPr>
        <p:spPr/>
        <p:txBody>
          <a:bodyPr/>
          <a:lstStyle/>
          <a:p>
            <a:r>
              <a:rPr lang="es-PE" dirty="0"/>
              <a:t>El Modelo</a:t>
            </a:r>
            <a:endParaRPr lang="en-CA" dirty="0"/>
          </a:p>
        </p:txBody>
      </p:sp>
      <p:sp>
        <p:nvSpPr>
          <p:cNvPr id="3" name="Slide Number Placeholder 2">
            <a:extLst>
              <a:ext uri="{FF2B5EF4-FFF2-40B4-BE49-F238E27FC236}">
                <a16:creationId xmlns:a16="http://schemas.microsoft.com/office/drawing/2014/main" id="{77C825E1-0A6F-44C6-86EC-8EF429330626}"/>
              </a:ext>
            </a:extLst>
          </p:cNvPr>
          <p:cNvSpPr>
            <a:spLocks noGrp="1"/>
          </p:cNvSpPr>
          <p:nvPr>
            <p:ph type="sldNum" sz="quarter" idx="12"/>
          </p:nvPr>
        </p:nvSpPr>
        <p:spPr/>
        <p:txBody>
          <a:bodyPr/>
          <a:lstStyle/>
          <a:p>
            <a:fld id="{DAF31D20-51B2-49A6-91FA-1FC48A60B42D}" type="slidenum">
              <a:rPr lang="es-PE" smtClean="0"/>
              <a:t>41</a:t>
            </a:fld>
            <a:endParaRPr lang="es-PE"/>
          </a:p>
        </p:txBody>
      </p:sp>
      <p:pic>
        <p:nvPicPr>
          <p:cNvPr id="4" name="Picture 3" descr="Icon&#10;&#10;Description automatically generated">
            <a:extLst>
              <a:ext uri="{FF2B5EF4-FFF2-40B4-BE49-F238E27FC236}">
                <a16:creationId xmlns:a16="http://schemas.microsoft.com/office/drawing/2014/main" id="{87762784-474C-4868-9F38-F96F77EF50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73434" y="3690007"/>
            <a:ext cx="1023045" cy="1023045"/>
          </a:xfrm>
          <a:prstGeom prst="rect">
            <a:avLst/>
          </a:prstGeom>
        </p:spPr>
      </p:pic>
      <p:pic>
        <p:nvPicPr>
          <p:cNvPr id="5" name="Picture 4" descr="Icon&#10;&#10;Description automatically generated">
            <a:extLst>
              <a:ext uri="{FF2B5EF4-FFF2-40B4-BE49-F238E27FC236}">
                <a16:creationId xmlns:a16="http://schemas.microsoft.com/office/drawing/2014/main" id="{96D4A7CA-6F07-4062-B607-B872C49CD70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1329" y="2817403"/>
            <a:ext cx="1023045" cy="1023045"/>
          </a:xfrm>
          <a:prstGeom prst="rect">
            <a:avLst/>
          </a:prstGeom>
        </p:spPr>
      </p:pic>
      <p:sp>
        <p:nvSpPr>
          <p:cNvPr id="6" name="Arrow: Right 5">
            <a:extLst>
              <a:ext uri="{FF2B5EF4-FFF2-40B4-BE49-F238E27FC236}">
                <a16:creationId xmlns:a16="http://schemas.microsoft.com/office/drawing/2014/main" id="{20F5810A-6861-497A-A19E-04867F3A1CED}"/>
              </a:ext>
            </a:extLst>
          </p:cNvPr>
          <p:cNvSpPr/>
          <p:nvPr/>
        </p:nvSpPr>
        <p:spPr>
          <a:xfrm>
            <a:off x="2140631" y="3244325"/>
            <a:ext cx="805769" cy="159275"/>
          </a:xfrm>
          <a:prstGeom prst="righ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7" name="Picture 6" descr="Logo&#10;&#10;Description automatically generated">
            <a:extLst>
              <a:ext uri="{FF2B5EF4-FFF2-40B4-BE49-F238E27FC236}">
                <a16:creationId xmlns:a16="http://schemas.microsoft.com/office/drawing/2014/main" id="{1659490D-3BC6-48D0-A672-D91E69584F0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73434" y="2348042"/>
            <a:ext cx="1023044" cy="1023044"/>
          </a:xfrm>
          <a:prstGeom prst="rect">
            <a:avLst/>
          </a:prstGeom>
        </p:spPr>
      </p:pic>
      <p:pic>
        <p:nvPicPr>
          <p:cNvPr id="8" name="Picture 7" descr="Icon&#10;&#10;Description automatically generated">
            <a:extLst>
              <a:ext uri="{FF2B5EF4-FFF2-40B4-BE49-F238E27FC236}">
                <a16:creationId xmlns:a16="http://schemas.microsoft.com/office/drawing/2014/main" id="{EE455695-C660-42A0-8B29-1BCFCCB670F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051446" y="2859564"/>
            <a:ext cx="949116" cy="949116"/>
          </a:xfrm>
          <a:prstGeom prst="rect">
            <a:avLst/>
          </a:prstGeom>
        </p:spPr>
      </p:pic>
      <p:sp>
        <p:nvSpPr>
          <p:cNvPr id="9" name="Arrow: Right 8">
            <a:extLst>
              <a:ext uri="{FF2B5EF4-FFF2-40B4-BE49-F238E27FC236}">
                <a16:creationId xmlns:a16="http://schemas.microsoft.com/office/drawing/2014/main" id="{112264CA-A122-4350-83DC-9A0FA74EDED2}"/>
              </a:ext>
            </a:extLst>
          </p:cNvPr>
          <p:cNvSpPr/>
          <p:nvPr/>
        </p:nvSpPr>
        <p:spPr>
          <a:xfrm>
            <a:off x="5422311" y="3254485"/>
            <a:ext cx="805769" cy="159275"/>
          </a:xfrm>
          <a:prstGeom prst="righ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 name="Rectangle: Rounded Corners 9">
            <a:extLst>
              <a:ext uri="{FF2B5EF4-FFF2-40B4-BE49-F238E27FC236}">
                <a16:creationId xmlns:a16="http://schemas.microsoft.com/office/drawing/2014/main" id="{E7C34CF7-2058-405F-A2BE-B87E82BCD1EB}"/>
              </a:ext>
            </a:extLst>
          </p:cNvPr>
          <p:cNvSpPr/>
          <p:nvPr/>
        </p:nvSpPr>
        <p:spPr>
          <a:xfrm>
            <a:off x="3206121" y="2143760"/>
            <a:ext cx="1970635" cy="2823394"/>
          </a:xfrm>
          <a:prstGeom prst="roundRect">
            <a:avLst/>
          </a:prstGeom>
          <a:noFill/>
          <a:ln w="28575">
            <a:solidFill>
              <a:srgbClr val="C00000"/>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1" name="Arrow: Right 10">
            <a:extLst>
              <a:ext uri="{FF2B5EF4-FFF2-40B4-BE49-F238E27FC236}">
                <a16:creationId xmlns:a16="http://schemas.microsoft.com/office/drawing/2014/main" id="{F5698A5A-A401-4F25-BCB7-993B36C9775D}"/>
              </a:ext>
            </a:extLst>
          </p:cNvPr>
          <p:cNvSpPr/>
          <p:nvPr/>
        </p:nvSpPr>
        <p:spPr>
          <a:xfrm>
            <a:off x="8490631" y="3244325"/>
            <a:ext cx="805769" cy="159275"/>
          </a:xfrm>
          <a:prstGeom prst="righ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12" name="Picture 11" descr="Icon&#10;&#10;Description automatically generated">
            <a:extLst>
              <a:ext uri="{FF2B5EF4-FFF2-40B4-BE49-F238E27FC236}">
                <a16:creationId xmlns:a16="http://schemas.microsoft.com/office/drawing/2014/main" id="{4C73A8E9-3972-4B2B-B856-DD34036281A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810839" y="2797238"/>
            <a:ext cx="839992" cy="949372"/>
          </a:xfrm>
          <a:prstGeom prst="rect">
            <a:avLst/>
          </a:prstGeom>
        </p:spPr>
      </p:pic>
      <p:pic>
        <p:nvPicPr>
          <p:cNvPr id="13" name="Picture 12" descr="Icon&#10;&#10;Description automatically generated">
            <a:extLst>
              <a:ext uri="{FF2B5EF4-FFF2-40B4-BE49-F238E27FC236}">
                <a16:creationId xmlns:a16="http://schemas.microsoft.com/office/drawing/2014/main" id="{8D62B125-2523-4653-9ECA-834B8FE7F4F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584783" y="2726066"/>
            <a:ext cx="1083018" cy="1083018"/>
          </a:xfrm>
          <a:prstGeom prst="rect">
            <a:avLst/>
          </a:prstGeom>
        </p:spPr>
      </p:pic>
      <p:sp>
        <p:nvSpPr>
          <p:cNvPr id="14" name="TextBox 13">
            <a:extLst>
              <a:ext uri="{FF2B5EF4-FFF2-40B4-BE49-F238E27FC236}">
                <a16:creationId xmlns:a16="http://schemas.microsoft.com/office/drawing/2014/main" id="{8AC5D90A-6F8C-4F76-A925-CC579CFB320B}"/>
              </a:ext>
            </a:extLst>
          </p:cNvPr>
          <p:cNvSpPr txBox="1"/>
          <p:nvPr/>
        </p:nvSpPr>
        <p:spPr>
          <a:xfrm>
            <a:off x="392346" y="3992131"/>
            <a:ext cx="1934736" cy="830997"/>
          </a:xfrm>
          <a:prstGeom prst="rect">
            <a:avLst/>
          </a:prstGeom>
          <a:noFill/>
        </p:spPr>
        <p:txBody>
          <a:bodyPr wrap="square" rtlCol="0">
            <a:spAutoFit/>
          </a:bodyPr>
          <a:lstStyle/>
          <a:p>
            <a:r>
              <a:rPr lang="es-PE" sz="1200" dirty="0"/>
              <a:t>Equipo de planta:</a:t>
            </a:r>
          </a:p>
          <a:p>
            <a:r>
              <a:rPr lang="es-PE" sz="1200" dirty="0"/>
              <a:t>Se encargan del diseño del app y de la actualización del contenido.</a:t>
            </a:r>
            <a:endParaRPr lang="en-CA" sz="1200" dirty="0"/>
          </a:p>
        </p:txBody>
      </p:sp>
      <p:sp>
        <p:nvSpPr>
          <p:cNvPr id="15" name="TextBox 14">
            <a:extLst>
              <a:ext uri="{FF2B5EF4-FFF2-40B4-BE49-F238E27FC236}">
                <a16:creationId xmlns:a16="http://schemas.microsoft.com/office/drawing/2014/main" id="{E3EA14BB-86B3-4754-8479-AA9255210587}"/>
              </a:ext>
            </a:extLst>
          </p:cNvPr>
          <p:cNvSpPr txBox="1"/>
          <p:nvPr/>
        </p:nvSpPr>
        <p:spPr>
          <a:xfrm>
            <a:off x="3242020" y="5102754"/>
            <a:ext cx="1934736" cy="1015663"/>
          </a:xfrm>
          <a:prstGeom prst="rect">
            <a:avLst/>
          </a:prstGeom>
          <a:noFill/>
        </p:spPr>
        <p:txBody>
          <a:bodyPr wrap="square" rtlCol="0">
            <a:spAutoFit/>
          </a:bodyPr>
          <a:lstStyle/>
          <a:p>
            <a:pPr algn="just"/>
            <a:r>
              <a:rPr lang="es-PE" sz="1200" dirty="0"/>
              <a:t>Aplicación en constante actualización siguiendo las necesidades de los agentes. </a:t>
            </a:r>
          </a:p>
          <a:p>
            <a:pPr algn="just"/>
            <a:r>
              <a:rPr lang="es-PE" sz="1200" dirty="0"/>
              <a:t>Brinda reportes de acceso y performance en alumnos.</a:t>
            </a:r>
            <a:endParaRPr lang="en-CA" sz="1200" dirty="0"/>
          </a:p>
        </p:txBody>
      </p:sp>
      <p:sp>
        <p:nvSpPr>
          <p:cNvPr id="16" name="TextBox 15">
            <a:extLst>
              <a:ext uri="{FF2B5EF4-FFF2-40B4-BE49-F238E27FC236}">
                <a16:creationId xmlns:a16="http://schemas.microsoft.com/office/drawing/2014/main" id="{4A882751-D274-4B29-B5B7-4CF51FCDC311}"/>
              </a:ext>
            </a:extLst>
          </p:cNvPr>
          <p:cNvSpPr txBox="1"/>
          <p:nvPr/>
        </p:nvSpPr>
        <p:spPr>
          <a:xfrm>
            <a:off x="6581531" y="3992131"/>
            <a:ext cx="1934736" cy="1015663"/>
          </a:xfrm>
          <a:prstGeom prst="rect">
            <a:avLst/>
          </a:prstGeom>
          <a:noFill/>
        </p:spPr>
        <p:txBody>
          <a:bodyPr wrap="square" rtlCol="0">
            <a:spAutoFit/>
          </a:bodyPr>
          <a:lstStyle/>
          <a:p>
            <a:pPr algn="just"/>
            <a:r>
              <a:rPr lang="es-PE" sz="1200" b="1" dirty="0"/>
              <a:t>Profesores:</a:t>
            </a:r>
          </a:p>
          <a:p>
            <a:pPr algn="just"/>
            <a:r>
              <a:rPr lang="es-PE" sz="1200" dirty="0"/>
              <a:t>Guían a los estudiantes en el uso del app y proveen retroalimentación luego de finalizada la actividad.</a:t>
            </a:r>
            <a:endParaRPr lang="en-CA" sz="1200" dirty="0"/>
          </a:p>
        </p:txBody>
      </p:sp>
      <p:sp>
        <p:nvSpPr>
          <p:cNvPr id="17" name="TextBox 16">
            <a:extLst>
              <a:ext uri="{FF2B5EF4-FFF2-40B4-BE49-F238E27FC236}">
                <a16:creationId xmlns:a16="http://schemas.microsoft.com/office/drawing/2014/main" id="{0AC39D7F-A609-43F2-99D7-686BBAB84027}"/>
              </a:ext>
            </a:extLst>
          </p:cNvPr>
          <p:cNvSpPr txBox="1"/>
          <p:nvPr/>
        </p:nvSpPr>
        <p:spPr>
          <a:xfrm>
            <a:off x="9843471" y="3907478"/>
            <a:ext cx="1934736" cy="461665"/>
          </a:xfrm>
          <a:prstGeom prst="rect">
            <a:avLst/>
          </a:prstGeom>
          <a:noFill/>
        </p:spPr>
        <p:txBody>
          <a:bodyPr wrap="square" rtlCol="0">
            <a:spAutoFit/>
          </a:bodyPr>
          <a:lstStyle/>
          <a:p>
            <a:r>
              <a:rPr lang="es-PE" sz="1200" b="1" dirty="0"/>
              <a:t>Estudiantes trabajan en actividades semanales.</a:t>
            </a:r>
            <a:endParaRPr lang="en-CA" sz="1200" b="1" dirty="0"/>
          </a:p>
        </p:txBody>
      </p:sp>
      <p:sp>
        <p:nvSpPr>
          <p:cNvPr id="18" name="TextBox 17">
            <a:extLst>
              <a:ext uri="{FF2B5EF4-FFF2-40B4-BE49-F238E27FC236}">
                <a16:creationId xmlns:a16="http://schemas.microsoft.com/office/drawing/2014/main" id="{4B45FFF1-9D36-48C9-8BA0-67B45F607F2C}"/>
              </a:ext>
            </a:extLst>
          </p:cNvPr>
          <p:cNvSpPr txBox="1"/>
          <p:nvPr/>
        </p:nvSpPr>
        <p:spPr>
          <a:xfrm>
            <a:off x="3206121" y="1124871"/>
            <a:ext cx="2216190" cy="646331"/>
          </a:xfrm>
          <a:prstGeom prst="rect">
            <a:avLst/>
          </a:prstGeom>
          <a:noFill/>
        </p:spPr>
        <p:txBody>
          <a:bodyPr wrap="square" rtlCol="0">
            <a:spAutoFit/>
          </a:bodyPr>
          <a:lstStyle/>
          <a:p>
            <a:r>
              <a:rPr lang="es-PE" sz="1200" b="1" dirty="0"/>
              <a:t>Equipo de coordinadores:</a:t>
            </a:r>
          </a:p>
          <a:p>
            <a:r>
              <a:rPr lang="es-PE" sz="1200" b="1" dirty="0"/>
              <a:t>Supervisión y monitoreo del uso del app (1 x 25 docentes)</a:t>
            </a:r>
            <a:endParaRPr lang="en-CA" sz="1200" b="1" dirty="0"/>
          </a:p>
        </p:txBody>
      </p:sp>
    </p:spTree>
    <p:extLst>
      <p:ext uri="{BB962C8B-B14F-4D97-AF65-F5344CB8AC3E}">
        <p14:creationId xmlns:p14="http://schemas.microsoft.com/office/powerpoint/2010/main" val="26210142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Diagonal Corners Rounded 6">
            <a:extLst>
              <a:ext uri="{FF2B5EF4-FFF2-40B4-BE49-F238E27FC236}">
                <a16:creationId xmlns:a16="http://schemas.microsoft.com/office/drawing/2014/main" id="{5DC549E6-0B6C-450B-922D-0F58D2924A72}"/>
              </a:ext>
            </a:extLst>
          </p:cNvPr>
          <p:cNvSpPr/>
          <p:nvPr/>
        </p:nvSpPr>
        <p:spPr>
          <a:xfrm>
            <a:off x="429623" y="1048649"/>
            <a:ext cx="11267440" cy="721517"/>
          </a:xfrm>
          <a:prstGeom prst="round2DiagRect">
            <a:avLst/>
          </a:prstGeom>
          <a:solidFill>
            <a:srgbClr val="C00000"/>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solidFill>
                <a:schemeClr val="bg1"/>
              </a:solidFill>
            </a:endParaRPr>
          </a:p>
        </p:txBody>
      </p:sp>
      <p:sp>
        <p:nvSpPr>
          <p:cNvPr id="2" name="Title 1">
            <a:extLst>
              <a:ext uri="{FF2B5EF4-FFF2-40B4-BE49-F238E27FC236}">
                <a16:creationId xmlns:a16="http://schemas.microsoft.com/office/drawing/2014/main" id="{16C18CE1-72D9-4719-A2FF-5C93A7E96E39}"/>
              </a:ext>
            </a:extLst>
          </p:cNvPr>
          <p:cNvSpPr>
            <a:spLocks noGrp="1"/>
          </p:cNvSpPr>
          <p:nvPr>
            <p:ph type="title"/>
          </p:nvPr>
        </p:nvSpPr>
        <p:spPr/>
        <p:txBody>
          <a:bodyPr/>
          <a:lstStyle/>
          <a:p>
            <a:r>
              <a:rPr lang="es-PE" sz="4000" dirty="0"/>
              <a:t>AGENDA</a:t>
            </a:r>
            <a:endParaRPr lang="en-CA" sz="4000" dirty="0"/>
          </a:p>
        </p:txBody>
      </p:sp>
      <p:sp>
        <p:nvSpPr>
          <p:cNvPr id="3" name="Slide Number Placeholder 2">
            <a:extLst>
              <a:ext uri="{FF2B5EF4-FFF2-40B4-BE49-F238E27FC236}">
                <a16:creationId xmlns:a16="http://schemas.microsoft.com/office/drawing/2014/main" id="{0DFD7E46-D5CE-48DD-96F3-51002A57C15D}"/>
              </a:ext>
            </a:extLst>
          </p:cNvPr>
          <p:cNvSpPr>
            <a:spLocks noGrp="1"/>
          </p:cNvSpPr>
          <p:nvPr>
            <p:ph type="sldNum" sz="quarter" idx="12"/>
          </p:nvPr>
        </p:nvSpPr>
        <p:spPr/>
        <p:txBody>
          <a:bodyPr/>
          <a:lstStyle/>
          <a:p>
            <a:fld id="{DAF31D20-51B2-49A6-91FA-1FC48A60B42D}" type="slidenum">
              <a:rPr lang="es-PE" smtClean="0"/>
              <a:t>42</a:t>
            </a:fld>
            <a:endParaRPr lang="es-PE"/>
          </a:p>
        </p:txBody>
      </p:sp>
      <p:sp>
        <p:nvSpPr>
          <p:cNvPr id="5" name="TextBox 4">
            <a:extLst>
              <a:ext uri="{FF2B5EF4-FFF2-40B4-BE49-F238E27FC236}">
                <a16:creationId xmlns:a16="http://schemas.microsoft.com/office/drawing/2014/main" id="{17CB7C5A-6404-4218-A2FD-BE386960A332}"/>
              </a:ext>
            </a:extLst>
          </p:cNvPr>
          <p:cNvSpPr txBox="1"/>
          <p:nvPr/>
        </p:nvSpPr>
        <p:spPr>
          <a:xfrm>
            <a:off x="494937" y="1249444"/>
            <a:ext cx="10739120" cy="369332"/>
          </a:xfrm>
          <a:prstGeom prst="rect">
            <a:avLst/>
          </a:prstGeom>
          <a:noFill/>
        </p:spPr>
        <p:txBody>
          <a:bodyPr wrap="square" rtlCol="0">
            <a:spAutoFit/>
          </a:bodyPr>
          <a:lstStyle/>
          <a:p>
            <a:r>
              <a:rPr lang="es-PE" b="1" dirty="0">
                <a:solidFill>
                  <a:schemeClr val="bg1"/>
                </a:solidFill>
              </a:rPr>
              <a:t>2.  Propuesta de estrategia de Educación Remedial </a:t>
            </a:r>
            <a:endParaRPr lang="en-CA" b="1" dirty="0">
              <a:solidFill>
                <a:schemeClr val="bg1"/>
              </a:solidFill>
            </a:endParaRPr>
          </a:p>
        </p:txBody>
      </p:sp>
      <p:sp>
        <p:nvSpPr>
          <p:cNvPr id="11" name="Rectangle 10">
            <a:extLst>
              <a:ext uri="{FF2B5EF4-FFF2-40B4-BE49-F238E27FC236}">
                <a16:creationId xmlns:a16="http://schemas.microsoft.com/office/drawing/2014/main" id="{73ED18D7-638E-4BF8-8DFC-833E74760777}"/>
              </a:ext>
            </a:extLst>
          </p:cNvPr>
          <p:cNvSpPr/>
          <p:nvPr/>
        </p:nvSpPr>
        <p:spPr>
          <a:xfrm>
            <a:off x="866767" y="1925671"/>
            <a:ext cx="10753725" cy="381602"/>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00050" indent="-400050">
              <a:buFont typeface="+mj-lt"/>
              <a:buAutoNum type="romanUcPeriod"/>
            </a:pPr>
            <a:r>
              <a:rPr lang="es-PE" b="1" dirty="0">
                <a:solidFill>
                  <a:schemeClr val="tx2"/>
                </a:solidFill>
              </a:rPr>
              <a:t>Información general de estrategias</a:t>
            </a:r>
            <a:endParaRPr lang="en-CA" b="1" dirty="0">
              <a:solidFill>
                <a:schemeClr val="tx2"/>
              </a:solidFill>
            </a:endParaRPr>
          </a:p>
        </p:txBody>
      </p:sp>
      <p:sp>
        <p:nvSpPr>
          <p:cNvPr id="13" name="Rectangle 12">
            <a:extLst>
              <a:ext uri="{FF2B5EF4-FFF2-40B4-BE49-F238E27FC236}">
                <a16:creationId xmlns:a16="http://schemas.microsoft.com/office/drawing/2014/main" id="{BF24706C-635F-48B8-86E0-9354C25A8312}"/>
              </a:ext>
            </a:extLst>
          </p:cNvPr>
          <p:cNvSpPr/>
          <p:nvPr/>
        </p:nvSpPr>
        <p:spPr>
          <a:xfrm>
            <a:off x="866767" y="2431388"/>
            <a:ext cx="10753725" cy="381602"/>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00050" indent="-400050">
              <a:buFont typeface="+mj-lt"/>
              <a:buAutoNum type="romanUcPeriod" startAt="2"/>
            </a:pPr>
            <a:r>
              <a:rPr lang="es-PE" b="1" dirty="0">
                <a:solidFill>
                  <a:schemeClr val="tx2"/>
                </a:solidFill>
              </a:rPr>
              <a:t>Modelo 1: Enseñanza al nivel adecuado (</a:t>
            </a:r>
            <a:r>
              <a:rPr lang="es-PE" b="1" dirty="0" err="1">
                <a:solidFill>
                  <a:schemeClr val="tx2"/>
                </a:solidFill>
              </a:rPr>
              <a:t>TaRL</a:t>
            </a:r>
            <a:r>
              <a:rPr lang="es-PE" b="1" dirty="0">
                <a:solidFill>
                  <a:schemeClr val="tx2"/>
                </a:solidFill>
              </a:rPr>
              <a:t>)</a:t>
            </a:r>
            <a:endParaRPr lang="en-CA" b="1" dirty="0">
              <a:solidFill>
                <a:schemeClr val="tx2"/>
              </a:solidFill>
            </a:endParaRPr>
          </a:p>
        </p:txBody>
      </p:sp>
      <p:sp>
        <p:nvSpPr>
          <p:cNvPr id="15" name="Rectangle 14">
            <a:extLst>
              <a:ext uri="{FF2B5EF4-FFF2-40B4-BE49-F238E27FC236}">
                <a16:creationId xmlns:a16="http://schemas.microsoft.com/office/drawing/2014/main" id="{6D048FC1-72B2-4921-BF07-AC34182DA451}"/>
              </a:ext>
            </a:extLst>
          </p:cNvPr>
          <p:cNvSpPr/>
          <p:nvPr/>
        </p:nvSpPr>
        <p:spPr>
          <a:xfrm>
            <a:off x="866767" y="4462866"/>
            <a:ext cx="10753725" cy="381602"/>
          </a:xfrm>
          <a:prstGeom prst="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00050" indent="-400050">
              <a:buFont typeface="+mj-lt"/>
              <a:buAutoNum type="romanUcPeriod" startAt="3"/>
            </a:pPr>
            <a:r>
              <a:rPr lang="es-PE" b="1" dirty="0">
                <a:solidFill>
                  <a:schemeClr val="bg1"/>
                </a:solidFill>
              </a:rPr>
              <a:t>Modelo 2: Tutoría con componente digital</a:t>
            </a:r>
            <a:endParaRPr lang="en-CA" b="1" dirty="0">
              <a:solidFill>
                <a:schemeClr val="bg1"/>
              </a:solidFill>
            </a:endParaRPr>
          </a:p>
        </p:txBody>
      </p:sp>
      <p:sp>
        <p:nvSpPr>
          <p:cNvPr id="18" name="TextBox 17">
            <a:extLst>
              <a:ext uri="{FF2B5EF4-FFF2-40B4-BE49-F238E27FC236}">
                <a16:creationId xmlns:a16="http://schemas.microsoft.com/office/drawing/2014/main" id="{1472411D-B88F-4453-A39D-EDA418DB8DC9}"/>
              </a:ext>
            </a:extLst>
          </p:cNvPr>
          <p:cNvSpPr txBox="1"/>
          <p:nvPr/>
        </p:nvSpPr>
        <p:spPr>
          <a:xfrm>
            <a:off x="1104891" y="2871988"/>
            <a:ext cx="10277475" cy="1569660"/>
          </a:xfrm>
          <a:prstGeom prst="rect">
            <a:avLst/>
          </a:prstGeom>
          <a:noFill/>
        </p:spPr>
        <p:txBody>
          <a:bodyPr wrap="square" rtlCol="0">
            <a:spAutoFit/>
          </a:bodyPr>
          <a:lstStyle/>
          <a:p>
            <a:pPr marL="285750" indent="-285750">
              <a:buFont typeface="Wingdings" panose="05000000000000000000" pitchFamily="2" charset="2"/>
              <a:buChar char="§"/>
            </a:pPr>
            <a:r>
              <a:rPr lang="es-PE" sz="1200" dirty="0">
                <a:solidFill>
                  <a:schemeClr val="bg1">
                    <a:lumMod val="65000"/>
                  </a:schemeClr>
                </a:solidFill>
              </a:rPr>
              <a:t>Antecedentes</a:t>
            </a:r>
          </a:p>
          <a:p>
            <a:pPr marL="285750" indent="-285750">
              <a:buFont typeface="Wingdings" panose="05000000000000000000" pitchFamily="2" charset="2"/>
              <a:buChar char="§"/>
            </a:pPr>
            <a:r>
              <a:rPr lang="es-PE" sz="1200" dirty="0">
                <a:solidFill>
                  <a:schemeClr val="bg1">
                    <a:lumMod val="65000"/>
                  </a:schemeClr>
                </a:solidFill>
              </a:rPr>
              <a:t>El Modelo</a:t>
            </a:r>
          </a:p>
          <a:p>
            <a:pPr marL="285750" indent="-285750">
              <a:buFont typeface="Wingdings" panose="05000000000000000000" pitchFamily="2" charset="2"/>
              <a:buChar char="§"/>
            </a:pPr>
            <a:r>
              <a:rPr lang="es-PE" sz="1200" dirty="0">
                <a:solidFill>
                  <a:schemeClr val="bg1">
                    <a:lumMod val="65000"/>
                  </a:schemeClr>
                </a:solidFill>
              </a:rPr>
              <a:t>Componentes de la estrategia</a:t>
            </a:r>
          </a:p>
          <a:p>
            <a:pPr marL="285750" indent="-285750">
              <a:buFont typeface="Wingdings" panose="05000000000000000000" pitchFamily="2" charset="2"/>
              <a:buChar char="§"/>
            </a:pPr>
            <a:r>
              <a:rPr lang="es-PE" sz="1200" dirty="0">
                <a:solidFill>
                  <a:schemeClr val="bg1">
                    <a:lumMod val="65000"/>
                  </a:schemeClr>
                </a:solidFill>
              </a:rPr>
              <a:t>Focalización</a:t>
            </a:r>
          </a:p>
          <a:p>
            <a:pPr marL="285750" indent="-285750">
              <a:buFont typeface="Wingdings" panose="05000000000000000000" pitchFamily="2" charset="2"/>
              <a:buChar char="§"/>
            </a:pPr>
            <a:r>
              <a:rPr lang="es-PE" sz="1200" dirty="0">
                <a:solidFill>
                  <a:schemeClr val="bg1">
                    <a:lumMod val="65000"/>
                  </a:schemeClr>
                </a:solidFill>
              </a:rPr>
              <a:t>Cobertura</a:t>
            </a:r>
          </a:p>
          <a:p>
            <a:pPr marL="285750" indent="-285750">
              <a:buFont typeface="Wingdings" panose="05000000000000000000" pitchFamily="2" charset="2"/>
              <a:buChar char="§"/>
            </a:pPr>
            <a:r>
              <a:rPr lang="es-PE" sz="1200" dirty="0">
                <a:solidFill>
                  <a:schemeClr val="bg1">
                    <a:lumMod val="65000"/>
                  </a:schemeClr>
                </a:solidFill>
              </a:rPr>
              <a:t>Estimación de Costos</a:t>
            </a:r>
          </a:p>
          <a:p>
            <a:pPr marL="285750" indent="-285750">
              <a:buFont typeface="Wingdings" panose="05000000000000000000" pitchFamily="2" charset="2"/>
              <a:buChar char="§"/>
            </a:pPr>
            <a:r>
              <a:rPr lang="es-PE" sz="1200" dirty="0">
                <a:solidFill>
                  <a:schemeClr val="bg1">
                    <a:lumMod val="65000"/>
                  </a:schemeClr>
                </a:solidFill>
              </a:rPr>
              <a:t>Cronograma</a:t>
            </a:r>
          </a:p>
          <a:p>
            <a:pPr marL="285750" indent="-285750">
              <a:buFont typeface="Wingdings" panose="05000000000000000000" pitchFamily="2" charset="2"/>
              <a:buChar char="§"/>
            </a:pPr>
            <a:r>
              <a:rPr lang="es-PE" sz="1200" dirty="0">
                <a:solidFill>
                  <a:schemeClr val="bg1">
                    <a:lumMod val="65000"/>
                  </a:schemeClr>
                </a:solidFill>
              </a:rPr>
              <a:t>Complementariedad con otras estrategias y recomendaciones</a:t>
            </a:r>
          </a:p>
        </p:txBody>
      </p:sp>
      <p:sp>
        <p:nvSpPr>
          <p:cNvPr id="19" name="TextBox 18">
            <a:extLst>
              <a:ext uri="{FF2B5EF4-FFF2-40B4-BE49-F238E27FC236}">
                <a16:creationId xmlns:a16="http://schemas.microsoft.com/office/drawing/2014/main" id="{5947BA55-15C3-4040-9B5B-8EAC7B3B3343}"/>
              </a:ext>
            </a:extLst>
          </p:cNvPr>
          <p:cNvSpPr txBox="1"/>
          <p:nvPr/>
        </p:nvSpPr>
        <p:spPr>
          <a:xfrm>
            <a:off x="1047755" y="4980330"/>
            <a:ext cx="10277475" cy="1754326"/>
          </a:xfrm>
          <a:prstGeom prst="rect">
            <a:avLst/>
          </a:prstGeom>
          <a:noFill/>
        </p:spPr>
        <p:txBody>
          <a:bodyPr wrap="square" rtlCol="0">
            <a:spAutoFit/>
          </a:bodyPr>
          <a:lstStyle/>
          <a:p>
            <a:pPr marL="285750" indent="-285750">
              <a:buFont typeface="Wingdings" panose="05000000000000000000" pitchFamily="2" charset="2"/>
              <a:buChar char="§"/>
            </a:pPr>
            <a:r>
              <a:rPr lang="es-PE" sz="1200" dirty="0">
                <a:solidFill>
                  <a:schemeClr val="bg1">
                    <a:lumMod val="65000"/>
                  </a:schemeClr>
                </a:solidFill>
              </a:rPr>
              <a:t>Antecedentes</a:t>
            </a:r>
          </a:p>
          <a:p>
            <a:pPr marL="285750" indent="-285750">
              <a:buFont typeface="Wingdings" panose="05000000000000000000" pitchFamily="2" charset="2"/>
              <a:buChar char="§"/>
            </a:pPr>
            <a:r>
              <a:rPr lang="es-PE" sz="1200" dirty="0">
                <a:solidFill>
                  <a:schemeClr val="bg1">
                    <a:lumMod val="65000"/>
                  </a:schemeClr>
                </a:solidFill>
              </a:rPr>
              <a:t>Oportunidades</a:t>
            </a:r>
          </a:p>
          <a:p>
            <a:pPr marL="285750" indent="-285750">
              <a:buFont typeface="Wingdings" panose="05000000000000000000" pitchFamily="2" charset="2"/>
              <a:buChar char="§"/>
            </a:pPr>
            <a:r>
              <a:rPr lang="es-PE" sz="1200" dirty="0">
                <a:solidFill>
                  <a:schemeClr val="bg1">
                    <a:lumMod val="65000"/>
                  </a:schemeClr>
                </a:solidFill>
              </a:rPr>
              <a:t>El Modelo</a:t>
            </a:r>
          </a:p>
          <a:p>
            <a:pPr marL="285750" indent="-285750">
              <a:buFont typeface="Wingdings" panose="05000000000000000000" pitchFamily="2" charset="2"/>
              <a:buChar char="§"/>
            </a:pPr>
            <a:r>
              <a:rPr lang="es-PE" sz="1200" b="1" dirty="0">
                <a:solidFill>
                  <a:schemeClr val="tx2"/>
                </a:solidFill>
              </a:rPr>
              <a:t>Componentes de la estrategia</a:t>
            </a:r>
          </a:p>
          <a:p>
            <a:pPr marL="285750" indent="-285750">
              <a:buFont typeface="Wingdings" panose="05000000000000000000" pitchFamily="2" charset="2"/>
              <a:buChar char="§"/>
            </a:pPr>
            <a:r>
              <a:rPr lang="es-PE" sz="1200" dirty="0">
                <a:solidFill>
                  <a:schemeClr val="bg1">
                    <a:lumMod val="65000"/>
                  </a:schemeClr>
                </a:solidFill>
              </a:rPr>
              <a:t>Focalización</a:t>
            </a:r>
          </a:p>
          <a:p>
            <a:pPr marL="285750" indent="-285750">
              <a:buFont typeface="Wingdings" panose="05000000000000000000" pitchFamily="2" charset="2"/>
              <a:buChar char="§"/>
            </a:pPr>
            <a:r>
              <a:rPr lang="es-PE" sz="1200" dirty="0">
                <a:solidFill>
                  <a:schemeClr val="bg1">
                    <a:lumMod val="65000"/>
                  </a:schemeClr>
                </a:solidFill>
              </a:rPr>
              <a:t>Cobertura</a:t>
            </a:r>
          </a:p>
          <a:p>
            <a:pPr marL="285750" indent="-285750">
              <a:buFont typeface="Wingdings" panose="05000000000000000000" pitchFamily="2" charset="2"/>
              <a:buChar char="§"/>
            </a:pPr>
            <a:r>
              <a:rPr lang="es-PE" sz="1200" dirty="0">
                <a:solidFill>
                  <a:schemeClr val="bg1">
                    <a:lumMod val="65000"/>
                  </a:schemeClr>
                </a:solidFill>
              </a:rPr>
              <a:t>Estimación de Costos</a:t>
            </a:r>
          </a:p>
          <a:p>
            <a:pPr marL="285750" indent="-285750">
              <a:buFont typeface="Wingdings" panose="05000000000000000000" pitchFamily="2" charset="2"/>
              <a:buChar char="§"/>
            </a:pPr>
            <a:r>
              <a:rPr lang="es-PE" sz="1200" dirty="0">
                <a:solidFill>
                  <a:schemeClr val="bg1">
                    <a:lumMod val="65000"/>
                  </a:schemeClr>
                </a:solidFill>
              </a:rPr>
              <a:t>Cronograma</a:t>
            </a:r>
          </a:p>
          <a:p>
            <a:pPr marL="285750" indent="-285750">
              <a:buFont typeface="Wingdings" panose="05000000000000000000" pitchFamily="2" charset="2"/>
              <a:buChar char="§"/>
            </a:pPr>
            <a:r>
              <a:rPr lang="es-PE" sz="1200" dirty="0">
                <a:solidFill>
                  <a:schemeClr val="bg1">
                    <a:lumMod val="65000"/>
                  </a:schemeClr>
                </a:solidFill>
              </a:rPr>
              <a:t>Complementariedad con otras estrategias y recomendaciones</a:t>
            </a:r>
          </a:p>
        </p:txBody>
      </p:sp>
    </p:spTree>
    <p:extLst>
      <p:ext uri="{BB962C8B-B14F-4D97-AF65-F5344CB8AC3E}">
        <p14:creationId xmlns:p14="http://schemas.microsoft.com/office/powerpoint/2010/main" val="272663403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CE91E-686B-481B-A3FC-13F832E9158E}"/>
              </a:ext>
            </a:extLst>
          </p:cNvPr>
          <p:cNvSpPr>
            <a:spLocks noGrp="1"/>
          </p:cNvSpPr>
          <p:nvPr>
            <p:ph type="title"/>
          </p:nvPr>
        </p:nvSpPr>
        <p:spPr/>
        <p:txBody>
          <a:bodyPr/>
          <a:lstStyle/>
          <a:p>
            <a:r>
              <a:rPr lang="es-PE" dirty="0"/>
              <a:t>Componentes de la estrategia</a:t>
            </a:r>
            <a:endParaRPr lang="en-CA" dirty="0"/>
          </a:p>
        </p:txBody>
      </p:sp>
      <p:sp>
        <p:nvSpPr>
          <p:cNvPr id="3" name="Slide Number Placeholder 2">
            <a:extLst>
              <a:ext uri="{FF2B5EF4-FFF2-40B4-BE49-F238E27FC236}">
                <a16:creationId xmlns:a16="http://schemas.microsoft.com/office/drawing/2014/main" id="{4ED41F25-0406-4910-9CA1-440CE76BAEE9}"/>
              </a:ext>
            </a:extLst>
          </p:cNvPr>
          <p:cNvSpPr>
            <a:spLocks noGrp="1"/>
          </p:cNvSpPr>
          <p:nvPr>
            <p:ph type="sldNum" sz="quarter" idx="12"/>
          </p:nvPr>
        </p:nvSpPr>
        <p:spPr/>
        <p:txBody>
          <a:bodyPr/>
          <a:lstStyle/>
          <a:p>
            <a:fld id="{DAF31D20-51B2-49A6-91FA-1FC48A60B42D}" type="slidenum">
              <a:rPr lang="es-PE" smtClean="0"/>
              <a:t>43</a:t>
            </a:fld>
            <a:endParaRPr lang="es-PE"/>
          </a:p>
        </p:txBody>
      </p:sp>
      <p:sp>
        <p:nvSpPr>
          <p:cNvPr id="4" name="Arrow: Chevron 3">
            <a:extLst>
              <a:ext uri="{FF2B5EF4-FFF2-40B4-BE49-F238E27FC236}">
                <a16:creationId xmlns:a16="http://schemas.microsoft.com/office/drawing/2014/main" id="{96533546-3BB3-4F1B-9846-158308A2F8C8}"/>
              </a:ext>
            </a:extLst>
          </p:cNvPr>
          <p:cNvSpPr/>
          <p:nvPr/>
        </p:nvSpPr>
        <p:spPr>
          <a:xfrm>
            <a:off x="2111823" y="1726161"/>
            <a:ext cx="783771" cy="720948"/>
          </a:xfrm>
          <a:prstGeom prst="chevron">
            <a:avLst/>
          </a:prstGeom>
          <a:solidFill>
            <a:schemeClr val="accent4">
              <a:lumMod val="75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300">
              <a:solidFill>
                <a:schemeClr val="tx1"/>
              </a:solidFill>
            </a:endParaRPr>
          </a:p>
        </p:txBody>
      </p:sp>
      <p:sp>
        <p:nvSpPr>
          <p:cNvPr id="5" name="Arrow: Chevron 4">
            <a:extLst>
              <a:ext uri="{FF2B5EF4-FFF2-40B4-BE49-F238E27FC236}">
                <a16:creationId xmlns:a16="http://schemas.microsoft.com/office/drawing/2014/main" id="{B37D921C-36CF-4459-B24C-6EED651A7800}"/>
              </a:ext>
            </a:extLst>
          </p:cNvPr>
          <p:cNvSpPr/>
          <p:nvPr/>
        </p:nvSpPr>
        <p:spPr>
          <a:xfrm>
            <a:off x="5208618" y="1721833"/>
            <a:ext cx="783771" cy="720948"/>
          </a:xfrm>
          <a:prstGeom prst="chevron">
            <a:avLst/>
          </a:prstGeom>
          <a:solidFill>
            <a:schemeClr val="accent3">
              <a:lumMod val="60000"/>
              <a:lumOff val="40000"/>
            </a:schemeClr>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300">
              <a:solidFill>
                <a:schemeClr val="tx1"/>
              </a:solidFill>
            </a:endParaRPr>
          </a:p>
        </p:txBody>
      </p:sp>
      <p:sp>
        <p:nvSpPr>
          <p:cNvPr id="6" name="Arrow: Chevron 5">
            <a:extLst>
              <a:ext uri="{FF2B5EF4-FFF2-40B4-BE49-F238E27FC236}">
                <a16:creationId xmlns:a16="http://schemas.microsoft.com/office/drawing/2014/main" id="{2B1CD1B8-445D-4858-AFAF-F154AF69D82B}"/>
              </a:ext>
            </a:extLst>
          </p:cNvPr>
          <p:cNvSpPr/>
          <p:nvPr/>
        </p:nvSpPr>
        <p:spPr>
          <a:xfrm>
            <a:off x="8131850" y="1726161"/>
            <a:ext cx="783771" cy="720948"/>
          </a:xfrm>
          <a:prstGeom prst="chevron">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300" dirty="0">
              <a:solidFill>
                <a:schemeClr val="tx1"/>
              </a:solidFill>
            </a:endParaRPr>
          </a:p>
        </p:txBody>
      </p:sp>
      <p:sp>
        <p:nvSpPr>
          <p:cNvPr id="7" name="Arrow: Notched Right 6">
            <a:extLst>
              <a:ext uri="{FF2B5EF4-FFF2-40B4-BE49-F238E27FC236}">
                <a16:creationId xmlns:a16="http://schemas.microsoft.com/office/drawing/2014/main" id="{C2402394-998B-417F-B90E-C3D74E5C02DE}"/>
              </a:ext>
            </a:extLst>
          </p:cNvPr>
          <p:cNvSpPr/>
          <p:nvPr/>
        </p:nvSpPr>
        <p:spPr>
          <a:xfrm>
            <a:off x="497841" y="5399775"/>
            <a:ext cx="11475940" cy="975367"/>
          </a:xfrm>
          <a:prstGeom prst="notchedRightArrow">
            <a:avLst/>
          </a:prstGeom>
        </p:spPr>
        <p:style>
          <a:lnRef idx="0">
            <a:schemeClr val="accent3"/>
          </a:lnRef>
          <a:fillRef idx="3">
            <a:schemeClr val="accent3"/>
          </a:fillRef>
          <a:effectRef idx="3">
            <a:schemeClr val="accent3"/>
          </a:effectRef>
          <a:fontRef idx="minor">
            <a:schemeClr val="lt1"/>
          </a:fontRef>
        </p:style>
        <p:txBody>
          <a:bodyPr rtlCol="0" anchor="ctr"/>
          <a:lstStyle/>
          <a:p>
            <a:pPr algn="ctr"/>
            <a:r>
              <a:rPr lang="es-PE" sz="1600" b="1" dirty="0">
                <a:latin typeface="+mj-lt"/>
              </a:rPr>
              <a:t>Seguimiento y monitoreo del buen funcionamiento de la aplicación, la implementación del proyecto y progreso de los estudiantes</a:t>
            </a:r>
            <a:endParaRPr lang="en-CA" sz="1600" b="1" dirty="0">
              <a:latin typeface="+mj-lt"/>
            </a:endParaRPr>
          </a:p>
        </p:txBody>
      </p:sp>
      <p:sp>
        <p:nvSpPr>
          <p:cNvPr id="8" name="TextBox 7">
            <a:extLst>
              <a:ext uri="{FF2B5EF4-FFF2-40B4-BE49-F238E27FC236}">
                <a16:creationId xmlns:a16="http://schemas.microsoft.com/office/drawing/2014/main" id="{8D1184AA-264F-4CB9-9ADB-9147814E4824}"/>
              </a:ext>
            </a:extLst>
          </p:cNvPr>
          <p:cNvSpPr txBox="1"/>
          <p:nvPr/>
        </p:nvSpPr>
        <p:spPr>
          <a:xfrm>
            <a:off x="172714" y="2804143"/>
            <a:ext cx="2722880" cy="1600438"/>
          </a:xfrm>
          <a:prstGeom prst="rect">
            <a:avLst/>
          </a:prstGeom>
          <a:noFill/>
        </p:spPr>
        <p:txBody>
          <a:bodyPr wrap="square" rtlCol="0">
            <a:spAutoFit/>
          </a:bodyPr>
          <a:lstStyle/>
          <a:p>
            <a:pPr algn="just"/>
            <a:r>
              <a:rPr lang="es-PE" sz="1400" dirty="0"/>
              <a:t>Un equipo de especialistas pedagógicos y tecnológicos se encargan del diseño de una aplicación que permita el aprendizaje y refuerzo de habilidades fundamentales en estudiantes de bajo rendimiento.</a:t>
            </a:r>
            <a:endParaRPr lang="en-CA" sz="1400" dirty="0"/>
          </a:p>
        </p:txBody>
      </p:sp>
      <p:pic>
        <p:nvPicPr>
          <p:cNvPr id="9" name="Picture 8" descr="Logo&#10;&#10;Description automatically generated with medium confidence">
            <a:extLst>
              <a:ext uri="{FF2B5EF4-FFF2-40B4-BE49-F238E27FC236}">
                <a16:creationId xmlns:a16="http://schemas.microsoft.com/office/drawing/2014/main" id="{142E89FA-A479-4F16-AAE9-81DBC2601421}"/>
              </a:ext>
            </a:extLst>
          </p:cNvPr>
          <p:cNvPicPr>
            <a:picLocks noChangeAspect="1"/>
          </p:cNvPicPr>
          <p:nvPr/>
        </p:nvPicPr>
        <p:blipFill rotWithShape="1">
          <a:blip r:embed="rId2">
            <a:extLst>
              <a:ext uri="{28A0092B-C50C-407E-A947-70E740481C1C}">
                <a14:useLocalDpi xmlns:a14="http://schemas.microsoft.com/office/drawing/2010/main" val="0"/>
              </a:ext>
            </a:extLst>
          </a:blip>
          <a:srcRect t="18706" b="16516"/>
          <a:stretch/>
        </p:blipFill>
        <p:spPr>
          <a:xfrm>
            <a:off x="677717" y="4437691"/>
            <a:ext cx="1434106" cy="928974"/>
          </a:xfrm>
          <a:prstGeom prst="rect">
            <a:avLst/>
          </a:prstGeom>
        </p:spPr>
      </p:pic>
      <p:sp>
        <p:nvSpPr>
          <p:cNvPr id="10" name="TextBox 9">
            <a:extLst>
              <a:ext uri="{FF2B5EF4-FFF2-40B4-BE49-F238E27FC236}">
                <a16:creationId xmlns:a16="http://schemas.microsoft.com/office/drawing/2014/main" id="{AF6FC495-1D7D-4944-8425-23FA58BDBBD6}"/>
              </a:ext>
            </a:extLst>
          </p:cNvPr>
          <p:cNvSpPr txBox="1"/>
          <p:nvPr/>
        </p:nvSpPr>
        <p:spPr>
          <a:xfrm>
            <a:off x="172714" y="4456688"/>
            <a:ext cx="1434106" cy="276999"/>
          </a:xfrm>
          <a:prstGeom prst="rect">
            <a:avLst/>
          </a:prstGeom>
          <a:noFill/>
        </p:spPr>
        <p:txBody>
          <a:bodyPr wrap="square" rtlCol="0">
            <a:spAutoFit/>
          </a:bodyPr>
          <a:lstStyle/>
          <a:p>
            <a:r>
              <a:rPr lang="es-PE" sz="1200" b="1" dirty="0"/>
              <a:t>Ejemplo:</a:t>
            </a:r>
            <a:endParaRPr lang="en-CA" sz="1200" b="1" dirty="0"/>
          </a:p>
        </p:txBody>
      </p:sp>
      <p:sp>
        <p:nvSpPr>
          <p:cNvPr id="11" name="Arrow: Pentagon 10">
            <a:extLst>
              <a:ext uri="{FF2B5EF4-FFF2-40B4-BE49-F238E27FC236}">
                <a16:creationId xmlns:a16="http://schemas.microsoft.com/office/drawing/2014/main" id="{E2C2733E-68B0-4DFB-844F-EBFBD56631D2}"/>
              </a:ext>
            </a:extLst>
          </p:cNvPr>
          <p:cNvSpPr/>
          <p:nvPr/>
        </p:nvSpPr>
        <p:spPr>
          <a:xfrm>
            <a:off x="335280" y="1726161"/>
            <a:ext cx="1950720" cy="712239"/>
          </a:xfrm>
          <a:prstGeom prst="homePlate">
            <a:avLst/>
          </a:prstGeom>
          <a:solidFill>
            <a:schemeClr val="accent4">
              <a:lumMod val="75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1300" dirty="0">
                <a:solidFill>
                  <a:schemeClr val="bg1"/>
                </a:solidFill>
              </a:rPr>
              <a:t>Diseño del app</a:t>
            </a:r>
            <a:endParaRPr lang="en-CA" sz="1300" dirty="0">
              <a:solidFill>
                <a:schemeClr val="bg1"/>
              </a:solidFill>
            </a:endParaRPr>
          </a:p>
        </p:txBody>
      </p:sp>
      <p:sp>
        <p:nvSpPr>
          <p:cNvPr id="12" name="Arrow: Pentagon 11">
            <a:extLst>
              <a:ext uri="{FF2B5EF4-FFF2-40B4-BE49-F238E27FC236}">
                <a16:creationId xmlns:a16="http://schemas.microsoft.com/office/drawing/2014/main" id="{1A3C164D-CAAE-4BF1-AD06-421788879A98}"/>
              </a:ext>
            </a:extLst>
          </p:cNvPr>
          <p:cNvSpPr/>
          <p:nvPr/>
        </p:nvSpPr>
        <p:spPr>
          <a:xfrm>
            <a:off x="3131208" y="1721833"/>
            <a:ext cx="2240482" cy="712239"/>
          </a:xfrm>
          <a:prstGeom prst="homePlate">
            <a:avLst/>
          </a:prstGeom>
          <a:solidFill>
            <a:schemeClr val="accent3">
              <a:lumMod val="60000"/>
              <a:lumOff val="40000"/>
            </a:schemeClr>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1300" dirty="0">
                <a:solidFill>
                  <a:schemeClr val="bg1"/>
                </a:solidFill>
              </a:rPr>
              <a:t>Dinámica de supervisión: Coordinadores &amp; maestros</a:t>
            </a:r>
            <a:endParaRPr lang="en-CA" sz="1300" dirty="0">
              <a:solidFill>
                <a:schemeClr val="bg1"/>
              </a:solidFill>
            </a:endParaRPr>
          </a:p>
        </p:txBody>
      </p:sp>
      <p:sp>
        <p:nvSpPr>
          <p:cNvPr id="13" name="Arrow: Pentagon 12">
            <a:extLst>
              <a:ext uri="{FF2B5EF4-FFF2-40B4-BE49-F238E27FC236}">
                <a16:creationId xmlns:a16="http://schemas.microsoft.com/office/drawing/2014/main" id="{83344CDA-8A04-4E40-BDF3-A15844D25F40}"/>
              </a:ext>
            </a:extLst>
          </p:cNvPr>
          <p:cNvSpPr/>
          <p:nvPr/>
        </p:nvSpPr>
        <p:spPr>
          <a:xfrm>
            <a:off x="6210712" y="1716027"/>
            <a:ext cx="2094701" cy="712239"/>
          </a:xfrm>
          <a:prstGeom prst="homePlate">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1300" dirty="0"/>
              <a:t>Actividades semanales</a:t>
            </a:r>
            <a:endParaRPr lang="en-CA" sz="1300" dirty="0"/>
          </a:p>
        </p:txBody>
      </p:sp>
      <p:sp>
        <p:nvSpPr>
          <p:cNvPr id="14" name="TextBox 13">
            <a:extLst>
              <a:ext uri="{FF2B5EF4-FFF2-40B4-BE49-F238E27FC236}">
                <a16:creationId xmlns:a16="http://schemas.microsoft.com/office/drawing/2014/main" id="{13588389-6890-41F2-AA0F-2EA518349D22}"/>
              </a:ext>
            </a:extLst>
          </p:cNvPr>
          <p:cNvSpPr txBox="1"/>
          <p:nvPr/>
        </p:nvSpPr>
        <p:spPr>
          <a:xfrm>
            <a:off x="6210712" y="2799872"/>
            <a:ext cx="2608168" cy="1815882"/>
          </a:xfrm>
          <a:prstGeom prst="rect">
            <a:avLst/>
          </a:prstGeom>
          <a:noFill/>
        </p:spPr>
        <p:txBody>
          <a:bodyPr wrap="square" rtlCol="0">
            <a:spAutoFit/>
          </a:bodyPr>
          <a:lstStyle/>
          <a:p>
            <a:pPr algn="just"/>
            <a:r>
              <a:rPr lang="es-PE" sz="1400" dirty="0"/>
              <a:t>20 – 30 ejercicios semanales con distintos niveles de dificultad.</a:t>
            </a:r>
          </a:p>
          <a:p>
            <a:pPr algn="just"/>
            <a:endParaRPr lang="es-PE" sz="1400" dirty="0"/>
          </a:p>
          <a:p>
            <a:pPr algn="just"/>
            <a:r>
              <a:rPr lang="es-PE" sz="1400" dirty="0"/>
              <a:t>Las actividades pueden darse en el laboratorio de clase o en casa, dependiendo de la configuración de la estrategia y de la disponibilidad de dispositivos.</a:t>
            </a:r>
            <a:endParaRPr lang="en-CA" sz="1400" dirty="0"/>
          </a:p>
        </p:txBody>
      </p:sp>
      <p:sp>
        <p:nvSpPr>
          <p:cNvPr id="15" name="Arrow: Chevron 14">
            <a:extLst>
              <a:ext uri="{FF2B5EF4-FFF2-40B4-BE49-F238E27FC236}">
                <a16:creationId xmlns:a16="http://schemas.microsoft.com/office/drawing/2014/main" id="{24760B54-9198-42C1-A5B8-077CBC26CD3D}"/>
              </a:ext>
            </a:extLst>
          </p:cNvPr>
          <p:cNvSpPr/>
          <p:nvPr/>
        </p:nvSpPr>
        <p:spPr>
          <a:xfrm>
            <a:off x="11190010" y="1720166"/>
            <a:ext cx="783771" cy="720948"/>
          </a:xfrm>
          <a:prstGeom prst="chevron">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300" dirty="0">
              <a:solidFill>
                <a:schemeClr val="tx1"/>
              </a:solidFill>
            </a:endParaRPr>
          </a:p>
        </p:txBody>
      </p:sp>
      <p:sp>
        <p:nvSpPr>
          <p:cNvPr id="16" name="Arrow: Pentagon 15">
            <a:extLst>
              <a:ext uri="{FF2B5EF4-FFF2-40B4-BE49-F238E27FC236}">
                <a16:creationId xmlns:a16="http://schemas.microsoft.com/office/drawing/2014/main" id="{A1E73A89-B78F-4C21-AFD5-B5285A74BDEC}"/>
              </a:ext>
            </a:extLst>
          </p:cNvPr>
          <p:cNvSpPr/>
          <p:nvPr/>
        </p:nvSpPr>
        <p:spPr>
          <a:xfrm>
            <a:off x="9268872" y="1705677"/>
            <a:ext cx="2094701" cy="712239"/>
          </a:xfrm>
          <a:prstGeom prst="homePlate">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sz="1300" dirty="0"/>
              <a:t>Reportes</a:t>
            </a:r>
            <a:endParaRPr lang="en-CA" sz="1300" dirty="0"/>
          </a:p>
        </p:txBody>
      </p:sp>
      <p:sp>
        <p:nvSpPr>
          <p:cNvPr id="17" name="TextBox 16">
            <a:extLst>
              <a:ext uri="{FF2B5EF4-FFF2-40B4-BE49-F238E27FC236}">
                <a16:creationId xmlns:a16="http://schemas.microsoft.com/office/drawing/2014/main" id="{1AB698BD-6E20-4B5E-9277-31DA603BA672}"/>
              </a:ext>
            </a:extLst>
          </p:cNvPr>
          <p:cNvSpPr txBox="1"/>
          <p:nvPr/>
        </p:nvSpPr>
        <p:spPr>
          <a:xfrm>
            <a:off x="9268872" y="2795025"/>
            <a:ext cx="2608168" cy="2031325"/>
          </a:xfrm>
          <a:prstGeom prst="rect">
            <a:avLst/>
          </a:prstGeom>
          <a:noFill/>
        </p:spPr>
        <p:txBody>
          <a:bodyPr wrap="square" rtlCol="0">
            <a:spAutoFit/>
          </a:bodyPr>
          <a:lstStyle/>
          <a:p>
            <a:pPr algn="just"/>
            <a:r>
              <a:rPr lang="es-PE" sz="1400" dirty="0"/>
              <a:t>La aplicación desarrollada permite la emisión de reportes que presentan la siguiente información:</a:t>
            </a:r>
          </a:p>
          <a:p>
            <a:pPr marL="285750" indent="-285750" algn="just">
              <a:buFont typeface="Arial" panose="020B0604020202020204" pitchFamily="34" charset="0"/>
              <a:buChar char="•"/>
            </a:pPr>
            <a:r>
              <a:rPr lang="es-PE" sz="1400" dirty="0"/>
              <a:t>% de acceso a la actividad</a:t>
            </a:r>
          </a:p>
          <a:p>
            <a:pPr marL="285750" indent="-285750" algn="just">
              <a:buFont typeface="Arial" panose="020B0604020202020204" pitchFamily="34" charset="0"/>
              <a:buChar char="•"/>
            </a:pPr>
            <a:r>
              <a:rPr lang="es-PE" sz="1400" dirty="0"/>
              <a:t>Niveles alcanzados</a:t>
            </a:r>
          </a:p>
          <a:p>
            <a:pPr marL="285750" indent="-285750" algn="just">
              <a:buFont typeface="Arial" panose="020B0604020202020204" pitchFamily="34" charset="0"/>
              <a:buChar char="•"/>
            </a:pPr>
            <a:r>
              <a:rPr lang="es-PE" sz="1400" dirty="0"/>
              <a:t>Identificación de preguntas con mayor dificultad para los estudiantes.</a:t>
            </a:r>
          </a:p>
        </p:txBody>
      </p:sp>
      <p:sp>
        <p:nvSpPr>
          <p:cNvPr id="18" name="TextBox 17">
            <a:extLst>
              <a:ext uri="{FF2B5EF4-FFF2-40B4-BE49-F238E27FC236}">
                <a16:creationId xmlns:a16="http://schemas.microsoft.com/office/drawing/2014/main" id="{9FB467C1-0E1A-4C7B-A13D-2755A32AC54E}"/>
              </a:ext>
            </a:extLst>
          </p:cNvPr>
          <p:cNvSpPr txBox="1"/>
          <p:nvPr/>
        </p:nvSpPr>
        <p:spPr>
          <a:xfrm>
            <a:off x="3131208" y="2779785"/>
            <a:ext cx="2850082" cy="1815882"/>
          </a:xfrm>
          <a:prstGeom prst="rect">
            <a:avLst/>
          </a:prstGeom>
          <a:noFill/>
        </p:spPr>
        <p:txBody>
          <a:bodyPr wrap="square" rtlCol="0">
            <a:spAutoFit/>
          </a:bodyPr>
          <a:lstStyle/>
          <a:p>
            <a:pPr algn="just"/>
            <a:r>
              <a:rPr lang="es-PE" sz="1400" dirty="0"/>
              <a:t>Se selecciones coordinadores para poder supervisar el trabajo de los profesores con respecto al app desarrollado y guían el buen entendimiento de los reportes y el dominio del app.</a:t>
            </a:r>
          </a:p>
          <a:p>
            <a:pPr algn="just"/>
            <a:endParaRPr lang="es-PE" sz="1400" dirty="0"/>
          </a:p>
          <a:p>
            <a:pPr algn="just"/>
            <a:r>
              <a:rPr lang="es-PE" sz="1400" b="1" dirty="0"/>
              <a:t>1 coordinador x 15 docentes </a:t>
            </a:r>
            <a:endParaRPr lang="en-CA" sz="1400" b="1" dirty="0"/>
          </a:p>
        </p:txBody>
      </p:sp>
    </p:spTree>
    <p:extLst>
      <p:ext uri="{BB962C8B-B14F-4D97-AF65-F5344CB8AC3E}">
        <p14:creationId xmlns:p14="http://schemas.microsoft.com/office/powerpoint/2010/main" val="354511071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Diagonal Corners Rounded 6">
            <a:extLst>
              <a:ext uri="{FF2B5EF4-FFF2-40B4-BE49-F238E27FC236}">
                <a16:creationId xmlns:a16="http://schemas.microsoft.com/office/drawing/2014/main" id="{5DC549E6-0B6C-450B-922D-0F58D2924A72}"/>
              </a:ext>
            </a:extLst>
          </p:cNvPr>
          <p:cNvSpPr/>
          <p:nvPr/>
        </p:nvSpPr>
        <p:spPr>
          <a:xfrm>
            <a:off x="429623" y="1048649"/>
            <a:ext cx="11267440" cy="721517"/>
          </a:xfrm>
          <a:prstGeom prst="round2DiagRect">
            <a:avLst/>
          </a:prstGeom>
          <a:solidFill>
            <a:srgbClr val="C00000"/>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solidFill>
                <a:schemeClr val="bg1"/>
              </a:solidFill>
            </a:endParaRPr>
          </a:p>
        </p:txBody>
      </p:sp>
      <p:sp>
        <p:nvSpPr>
          <p:cNvPr id="2" name="Title 1">
            <a:extLst>
              <a:ext uri="{FF2B5EF4-FFF2-40B4-BE49-F238E27FC236}">
                <a16:creationId xmlns:a16="http://schemas.microsoft.com/office/drawing/2014/main" id="{16C18CE1-72D9-4719-A2FF-5C93A7E96E39}"/>
              </a:ext>
            </a:extLst>
          </p:cNvPr>
          <p:cNvSpPr>
            <a:spLocks noGrp="1"/>
          </p:cNvSpPr>
          <p:nvPr>
            <p:ph type="title"/>
          </p:nvPr>
        </p:nvSpPr>
        <p:spPr/>
        <p:txBody>
          <a:bodyPr/>
          <a:lstStyle/>
          <a:p>
            <a:r>
              <a:rPr lang="es-PE" sz="4000" dirty="0"/>
              <a:t>AGENDA</a:t>
            </a:r>
            <a:endParaRPr lang="en-CA" sz="4000" dirty="0"/>
          </a:p>
        </p:txBody>
      </p:sp>
      <p:sp>
        <p:nvSpPr>
          <p:cNvPr id="3" name="Slide Number Placeholder 2">
            <a:extLst>
              <a:ext uri="{FF2B5EF4-FFF2-40B4-BE49-F238E27FC236}">
                <a16:creationId xmlns:a16="http://schemas.microsoft.com/office/drawing/2014/main" id="{0DFD7E46-D5CE-48DD-96F3-51002A57C15D}"/>
              </a:ext>
            </a:extLst>
          </p:cNvPr>
          <p:cNvSpPr>
            <a:spLocks noGrp="1"/>
          </p:cNvSpPr>
          <p:nvPr>
            <p:ph type="sldNum" sz="quarter" idx="12"/>
          </p:nvPr>
        </p:nvSpPr>
        <p:spPr/>
        <p:txBody>
          <a:bodyPr/>
          <a:lstStyle/>
          <a:p>
            <a:fld id="{DAF31D20-51B2-49A6-91FA-1FC48A60B42D}" type="slidenum">
              <a:rPr lang="es-PE" smtClean="0"/>
              <a:t>44</a:t>
            </a:fld>
            <a:endParaRPr lang="es-PE"/>
          </a:p>
        </p:txBody>
      </p:sp>
      <p:sp>
        <p:nvSpPr>
          <p:cNvPr id="5" name="TextBox 4">
            <a:extLst>
              <a:ext uri="{FF2B5EF4-FFF2-40B4-BE49-F238E27FC236}">
                <a16:creationId xmlns:a16="http://schemas.microsoft.com/office/drawing/2014/main" id="{17CB7C5A-6404-4218-A2FD-BE386960A332}"/>
              </a:ext>
            </a:extLst>
          </p:cNvPr>
          <p:cNvSpPr txBox="1"/>
          <p:nvPr/>
        </p:nvSpPr>
        <p:spPr>
          <a:xfrm>
            <a:off x="494937" y="1249444"/>
            <a:ext cx="10739120" cy="369332"/>
          </a:xfrm>
          <a:prstGeom prst="rect">
            <a:avLst/>
          </a:prstGeom>
          <a:noFill/>
        </p:spPr>
        <p:txBody>
          <a:bodyPr wrap="square" rtlCol="0">
            <a:spAutoFit/>
          </a:bodyPr>
          <a:lstStyle/>
          <a:p>
            <a:r>
              <a:rPr lang="es-PE" b="1" dirty="0">
                <a:solidFill>
                  <a:schemeClr val="bg1"/>
                </a:solidFill>
              </a:rPr>
              <a:t>2.  Propuesta de estrategia de Educación Remedial </a:t>
            </a:r>
            <a:endParaRPr lang="en-CA" b="1" dirty="0">
              <a:solidFill>
                <a:schemeClr val="bg1"/>
              </a:solidFill>
            </a:endParaRPr>
          </a:p>
        </p:txBody>
      </p:sp>
      <p:sp>
        <p:nvSpPr>
          <p:cNvPr id="11" name="Rectangle 10">
            <a:extLst>
              <a:ext uri="{FF2B5EF4-FFF2-40B4-BE49-F238E27FC236}">
                <a16:creationId xmlns:a16="http://schemas.microsoft.com/office/drawing/2014/main" id="{73ED18D7-638E-4BF8-8DFC-833E74760777}"/>
              </a:ext>
            </a:extLst>
          </p:cNvPr>
          <p:cNvSpPr/>
          <p:nvPr/>
        </p:nvSpPr>
        <p:spPr>
          <a:xfrm>
            <a:off x="866767" y="1925671"/>
            <a:ext cx="10753725" cy="381602"/>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00050" indent="-400050">
              <a:buFont typeface="+mj-lt"/>
              <a:buAutoNum type="romanUcPeriod"/>
            </a:pPr>
            <a:r>
              <a:rPr lang="es-PE" b="1" dirty="0">
                <a:solidFill>
                  <a:schemeClr val="tx2"/>
                </a:solidFill>
              </a:rPr>
              <a:t>Información general de estrategias</a:t>
            </a:r>
            <a:endParaRPr lang="en-CA" b="1" dirty="0">
              <a:solidFill>
                <a:schemeClr val="tx2"/>
              </a:solidFill>
            </a:endParaRPr>
          </a:p>
        </p:txBody>
      </p:sp>
      <p:sp>
        <p:nvSpPr>
          <p:cNvPr id="13" name="Rectangle 12">
            <a:extLst>
              <a:ext uri="{FF2B5EF4-FFF2-40B4-BE49-F238E27FC236}">
                <a16:creationId xmlns:a16="http://schemas.microsoft.com/office/drawing/2014/main" id="{BF24706C-635F-48B8-86E0-9354C25A8312}"/>
              </a:ext>
            </a:extLst>
          </p:cNvPr>
          <p:cNvSpPr/>
          <p:nvPr/>
        </p:nvSpPr>
        <p:spPr>
          <a:xfrm>
            <a:off x="866767" y="2431388"/>
            <a:ext cx="10753725" cy="381602"/>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00050" indent="-400050">
              <a:buFont typeface="+mj-lt"/>
              <a:buAutoNum type="romanUcPeriod" startAt="2"/>
            </a:pPr>
            <a:r>
              <a:rPr lang="es-PE" b="1" dirty="0">
                <a:solidFill>
                  <a:schemeClr val="tx2"/>
                </a:solidFill>
              </a:rPr>
              <a:t>Modelo 1: Enseñanza al nivel adecuado (</a:t>
            </a:r>
            <a:r>
              <a:rPr lang="es-PE" b="1" dirty="0" err="1">
                <a:solidFill>
                  <a:schemeClr val="tx2"/>
                </a:solidFill>
              </a:rPr>
              <a:t>TaRL</a:t>
            </a:r>
            <a:r>
              <a:rPr lang="es-PE" b="1" dirty="0">
                <a:solidFill>
                  <a:schemeClr val="tx2"/>
                </a:solidFill>
              </a:rPr>
              <a:t>)</a:t>
            </a:r>
            <a:endParaRPr lang="en-CA" b="1" dirty="0">
              <a:solidFill>
                <a:schemeClr val="tx2"/>
              </a:solidFill>
            </a:endParaRPr>
          </a:p>
        </p:txBody>
      </p:sp>
      <p:sp>
        <p:nvSpPr>
          <p:cNvPr id="15" name="Rectangle 14">
            <a:extLst>
              <a:ext uri="{FF2B5EF4-FFF2-40B4-BE49-F238E27FC236}">
                <a16:creationId xmlns:a16="http://schemas.microsoft.com/office/drawing/2014/main" id="{6D048FC1-72B2-4921-BF07-AC34182DA451}"/>
              </a:ext>
            </a:extLst>
          </p:cNvPr>
          <p:cNvSpPr/>
          <p:nvPr/>
        </p:nvSpPr>
        <p:spPr>
          <a:xfrm>
            <a:off x="866767" y="4462866"/>
            <a:ext cx="10753725" cy="381602"/>
          </a:xfrm>
          <a:prstGeom prst="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00050" indent="-400050">
              <a:buFont typeface="+mj-lt"/>
              <a:buAutoNum type="romanUcPeriod" startAt="3"/>
            </a:pPr>
            <a:r>
              <a:rPr lang="es-PE" b="1" dirty="0">
                <a:solidFill>
                  <a:schemeClr val="bg1"/>
                </a:solidFill>
              </a:rPr>
              <a:t>Modelo 2: Tutoría con componente digital</a:t>
            </a:r>
            <a:endParaRPr lang="en-CA" b="1" dirty="0">
              <a:solidFill>
                <a:schemeClr val="bg1"/>
              </a:solidFill>
            </a:endParaRPr>
          </a:p>
        </p:txBody>
      </p:sp>
      <p:sp>
        <p:nvSpPr>
          <p:cNvPr id="18" name="TextBox 17">
            <a:extLst>
              <a:ext uri="{FF2B5EF4-FFF2-40B4-BE49-F238E27FC236}">
                <a16:creationId xmlns:a16="http://schemas.microsoft.com/office/drawing/2014/main" id="{1472411D-B88F-4453-A39D-EDA418DB8DC9}"/>
              </a:ext>
            </a:extLst>
          </p:cNvPr>
          <p:cNvSpPr txBox="1"/>
          <p:nvPr/>
        </p:nvSpPr>
        <p:spPr>
          <a:xfrm>
            <a:off x="1104891" y="2871988"/>
            <a:ext cx="10277475" cy="1569660"/>
          </a:xfrm>
          <a:prstGeom prst="rect">
            <a:avLst/>
          </a:prstGeom>
          <a:noFill/>
        </p:spPr>
        <p:txBody>
          <a:bodyPr wrap="square" rtlCol="0">
            <a:spAutoFit/>
          </a:bodyPr>
          <a:lstStyle/>
          <a:p>
            <a:pPr marL="285750" indent="-285750">
              <a:buFont typeface="Wingdings" panose="05000000000000000000" pitchFamily="2" charset="2"/>
              <a:buChar char="§"/>
            </a:pPr>
            <a:r>
              <a:rPr lang="es-PE" sz="1200" dirty="0">
                <a:solidFill>
                  <a:schemeClr val="bg1">
                    <a:lumMod val="65000"/>
                  </a:schemeClr>
                </a:solidFill>
              </a:rPr>
              <a:t>Antecedentes</a:t>
            </a:r>
          </a:p>
          <a:p>
            <a:pPr marL="285750" indent="-285750">
              <a:buFont typeface="Wingdings" panose="05000000000000000000" pitchFamily="2" charset="2"/>
              <a:buChar char="§"/>
            </a:pPr>
            <a:r>
              <a:rPr lang="es-PE" sz="1200" dirty="0">
                <a:solidFill>
                  <a:schemeClr val="bg1">
                    <a:lumMod val="65000"/>
                  </a:schemeClr>
                </a:solidFill>
              </a:rPr>
              <a:t>El Modelo</a:t>
            </a:r>
          </a:p>
          <a:p>
            <a:pPr marL="285750" indent="-285750">
              <a:buFont typeface="Wingdings" panose="05000000000000000000" pitchFamily="2" charset="2"/>
              <a:buChar char="§"/>
            </a:pPr>
            <a:r>
              <a:rPr lang="es-PE" sz="1200" dirty="0">
                <a:solidFill>
                  <a:schemeClr val="bg1">
                    <a:lumMod val="65000"/>
                  </a:schemeClr>
                </a:solidFill>
              </a:rPr>
              <a:t>Componentes de la estrategia</a:t>
            </a:r>
          </a:p>
          <a:p>
            <a:pPr marL="285750" indent="-285750">
              <a:buFont typeface="Wingdings" panose="05000000000000000000" pitchFamily="2" charset="2"/>
              <a:buChar char="§"/>
            </a:pPr>
            <a:r>
              <a:rPr lang="es-PE" sz="1200" dirty="0">
                <a:solidFill>
                  <a:schemeClr val="bg1">
                    <a:lumMod val="65000"/>
                  </a:schemeClr>
                </a:solidFill>
              </a:rPr>
              <a:t>Focalización</a:t>
            </a:r>
          </a:p>
          <a:p>
            <a:pPr marL="285750" indent="-285750">
              <a:buFont typeface="Wingdings" panose="05000000000000000000" pitchFamily="2" charset="2"/>
              <a:buChar char="§"/>
            </a:pPr>
            <a:r>
              <a:rPr lang="es-PE" sz="1200" dirty="0">
                <a:solidFill>
                  <a:schemeClr val="bg1">
                    <a:lumMod val="65000"/>
                  </a:schemeClr>
                </a:solidFill>
              </a:rPr>
              <a:t>Cobertura</a:t>
            </a:r>
          </a:p>
          <a:p>
            <a:pPr marL="285750" indent="-285750">
              <a:buFont typeface="Wingdings" panose="05000000000000000000" pitchFamily="2" charset="2"/>
              <a:buChar char="§"/>
            </a:pPr>
            <a:r>
              <a:rPr lang="es-PE" sz="1200" dirty="0">
                <a:solidFill>
                  <a:schemeClr val="bg1">
                    <a:lumMod val="65000"/>
                  </a:schemeClr>
                </a:solidFill>
              </a:rPr>
              <a:t>Estimación de Costos</a:t>
            </a:r>
          </a:p>
          <a:p>
            <a:pPr marL="285750" indent="-285750">
              <a:buFont typeface="Wingdings" panose="05000000000000000000" pitchFamily="2" charset="2"/>
              <a:buChar char="§"/>
            </a:pPr>
            <a:r>
              <a:rPr lang="es-PE" sz="1200" dirty="0">
                <a:solidFill>
                  <a:schemeClr val="bg1">
                    <a:lumMod val="65000"/>
                  </a:schemeClr>
                </a:solidFill>
              </a:rPr>
              <a:t>Cronograma</a:t>
            </a:r>
          </a:p>
          <a:p>
            <a:pPr marL="285750" indent="-285750">
              <a:buFont typeface="Wingdings" panose="05000000000000000000" pitchFamily="2" charset="2"/>
              <a:buChar char="§"/>
            </a:pPr>
            <a:r>
              <a:rPr lang="es-PE" sz="1200" dirty="0">
                <a:solidFill>
                  <a:schemeClr val="bg1">
                    <a:lumMod val="65000"/>
                  </a:schemeClr>
                </a:solidFill>
              </a:rPr>
              <a:t>Complementariedad con otras estrategias y recomendaciones</a:t>
            </a:r>
          </a:p>
        </p:txBody>
      </p:sp>
      <p:sp>
        <p:nvSpPr>
          <p:cNvPr id="19" name="TextBox 18">
            <a:extLst>
              <a:ext uri="{FF2B5EF4-FFF2-40B4-BE49-F238E27FC236}">
                <a16:creationId xmlns:a16="http://schemas.microsoft.com/office/drawing/2014/main" id="{5947BA55-15C3-4040-9B5B-8EAC7B3B3343}"/>
              </a:ext>
            </a:extLst>
          </p:cNvPr>
          <p:cNvSpPr txBox="1"/>
          <p:nvPr/>
        </p:nvSpPr>
        <p:spPr>
          <a:xfrm>
            <a:off x="1047755" y="4980330"/>
            <a:ext cx="10277475" cy="1754326"/>
          </a:xfrm>
          <a:prstGeom prst="rect">
            <a:avLst/>
          </a:prstGeom>
          <a:noFill/>
        </p:spPr>
        <p:txBody>
          <a:bodyPr wrap="square" rtlCol="0">
            <a:spAutoFit/>
          </a:bodyPr>
          <a:lstStyle/>
          <a:p>
            <a:pPr marL="285750" indent="-285750">
              <a:buFont typeface="Wingdings" panose="05000000000000000000" pitchFamily="2" charset="2"/>
              <a:buChar char="§"/>
            </a:pPr>
            <a:r>
              <a:rPr lang="es-PE" sz="1200" dirty="0">
                <a:solidFill>
                  <a:schemeClr val="bg1">
                    <a:lumMod val="65000"/>
                  </a:schemeClr>
                </a:solidFill>
              </a:rPr>
              <a:t>Antecedentes</a:t>
            </a:r>
          </a:p>
          <a:p>
            <a:pPr marL="285750" indent="-285750">
              <a:buFont typeface="Wingdings" panose="05000000000000000000" pitchFamily="2" charset="2"/>
              <a:buChar char="§"/>
            </a:pPr>
            <a:r>
              <a:rPr lang="es-PE" sz="1200" dirty="0">
                <a:solidFill>
                  <a:schemeClr val="bg1">
                    <a:lumMod val="65000"/>
                  </a:schemeClr>
                </a:solidFill>
              </a:rPr>
              <a:t>Oportunidades</a:t>
            </a:r>
          </a:p>
          <a:p>
            <a:pPr marL="285750" indent="-285750">
              <a:buFont typeface="Wingdings" panose="05000000000000000000" pitchFamily="2" charset="2"/>
              <a:buChar char="§"/>
            </a:pPr>
            <a:r>
              <a:rPr lang="es-PE" sz="1200" dirty="0">
                <a:solidFill>
                  <a:schemeClr val="bg1">
                    <a:lumMod val="65000"/>
                  </a:schemeClr>
                </a:solidFill>
              </a:rPr>
              <a:t>El Modelo</a:t>
            </a:r>
          </a:p>
          <a:p>
            <a:pPr marL="285750" indent="-285750">
              <a:buFont typeface="Wingdings" panose="05000000000000000000" pitchFamily="2" charset="2"/>
              <a:buChar char="§"/>
            </a:pPr>
            <a:r>
              <a:rPr lang="es-PE" sz="1200" dirty="0">
                <a:solidFill>
                  <a:schemeClr val="bg1">
                    <a:lumMod val="65000"/>
                  </a:schemeClr>
                </a:solidFill>
              </a:rPr>
              <a:t>Componentes de la estrategia</a:t>
            </a:r>
          </a:p>
          <a:p>
            <a:pPr marL="285750" indent="-285750">
              <a:buFont typeface="Wingdings" panose="05000000000000000000" pitchFamily="2" charset="2"/>
              <a:buChar char="§"/>
            </a:pPr>
            <a:r>
              <a:rPr lang="es-PE" sz="1200" b="1" dirty="0">
                <a:solidFill>
                  <a:schemeClr val="tx2"/>
                </a:solidFill>
              </a:rPr>
              <a:t>Focalización</a:t>
            </a:r>
          </a:p>
          <a:p>
            <a:pPr marL="285750" indent="-285750">
              <a:buFont typeface="Wingdings" panose="05000000000000000000" pitchFamily="2" charset="2"/>
              <a:buChar char="§"/>
            </a:pPr>
            <a:r>
              <a:rPr lang="es-PE" sz="1200" dirty="0">
                <a:solidFill>
                  <a:schemeClr val="bg1">
                    <a:lumMod val="65000"/>
                  </a:schemeClr>
                </a:solidFill>
              </a:rPr>
              <a:t>Cobertura</a:t>
            </a:r>
          </a:p>
          <a:p>
            <a:pPr marL="285750" indent="-285750">
              <a:buFont typeface="Wingdings" panose="05000000000000000000" pitchFamily="2" charset="2"/>
              <a:buChar char="§"/>
            </a:pPr>
            <a:r>
              <a:rPr lang="es-PE" sz="1200" dirty="0">
                <a:solidFill>
                  <a:schemeClr val="bg1">
                    <a:lumMod val="65000"/>
                  </a:schemeClr>
                </a:solidFill>
              </a:rPr>
              <a:t>Estimación de Costos</a:t>
            </a:r>
          </a:p>
          <a:p>
            <a:pPr marL="285750" indent="-285750">
              <a:buFont typeface="Wingdings" panose="05000000000000000000" pitchFamily="2" charset="2"/>
              <a:buChar char="§"/>
            </a:pPr>
            <a:r>
              <a:rPr lang="es-PE" sz="1200" dirty="0">
                <a:solidFill>
                  <a:schemeClr val="bg1">
                    <a:lumMod val="65000"/>
                  </a:schemeClr>
                </a:solidFill>
              </a:rPr>
              <a:t>Cronograma</a:t>
            </a:r>
          </a:p>
          <a:p>
            <a:pPr marL="285750" indent="-285750">
              <a:buFont typeface="Wingdings" panose="05000000000000000000" pitchFamily="2" charset="2"/>
              <a:buChar char="§"/>
            </a:pPr>
            <a:r>
              <a:rPr lang="es-PE" sz="1200" dirty="0">
                <a:solidFill>
                  <a:schemeClr val="bg1">
                    <a:lumMod val="65000"/>
                  </a:schemeClr>
                </a:solidFill>
              </a:rPr>
              <a:t>Complementariedad con otras estrategias y recomendaciones</a:t>
            </a:r>
          </a:p>
        </p:txBody>
      </p:sp>
    </p:spTree>
    <p:extLst>
      <p:ext uri="{BB962C8B-B14F-4D97-AF65-F5344CB8AC3E}">
        <p14:creationId xmlns:p14="http://schemas.microsoft.com/office/powerpoint/2010/main" val="288956446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DADB20-4773-4F0F-905F-8ECF4DF9722E}"/>
              </a:ext>
            </a:extLst>
          </p:cNvPr>
          <p:cNvSpPr>
            <a:spLocks noGrp="1"/>
          </p:cNvSpPr>
          <p:nvPr>
            <p:ph type="title"/>
          </p:nvPr>
        </p:nvSpPr>
        <p:spPr>
          <a:xfrm>
            <a:off x="111760" y="89100"/>
            <a:ext cx="8483600" cy="1001078"/>
          </a:xfrm>
        </p:spPr>
        <p:txBody>
          <a:bodyPr/>
          <a:lstStyle/>
          <a:p>
            <a:r>
              <a:rPr lang="es-PE" dirty="0"/>
              <a:t>Focalización de IIEE y priorización</a:t>
            </a:r>
            <a:endParaRPr lang="en-CA" dirty="0"/>
          </a:p>
        </p:txBody>
      </p:sp>
      <p:sp>
        <p:nvSpPr>
          <p:cNvPr id="3" name="Slide Number Placeholder 2">
            <a:extLst>
              <a:ext uri="{FF2B5EF4-FFF2-40B4-BE49-F238E27FC236}">
                <a16:creationId xmlns:a16="http://schemas.microsoft.com/office/drawing/2014/main" id="{A108E1FB-E0E6-4C7E-B80E-1ABBE8595331}"/>
              </a:ext>
            </a:extLst>
          </p:cNvPr>
          <p:cNvSpPr>
            <a:spLocks noGrp="1"/>
          </p:cNvSpPr>
          <p:nvPr>
            <p:ph type="sldNum" sz="quarter" idx="12"/>
          </p:nvPr>
        </p:nvSpPr>
        <p:spPr>
          <a:xfrm>
            <a:off x="11806149" y="6442817"/>
            <a:ext cx="432000" cy="161977"/>
          </a:xfrm>
        </p:spPr>
        <p:txBody>
          <a:bodyPr/>
          <a:lstStyle/>
          <a:p>
            <a:fld id="{DAF31D20-51B2-49A6-91FA-1FC48A60B42D}" type="slidenum">
              <a:rPr lang="es-PE" smtClean="0"/>
              <a:t>45</a:t>
            </a:fld>
            <a:endParaRPr lang="es-PE"/>
          </a:p>
        </p:txBody>
      </p:sp>
      <p:pic>
        <p:nvPicPr>
          <p:cNvPr id="9" name="Imagen 7" descr="Logotipo, nombre de la empresa&#10;&#10;Descripción generada automáticamente">
            <a:extLst>
              <a:ext uri="{FF2B5EF4-FFF2-40B4-BE49-F238E27FC236}">
                <a16:creationId xmlns:a16="http://schemas.microsoft.com/office/drawing/2014/main" id="{3376C687-D220-4F7D-B185-B0A8AFC31CFE}"/>
              </a:ext>
            </a:extLst>
          </p:cNvPr>
          <p:cNvPicPr>
            <a:picLocks noChangeAspect="1"/>
          </p:cNvPicPr>
          <p:nvPr/>
        </p:nvPicPr>
        <p:blipFill rotWithShape="1">
          <a:blip r:embed="rId2"/>
          <a:srcRect l="20297" t="13287" r="25000" b="8042"/>
          <a:stretch/>
        </p:blipFill>
        <p:spPr>
          <a:xfrm>
            <a:off x="2000604" y="2173548"/>
            <a:ext cx="908242" cy="989668"/>
          </a:xfrm>
          <a:prstGeom prst="rect">
            <a:avLst/>
          </a:prstGeom>
        </p:spPr>
      </p:pic>
      <p:pic>
        <p:nvPicPr>
          <p:cNvPr id="10" name="Imagen 10" descr="Logotipo&#10;&#10;Descripción generada automáticamente">
            <a:extLst>
              <a:ext uri="{FF2B5EF4-FFF2-40B4-BE49-F238E27FC236}">
                <a16:creationId xmlns:a16="http://schemas.microsoft.com/office/drawing/2014/main" id="{6EB7AF49-16BD-4BB5-ADC7-7EE0B12BD54A}"/>
              </a:ext>
            </a:extLst>
          </p:cNvPr>
          <p:cNvPicPr>
            <a:picLocks noChangeAspect="1"/>
          </p:cNvPicPr>
          <p:nvPr/>
        </p:nvPicPr>
        <p:blipFill>
          <a:blip r:embed="rId3"/>
          <a:stretch>
            <a:fillRect/>
          </a:stretch>
        </p:blipFill>
        <p:spPr>
          <a:xfrm>
            <a:off x="620635" y="3378200"/>
            <a:ext cx="2190707" cy="484041"/>
          </a:xfrm>
          <a:prstGeom prst="rect">
            <a:avLst/>
          </a:prstGeom>
        </p:spPr>
      </p:pic>
      <p:pic>
        <p:nvPicPr>
          <p:cNvPr id="12" name="Imagen 17" descr="Logotipo&#10;&#10;Descripción generada automáticamente">
            <a:extLst>
              <a:ext uri="{FF2B5EF4-FFF2-40B4-BE49-F238E27FC236}">
                <a16:creationId xmlns:a16="http://schemas.microsoft.com/office/drawing/2014/main" id="{29AE4035-70D1-4EA7-B324-EFB1644E0A3C}"/>
              </a:ext>
            </a:extLst>
          </p:cNvPr>
          <p:cNvPicPr>
            <a:picLocks noChangeAspect="1"/>
          </p:cNvPicPr>
          <p:nvPr/>
        </p:nvPicPr>
        <p:blipFill rotWithShape="1">
          <a:blip r:embed="rId4"/>
          <a:srcRect l="5072" r="6159" b="-513"/>
          <a:stretch/>
        </p:blipFill>
        <p:spPr>
          <a:xfrm>
            <a:off x="568960" y="2194639"/>
            <a:ext cx="1147029" cy="923442"/>
          </a:xfrm>
          <a:prstGeom prst="rect">
            <a:avLst/>
          </a:prstGeom>
        </p:spPr>
      </p:pic>
      <p:sp>
        <p:nvSpPr>
          <p:cNvPr id="21" name="TextBox 20">
            <a:extLst>
              <a:ext uri="{FF2B5EF4-FFF2-40B4-BE49-F238E27FC236}">
                <a16:creationId xmlns:a16="http://schemas.microsoft.com/office/drawing/2014/main" id="{58FBE36E-EE25-4AEF-9BEB-6BB0768DADFD}"/>
              </a:ext>
            </a:extLst>
          </p:cNvPr>
          <p:cNvSpPr txBox="1"/>
          <p:nvPr/>
        </p:nvSpPr>
        <p:spPr>
          <a:xfrm>
            <a:off x="152400" y="911441"/>
            <a:ext cx="11511509" cy="369332"/>
          </a:xfrm>
          <a:prstGeom prst="rect">
            <a:avLst/>
          </a:prstGeom>
          <a:noFill/>
        </p:spPr>
        <p:txBody>
          <a:bodyPr wrap="square" rtlCol="0">
            <a:spAutoFit/>
          </a:bodyPr>
          <a:lstStyle/>
          <a:p>
            <a:r>
              <a:rPr lang="es-PE" b="1" dirty="0">
                <a:solidFill>
                  <a:srgbClr val="C00000"/>
                </a:solidFill>
              </a:rPr>
              <a:t>Etapa 1: </a:t>
            </a:r>
            <a:r>
              <a:rPr lang="es-PE" dirty="0">
                <a:solidFill>
                  <a:schemeClr val="tx2"/>
                </a:solidFill>
              </a:rPr>
              <a:t>Definición de indicador de necesidad de atención</a:t>
            </a:r>
            <a:endParaRPr lang="en-CA" dirty="0">
              <a:solidFill>
                <a:schemeClr val="tx2"/>
              </a:solidFill>
            </a:endParaRPr>
          </a:p>
        </p:txBody>
      </p:sp>
      <p:sp>
        <p:nvSpPr>
          <p:cNvPr id="22" name="TextBox 21">
            <a:extLst>
              <a:ext uri="{FF2B5EF4-FFF2-40B4-BE49-F238E27FC236}">
                <a16:creationId xmlns:a16="http://schemas.microsoft.com/office/drawing/2014/main" id="{4FC3F53C-4577-44CE-AC03-B53FD1938F02}"/>
              </a:ext>
            </a:extLst>
          </p:cNvPr>
          <p:cNvSpPr txBox="1"/>
          <p:nvPr/>
        </p:nvSpPr>
        <p:spPr>
          <a:xfrm>
            <a:off x="256166" y="1579733"/>
            <a:ext cx="3048000" cy="369332"/>
          </a:xfrm>
          <a:prstGeom prst="rect">
            <a:avLst/>
          </a:prstGeom>
          <a:noFill/>
        </p:spPr>
        <p:txBody>
          <a:bodyPr wrap="square" rtlCol="0">
            <a:spAutoFit/>
          </a:bodyPr>
          <a:lstStyle/>
          <a:p>
            <a:r>
              <a:rPr lang="es-PE" b="1" dirty="0">
                <a:solidFill>
                  <a:schemeClr val="tx2"/>
                </a:solidFill>
              </a:rPr>
              <a:t>I. Fuentes de información</a:t>
            </a:r>
            <a:endParaRPr lang="en-CA" b="1" dirty="0">
              <a:solidFill>
                <a:schemeClr val="tx2"/>
              </a:solidFill>
            </a:endParaRPr>
          </a:p>
        </p:txBody>
      </p:sp>
      <p:sp>
        <p:nvSpPr>
          <p:cNvPr id="23" name="TextBox 22">
            <a:extLst>
              <a:ext uri="{FF2B5EF4-FFF2-40B4-BE49-F238E27FC236}">
                <a16:creationId xmlns:a16="http://schemas.microsoft.com/office/drawing/2014/main" id="{EFB6072D-B19B-417D-A47C-56DA7EA93AA7}"/>
              </a:ext>
            </a:extLst>
          </p:cNvPr>
          <p:cNvSpPr txBox="1"/>
          <p:nvPr/>
        </p:nvSpPr>
        <p:spPr>
          <a:xfrm>
            <a:off x="256166" y="4177884"/>
            <a:ext cx="3048000" cy="369332"/>
          </a:xfrm>
          <a:prstGeom prst="rect">
            <a:avLst/>
          </a:prstGeom>
          <a:noFill/>
        </p:spPr>
        <p:txBody>
          <a:bodyPr wrap="square" rtlCol="0">
            <a:spAutoFit/>
          </a:bodyPr>
          <a:lstStyle/>
          <a:p>
            <a:r>
              <a:rPr lang="es-PE" b="1" dirty="0">
                <a:solidFill>
                  <a:schemeClr val="tx2"/>
                </a:solidFill>
              </a:rPr>
              <a:t>II. Variables Utilizadas</a:t>
            </a:r>
            <a:endParaRPr lang="en-CA" b="1" dirty="0">
              <a:solidFill>
                <a:schemeClr val="tx2"/>
              </a:solidFill>
            </a:endParaRPr>
          </a:p>
        </p:txBody>
      </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EB1486-6397-4F49-A9B8-8D70919852F2}"/>
                  </a:ext>
                </a:extLst>
              </p:cNvPr>
              <p:cNvSpPr txBox="1"/>
              <p:nvPr/>
            </p:nvSpPr>
            <p:spPr>
              <a:xfrm>
                <a:off x="256166" y="4604136"/>
                <a:ext cx="4651114" cy="1904560"/>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14:m>
                  <m:oMath xmlns:m="http://schemas.openxmlformats.org/officeDocument/2006/math">
                    <m:sSub>
                      <m:sSubPr>
                        <m:ctrlPr>
                          <a:rPr kumimoji="0" lang="es-PE" b="0" i="1" u="none" strike="noStrike" kern="1200" cap="none" spc="0" normalizeH="0" baseline="0" noProof="0" smtClean="0">
                            <a:ln>
                              <a:noFill/>
                            </a:ln>
                            <a:solidFill>
                              <a:schemeClr val="tx2"/>
                            </a:solidFill>
                            <a:effectLst/>
                            <a:uLnTx/>
                            <a:uFillTx/>
                            <a:latin typeface="Cambria Math" panose="02040503050406030204" pitchFamily="18" charset="0"/>
                            <a:ea typeface="+mn-ea"/>
                            <a:cs typeface="+mn-cs"/>
                          </a:rPr>
                        </m:ctrlPr>
                      </m:sSubPr>
                      <m:e>
                        <m:r>
                          <a:rPr kumimoji="0" lang="es-PE" b="0" i="1" u="none" strike="noStrike" kern="1200" cap="none" spc="0" normalizeH="0" baseline="0" noProof="0" smtClean="0">
                            <a:ln>
                              <a:noFill/>
                            </a:ln>
                            <a:solidFill>
                              <a:schemeClr val="tx2"/>
                            </a:solidFill>
                            <a:effectLst/>
                            <a:uLnTx/>
                            <a:uFillTx/>
                            <a:latin typeface="Cambria Math" panose="02040503050406030204" pitchFamily="18" charset="0"/>
                            <a:ea typeface="+mn-ea"/>
                            <a:cs typeface="+mn-cs"/>
                          </a:rPr>
                          <m:t>𝑥</m:t>
                        </m:r>
                      </m:e>
                      <m:sub>
                        <m:r>
                          <a:rPr kumimoji="0" lang="es-PE" b="0" i="1" u="none" strike="noStrike" kern="1200" cap="none" spc="0" normalizeH="0" baseline="0" noProof="0" smtClean="0">
                            <a:ln>
                              <a:noFill/>
                            </a:ln>
                            <a:solidFill>
                              <a:schemeClr val="tx2"/>
                            </a:solidFill>
                            <a:effectLst/>
                            <a:uLnTx/>
                            <a:uFillTx/>
                            <a:latin typeface="Cambria Math" panose="02040503050406030204" pitchFamily="18" charset="0"/>
                            <a:ea typeface="+mn-ea"/>
                            <a:cs typeface="+mn-cs"/>
                          </a:rPr>
                          <m:t>1</m:t>
                        </m:r>
                      </m:sub>
                    </m:sSub>
                    <m:r>
                      <a:rPr kumimoji="0" lang="es-PE" b="0" i="1" u="none" strike="noStrike" kern="1200" cap="none" spc="0" normalizeH="0" baseline="0" noProof="0" smtClean="0">
                        <a:ln>
                          <a:noFill/>
                        </a:ln>
                        <a:solidFill>
                          <a:schemeClr val="tx2"/>
                        </a:solidFill>
                        <a:effectLst/>
                        <a:uLnTx/>
                        <a:uFillTx/>
                        <a:latin typeface="Cambria Math" panose="02040503050406030204" pitchFamily="18" charset="0"/>
                        <a:ea typeface="+mn-ea"/>
                        <a:cs typeface="+mn-cs"/>
                      </a:rPr>
                      <m:t>:</m:t>
                    </m:r>
                  </m:oMath>
                </a14:m>
                <a:r>
                  <a:rPr kumimoji="0" lang="es-PE" sz="1300" b="0" i="0" u="none" strike="noStrike" kern="1200" cap="none" spc="0" normalizeH="0" baseline="0" noProof="0" dirty="0">
                    <a:ln>
                      <a:noFill/>
                    </a:ln>
                    <a:solidFill>
                      <a:schemeClr val="tx2"/>
                    </a:solidFill>
                    <a:effectLst/>
                    <a:uLnTx/>
                    <a:uFillTx/>
                    <a:latin typeface="Arial"/>
                    <a:ea typeface="+mn-ea"/>
                    <a:cs typeface="+mn-cs"/>
                  </a:rPr>
                  <a:t> % E</a:t>
                </a:r>
                <a:r>
                  <a:rPr kumimoji="0" lang="en-PE" sz="1300" b="0" i="0" u="none" strike="noStrike" kern="1200" cap="none" spc="0" normalizeH="0" baseline="0" noProof="0" dirty="0">
                    <a:ln>
                      <a:noFill/>
                    </a:ln>
                    <a:solidFill>
                      <a:schemeClr val="tx2"/>
                    </a:solidFill>
                    <a:effectLst/>
                    <a:uLnTx/>
                    <a:uFillTx/>
                    <a:latin typeface="Arial"/>
                    <a:ea typeface="+mn-ea"/>
                    <a:cs typeface="+mn-cs"/>
                  </a:rPr>
                  <a:t>studiante</a:t>
                </a:r>
                <a:r>
                  <a:rPr kumimoji="0" lang="es-PE" sz="1300" b="0" i="0" u="none" strike="noStrike" kern="1200" cap="none" spc="0" normalizeH="0" baseline="0" noProof="0" dirty="0">
                    <a:ln>
                      <a:noFill/>
                    </a:ln>
                    <a:solidFill>
                      <a:schemeClr val="tx2"/>
                    </a:solidFill>
                    <a:effectLst/>
                    <a:uLnTx/>
                    <a:uFillTx/>
                    <a:latin typeface="Arial"/>
                    <a:ea typeface="+mn-ea"/>
                    <a:cs typeface="+mn-cs"/>
                  </a:rPr>
                  <a:t>s en niveles de logro</a:t>
                </a:r>
                <a:r>
                  <a:rPr kumimoji="0" lang="en-PE" sz="1300" b="0" i="0" u="none" strike="noStrike" kern="1200" cap="none" spc="0" normalizeH="0" baseline="0" noProof="0" dirty="0">
                    <a:ln>
                      <a:noFill/>
                    </a:ln>
                    <a:solidFill>
                      <a:schemeClr val="tx2"/>
                    </a:solidFill>
                    <a:effectLst/>
                    <a:uLnTx/>
                    <a:uFillTx/>
                    <a:latin typeface="Arial"/>
                    <a:ea typeface="+mn-ea"/>
                    <a:cs typeface="+mn-cs"/>
                  </a:rPr>
                  <a:t> </a:t>
                </a:r>
                <a:r>
                  <a:rPr kumimoji="0" lang="es-PE" sz="1300" b="0" i="0" u="none" strike="noStrike" kern="1200" cap="none" spc="0" normalizeH="0" baseline="0" noProof="0" dirty="0">
                    <a:ln>
                      <a:noFill/>
                    </a:ln>
                    <a:solidFill>
                      <a:schemeClr val="tx2"/>
                    </a:solidFill>
                    <a:effectLst/>
                    <a:uLnTx/>
                    <a:uFillTx/>
                    <a:latin typeface="Arial"/>
                    <a:ea typeface="+mn-ea"/>
                    <a:cs typeface="+mn-cs"/>
                  </a:rPr>
                  <a:t>“</a:t>
                </a:r>
                <a:r>
                  <a:rPr kumimoji="0" lang="en-PE" sz="1300" b="0" i="0" u="none" strike="noStrike" kern="1200" cap="none" spc="0" normalizeH="0" baseline="0" noProof="0" dirty="0">
                    <a:ln>
                      <a:noFill/>
                    </a:ln>
                    <a:solidFill>
                      <a:schemeClr val="tx2"/>
                    </a:solidFill>
                    <a:effectLst/>
                    <a:uLnTx/>
                    <a:uFillTx/>
                    <a:latin typeface="Arial"/>
                    <a:ea typeface="+mn-ea"/>
                    <a:cs typeface="+mn-cs"/>
                  </a:rPr>
                  <a:t>Previo al inicio, en inicio</a:t>
                </a:r>
                <a:r>
                  <a:rPr kumimoji="0" lang="es-PE" sz="1300" b="0" i="0" u="none" strike="noStrike" kern="1200" cap="none" spc="0" normalizeH="0" baseline="0" noProof="0" dirty="0">
                    <a:ln>
                      <a:noFill/>
                    </a:ln>
                    <a:solidFill>
                      <a:schemeClr val="tx2"/>
                    </a:solidFill>
                    <a:effectLst/>
                    <a:uLnTx/>
                    <a:uFillTx/>
                    <a:latin typeface="Arial"/>
                    <a:ea typeface="+mn-ea"/>
                    <a:cs typeface="+mn-cs"/>
                  </a:rPr>
                  <a:t>” </a:t>
                </a:r>
                <a:r>
                  <a:rPr kumimoji="0" lang="en-PE" sz="1300" b="0" i="0" u="none" strike="noStrike" kern="1200" cap="none" spc="0" normalizeH="0" baseline="0" noProof="0" dirty="0">
                    <a:ln>
                      <a:noFill/>
                    </a:ln>
                    <a:solidFill>
                      <a:schemeClr val="tx2"/>
                    </a:solidFill>
                    <a:effectLst/>
                    <a:uLnTx/>
                    <a:uFillTx/>
                    <a:latin typeface="Arial"/>
                    <a:ea typeface="+mn-ea"/>
                    <a:cs typeface="+mn-cs"/>
                  </a:rPr>
                  <a:t>en matemática</a:t>
                </a:r>
                <a:r>
                  <a:rPr kumimoji="0" lang="es-PE" sz="1300" b="0" i="0" u="none" strike="noStrike" kern="1200" cap="none" spc="0" normalizeH="0" baseline="0" noProof="0" dirty="0">
                    <a:ln>
                      <a:noFill/>
                    </a:ln>
                    <a:solidFill>
                      <a:schemeClr val="tx2"/>
                    </a:solidFill>
                    <a:effectLst/>
                    <a:uLnTx/>
                    <a:uFillTx/>
                    <a:latin typeface="Arial"/>
                    <a:ea typeface="+mn-ea"/>
                    <a:cs typeface="+mn-cs"/>
                  </a:rPr>
                  <a:t>. (EM, ECE)</a:t>
                </a:r>
              </a:p>
              <a:p>
                <a:pPr marR="0" lvl="0" algn="l" defTabSz="914400" rtl="0" eaLnBrk="1" fontAlgn="auto" latinLnBrk="0" hangingPunct="1">
                  <a:lnSpc>
                    <a:spcPct val="100000"/>
                  </a:lnSpc>
                  <a:spcBef>
                    <a:spcPts val="0"/>
                  </a:spcBef>
                  <a:spcAft>
                    <a:spcPts val="0"/>
                  </a:spcAft>
                  <a:buClrTx/>
                  <a:buSzTx/>
                  <a:tabLst/>
                  <a:defRPr/>
                </a:pPr>
                <a:endParaRPr lang="es-PE" sz="1300" dirty="0">
                  <a:solidFill>
                    <a:schemeClr val="tx2"/>
                  </a:solidFill>
                  <a:latin typeface="Arial"/>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14:m>
                  <m:oMath xmlns:m="http://schemas.openxmlformats.org/officeDocument/2006/math">
                    <m:sSub>
                      <m:sSubPr>
                        <m:ctrlPr>
                          <a:rPr kumimoji="0" lang="es-PE" sz="1800" b="0" i="1" u="none" strike="noStrike" kern="1200" cap="none" spc="0" normalizeH="0" baseline="0" noProof="0" smtClean="0">
                            <a:ln>
                              <a:noFill/>
                            </a:ln>
                            <a:solidFill>
                              <a:schemeClr val="tx2"/>
                            </a:solidFill>
                            <a:effectLst/>
                            <a:uLnTx/>
                            <a:uFillTx/>
                            <a:latin typeface="Cambria Math" panose="02040503050406030204" pitchFamily="18" charset="0"/>
                            <a:ea typeface="+mn-ea"/>
                            <a:cs typeface="+mn-cs"/>
                          </a:rPr>
                        </m:ctrlPr>
                      </m:sSubPr>
                      <m:e>
                        <m:r>
                          <a:rPr kumimoji="0" lang="es-PE" sz="1800" b="0" i="1" u="none" strike="noStrike" kern="1200" cap="none" spc="0" normalizeH="0" baseline="0" noProof="0" smtClean="0">
                            <a:ln>
                              <a:noFill/>
                            </a:ln>
                            <a:solidFill>
                              <a:schemeClr val="tx2"/>
                            </a:solidFill>
                            <a:effectLst/>
                            <a:uLnTx/>
                            <a:uFillTx/>
                            <a:latin typeface="Cambria Math" panose="02040503050406030204" pitchFamily="18" charset="0"/>
                            <a:ea typeface="+mn-ea"/>
                            <a:cs typeface="+mn-cs"/>
                          </a:rPr>
                          <m:t>𝑥</m:t>
                        </m:r>
                      </m:e>
                      <m:sub>
                        <m:r>
                          <a:rPr kumimoji="0" lang="es-PE" sz="1800" b="0" i="1" u="none" strike="noStrike" kern="1200" cap="none" spc="0" normalizeH="0" baseline="0" noProof="0" smtClean="0">
                            <a:ln>
                              <a:noFill/>
                            </a:ln>
                            <a:solidFill>
                              <a:schemeClr val="tx2"/>
                            </a:solidFill>
                            <a:effectLst/>
                            <a:uLnTx/>
                            <a:uFillTx/>
                            <a:latin typeface="Cambria Math" panose="02040503050406030204" pitchFamily="18" charset="0"/>
                            <a:ea typeface="+mn-ea"/>
                            <a:cs typeface="+mn-cs"/>
                          </a:rPr>
                          <m:t>2</m:t>
                        </m:r>
                      </m:sub>
                    </m:sSub>
                    <m:r>
                      <a:rPr kumimoji="0" lang="es-PE" sz="1800" b="0" i="1" u="none" strike="noStrike" kern="1200" cap="none" spc="0" normalizeH="0" baseline="0" noProof="0" smtClean="0">
                        <a:ln>
                          <a:noFill/>
                        </a:ln>
                        <a:solidFill>
                          <a:schemeClr val="tx2"/>
                        </a:solidFill>
                        <a:effectLst/>
                        <a:uLnTx/>
                        <a:uFillTx/>
                        <a:latin typeface="Cambria Math" panose="02040503050406030204" pitchFamily="18" charset="0"/>
                        <a:ea typeface="+mn-ea"/>
                        <a:cs typeface="+mn-cs"/>
                      </a:rPr>
                      <m:t>:</m:t>
                    </m:r>
                  </m:oMath>
                </a14:m>
                <a:r>
                  <a:rPr kumimoji="0" lang="es-PE" sz="1300" b="0" i="0" u="none" strike="noStrike" kern="1200" cap="none" spc="0" normalizeH="0" baseline="0" noProof="0" dirty="0">
                    <a:ln>
                      <a:noFill/>
                    </a:ln>
                    <a:solidFill>
                      <a:schemeClr val="tx2"/>
                    </a:solidFill>
                    <a:effectLst/>
                    <a:uLnTx/>
                    <a:uFillTx/>
                    <a:latin typeface="Arial"/>
                    <a:ea typeface="+mn-ea"/>
                    <a:cs typeface="+mn-cs"/>
                  </a:rPr>
                  <a:t> % E</a:t>
                </a:r>
                <a:r>
                  <a:rPr kumimoji="0" lang="en-PE" sz="1300" b="0" i="0" u="none" strike="noStrike" kern="1200" cap="none" spc="0" normalizeH="0" baseline="0" noProof="0" dirty="0">
                    <a:ln>
                      <a:noFill/>
                    </a:ln>
                    <a:solidFill>
                      <a:schemeClr val="tx2"/>
                    </a:solidFill>
                    <a:effectLst/>
                    <a:uLnTx/>
                    <a:uFillTx/>
                    <a:latin typeface="Arial"/>
                    <a:ea typeface="+mn-ea"/>
                    <a:cs typeface="+mn-cs"/>
                  </a:rPr>
                  <a:t>studiante</a:t>
                </a:r>
                <a:r>
                  <a:rPr kumimoji="0" lang="es-PE" sz="1300" b="0" i="0" u="none" strike="noStrike" kern="1200" cap="none" spc="0" normalizeH="0" baseline="0" noProof="0" dirty="0">
                    <a:ln>
                      <a:noFill/>
                    </a:ln>
                    <a:solidFill>
                      <a:schemeClr val="tx2"/>
                    </a:solidFill>
                    <a:effectLst/>
                    <a:uLnTx/>
                    <a:uFillTx/>
                    <a:latin typeface="Arial"/>
                    <a:ea typeface="+mn-ea"/>
                    <a:cs typeface="+mn-cs"/>
                  </a:rPr>
                  <a:t>s en niveles de logro</a:t>
                </a:r>
                <a:r>
                  <a:rPr kumimoji="0" lang="en-PE" sz="1300" b="0" i="0" u="none" strike="noStrike" kern="1200" cap="none" spc="0" normalizeH="0" baseline="0" noProof="0" dirty="0">
                    <a:ln>
                      <a:noFill/>
                    </a:ln>
                    <a:solidFill>
                      <a:schemeClr val="tx2"/>
                    </a:solidFill>
                    <a:effectLst/>
                    <a:uLnTx/>
                    <a:uFillTx/>
                    <a:latin typeface="Arial"/>
                    <a:ea typeface="+mn-ea"/>
                    <a:cs typeface="+mn-cs"/>
                  </a:rPr>
                  <a:t> </a:t>
                </a:r>
                <a:r>
                  <a:rPr kumimoji="0" lang="es-PE" sz="1300" b="0" i="0" u="none" strike="noStrike" kern="1200" cap="none" spc="0" normalizeH="0" baseline="0" noProof="0" dirty="0">
                    <a:ln>
                      <a:noFill/>
                    </a:ln>
                    <a:solidFill>
                      <a:schemeClr val="tx2"/>
                    </a:solidFill>
                    <a:effectLst/>
                    <a:uLnTx/>
                    <a:uFillTx/>
                    <a:latin typeface="Arial"/>
                    <a:ea typeface="+mn-ea"/>
                    <a:cs typeface="+mn-cs"/>
                  </a:rPr>
                  <a:t>“</a:t>
                </a:r>
                <a:r>
                  <a:rPr kumimoji="0" lang="en-PE" sz="1300" b="0" i="0" u="none" strike="noStrike" kern="1200" cap="none" spc="0" normalizeH="0" baseline="0" noProof="0" dirty="0">
                    <a:ln>
                      <a:noFill/>
                    </a:ln>
                    <a:solidFill>
                      <a:schemeClr val="tx2"/>
                    </a:solidFill>
                    <a:effectLst/>
                    <a:uLnTx/>
                    <a:uFillTx/>
                    <a:latin typeface="Arial"/>
                    <a:ea typeface="+mn-ea"/>
                    <a:cs typeface="+mn-cs"/>
                  </a:rPr>
                  <a:t>Previo al inicio, en inicio</a:t>
                </a:r>
                <a:r>
                  <a:rPr kumimoji="0" lang="es-PE" sz="1300" b="0" i="0" u="none" strike="noStrike" kern="1200" cap="none" spc="0" normalizeH="0" baseline="0" noProof="0" dirty="0">
                    <a:ln>
                      <a:noFill/>
                    </a:ln>
                    <a:solidFill>
                      <a:schemeClr val="tx2"/>
                    </a:solidFill>
                    <a:effectLst/>
                    <a:uLnTx/>
                    <a:uFillTx/>
                    <a:latin typeface="Arial"/>
                    <a:ea typeface="+mn-ea"/>
                    <a:cs typeface="+mn-cs"/>
                  </a:rPr>
                  <a:t>” </a:t>
                </a:r>
                <a:r>
                  <a:rPr kumimoji="0" lang="en-PE" sz="1300" b="0" i="0" u="none" strike="noStrike" kern="1200" cap="none" spc="0" normalizeH="0" baseline="0" noProof="0" dirty="0">
                    <a:ln>
                      <a:noFill/>
                    </a:ln>
                    <a:solidFill>
                      <a:schemeClr val="tx2"/>
                    </a:solidFill>
                    <a:effectLst/>
                    <a:uLnTx/>
                    <a:uFillTx/>
                    <a:latin typeface="Arial"/>
                    <a:ea typeface="+mn-ea"/>
                    <a:cs typeface="+mn-cs"/>
                  </a:rPr>
                  <a:t>en</a:t>
                </a:r>
                <a:r>
                  <a:rPr lang="es-PE" sz="1300" dirty="0">
                    <a:solidFill>
                      <a:schemeClr val="tx2"/>
                    </a:solidFill>
                    <a:latin typeface="Arial"/>
                  </a:rPr>
                  <a:t> lenguaje</a:t>
                </a:r>
                <a:r>
                  <a:rPr kumimoji="0" lang="es-PE" sz="1300" b="0" i="0" u="none" strike="noStrike" kern="1200" cap="none" spc="0" normalizeH="0" baseline="0" noProof="0" dirty="0">
                    <a:ln>
                      <a:noFill/>
                    </a:ln>
                    <a:solidFill>
                      <a:schemeClr val="tx2"/>
                    </a:solidFill>
                    <a:effectLst/>
                    <a:uLnTx/>
                    <a:uFillTx/>
                    <a:latin typeface="Arial"/>
                    <a:ea typeface="+mn-ea"/>
                    <a:cs typeface="+mn-cs"/>
                  </a:rPr>
                  <a:t>. (EM, ECE)</a:t>
                </a:r>
              </a:p>
              <a:p>
                <a:pPr marR="0" lvl="0" algn="l" defTabSz="914400" rtl="0" eaLnBrk="1" fontAlgn="auto" latinLnBrk="0" hangingPunct="1">
                  <a:lnSpc>
                    <a:spcPct val="100000"/>
                  </a:lnSpc>
                  <a:spcBef>
                    <a:spcPts val="0"/>
                  </a:spcBef>
                  <a:spcAft>
                    <a:spcPts val="0"/>
                  </a:spcAft>
                  <a:buClrTx/>
                  <a:buSzTx/>
                  <a:tabLst/>
                  <a:defRPr/>
                </a:pPr>
                <a:endParaRPr lang="es-PE" sz="1300" dirty="0">
                  <a:solidFill>
                    <a:schemeClr val="tx2"/>
                  </a:solidFill>
                  <a:latin typeface="Arial"/>
                </a:endParaRPr>
              </a:p>
              <a:p>
                <a:pPr marL="285750" indent="-285750">
                  <a:buFont typeface="Arial" panose="020B0604020202020204" pitchFamily="34" charset="0"/>
                  <a:buChar char="•"/>
                  <a:defRPr/>
                </a:pPr>
                <a14:m>
                  <m:oMath xmlns:m="http://schemas.openxmlformats.org/officeDocument/2006/math">
                    <m:sSub>
                      <m:sSubPr>
                        <m:ctrlPr>
                          <a:rPr kumimoji="0" lang="es-PE" sz="1800" b="0" i="1" u="none" strike="noStrike" kern="1200" cap="none" spc="0" normalizeH="0" baseline="0" noProof="0" smtClean="0">
                            <a:ln>
                              <a:noFill/>
                            </a:ln>
                            <a:solidFill>
                              <a:schemeClr val="tx2"/>
                            </a:solidFill>
                            <a:effectLst/>
                            <a:uLnTx/>
                            <a:uFillTx/>
                            <a:latin typeface="Cambria Math" panose="02040503050406030204" pitchFamily="18" charset="0"/>
                            <a:ea typeface="+mn-ea"/>
                            <a:cs typeface="+mn-cs"/>
                          </a:rPr>
                        </m:ctrlPr>
                      </m:sSubPr>
                      <m:e>
                        <m:r>
                          <a:rPr kumimoji="0" lang="es-PE" sz="1800" b="0" i="1" u="none" strike="noStrike" kern="1200" cap="none" spc="0" normalizeH="0" baseline="0" noProof="0" smtClean="0">
                            <a:ln>
                              <a:noFill/>
                            </a:ln>
                            <a:solidFill>
                              <a:schemeClr val="tx2"/>
                            </a:solidFill>
                            <a:effectLst/>
                            <a:uLnTx/>
                            <a:uFillTx/>
                            <a:latin typeface="Cambria Math" panose="02040503050406030204" pitchFamily="18" charset="0"/>
                            <a:ea typeface="+mn-ea"/>
                            <a:cs typeface="+mn-cs"/>
                          </a:rPr>
                          <m:t>𝑥</m:t>
                        </m:r>
                      </m:e>
                      <m:sub>
                        <m:r>
                          <a:rPr kumimoji="0" lang="es-PE" sz="1800" b="0" i="1" u="none" strike="noStrike" kern="1200" cap="none" spc="0" normalizeH="0" baseline="0" noProof="0" smtClean="0">
                            <a:ln>
                              <a:noFill/>
                            </a:ln>
                            <a:solidFill>
                              <a:schemeClr val="tx2"/>
                            </a:solidFill>
                            <a:effectLst/>
                            <a:uLnTx/>
                            <a:uFillTx/>
                            <a:latin typeface="Cambria Math" panose="02040503050406030204" pitchFamily="18" charset="0"/>
                            <a:ea typeface="+mn-ea"/>
                            <a:cs typeface="+mn-cs"/>
                          </a:rPr>
                          <m:t>3</m:t>
                        </m:r>
                      </m:sub>
                    </m:sSub>
                    <m:r>
                      <a:rPr kumimoji="0" lang="es-PE" sz="1800" b="0" i="1" u="none" strike="noStrike" kern="1200" cap="none" spc="0" normalizeH="0" baseline="0" noProof="0" smtClean="0">
                        <a:ln>
                          <a:noFill/>
                        </a:ln>
                        <a:solidFill>
                          <a:schemeClr val="tx2"/>
                        </a:solidFill>
                        <a:effectLst/>
                        <a:uLnTx/>
                        <a:uFillTx/>
                        <a:latin typeface="Cambria Math" panose="02040503050406030204" pitchFamily="18" charset="0"/>
                        <a:ea typeface="+mn-ea"/>
                        <a:cs typeface="+mn-cs"/>
                      </a:rPr>
                      <m:t>:</m:t>
                    </m:r>
                  </m:oMath>
                </a14:m>
                <a:r>
                  <a:rPr kumimoji="0" lang="es-PE" sz="1300" b="0" i="0" u="none" strike="noStrike" kern="1200" cap="none" spc="0" normalizeH="0" baseline="0" noProof="0" dirty="0">
                    <a:ln>
                      <a:noFill/>
                    </a:ln>
                    <a:solidFill>
                      <a:schemeClr val="tx2"/>
                    </a:solidFill>
                    <a:effectLst/>
                    <a:uLnTx/>
                    <a:uFillTx/>
                    <a:latin typeface="Arial"/>
                    <a:ea typeface="+mn-ea"/>
                    <a:cs typeface="+mn-cs"/>
                  </a:rPr>
                  <a:t> </a:t>
                </a:r>
                <a:r>
                  <a:rPr lang="es-PE" sz="1300" dirty="0">
                    <a:solidFill>
                      <a:schemeClr val="tx2"/>
                    </a:solidFill>
                  </a:rPr>
                  <a:t>% de a</a:t>
                </a:r>
                <a:r>
                  <a:rPr lang="en-PE" sz="1300" dirty="0">
                    <a:solidFill>
                      <a:schemeClr val="tx2"/>
                    </a:solidFill>
                  </a:rPr>
                  <a:t>lumnos en Promoción Guiada al finalizar el 2020</a:t>
                </a:r>
                <a:r>
                  <a:rPr lang="es-PE" sz="1300" dirty="0">
                    <a:solidFill>
                      <a:schemeClr val="tx2"/>
                    </a:solidFill>
                  </a:rPr>
                  <a:t>. (SIAGIE)</a:t>
                </a:r>
                <a:endParaRPr lang="en-CA" sz="1300" dirty="0">
                  <a:solidFill>
                    <a:schemeClr val="tx2"/>
                  </a:solidFill>
                </a:endParaRPr>
              </a:p>
            </p:txBody>
          </p:sp>
        </mc:Choice>
        <mc:Fallback xmlns="">
          <p:sp>
            <p:nvSpPr>
              <p:cNvPr id="25" name="TextBox 24">
                <a:extLst>
                  <a:ext uri="{FF2B5EF4-FFF2-40B4-BE49-F238E27FC236}">
                    <a16:creationId xmlns:a16="http://schemas.microsoft.com/office/drawing/2014/main" id="{FEEB1486-6397-4F49-A9B8-8D70919852F2}"/>
                  </a:ext>
                </a:extLst>
              </p:cNvPr>
              <p:cNvSpPr txBox="1">
                <a:spLocks noRot="1" noChangeAspect="1" noMove="1" noResize="1" noEditPoints="1" noAdjustHandles="1" noChangeArrowheads="1" noChangeShapeType="1" noTextEdit="1"/>
              </p:cNvSpPr>
              <p:nvPr/>
            </p:nvSpPr>
            <p:spPr>
              <a:xfrm>
                <a:off x="256166" y="4604136"/>
                <a:ext cx="4651114" cy="1904560"/>
              </a:xfrm>
              <a:prstGeom prst="rect">
                <a:avLst/>
              </a:prstGeom>
              <a:blipFill>
                <a:blip r:embed="rId5"/>
                <a:stretch>
                  <a:fillRect l="-786" t="-319" b="-1597"/>
                </a:stretch>
              </a:blipFill>
            </p:spPr>
            <p:txBody>
              <a:bodyPr/>
              <a:lstStyle/>
              <a:p>
                <a:r>
                  <a:rPr lang="en-CA">
                    <a:noFill/>
                  </a:rPr>
                  <a:t> </a:t>
                </a:r>
              </a:p>
            </p:txBody>
          </p:sp>
        </mc:Fallback>
      </mc:AlternateContent>
      <p:sp>
        <p:nvSpPr>
          <p:cNvPr id="26" name="TextBox 25">
            <a:extLst>
              <a:ext uri="{FF2B5EF4-FFF2-40B4-BE49-F238E27FC236}">
                <a16:creationId xmlns:a16="http://schemas.microsoft.com/office/drawing/2014/main" id="{499CDF89-0327-4ABE-9CF2-32E97CE112A8}"/>
              </a:ext>
            </a:extLst>
          </p:cNvPr>
          <p:cNvSpPr txBox="1"/>
          <p:nvPr/>
        </p:nvSpPr>
        <p:spPr>
          <a:xfrm>
            <a:off x="5588000" y="1579733"/>
            <a:ext cx="5496559" cy="369332"/>
          </a:xfrm>
          <a:prstGeom prst="rect">
            <a:avLst/>
          </a:prstGeom>
          <a:noFill/>
        </p:spPr>
        <p:txBody>
          <a:bodyPr wrap="square" rtlCol="0">
            <a:spAutoFit/>
          </a:bodyPr>
          <a:lstStyle/>
          <a:p>
            <a:r>
              <a:rPr lang="es-PE" b="1" dirty="0">
                <a:solidFill>
                  <a:schemeClr val="tx2"/>
                </a:solidFill>
              </a:rPr>
              <a:t>III.  Indicador de necesidad de atención</a:t>
            </a:r>
            <a:r>
              <a:rPr lang="es-PE" b="1" baseline="70000" dirty="0">
                <a:solidFill>
                  <a:schemeClr val="tx2"/>
                </a:solidFill>
              </a:rPr>
              <a:t>2</a:t>
            </a:r>
            <a:endParaRPr lang="en-CA" b="1" baseline="70000" dirty="0">
              <a:solidFill>
                <a:schemeClr val="tx2"/>
              </a:solidFill>
            </a:endParaRPr>
          </a:p>
        </p:txBody>
      </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4E16D98B-E52C-4284-85A6-EC02DAD878B5}"/>
                  </a:ext>
                </a:extLst>
              </p:cNvPr>
              <p:cNvSpPr txBox="1"/>
              <p:nvPr/>
            </p:nvSpPr>
            <p:spPr>
              <a:xfrm>
                <a:off x="5908154" y="2085551"/>
                <a:ext cx="4988559"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s-PE" sz="1600" b="1" i="1" smtClean="0">
                              <a:solidFill>
                                <a:schemeClr val="tx2"/>
                              </a:solidFill>
                              <a:latin typeface="Cambria Math" panose="02040503050406030204" pitchFamily="18" charset="0"/>
                            </a:rPr>
                          </m:ctrlPr>
                        </m:sSubPr>
                        <m:e>
                          <m:r>
                            <a:rPr lang="es-PE" sz="1600" b="1" i="1" smtClean="0">
                              <a:solidFill>
                                <a:schemeClr val="tx2"/>
                              </a:solidFill>
                              <a:latin typeface="Cambria Math" panose="02040503050406030204" pitchFamily="18" charset="0"/>
                            </a:rPr>
                            <m:t>𝑰</m:t>
                          </m:r>
                        </m:e>
                        <m:sub>
                          <m:r>
                            <a:rPr lang="es-PE" sz="1600" b="1" i="1" smtClean="0">
                              <a:solidFill>
                                <a:schemeClr val="tx2"/>
                              </a:solidFill>
                              <a:latin typeface="Cambria Math" panose="02040503050406030204" pitchFamily="18" charset="0"/>
                            </a:rPr>
                            <m:t>𝒊</m:t>
                          </m:r>
                        </m:sub>
                      </m:sSub>
                      <m:r>
                        <a:rPr lang="es-PE" sz="1600" b="1" i="1" smtClean="0">
                          <a:solidFill>
                            <a:schemeClr val="tx2"/>
                          </a:solidFill>
                          <a:latin typeface="Cambria Math" panose="02040503050406030204" pitchFamily="18" charset="0"/>
                        </a:rPr>
                        <m:t>=</m:t>
                      </m:r>
                      <m:d>
                        <m:dPr>
                          <m:ctrlPr>
                            <a:rPr lang="es-PE" sz="1600" b="1" i="1" smtClean="0">
                              <a:solidFill>
                                <a:schemeClr val="tx2"/>
                              </a:solidFill>
                              <a:latin typeface="Cambria Math" panose="02040503050406030204" pitchFamily="18" charset="0"/>
                            </a:rPr>
                          </m:ctrlPr>
                        </m:dPr>
                        <m:e>
                          <m:r>
                            <a:rPr lang="es-PE" sz="1600" b="1" i="1" smtClean="0">
                              <a:solidFill>
                                <a:schemeClr val="tx2"/>
                              </a:solidFill>
                              <a:latin typeface="Cambria Math" panose="02040503050406030204" pitchFamily="18" charset="0"/>
                            </a:rPr>
                            <m:t>𝟎</m:t>
                          </m:r>
                          <m:r>
                            <a:rPr lang="es-PE" sz="1600" b="1" i="1" smtClean="0">
                              <a:solidFill>
                                <a:schemeClr val="tx2"/>
                              </a:solidFill>
                              <a:latin typeface="Cambria Math" panose="02040503050406030204" pitchFamily="18" charset="0"/>
                            </a:rPr>
                            <m:t>.</m:t>
                          </m:r>
                          <m:r>
                            <a:rPr lang="es-PE" sz="1600" b="1" i="1" smtClean="0">
                              <a:solidFill>
                                <a:schemeClr val="tx2"/>
                              </a:solidFill>
                              <a:latin typeface="Cambria Math" panose="02040503050406030204" pitchFamily="18" charset="0"/>
                            </a:rPr>
                            <m:t>𝟒</m:t>
                          </m:r>
                        </m:e>
                      </m:d>
                      <m:sSub>
                        <m:sSubPr>
                          <m:ctrlPr>
                            <a:rPr lang="es-PE" sz="1600" b="1" i="1">
                              <a:solidFill>
                                <a:schemeClr val="tx2"/>
                              </a:solidFill>
                              <a:latin typeface="Cambria Math" panose="02040503050406030204" pitchFamily="18" charset="0"/>
                            </a:rPr>
                          </m:ctrlPr>
                        </m:sSubPr>
                        <m:e>
                          <m:r>
                            <a:rPr lang="es-PE" sz="1600" b="1" i="1">
                              <a:solidFill>
                                <a:schemeClr val="tx2"/>
                              </a:solidFill>
                              <a:latin typeface="Cambria Math" panose="02040503050406030204" pitchFamily="18" charset="0"/>
                            </a:rPr>
                            <m:t>𝒙</m:t>
                          </m:r>
                        </m:e>
                        <m:sub>
                          <m:r>
                            <a:rPr lang="es-PE" sz="1600" b="1" i="1">
                              <a:solidFill>
                                <a:schemeClr val="tx2"/>
                              </a:solidFill>
                              <a:latin typeface="Cambria Math" panose="02040503050406030204" pitchFamily="18" charset="0"/>
                            </a:rPr>
                            <m:t>𝟏</m:t>
                          </m:r>
                          <m:r>
                            <a:rPr lang="es-PE" sz="1600" b="1" i="1" smtClean="0">
                              <a:solidFill>
                                <a:schemeClr val="tx2"/>
                              </a:solidFill>
                              <a:latin typeface="Cambria Math" panose="02040503050406030204" pitchFamily="18" charset="0"/>
                            </a:rPr>
                            <m:t>𝒊</m:t>
                          </m:r>
                        </m:sub>
                      </m:sSub>
                      <m:r>
                        <a:rPr lang="es-PE" sz="1600" b="1" i="1" smtClean="0">
                          <a:solidFill>
                            <a:schemeClr val="tx2"/>
                          </a:solidFill>
                          <a:latin typeface="Cambria Math" panose="02040503050406030204" pitchFamily="18" charset="0"/>
                        </a:rPr>
                        <m:t>+</m:t>
                      </m:r>
                      <m:d>
                        <m:dPr>
                          <m:ctrlPr>
                            <a:rPr lang="es-PE" sz="1600" b="1" i="1" smtClean="0">
                              <a:solidFill>
                                <a:schemeClr val="tx2"/>
                              </a:solidFill>
                              <a:latin typeface="Cambria Math" panose="02040503050406030204" pitchFamily="18" charset="0"/>
                            </a:rPr>
                          </m:ctrlPr>
                        </m:dPr>
                        <m:e>
                          <m:r>
                            <a:rPr lang="es-PE" sz="1600" b="1" i="1" smtClean="0">
                              <a:solidFill>
                                <a:schemeClr val="tx2"/>
                              </a:solidFill>
                              <a:latin typeface="Cambria Math" panose="02040503050406030204" pitchFamily="18" charset="0"/>
                            </a:rPr>
                            <m:t>𝟎</m:t>
                          </m:r>
                          <m:r>
                            <a:rPr lang="es-PE" sz="1600" b="1" i="1" smtClean="0">
                              <a:solidFill>
                                <a:schemeClr val="tx2"/>
                              </a:solidFill>
                              <a:latin typeface="Cambria Math" panose="02040503050406030204" pitchFamily="18" charset="0"/>
                            </a:rPr>
                            <m:t>.</m:t>
                          </m:r>
                          <m:r>
                            <a:rPr lang="es-PE" sz="1600" b="1" i="1" smtClean="0">
                              <a:solidFill>
                                <a:schemeClr val="tx2"/>
                              </a:solidFill>
                              <a:latin typeface="Cambria Math" panose="02040503050406030204" pitchFamily="18" charset="0"/>
                            </a:rPr>
                            <m:t>𝟒</m:t>
                          </m:r>
                        </m:e>
                      </m:d>
                      <m:sSub>
                        <m:sSubPr>
                          <m:ctrlPr>
                            <a:rPr lang="es-PE" sz="1600" b="1" i="1">
                              <a:solidFill>
                                <a:schemeClr val="tx2"/>
                              </a:solidFill>
                              <a:latin typeface="Cambria Math" panose="02040503050406030204" pitchFamily="18" charset="0"/>
                            </a:rPr>
                          </m:ctrlPr>
                        </m:sSubPr>
                        <m:e>
                          <m:r>
                            <a:rPr lang="es-PE" sz="1600" b="1" i="1">
                              <a:solidFill>
                                <a:schemeClr val="tx2"/>
                              </a:solidFill>
                              <a:latin typeface="Cambria Math" panose="02040503050406030204" pitchFamily="18" charset="0"/>
                            </a:rPr>
                            <m:t>𝒙</m:t>
                          </m:r>
                        </m:e>
                        <m:sub>
                          <m:r>
                            <a:rPr lang="es-PE" sz="1600" b="1" i="1" smtClean="0">
                              <a:solidFill>
                                <a:schemeClr val="tx2"/>
                              </a:solidFill>
                              <a:latin typeface="Cambria Math" panose="02040503050406030204" pitchFamily="18" charset="0"/>
                            </a:rPr>
                            <m:t>𝟐</m:t>
                          </m:r>
                          <m:r>
                            <a:rPr lang="es-PE" sz="1600" b="1" i="1" smtClean="0">
                              <a:solidFill>
                                <a:schemeClr val="tx2"/>
                              </a:solidFill>
                              <a:latin typeface="Cambria Math" panose="02040503050406030204" pitchFamily="18" charset="0"/>
                            </a:rPr>
                            <m:t>𝒊</m:t>
                          </m:r>
                        </m:sub>
                      </m:sSub>
                      <m:r>
                        <a:rPr lang="es-PE" sz="1600" b="1" i="1" smtClean="0">
                          <a:solidFill>
                            <a:schemeClr val="tx2"/>
                          </a:solidFill>
                          <a:latin typeface="Cambria Math" panose="02040503050406030204" pitchFamily="18" charset="0"/>
                        </a:rPr>
                        <m:t>+(</m:t>
                      </m:r>
                      <m:r>
                        <a:rPr lang="es-PE" sz="1600" b="1" i="1" smtClean="0">
                          <a:solidFill>
                            <a:schemeClr val="tx2"/>
                          </a:solidFill>
                          <a:latin typeface="Cambria Math" panose="02040503050406030204" pitchFamily="18" charset="0"/>
                        </a:rPr>
                        <m:t>𝟎</m:t>
                      </m:r>
                      <m:r>
                        <a:rPr lang="es-PE" sz="1600" b="1" i="1" smtClean="0">
                          <a:solidFill>
                            <a:schemeClr val="tx2"/>
                          </a:solidFill>
                          <a:latin typeface="Cambria Math" panose="02040503050406030204" pitchFamily="18" charset="0"/>
                        </a:rPr>
                        <m:t>.</m:t>
                      </m:r>
                      <m:r>
                        <a:rPr lang="es-PE" sz="1600" b="1" i="1" smtClean="0">
                          <a:solidFill>
                            <a:schemeClr val="tx2"/>
                          </a:solidFill>
                          <a:latin typeface="Cambria Math" panose="02040503050406030204" pitchFamily="18" charset="0"/>
                        </a:rPr>
                        <m:t>𝟐</m:t>
                      </m:r>
                      <m:r>
                        <a:rPr lang="es-PE" sz="1600" b="1" i="1" smtClean="0">
                          <a:solidFill>
                            <a:schemeClr val="tx2"/>
                          </a:solidFill>
                          <a:latin typeface="Cambria Math" panose="02040503050406030204" pitchFamily="18" charset="0"/>
                        </a:rPr>
                        <m:t>)</m:t>
                      </m:r>
                      <m:sSub>
                        <m:sSubPr>
                          <m:ctrlPr>
                            <a:rPr lang="es-PE" sz="1600" b="1" i="1">
                              <a:solidFill>
                                <a:schemeClr val="tx2"/>
                              </a:solidFill>
                              <a:latin typeface="Cambria Math" panose="02040503050406030204" pitchFamily="18" charset="0"/>
                            </a:rPr>
                          </m:ctrlPr>
                        </m:sSubPr>
                        <m:e>
                          <m:r>
                            <a:rPr lang="es-PE" sz="1600" b="1" i="1">
                              <a:solidFill>
                                <a:schemeClr val="tx2"/>
                              </a:solidFill>
                              <a:latin typeface="Cambria Math" panose="02040503050406030204" pitchFamily="18" charset="0"/>
                            </a:rPr>
                            <m:t>𝒙</m:t>
                          </m:r>
                        </m:e>
                        <m:sub>
                          <m:r>
                            <a:rPr lang="es-PE" sz="1600" b="1" i="1" smtClean="0">
                              <a:solidFill>
                                <a:schemeClr val="tx2"/>
                              </a:solidFill>
                              <a:latin typeface="Cambria Math" panose="02040503050406030204" pitchFamily="18" charset="0"/>
                            </a:rPr>
                            <m:t>𝟑</m:t>
                          </m:r>
                          <m:r>
                            <a:rPr lang="es-PE" sz="1600" b="1" i="1" smtClean="0">
                              <a:solidFill>
                                <a:schemeClr val="tx2"/>
                              </a:solidFill>
                              <a:latin typeface="Cambria Math" panose="02040503050406030204" pitchFamily="18" charset="0"/>
                            </a:rPr>
                            <m:t>𝒊</m:t>
                          </m:r>
                        </m:sub>
                      </m:sSub>
                    </m:oMath>
                  </m:oMathPara>
                </a14:m>
                <a:endParaRPr lang="en-CA" sz="1600" b="1" i="1" dirty="0">
                  <a:solidFill>
                    <a:schemeClr val="tx2"/>
                  </a:solidFill>
                </a:endParaRPr>
              </a:p>
            </p:txBody>
          </p:sp>
        </mc:Choice>
        <mc:Fallback xmlns="">
          <p:sp>
            <p:nvSpPr>
              <p:cNvPr id="28" name="TextBox 27">
                <a:extLst>
                  <a:ext uri="{FF2B5EF4-FFF2-40B4-BE49-F238E27FC236}">
                    <a16:creationId xmlns:a16="http://schemas.microsoft.com/office/drawing/2014/main" id="{4E16D98B-E52C-4284-85A6-EC02DAD878B5}"/>
                  </a:ext>
                </a:extLst>
              </p:cNvPr>
              <p:cNvSpPr txBox="1">
                <a:spLocks noRot="1" noChangeAspect="1" noMove="1" noResize="1" noEditPoints="1" noAdjustHandles="1" noChangeArrowheads="1" noChangeShapeType="1" noTextEdit="1"/>
              </p:cNvSpPr>
              <p:nvPr/>
            </p:nvSpPr>
            <p:spPr>
              <a:xfrm>
                <a:off x="5908154" y="2085551"/>
                <a:ext cx="4988559" cy="338554"/>
              </a:xfrm>
              <a:prstGeom prst="rect">
                <a:avLst/>
              </a:prstGeom>
              <a:blipFill>
                <a:blip r:embed="rId7"/>
                <a:stretch>
                  <a:fillRect b="-10714"/>
                </a:stretch>
              </a:blipFill>
            </p:spPr>
            <p:txBody>
              <a:bodyPr/>
              <a:lstStyle/>
              <a:p>
                <a:r>
                  <a:rPr lang="en-CA">
                    <a:noFill/>
                  </a:rPr>
                  <a:t> </a:t>
                </a:r>
              </a:p>
            </p:txBody>
          </p:sp>
        </mc:Fallback>
      </mc:AlternateContent>
      <p:sp>
        <p:nvSpPr>
          <p:cNvPr id="29" name="TextBox 28">
            <a:extLst>
              <a:ext uri="{FF2B5EF4-FFF2-40B4-BE49-F238E27FC236}">
                <a16:creationId xmlns:a16="http://schemas.microsoft.com/office/drawing/2014/main" id="{FD288DD1-711C-4476-AA34-4DFB1FF8825D}"/>
              </a:ext>
            </a:extLst>
          </p:cNvPr>
          <p:cNvSpPr txBox="1"/>
          <p:nvPr/>
        </p:nvSpPr>
        <p:spPr>
          <a:xfrm>
            <a:off x="6537961" y="2556684"/>
            <a:ext cx="4196080" cy="276999"/>
          </a:xfrm>
          <a:prstGeom prst="rect">
            <a:avLst/>
          </a:prstGeom>
          <a:noFill/>
        </p:spPr>
        <p:txBody>
          <a:bodyPr wrap="square" rtlCol="0">
            <a:spAutoFit/>
          </a:bodyPr>
          <a:lstStyle/>
          <a:p>
            <a:r>
              <a:rPr lang="es-PE" sz="1200" b="1" dirty="0">
                <a:latin typeface="Calibri Light" panose="020F0302020204030204" pitchFamily="34" charset="0"/>
                <a:cs typeface="Calibri Light" panose="020F0302020204030204" pitchFamily="34" charset="0"/>
              </a:rPr>
              <a:t>Distribución de IIEE según el indicador de necesidad de atención</a:t>
            </a:r>
            <a:endParaRPr lang="en-CA" sz="1200" b="1" dirty="0">
              <a:latin typeface="Calibri Light" panose="020F0302020204030204" pitchFamily="34" charset="0"/>
              <a:cs typeface="Calibri Light" panose="020F0302020204030204" pitchFamily="34" charset="0"/>
            </a:endParaRPr>
          </a:p>
        </p:txBody>
      </p:sp>
      <p:sp>
        <p:nvSpPr>
          <p:cNvPr id="30" name="Footer Placeholder 29">
            <a:extLst>
              <a:ext uri="{FF2B5EF4-FFF2-40B4-BE49-F238E27FC236}">
                <a16:creationId xmlns:a16="http://schemas.microsoft.com/office/drawing/2014/main" id="{BC85E3BC-67CE-4DE0-90DE-FA48F1C334CD}"/>
              </a:ext>
            </a:extLst>
          </p:cNvPr>
          <p:cNvSpPr>
            <a:spLocks noGrp="1"/>
          </p:cNvSpPr>
          <p:nvPr>
            <p:ph type="ftr" sz="quarter" idx="11"/>
          </p:nvPr>
        </p:nvSpPr>
        <p:spPr>
          <a:xfrm>
            <a:off x="5847538" y="6342197"/>
            <a:ext cx="5836920" cy="369332"/>
          </a:xfrm>
        </p:spPr>
        <p:txBody>
          <a:bodyPr/>
          <a:lstStyle/>
          <a:p>
            <a:r>
              <a:rPr lang="es-ES" dirty="0"/>
              <a:t>2/Para más información sobre la metodología de construcción del indicador, revisar Anexo I</a:t>
            </a:r>
            <a:endParaRPr lang="es-PE" dirty="0"/>
          </a:p>
        </p:txBody>
      </p:sp>
      <p:sp>
        <p:nvSpPr>
          <p:cNvPr id="31" name="TextBox 30">
            <a:extLst>
              <a:ext uri="{FF2B5EF4-FFF2-40B4-BE49-F238E27FC236}">
                <a16:creationId xmlns:a16="http://schemas.microsoft.com/office/drawing/2014/main" id="{AA91BAC7-9B2D-40EF-A701-D04544F1C4BD}"/>
              </a:ext>
            </a:extLst>
          </p:cNvPr>
          <p:cNvSpPr txBox="1"/>
          <p:nvPr/>
        </p:nvSpPr>
        <p:spPr>
          <a:xfrm>
            <a:off x="152399" y="905512"/>
            <a:ext cx="11511509" cy="369332"/>
          </a:xfrm>
          <a:prstGeom prst="rect">
            <a:avLst/>
          </a:prstGeom>
          <a:noFill/>
        </p:spPr>
        <p:txBody>
          <a:bodyPr wrap="square" rtlCol="0">
            <a:spAutoFit/>
          </a:bodyPr>
          <a:lstStyle/>
          <a:p>
            <a:r>
              <a:rPr lang="es-PE" b="1" dirty="0">
                <a:solidFill>
                  <a:srgbClr val="C00000"/>
                </a:solidFill>
              </a:rPr>
              <a:t>Etapa 1: </a:t>
            </a:r>
            <a:r>
              <a:rPr lang="es-PE" dirty="0">
                <a:solidFill>
                  <a:schemeClr val="tx2"/>
                </a:solidFill>
              </a:rPr>
              <a:t>Definición de indicador de necesidad de atención</a:t>
            </a:r>
            <a:endParaRPr lang="en-CA" dirty="0">
              <a:solidFill>
                <a:schemeClr val="tx2"/>
              </a:solidFill>
            </a:endParaRPr>
          </a:p>
        </p:txBody>
      </p:sp>
      <p:pic>
        <p:nvPicPr>
          <p:cNvPr id="7" name="Picture 6">
            <a:extLst>
              <a:ext uri="{FF2B5EF4-FFF2-40B4-BE49-F238E27FC236}">
                <a16:creationId xmlns:a16="http://schemas.microsoft.com/office/drawing/2014/main" id="{7EBDF920-0C25-40B0-9294-36F2A10B9C03}"/>
              </a:ext>
            </a:extLst>
          </p:cNvPr>
          <p:cNvPicPr>
            <a:picLocks noChangeAspect="1"/>
          </p:cNvPicPr>
          <p:nvPr/>
        </p:nvPicPr>
        <p:blipFill>
          <a:blip r:embed="rId8"/>
          <a:stretch>
            <a:fillRect/>
          </a:stretch>
        </p:blipFill>
        <p:spPr>
          <a:xfrm>
            <a:off x="6370852" y="3067119"/>
            <a:ext cx="4063161" cy="2960194"/>
          </a:xfrm>
          <a:prstGeom prst="rect">
            <a:avLst/>
          </a:prstGeom>
        </p:spPr>
      </p:pic>
      <p:sp>
        <p:nvSpPr>
          <p:cNvPr id="8" name="TextBox 7">
            <a:extLst>
              <a:ext uri="{FF2B5EF4-FFF2-40B4-BE49-F238E27FC236}">
                <a16:creationId xmlns:a16="http://schemas.microsoft.com/office/drawing/2014/main" id="{53F9DB90-E53B-4EB5-A16F-619D3167E347}"/>
              </a:ext>
            </a:extLst>
          </p:cNvPr>
          <p:cNvSpPr txBox="1"/>
          <p:nvPr/>
        </p:nvSpPr>
        <p:spPr>
          <a:xfrm>
            <a:off x="9213669" y="2880926"/>
            <a:ext cx="574766" cy="276999"/>
          </a:xfrm>
          <a:prstGeom prst="rect">
            <a:avLst/>
          </a:prstGeom>
          <a:noFill/>
        </p:spPr>
        <p:txBody>
          <a:bodyPr wrap="square" rtlCol="0">
            <a:spAutoFit/>
          </a:bodyPr>
          <a:lstStyle/>
          <a:p>
            <a:r>
              <a:rPr lang="en-US" sz="1200" b="1" dirty="0">
                <a:solidFill>
                  <a:schemeClr val="tx2"/>
                </a:solidFill>
              </a:rPr>
              <a:t>0.75</a:t>
            </a:r>
            <a:endParaRPr lang="en-CA" sz="1200" b="1" dirty="0">
              <a:solidFill>
                <a:schemeClr val="tx2"/>
              </a:solidFill>
            </a:endParaRPr>
          </a:p>
        </p:txBody>
      </p:sp>
    </p:spTree>
    <p:extLst>
      <p:ext uri="{BB962C8B-B14F-4D97-AF65-F5344CB8AC3E}">
        <p14:creationId xmlns:p14="http://schemas.microsoft.com/office/powerpoint/2010/main" val="375041744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0D9F288-D7E5-4620-81FC-CB12E1182B18}"/>
              </a:ext>
            </a:extLst>
          </p:cNvPr>
          <p:cNvSpPr txBox="1"/>
          <p:nvPr/>
        </p:nvSpPr>
        <p:spPr>
          <a:xfrm>
            <a:off x="138543" y="95862"/>
            <a:ext cx="8382000"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PE" sz="3200" b="1" i="0" u="none" strike="noStrike" kern="1200" cap="none" spc="-100" normalizeH="0" baseline="0" noProof="0" dirty="0">
                <a:ln>
                  <a:noFill/>
                </a:ln>
                <a:solidFill>
                  <a:srgbClr val="324B6E"/>
                </a:solidFill>
                <a:effectLst/>
                <a:uLnTx/>
                <a:uFillTx/>
                <a:latin typeface="Arial" panose="020B0604020202020204" pitchFamily="34" charset="0"/>
                <a:ea typeface="+mj-ea"/>
                <a:cs typeface="Arial" panose="020B0604020202020204" pitchFamily="34" charset="0"/>
              </a:rPr>
              <a:t>Focalización de IIEE y priorización</a:t>
            </a:r>
            <a:endParaRPr kumimoji="0" lang="en-CA" sz="4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Arrow: Pentagon 6">
            <a:extLst>
              <a:ext uri="{FF2B5EF4-FFF2-40B4-BE49-F238E27FC236}">
                <a16:creationId xmlns:a16="http://schemas.microsoft.com/office/drawing/2014/main" id="{E8A6F737-68B0-4AED-A4C4-E69D43DA2AC1}"/>
              </a:ext>
            </a:extLst>
          </p:cNvPr>
          <p:cNvSpPr/>
          <p:nvPr/>
        </p:nvSpPr>
        <p:spPr>
          <a:xfrm>
            <a:off x="1361439" y="1084524"/>
            <a:ext cx="7159105" cy="536858"/>
          </a:xfrm>
          <a:prstGeom prst="homePlat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PE" b="1" i="0" u="none" strike="noStrike" kern="1200" cap="none" spc="0" normalizeH="0" baseline="0" noProof="0" dirty="0">
                <a:ln>
                  <a:noFill/>
                </a:ln>
                <a:solidFill>
                  <a:prstClr val="white"/>
                </a:solidFill>
                <a:effectLst/>
                <a:uLnTx/>
                <a:uFillTx/>
                <a:latin typeface="Calibri" panose="020F0502020204030204"/>
                <a:ea typeface="+mn-ea"/>
                <a:cs typeface="+mn-cs"/>
              </a:rPr>
              <a:t>Identificación</a:t>
            </a:r>
            <a:r>
              <a:rPr kumimoji="0" lang="en-US" b="1" i="0" u="none" strike="noStrike" kern="1200" cap="none" spc="0" normalizeH="0" baseline="0" noProof="0" dirty="0">
                <a:ln>
                  <a:noFill/>
                </a:ln>
                <a:solidFill>
                  <a:prstClr val="white"/>
                </a:solidFill>
                <a:effectLst/>
                <a:uLnTx/>
                <a:uFillTx/>
                <a:latin typeface="Calibri" panose="020F0502020204030204"/>
                <a:ea typeface="+mn-ea"/>
                <a:cs typeface="+mn-cs"/>
              </a:rPr>
              <a:t> de IIEE mas </a:t>
            </a:r>
            <a:r>
              <a:rPr kumimoji="0" lang="es-PE" b="1" i="0" u="none" strike="noStrike" kern="1200" cap="none" spc="0" normalizeH="0" baseline="0" noProof="0" dirty="0">
                <a:ln>
                  <a:noFill/>
                </a:ln>
                <a:solidFill>
                  <a:prstClr val="white"/>
                </a:solidFill>
                <a:effectLst/>
                <a:uLnTx/>
                <a:uFillTx/>
                <a:latin typeface="Calibri" panose="020F0502020204030204"/>
                <a:ea typeface="+mn-ea"/>
                <a:cs typeface="+mn-cs"/>
              </a:rPr>
              <a:t>vulnerables</a:t>
            </a:r>
          </a:p>
        </p:txBody>
      </p:sp>
      <p:sp>
        <p:nvSpPr>
          <p:cNvPr id="8" name="Arrow: Chevron 7">
            <a:extLst>
              <a:ext uri="{FF2B5EF4-FFF2-40B4-BE49-F238E27FC236}">
                <a16:creationId xmlns:a16="http://schemas.microsoft.com/office/drawing/2014/main" id="{57A9E469-FD5C-4D01-A174-DBFB22EB3BCF}"/>
              </a:ext>
            </a:extLst>
          </p:cNvPr>
          <p:cNvSpPr/>
          <p:nvPr/>
        </p:nvSpPr>
        <p:spPr>
          <a:xfrm>
            <a:off x="8416110" y="1084525"/>
            <a:ext cx="531949" cy="536859"/>
          </a:xfrm>
          <a:prstGeom prst="chevron">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2A5CAFE0-7938-44BD-8DD5-74D0D4ED3AD5}"/>
              </a:ext>
            </a:extLst>
          </p:cNvPr>
          <p:cNvSpPr/>
          <p:nvPr/>
        </p:nvSpPr>
        <p:spPr>
          <a:xfrm>
            <a:off x="467360" y="1084525"/>
            <a:ext cx="751840" cy="53685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a:ln>
                  <a:noFill/>
                </a:ln>
                <a:solidFill>
                  <a:prstClr val="white"/>
                </a:solidFill>
                <a:effectLst/>
                <a:uLnTx/>
                <a:uFillTx/>
                <a:latin typeface="Calibri" panose="020F0502020204030204"/>
                <a:ea typeface="+mn-ea"/>
                <a:cs typeface="+mn-cs"/>
              </a:rPr>
              <a:t>1</a:t>
            </a:r>
            <a:endParaRPr kumimoji="0" lang="en-CA" b="1"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Arrow: Pentagon 9">
            <a:extLst>
              <a:ext uri="{FF2B5EF4-FFF2-40B4-BE49-F238E27FC236}">
                <a16:creationId xmlns:a16="http://schemas.microsoft.com/office/drawing/2014/main" id="{E7079E8E-6A95-47F7-B49A-B4948B504ED5}"/>
              </a:ext>
            </a:extLst>
          </p:cNvPr>
          <p:cNvSpPr/>
          <p:nvPr/>
        </p:nvSpPr>
        <p:spPr>
          <a:xfrm>
            <a:off x="1361439" y="2830279"/>
            <a:ext cx="7159105" cy="589281"/>
          </a:xfrm>
          <a:prstGeom prst="homePlat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PE" b="1" i="0" u="none" strike="noStrike" kern="1200" cap="none" spc="0" normalizeH="0" baseline="0" noProof="0" dirty="0">
                <a:ln>
                  <a:noFill/>
                </a:ln>
                <a:solidFill>
                  <a:schemeClr val="bg1"/>
                </a:solidFill>
                <a:effectLst/>
                <a:uLnTx/>
                <a:uFillTx/>
                <a:latin typeface="Calibri" panose="020F0502020204030204"/>
                <a:ea typeface="+mn-ea"/>
                <a:cs typeface="+mn-cs"/>
              </a:rPr>
              <a:t>Criterios de priorización de atención</a:t>
            </a:r>
          </a:p>
        </p:txBody>
      </p:sp>
      <p:sp>
        <p:nvSpPr>
          <p:cNvPr id="11" name="Arrow: Chevron 10">
            <a:extLst>
              <a:ext uri="{FF2B5EF4-FFF2-40B4-BE49-F238E27FC236}">
                <a16:creationId xmlns:a16="http://schemas.microsoft.com/office/drawing/2014/main" id="{F0528123-3948-4865-B47E-7022464BBF94}"/>
              </a:ext>
            </a:extLst>
          </p:cNvPr>
          <p:cNvSpPr/>
          <p:nvPr/>
        </p:nvSpPr>
        <p:spPr>
          <a:xfrm>
            <a:off x="8416110" y="2830278"/>
            <a:ext cx="586379" cy="589281"/>
          </a:xfrm>
          <a:prstGeom prst="chevron">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B8F88E14-23F5-4618-9908-9F0D0224CD92}"/>
              </a:ext>
            </a:extLst>
          </p:cNvPr>
          <p:cNvSpPr/>
          <p:nvPr/>
        </p:nvSpPr>
        <p:spPr>
          <a:xfrm>
            <a:off x="467360" y="2830279"/>
            <a:ext cx="751840" cy="5892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a:ln>
                  <a:noFill/>
                </a:ln>
                <a:solidFill>
                  <a:prstClr val="white"/>
                </a:solidFill>
                <a:effectLst/>
                <a:uLnTx/>
                <a:uFillTx/>
                <a:latin typeface="Calibri" panose="020F0502020204030204"/>
                <a:ea typeface="+mn-ea"/>
                <a:cs typeface="+mn-cs"/>
              </a:rPr>
              <a:t>2</a:t>
            </a:r>
            <a:endParaRPr kumimoji="0" lang="en-CA" b="1"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TextBox 12">
            <a:extLst>
              <a:ext uri="{FF2B5EF4-FFF2-40B4-BE49-F238E27FC236}">
                <a16:creationId xmlns:a16="http://schemas.microsoft.com/office/drawing/2014/main" id="{E82043F6-A30E-4CBB-864C-2A3F8701287B}"/>
              </a:ext>
            </a:extLst>
          </p:cNvPr>
          <p:cNvSpPr txBox="1"/>
          <p:nvPr/>
        </p:nvSpPr>
        <p:spPr>
          <a:xfrm>
            <a:off x="1320623" y="1643056"/>
            <a:ext cx="9926671" cy="1077218"/>
          </a:xfrm>
          <a:prstGeom prst="rect">
            <a:avLst/>
          </a:prstGeom>
          <a:noFill/>
        </p:spPr>
        <p:txBody>
          <a:bodyPr wrap="square" rtlCol="0">
            <a:spAutoFit/>
          </a:bodyPr>
          <a:lstStyle/>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s-PE" sz="1600" b="0" i="0" u="none" strike="noStrike" kern="1200" cap="none" spc="0" normalizeH="0" baseline="0" noProof="0" dirty="0">
                <a:ln>
                  <a:noFill/>
                </a:ln>
                <a:solidFill>
                  <a:schemeClr val="tx2"/>
                </a:solidFill>
                <a:effectLst/>
                <a:uLnTx/>
                <a:uFillTx/>
                <a:latin typeface="Calibri" panose="020F0502020204030204"/>
                <a:ea typeface="+mn-ea"/>
                <a:cs typeface="+mn-cs"/>
              </a:rPr>
              <a:t>Se utiliza el indicador de “necesidad de atención” para identificar las IIEE con más bajo desempeño y altos niveles de matrícula en promoción guiada o estado vulnerable. </a:t>
            </a:r>
          </a:p>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lang="es-PE" sz="1600" dirty="0">
                <a:solidFill>
                  <a:schemeClr val="tx2"/>
                </a:solidFill>
                <a:latin typeface="Calibri" panose="020F0502020204030204"/>
              </a:rPr>
              <a:t>No se incluyen escuelas EIB </a:t>
            </a:r>
            <a:r>
              <a:rPr lang="es-PE" sz="1600" b="1" dirty="0">
                <a:solidFill>
                  <a:schemeClr val="tx2"/>
                </a:solidFill>
                <a:latin typeface="Calibri" panose="020F0502020204030204"/>
              </a:rPr>
              <a:t>inicialmente </a:t>
            </a:r>
            <a:r>
              <a:rPr lang="es-PE" sz="1600" dirty="0">
                <a:solidFill>
                  <a:schemeClr val="tx2"/>
                </a:solidFill>
                <a:latin typeface="Calibri" panose="020F0502020204030204"/>
              </a:rPr>
              <a:t>debido a que estas serían atendidas con Acompañamiento EIB.</a:t>
            </a:r>
          </a:p>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s-PE" sz="1600" b="0" i="0" u="none" strike="noStrike" kern="1200" cap="none" spc="0" normalizeH="0" baseline="0" noProof="0" dirty="0">
                <a:ln>
                  <a:noFill/>
                </a:ln>
                <a:solidFill>
                  <a:schemeClr val="tx2"/>
                </a:solidFill>
                <a:effectLst/>
                <a:uLnTx/>
                <a:uFillTx/>
                <a:latin typeface="Calibri" panose="020F0502020204030204"/>
                <a:ea typeface="+mn-ea"/>
                <a:cs typeface="+mn-cs"/>
              </a:rPr>
              <a:t>Se inicia el despliegue en IIEE </a:t>
            </a:r>
            <a:r>
              <a:rPr lang="es-PE" sz="1600" dirty="0">
                <a:solidFill>
                  <a:schemeClr val="tx2"/>
                </a:solidFill>
                <a:latin typeface="Calibri" panose="020F0502020204030204"/>
              </a:rPr>
              <a:t>que cuentan con </a:t>
            </a:r>
            <a:r>
              <a:rPr lang="es-PE" sz="1600" dirty="0" err="1">
                <a:solidFill>
                  <a:schemeClr val="tx2"/>
                </a:solidFill>
                <a:latin typeface="Calibri" panose="020F0502020204030204"/>
              </a:rPr>
              <a:t>tablets</a:t>
            </a:r>
            <a:r>
              <a:rPr lang="es-PE" sz="1600" dirty="0">
                <a:solidFill>
                  <a:schemeClr val="tx2"/>
                </a:solidFill>
                <a:latin typeface="Calibri" panose="020F0502020204030204"/>
              </a:rPr>
              <a:t> y </a:t>
            </a:r>
            <a:r>
              <a:rPr lang="es-PE" sz="1600" dirty="0" err="1">
                <a:solidFill>
                  <a:schemeClr val="tx2"/>
                </a:solidFill>
                <a:latin typeface="Calibri" panose="020F0502020204030204"/>
              </a:rPr>
              <a:t>asignacion</a:t>
            </a:r>
            <a:r>
              <a:rPr lang="es-PE" sz="1600" dirty="0">
                <a:solidFill>
                  <a:schemeClr val="tx2"/>
                </a:solidFill>
                <a:latin typeface="Calibri" panose="020F0502020204030204"/>
              </a:rPr>
              <a:t> de </a:t>
            </a:r>
            <a:r>
              <a:rPr lang="es-PE" sz="1600" dirty="0" err="1">
                <a:solidFill>
                  <a:schemeClr val="tx2"/>
                </a:solidFill>
                <a:latin typeface="Calibri" panose="020F0502020204030204"/>
              </a:rPr>
              <a:t>acompanaTIC</a:t>
            </a:r>
            <a:endParaRPr kumimoji="0" lang="es-PE" sz="1600" b="0" i="0" u="none" strike="noStrike" kern="1200" cap="none" spc="0" normalizeH="0" baseline="0" noProof="0" dirty="0">
              <a:ln>
                <a:noFill/>
              </a:ln>
              <a:solidFill>
                <a:schemeClr val="tx2"/>
              </a:solidFill>
              <a:effectLst/>
              <a:uLnTx/>
              <a:uFillTx/>
              <a:latin typeface="Calibri" panose="020F0502020204030204"/>
              <a:ea typeface="+mn-ea"/>
              <a:cs typeface="+mn-cs"/>
            </a:endParaRPr>
          </a:p>
        </p:txBody>
      </p:sp>
      <p:sp>
        <p:nvSpPr>
          <p:cNvPr id="14" name="TextBox 13">
            <a:extLst>
              <a:ext uri="{FF2B5EF4-FFF2-40B4-BE49-F238E27FC236}">
                <a16:creationId xmlns:a16="http://schemas.microsoft.com/office/drawing/2014/main" id="{DA11D37E-1AE9-44D8-ACDE-8960615E4216}"/>
              </a:ext>
            </a:extLst>
          </p:cNvPr>
          <p:cNvSpPr txBox="1"/>
          <p:nvPr/>
        </p:nvSpPr>
        <p:spPr>
          <a:xfrm>
            <a:off x="1320622" y="3585510"/>
            <a:ext cx="9926671" cy="1077218"/>
          </a:xfrm>
          <a:prstGeom prst="rect">
            <a:avLst/>
          </a:prstGeom>
          <a:noFill/>
        </p:spPr>
        <p:txBody>
          <a:bodyPr wrap="square" rtlCol="0">
            <a:spAutoFit/>
          </a:bodyPr>
          <a:lstStyle/>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s-PE" sz="1600" b="0" i="0" u="none" strike="noStrike" kern="1200" cap="none" spc="0" normalizeH="0" baseline="0" noProof="0" dirty="0">
                <a:ln>
                  <a:noFill/>
                </a:ln>
                <a:solidFill>
                  <a:schemeClr val="tx2"/>
                </a:solidFill>
                <a:effectLst/>
                <a:uLnTx/>
                <a:uFillTx/>
                <a:latin typeface="Calibri" panose="020F0502020204030204"/>
                <a:ea typeface="+mn-ea"/>
                <a:cs typeface="+mn-cs"/>
              </a:rPr>
              <a:t>Se estima el número de estudiantes que necesitaría educación remedial a través del número de alumnos categorizados como </a:t>
            </a:r>
            <a:r>
              <a:rPr kumimoji="0" lang="es-PE" sz="1600" b="1" i="0" u="none" strike="noStrike" kern="1200" cap="none" spc="0" normalizeH="0" baseline="0" noProof="0" dirty="0">
                <a:ln>
                  <a:noFill/>
                </a:ln>
                <a:solidFill>
                  <a:schemeClr val="tx2"/>
                </a:solidFill>
                <a:effectLst/>
                <a:uLnTx/>
                <a:uFillTx/>
                <a:latin typeface="Calibri" panose="020F0502020204030204"/>
                <a:ea typeface="+mn-ea"/>
                <a:cs typeface="+mn-cs"/>
              </a:rPr>
              <a:t>promoción guiada/requiere refuerzo/retirado </a:t>
            </a:r>
            <a:r>
              <a:rPr kumimoji="0" lang="es-PE" sz="1600" b="0" i="0" u="none" strike="noStrike" kern="1200" cap="none" spc="0" normalizeH="0" baseline="0" noProof="0" dirty="0">
                <a:ln>
                  <a:noFill/>
                </a:ln>
                <a:solidFill>
                  <a:schemeClr val="tx2"/>
                </a:solidFill>
                <a:effectLst/>
                <a:uLnTx/>
                <a:uFillTx/>
                <a:latin typeface="Calibri" panose="020F0502020204030204"/>
                <a:ea typeface="+mn-ea"/>
                <a:cs typeface="+mn-cs"/>
              </a:rPr>
              <a:t>en las IIEE seleccionadas en el paso anterior.</a:t>
            </a:r>
          </a:p>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lang="es-PE" sz="1600" b="1" dirty="0">
                <a:solidFill>
                  <a:schemeClr val="tx2"/>
                </a:solidFill>
                <a:latin typeface="Calibri" panose="020F0502020204030204"/>
              </a:rPr>
              <a:t>Primaria</a:t>
            </a:r>
            <a:r>
              <a:rPr kumimoji="0" lang="es-PE" sz="1600" b="1" i="0" u="none" strike="noStrike" kern="1200" cap="none" spc="0" normalizeH="0" baseline="0" noProof="0" dirty="0">
                <a:ln>
                  <a:noFill/>
                </a:ln>
                <a:solidFill>
                  <a:schemeClr val="tx2"/>
                </a:solidFill>
                <a:effectLst/>
                <a:uLnTx/>
                <a:uFillTx/>
                <a:latin typeface="Calibri" panose="020F0502020204030204"/>
                <a:ea typeface="+mn-ea"/>
                <a:cs typeface="+mn-cs"/>
              </a:rPr>
              <a:t>: Se prioriza 4to – 6to grado</a:t>
            </a:r>
          </a:p>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lang="es-PE" sz="1600" b="1" dirty="0">
                <a:solidFill>
                  <a:schemeClr val="tx2"/>
                </a:solidFill>
                <a:latin typeface="Calibri" panose="020F0502020204030204"/>
              </a:rPr>
              <a:t>Secundaria: 1ero y 2do año</a:t>
            </a:r>
          </a:p>
        </p:txBody>
      </p:sp>
      <p:sp>
        <p:nvSpPr>
          <p:cNvPr id="15" name="TextBox 14">
            <a:extLst>
              <a:ext uri="{FF2B5EF4-FFF2-40B4-BE49-F238E27FC236}">
                <a16:creationId xmlns:a16="http://schemas.microsoft.com/office/drawing/2014/main" id="{6B644893-5AE4-410D-9D21-BC3CD2E83170}"/>
              </a:ext>
            </a:extLst>
          </p:cNvPr>
          <p:cNvSpPr txBox="1"/>
          <p:nvPr/>
        </p:nvSpPr>
        <p:spPr>
          <a:xfrm>
            <a:off x="371566" y="604959"/>
            <a:ext cx="10779934" cy="400110"/>
          </a:xfrm>
          <a:prstGeom prst="rect">
            <a:avLst/>
          </a:prstGeom>
          <a:noFill/>
        </p:spPr>
        <p:txBody>
          <a:bodyPr wrap="square" rtlCol="0">
            <a:spAutoFit/>
          </a:bodyPr>
          <a:lstStyle/>
          <a:p>
            <a:r>
              <a:rPr lang="es-PE" sz="2000" b="1" dirty="0">
                <a:solidFill>
                  <a:srgbClr val="C00000"/>
                </a:solidFill>
              </a:rPr>
              <a:t>Etapa 2: </a:t>
            </a:r>
            <a:r>
              <a:rPr lang="es-PE" sz="2000" dirty="0">
                <a:solidFill>
                  <a:schemeClr val="tx2"/>
                </a:solidFill>
              </a:rPr>
              <a:t>Metodología de Focalización: Dos etapas</a:t>
            </a:r>
            <a:endParaRPr lang="en-CA" sz="2000" dirty="0">
              <a:solidFill>
                <a:schemeClr val="tx2"/>
              </a:solidFill>
            </a:endParaRPr>
          </a:p>
        </p:txBody>
      </p:sp>
      <p:sp>
        <p:nvSpPr>
          <p:cNvPr id="16" name="Arrow: Pentagon 15">
            <a:extLst>
              <a:ext uri="{FF2B5EF4-FFF2-40B4-BE49-F238E27FC236}">
                <a16:creationId xmlns:a16="http://schemas.microsoft.com/office/drawing/2014/main" id="{C3BD1557-7204-4FC7-8D3B-AF8631BA967C}"/>
              </a:ext>
            </a:extLst>
          </p:cNvPr>
          <p:cNvSpPr/>
          <p:nvPr/>
        </p:nvSpPr>
        <p:spPr>
          <a:xfrm>
            <a:off x="467360" y="4893469"/>
            <a:ext cx="8053183" cy="589281"/>
          </a:xfrm>
          <a:prstGeom prst="homePlat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PE" sz="2400" b="1" i="0" u="none" strike="noStrike" kern="1200" cap="none" spc="0" normalizeH="0" baseline="0" noProof="0" dirty="0">
                <a:ln>
                  <a:noFill/>
                </a:ln>
                <a:solidFill>
                  <a:schemeClr val="bg1"/>
                </a:solidFill>
                <a:effectLst/>
                <a:uLnTx/>
                <a:uFillTx/>
                <a:latin typeface="Calibri" panose="020F0502020204030204"/>
                <a:ea typeface="+mn-ea"/>
                <a:cs typeface="+mn-cs"/>
              </a:rPr>
              <a:t>Alcance</a:t>
            </a:r>
          </a:p>
        </p:txBody>
      </p:sp>
      <p:sp>
        <p:nvSpPr>
          <p:cNvPr id="17" name="Arrow: Chevron 16">
            <a:extLst>
              <a:ext uri="{FF2B5EF4-FFF2-40B4-BE49-F238E27FC236}">
                <a16:creationId xmlns:a16="http://schemas.microsoft.com/office/drawing/2014/main" id="{D62CA48C-AA61-4A91-A0D9-2B77592C328E}"/>
              </a:ext>
            </a:extLst>
          </p:cNvPr>
          <p:cNvSpPr/>
          <p:nvPr/>
        </p:nvSpPr>
        <p:spPr>
          <a:xfrm>
            <a:off x="8416110" y="4893469"/>
            <a:ext cx="586379" cy="589281"/>
          </a:xfrm>
          <a:prstGeom prst="chevron">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TextBox 18">
            <a:extLst>
              <a:ext uri="{FF2B5EF4-FFF2-40B4-BE49-F238E27FC236}">
                <a16:creationId xmlns:a16="http://schemas.microsoft.com/office/drawing/2014/main" id="{19274A9B-9D36-49E1-8B9F-FD22B94262F4}"/>
              </a:ext>
            </a:extLst>
          </p:cNvPr>
          <p:cNvSpPr txBox="1"/>
          <p:nvPr/>
        </p:nvSpPr>
        <p:spPr>
          <a:xfrm>
            <a:off x="467360" y="5632433"/>
            <a:ext cx="11263086" cy="830997"/>
          </a:xfrm>
          <a:prstGeom prst="rect">
            <a:avLst/>
          </a:prstGeom>
          <a:noFill/>
        </p:spPr>
        <p:txBody>
          <a:bodyPr wrap="square">
            <a:spAutoFit/>
          </a:bodyPr>
          <a:lstStyle/>
          <a:p>
            <a:pPr marL="285750" indent="-285750" algn="just">
              <a:buFont typeface="Wingdings" panose="05000000000000000000" pitchFamily="2" charset="2"/>
              <a:buChar char="Ø"/>
            </a:pPr>
            <a:r>
              <a:rPr lang="es-PE" sz="1600" dirty="0">
                <a:solidFill>
                  <a:srgbClr val="002060"/>
                </a:solidFill>
              </a:rPr>
              <a:t>En el 2022, se pretende llegar con estas estrategias:</a:t>
            </a:r>
          </a:p>
          <a:p>
            <a:pPr algn="just"/>
            <a:r>
              <a:rPr lang="es-PE" sz="1600" b="1" dirty="0">
                <a:solidFill>
                  <a:srgbClr val="002060"/>
                </a:solidFill>
              </a:rPr>
              <a:t>Primaria: 70% de IIEE no EIB con un indicador de necesidad mayor al 0.75.</a:t>
            </a:r>
          </a:p>
          <a:p>
            <a:pPr algn="just"/>
            <a:r>
              <a:rPr lang="es-PE" sz="1600" b="1" dirty="0">
                <a:solidFill>
                  <a:srgbClr val="002060"/>
                </a:solidFill>
              </a:rPr>
              <a:t>Secundaria : 70% de IIEE no EIB con un indicador de necesidad mayor al 0.75.</a:t>
            </a:r>
            <a:endParaRPr lang="es-PE" sz="1600" dirty="0">
              <a:solidFill>
                <a:srgbClr val="002060"/>
              </a:solidFill>
            </a:endParaRPr>
          </a:p>
        </p:txBody>
      </p:sp>
    </p:spTree>
    <p:extLst>
      <p:ext uri="{BB962C8B-B14F-4D97-AF65-F5344CB8AC3E}">
        <p14:creationId xmlns:p14="http://schemas.microsoft.com/office/powerpoint/2010/main" val="31103610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Diagonal Corners Rounded 6">
            <a:extLst>
              <a:ext uri="{FF2B5EF4-FFF2-40B4-BE49-F238E27FC236}">
                <a16:creationId xmlns:a16="http://schemas.microsoft.com/office/drawing/2014/main" id="{5DC549E6-0B6C-450B-922D-0F58D2924A72}"/>
              </a:ext>
            </a:extLst>
          </p:cNvPr>
          <p:cNvSpPr/>
          <p:nvPr/>
        </p:nvSpPr>
        <p:spPr>
          <a:xfrm>
            <a:off x="429623" y="1048649"/>
            <a:ext cx="11267440" cy="721517"/>
          </a:xfrm>
          <a:prstGeom prst="round2DiagRect">
            <a:avLst/>
          </a:prstGeom>
          <a:solidFill>
            <a:srgbClr val="C00000"/>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solidFill>
                <a:schemeClr val="bg1"/>
              </a:solidFill>
            </a:endParaRPr>
          </a:p>
        </p:txBody>
      </p:sp>
      <p:sp>
        <p:nvSpPr>
          <p:cNvPr id="2" name="Title 1">
            <a:extLst>
              <a:ext uri="{FF2B5EF4-FFF2-40B4-BE49-F238E27FC236}">
                <a16:creationId xmlns:a16="http://schemas.microsoft.com/office/drawing/2014/main" id="{16C18CE1-72D9-4719-A2FF-5C93A7E96E39}"/>
              </a:ext>
            </a:extLst>
          </p:cNvPr>
          <p:cNvSpPr>
            <a:spLocks noGrp="1"/>
          </p:cNvSpPr>
          <p:nvPr>
            <p:ph type="title"/>
          </p:nvPr>
        </p:nvSpPr>
        <p:spPr/>
        <p:txBody>
          <a:bodyPr/>
          <a:lstStyle/>
          <a:p>
            <a:r>
              <a:rPr lang="es-PE" sz="4000" dirty="0"/>
              <a:t>AGENDA</a:t>
            </a:r>
            <a:endParaRPr lang="en-CA" sz="4000" dirty="0"/>
          </a:p>
        </p:txBody>
      </p:sp>
      <p:sp>
        <p:nvSpPr>
          <p:cNvPr id="3" name="Slide Number Placeholder 2">
            <a:extLst>
              <a:ext uri="{FF2B5EF4-FFF2-40B4-BE49-F238E27FC236}">
                <a16:creationId xmlns:a16="http://schemas.microsoft.com/office/drawing/2014/main" id="{0DFD7E46-D5CE-48DD-96F3-51002A57C15D}"/>
              </a:ext>
            </a:extLst>
          </p:cNvPr>
          <p:cNvSpPr>
            <a:spLocks noGrp="1"/>
          </p:cNvSpPr>
          <p:nvPr>
            <p:ph type="sldNum" sz="quarter" idx="12"/>
          </p:nvPr>
        </p:nvSpPr>
        <p:spPr/>
        <p:txBody>
          <a:bodyPr/>
          <a:lstStyle/>
          <a:p>
            <a:fld id="{DAF31D20-51B2-49A6-91FA-1FC48A60B42D}" type="slidenum">
              <a:rPr lang="es-PE" smtClean="0"/>
              <a:t>47</a:t>
            </a:fld>
            <a:endParaRPr lang="es-PE"/>
          </a:p>
        </p:txBody>
      </p:sp>
      <p:sp>
        <p:nvSpPr>
          <p:cNvPr id="5" name="TextBox 4">
            <a:extLst>
              <a:ext uri="{FF2B5EF4-FFF2-40B4-BE49-F238E27FC236}">
                <a16:creationId xmlns:a16="http://schemas.microsoft.com/office/drawing/2014/main" id="{17CB7C5A-6404-4218-A2FD-BE386960A332}"/>
              </a:ext>
            </a:extLst>
          </p:cNvPr>
          <p:cNvSpPr txBox="1"/>
          <p:nvPr/>
        </p:nvSpPr>
        <p:spPr>
          <a:xfrm>
            <a:off x="494937" y="1249444"/>
            <a:ext cx="10739120" cy="369332"/>
          </a:xfrm>
          <a:prstGeom prst="rect">
            <a:avLst/>
          </a:prstGeom>
          <a:noFill/>
        </p:spPr>
        <p:txBody>
          <a:bodyPr wrap="square" rtlCol="0">
            <a:spAutoFit/>
          </a:bodyPr>
          <a:lstStyle/>
          <a:p>
            <a:r>
              <a:rPr lang="es-PE" b="1" dirty="0">
                <a:solidFill>
                  <a:schemeClr val="bg1"/>
                </a:solidFill>
              </a:rPr>
              <a:t>2.  Propuesta de estrategia de Educación Remedial </a:t>
            </a:r>
            <a:endParaRPr lang="en-CA" b="1" dirty="0">
              <a:solidFill>
                <a:schemeClr val="bg1"/>
              </a:solidFill>
            </a:endParaRPr>
          </a:p>
        </p:txBody>
      </p:sp>
      <p:sp>
        <p:nvSpPr>
          <p:cNvPr id="11" name="Rectangle 10">
            <a:extLst>
              <a:ext uri="{FF2B5EF4-FFF2-40B4-BE49-F238E27FC236}">
                <a16:creationId xmlns:a16="http://schemas.microsoft.com/office/drawing/2014/main" id="{73ED18D7-638E-4BF8-8DFC-833E74760777}"/>
              </a:ext>
            </a:extLst>
          </p:cNvPr>
          <p:cNvSpPr/>
          <p:nvPr/>
        </p:nvSpPr>
        <p:spPr>
          <a:xfrm>
            <a:off x="866767" y="1925671"/>
            <a:ext cx="10753725" cy="381602"/>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00050" indent="-400050">
              <a:buFont typeface="+mj-lt"/>
              <a:buAutoNum type="romanUcPeriod"/>
            </a:pPr>
            <a:r>
              <a:rPr lang="es-PE" b="1" dirty="0">
                <a:solidFill>
                  <a:schemeClr val="tx2"/>
                </a:solidFill>
              </a:rPr>
              <a:t>Información general de estrategias</a:t>
            </a:r>
            <a:endParaRPr lang="en-CA" b="1" dirty="0">
              <a:solidFill>
                <a:schemeClr val="tx2"/>
              </a:solidFill>
            </a:endParaRPr>
          </a:p>
        </p:txBody>
      </p:sp>
      <p:sp>
        <p:nvSpPr>
          <p:cNvPr id="13" name="Rectangle 12">
            <a:extLst>
              <a:ext uri="{FF2B5EF4-FFF2-40B4-BE49-F238E27FC236}">
                <a16:creationId xmlns:a16="http://schemas.microsoft.com/office/drawing/2014/main" id="{BF24706C-635F-48B8-86E0-9354C25A8312}"/>
              </a:ext>
            </a:extLst>
          </p:cNvPr>
          <p:cNvSpPr/>
          <p:nvPr/>
        </p:nvSpPr>
        <p:spPr>
          <a:xfrm>
            <a:off x="866767" y="2431388"/>
            <a:ext cx="10753725" cy="381602"/>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00050" indent="-400050">
              <a:buFont typeface="+mj-lt"/>
              <a:buAutoNum type="romanUcPeriod" startAt="2"/>
            </a:pPr>
            <a:r>
              <a:rPr lang="es-PE" b="1" dirty="0">
                <a:solidFill>
                  <a:schemeClr val="tx2"/>
                </a:solidFill>
              </a:rPr>
              <a:t>Modelo 1: Enseñanza al nivel adecuado (</a:t>
            </a:r>
            <a:r>
              <a:rPr lang="es-PE" b="1" dirty="0" err="1">
                <a:solidFill>
                  <a:schemeClr val="tx2"/>
                </a:solidFill>
              </a:rPr>
              <a:t>TaRL</a:t>
            </a:r>
            <a:r>
              <a:rPr lang="es-PE" b="1" dirty="0">
                <a:solidFill>
                  <a:schemeClr val="tx2"/>
                </a:solidFill>
              </a:rPr>
              <a:t>)</a:t>
            </a:r>
            <a:endParaRPr lang="en-CA" b="1" dirty="0">
              <a:solidFill>
                <a:schemeClr val="tx2"/>
              </a:solidFill>
            </a:endParaRPr>
          </a:p>
        </p:txBody>
      </p:sp>
      <p:sp>
        <p:nvSpPr>
          <p:cNvPr id="15" name="Rectangle 14">
            <a:extLst>
              <a:ext uri="{FF2B5EF4-FFF2-40B4-BE49-F238E27FC236}">
                <a16:creationId xmlns:a16="http://schemas.microsoft.com/office/drawing/2014/main" id="{6D048FC1-72B2-4921-BF07-AC34182DA451}"/>
              </a:ext>
            </a:extLst>
          </p:cNvPr>
          <p:cNvSpPr/>
          <p:nvPr/>
        </p:nvSpPr>
        <p:spPr>
          <a:xfrm>
            <a:off x="866767" y="4462866"/>
            <a:ext cx="10753725" cy="381602"/>
          </a:xfrm>
          <a:prstGeom prst="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00050" indent="-400050">
              <a:buFont typeface="+mj-lt"/>
              <a:buAutoNum type="romanUcPeriod" startAt="3"/>
            </a:pPr>
            <a:r>
              <a:rPr lang="es-PE" b="1" dirty="0">
                <a:solidFill>
                  <a:schemeClr val="bg1"/>
                </a:solidFill>
              </a:rPr>
              <a:t>Modelo 2: Tutoría con componente digital</a:t>
            </a:r>
            <a:endParaRPr lang="en-CA" b="1" dirty="0">
              <a:solidFill>
                <a:schemeClr val="bg1"/>
              </a:solidFill>
            </a:endParaRPr>
          </a:p>
        </p:txBody>
      </p:sp>
      <p:sp>
        <p:nvSpPr>
          <p:cNvPr id="18" name="TextBox 17">
            <a:extLst>
              <a:ext uri="{FF2B5EF4-FFF2-40B4-BE49-F238E27FC236}">
                <a16:creationId xmlns:a16="http://schemas.microsoft.com/office/drawing/2014/main" id="{1472411D-B88F-4453-A39D-EDA418DB8DC9}"/>
              </a:ext>
            </a:extLst>
          </p:cNvPr>
          <p:cNvSpPr txBox="1"/>
          <p:nvPr/>
        </p:nvSpPr>
        <p:spPr>
          <a:xfrm>
            <a:off x="1104891" y="2871988"/>
            <a:ext cx="10277475" cy="1569660"/>
          </a:xfrm>
          <a:prstGeom prst="rect">
            <a:avLst/>
          </a:prstGeom>
          <a:noFill/>
        </p:spPr>
        <p:txBody>
          <a:bodyPr wrap="square" rtlCol="0">
            <a:spAutoFit/>
          </a:bodyPr>
          <a:lstStyle/>
          <a:p>
            <a:pPr marL="285750" indent="-285750">
              <a:buFont typeface="Wingdings" panose="05000000000000000000" pitchFamily="2" charset="2"/>
              <a:buChar char="§"/>
            </a:pPr>
            <a:r>
              <a:rPr lang="es-PE" sz="1200" dirty="0">
                <a:solidFill>
                  <a:schemeClr val="bg1">
                    <a:lumMod val="65000"/>
                  </a:schemeClr>
                </a:solidFill>
              </a:rPr>
              <a:t>Antecedentes</a:t>
            </a:r>
          </a:p>
          <a:p>
            <a:pPr marL="285750" indent="-285750">
              <a:buFont typeface="Wingdings" panose="05000000000000000000" pitchFamily="2" charset="2"/>
              <a:buChar char="§"/>
            </a:pPr>
            <a:r>
              <a:rPr lang="es-PE" sz="1200" dirty="0">
                <a:solidFill>
                  <a:schemeClr val="bg1">
                    <a:lumMod val="65000"/>
                  </a:schemeClr>
                </a:solidFill>
              </a:rPr>
              <a:t>El Modelo</a:t>
            </a:r>
          </a:p>
          <a:p>
            <a:pPr marL="285750" indent="-285750">
              <a:buFont typeface="Wingdings" panose="05000000000000000000" pitchFamily="2" charset="2"/>
              <a:buChar char="§"/>
            </a:pPr>
            <a:r>
              <a:rPr lang="es-PE" sz="1200" dirty="0">
                <a:solidFill>
                  <a:schemeClr val="bg1">
                    <a:lumMod val="65000"/>
                  </a:schemeClr>
                </a:solidFill>
              </a:rPr>
              <a:t>Componentes de la estrategia</a:t>
            </a:r>
          </a:p>
          <a:p>
            <a:pPr marL="285750" indent="-285750">
              <a:buFont typeface="Wingdings" panose="05000000000000000000" pitchFamily="2" charset="2"/>
              <a:buChar char="§"/>
            </a:pPr>
            <a:r>
              <a:rPr lang="es-PE" sz="1200" dirty="0">
                <a:solidFill>
                  <a:schemeClr val="bg1">
                    <a:lumMod val="65000"/>
                  </a:schemeClr>
                </a:solidFill>
              </a:rPr>
              <a:t>Focalización</a:t>
            </a:r>
          </a:p>
          <a:p>
            <a:pPr marL="285750" indent="-285750">
              <a:buFont typeface="Wingdings" panose="05000000000000000000" pitchFamily="2" charset="2"/>
              <a:buChar char="§"/>
            </a:pPr>
            <a:r>
              <a:rPr lang="es-PE" sz="1200" dirty="0">
                <a:solidFill>
                  <a:schemeClr val="bg1">
                    <a:lumMod val="65000"/>
                  </a:schemeClr>
                </a:solidFill>
              </a:rPr>
              <a:t>Cobertura</a:t>
            </a:r>
          </a:p>
          <a:p>
            <a:pPr marL="285750" indent="-285750">
              <a:buFont typeface="Wingdings" panose="05000000000000000000" pitchFamily="2" charset="2"/>
              <a:buChar char="§"/>
            </a:pPr>
            <a:r>
              <a:rPr lang="es-PE" sz="1200" dirty="0">
                <a:solidFill>
                  <a:schemeClr val="bg1">
                    <a:lumMod val="65000"/>
                  </a:schemeClr>
                </a:solidFill>
              </a:rPr>
              <a:t>Estimación de Costos</a:t>
            </a:r>
          </a:p>
          <a:p>
            <a:pPr marL="285750" indent="-285750">
              <a:buFont typeface="Wingdings" panose="05000000000000000000" pitchFamily="2" charset="2"/>
              <a:buChar char="§"/>
            </a:pPr>
            <a:r>
              <a:rPr lang="es-PE" sz="1200" dirty="0">
                <a:solidFill>
                  <a:schemeClr val="bg1">
                    <a:lumMod val="65000"/>
                  </a:schemeClr>
                </a:solidFill>
              </a:rPr>
              <a:t>Cronograma</a:t>
            </a:r>
          </a:p>
          <a:p>
            <a:pPr marL="285750" indent="-285750">
              <a:buFont typeface="Wingdings" panose="05000000000000000000" pitchFamily="2" charset="2"/>
              <a:buChar char="§"/>
            </a:pPr>
            <a:r>
              <a:rPr lang="es-PE" sz="1200" dirty="0">
                <a:solidFill>
                  <a:schemeClr val="bg1">
                    <a:lumMod val="65000"/>
                  </a:schemeClr>
                </a:solidFill>
              </a:rPr>
              <a:t>Complementariedad con otras estrategias y recomendaciones</a:t>
            </a:r>
          </a:p>
        </p:txBody>
      </p:sp>
      <p:sp>
        <p:nvSpPr>
          <p:cNvPr id="19" name="TextBox 18">
            <a:extLst>
              <a:ext uri="{FF2B5EF4-FFF2-40B4-BE49-F238E27FC236}">
                <a16:creationId xmlns:a16="http://schemas.microsoft.com/office/drawing/2014/main" id="{5947BA55-15C3-4040-9B5B-8EAC7B3B3343}"/>
              </a:ext>
            </a:extLst>
          </p:cNvPr>
          <p:cNvSpPr txBox="1"/>
          <p:nvPr/>
        </p:nvSpPr>
        <p:spPr>
          <a:xfrm>
            <a:off x="1047755" y="4980330"/>
            <a:ext cx="10277475" cy="1754326"/>
          </a:xfrm>
          <a:prstGeom prst="rect">
            <a:avLst/>
          </a:prstGeom>
          <a:noFill/>
        </p:spPr>
        <p:txBody>
          <a:bodyPr wrap="square" rtlCol="0">
            <a:spAutoFit/>
          </a:bodyPr>
          <a:lstStyle/>
          <a:p>
            <a:pPr marL="285750" indent="-285750">
              <a:buFont typeface="Wingdings" panose="05000000000000000000" pitchFamily="2" charset="2"/>
              <a:buChar char="§"/>
            </a:pPr>
            <a:r>
              <a:rPr lang="es-PE" sz="1200" dirty="0">
                <a:solidFill>
                  <a:schemeClr val="bg1">
                    <a:lumMod val="65000"/>
                  </a:schemeClr>
                </a:solidFill>
              </a:rPr>
              <a:t>Antecedentes</a:t>
            </a:r>
          </a:p>
          <a:p>
            <a:pPr marL="285750" indent="-285750">
              <a:buFont typeface="Wingdings" panose="05000000000000000000" pitchFamily="2" charset="2"/>
              <a:buChar char="§"/>
            </a:pPr>
            <a:r>
              <a:rPr lang="es-PE" sz="1200" dirty="0">
                <a:solidFill>
                  <a:schemeClr val="bg1">
                    <a:lumMod val="65000"/>
                  </a:schemeClr>
                </a:solidFill>
              </a:rPr>
              <a:t>Oportunidades</a:t>
            </a:r>
          </a:p>
          <a:p>
            <a:pPr marL="285750" indent="-285750">
              <a:buFont typeface="Wingdings" panose="05000000000000000000" pitchFamily="2" charset="2"/>
              <a:buChar char="§"/>
            </a:pPr>
            <a:r>
              <a:rPr lang="es-PE" sz="1200" dirty="0">
                <a:solidFill>
                  <a:schemeClr val="bg1">
                    <a:lumMod val="65000"/>
                  </a:schemeClr>
                </a:solidFill>
              </a:rPr>
              <a:t>El Modelo</a:t>
            </a:r>
          </a:p>
          <a:p>
            <a:pPr marL="285750" indent="-285750">
              <a:buFont typeface="Wingdings" panose="05000000000000000000" pitchFamily="2" charset="2"/>
              <a:buChar char="§"/>
            </a:pPr>
            <a:r>
              <a:rPr lang="es-PE" sz="1200" dirty="0">
                <a:solidFill>
                  <a:schemeClr val="bg1">
                    <a:lumMod val="65000"/>
                  </a:schemeClr>
                </a:solidFill>
              </a:rPr>
              <a:t>Componentes de la estrategia</a:t>
            </a:r>
          </a:p>
          <a:p>
            <a:pPr marL="285750" indent="-285750">
              <a:buFont typeface="Wingdings" panose="05000000000000000000" pitchFamily="2" charset="2"/>
              <a:buChar char="§"/>
            </a:pPr>
            <a:r>
              <a:rPr lang="es-PE" sz="1200" dirty="0">
                <a:solidFill>
                  <a:schemeClr val="bg1">
                    <a:lumMod val="65000"/>
                  </a:schemeClr>
                </a:solidFill>
              </a:rPr>
              <a:t>Focalización</a:t>
            </a:r>
          </a:p>
          <a:p>
            <a:pPr marL="285750" indent="-285750">
              <a:buFont typeface="Wingdings" panose="05000000000000000000" pitchFamily="2" charset="2"/>
              <a:buChar char="§"/>
            </a:pPr>
            <a:r>
              <a:rPr lang="es-PE" sz="1200" b="1" dirty="0">
                <a:solidFill>
                  <a:schemeClr val="tx2"/>
                </a:solidFill>
              </a:rPr>
              <a:t>Cobertura</a:t>
            </a:r>
          </a:p>
          <a:p>
            <a:pPr marL="285750" indent="-285750">
              <a:buFont typeface="Wingdings" panose="05000000000000000000" pitchFamily="2" charset="2"/>
              <a:buChar char="§"/>
            </a:pPr>
            <a:r>
              <a:rPr lang="es-PE" sz="1200" dirty="0">
                <a:solidFill>
                  <a:schemeClr val="bg1">
                    <a:lumMod val="65000"/>
                  </a:schemeClr>
                </a:solidFill>
              </a:rPr>
              <a:t>Estimación de Costos</a:t>
            </a:r>
          </a:p>
          <a:p>
            <a:pPr marL="285750" indent="-285750">
              <a:buFont typeface="Wingdings" panose="05000000000000000000" pitchFamily="2" charset="2"/>
              <a:buChar char="§"/>
            </a:pPr>
            <a:r>
              <a:rPr lang="es-PE" sz="1200" dirty="0">
                <a:solidFill>
                  <a:schemeClr val="bg1">
                    <a:lumMod val="65000"/>
                  </a:schemeClr>
                </a:solidFill>
              </a:rPr>
              <a:t>Cronograma</a:t>
            </a:r>
          </a:p>
          <a:p>
            <a:pPr marL="285750" indent="-285750">
              <a:buFont typeface="Wingdings" panose="05000000000000000000" pitchFamily="2" charset="2"/>
              <a:buChar char="§"/>
            </a:pPr>
            <a:r>
              <a:rPr lang="es-PE" sz="1200" dirty="0">
                <a:solidFill>
                  <a:schemeClr val="bg1">
                    <a:lumMod val="65000"/>
                  </a:schemeClr>
                </a:solidFill>
              </a:rPr>
              <a:t>Complementariedad con otras estrategias y recomendaciones</a:t>
            </a:r>
          </a:p>
        </p:txBody>
      </p:sp>
    </p:spTree>
    <p:extLst>
      <p:ext uri="{BB962C8B-B14F-4D97-AF65-F5344CB8AC3E}">
        <p14:creationId xmlns:p14="http://schemas.microsoft.com/office/powerpoint/2010/main" val="210814133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FFEC852-390E-4A3D-91FE-3B7AA9E173AF}"/>
              </a:ext>
            </a:extLst>
          </p:cNvPr>
          <p:cNvSpPr/>
          <p:nvPr/>
        </p:nvSpPr>
        <p:spPr>
          <a:xfrm>
            <a:off x="355600" y="1198122"/>
            <a:ext cx="11412847" cy="979021"/>
          </a:xfrm>
          <a:prstGeom prst="rect">
            <a:avLst/>
          </a:prstGeom>
          <a:solidFill>
            <a:schemeClr val="bg2"/>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 name="Title 1">
            <a:extLst>
              <a:ext uri="{FF2B5EF4-FFF2-40B4-BE49-F238E27FC236}">
                <a16:creationId xmlns:a16="http://schemas.microsoft.com/office/drawing/2014/main" id="{68F9EFD6-FB14-458A-BE54-EDAA3B452B4E}"/>
              </a:ext>
            </a:extLst>
          </p:cNvPr>
          <p:cNvSpPr>
            <a:spLocks noGrp="1"/>
          </p:cNvSpPr>
          <p:nvPr>
            <p:ph type="title"/>
          </p:nvPr>
        </p:nvSpPr>
        <p:spPr/>
        <p:txBody>
          <a:bodyPr/>
          <a:lstStyle/>
          <a:p>
            <a:r>
              <a:rPr lang="es-PE" dirty="0"/>
              <a:t>Cobertura de la estrategia 2022:</a:t>
            </a:r>
            <a:endParaRPr lang="en-CA" dirty="0"/>
          </a:p>
        </p:txBody>
      </p:sp>
      <p:sp>
        <p:nvSpPr>
          <p:cNvPr id="22" name="TextBox 21">
            <a:extLst>
              <a:ext uri="{FF2B5EF4-FFF2-40B4-BE49-F238E27FC236}">
                <a16:creationId xmlns:a16="http://schemas.microsoft.com/office/drawing/2014/main" id="{BC0E6A3A-5A0A-4E06-99FB-B007BE1862D2}"/>
              </a:ext>
            </a:extLst>
          </p:cNvPr>
          <p:cNvSpPr txBox="1"/>
          <p:nvPr/>
        </p:nvSpPr>
        <p:spPr>
          <a:xfrm>
            <a:off x="423553" y="1253813"/>
            <a:ext cx="10782795" cy="923330"/>
          </a:xfrm>
          <a:prstGeom prst="rect">
            <a:avLst/>
          </a:prstGeom>
          <a:noFill/>
        </p:spPr>
        <p:txBody>
          <a:bodyPr wrap="square" rtlCol="0">
            <a:spAutoFit/>
          </a:bodyPr>
          <a:lstStyle/>
          <a:p>
            <a:pPr algn="just"/>
            <a:r>
              <a:rPr lang="es-PE" b="1" dirty="0">
                <a:solidFill>
                  <a:schemeClr val="tx2"/>
                </a:solidFill>
                <a:latin typeface="+mj-lt"/>
              </a:rPr>
              <a:t>Meta: Promover e instalar la practica de uso de la aplicación </a:t>
            </a:r>
            <a:r>
              <a:rPr lang="es-PE" b="1" dirty="0" err="1">
                <a:solidFill>
                  <a:schemeClr val="tx2"/>
                </a:solidFill>
                <a:latin typeface="+mj-lt"/>
              </a:rPr>
              <a:t>ConectaIdeas</a:t>
            </a:r>
            <a:r>
              <a:rPr lang="es-PE" b="1" dirty="0">
                <a:solidFill>
                  <a:schemeClr val="tx2"/>
                </a:solidFill>
                <a:latin typeface="+mj-lt"/>
              </a:rPr>
              <a:t> en IIEE que han sido beneficiadas con la entrega de </a:t>
            </a:r>
            <a:r>
              <a:rPr lang="es-PE" b="1" dirty="0" err="1">
                <a:solidFill>
                  <a:schemeClr val="tx2"/>
                </a:solidFill>
                <a:latin typeface="+mj-lt"/>
              </a:rPr>
              <a:t>tablets</a:t>
            </a:r>
            <a:r>
              <a:rPr lang="es-PE" b="1" dirty="0">
                <a:solidFill>
                  <a:schemeClr val="tx2"/>
                </a:solidFill>
                <a:latin typeface="+mj-lt"/>
              </a:rPr>
              <a:t> dirigida  a estudiantes entre 4to de primaria y 2do de secundaria</a:t>
            </a:r>
            <a:endParaRPr lang="en-CA" b="1" dirty="0">
              <a:solidFill>
                <a:schemeClr val="tx2"/>
              </a:solidFill>
              <a:latin typeface="+mj-lt"/>
            </a:endParaRPr>
          </a:p>
        </p:txBody>
      </p:sp>
      <p:sp>
        <p:nvSpPr>
          <p:cNvPr id="6" name="Rectangle 5">
            <a:extLst>
              <a:ext uri="{FF2B5EF4-FFF2-40B4-BE49-F238E27FC236}">
                <a16:creationId xmlns:a16="http://schemas.microsoft.com/office/drawing/2014/main" id="{D0C59BFB-E499-4D3A-9CC6-A991FD2B3613}"/>
              </a:ext>
            </a:extLst>
          </p:cNvPr>
          <p:cNvSpPr/>
          <p:nvPr/>
        </p:nvSpPr>
        <p:spPr>
          <a:xfrm>
            <a:off x="766887" y="2728806"/>
            <a:ext cx="4763143" cy="5858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PRIMARIA </a:t>
            </a:r>
            <a:r>
              <a:rPr lang="en-US" b="1" dirty="0">
                <a:solidFill>
                  <a:schemeClr val="bg1"/>
                </a:solidFill>
              </a:rPr>
              <a:t>4to – 6to </a:t>
            </a:r>
            <a:endParaRPr lang="en-CA" b="1" dirty="0">
              <a:solidFill>
                <a:schemeClr val="bg1"/>
              </a:solidFill>
            </a:endParaRPr>
          </a:p>
        </p:txBody>
      </p:sp>
      <p:sp>
        <p:nvSpPr>
          <p:cNvPr id="28" name="Rectangle 27">
            <a:extLst>
              <a:ext uri="{FF2B5EF4-FFF2-40B4-BE49-F238E27FC236}">
                <a16:creationId xmlns:a16="http://schemas.microsoft.com/office/drawing/2014/main" id="{D3FB6D52-3A07-4BC8-BDEA-A95052DEEC8C}"/>
              </a:ext>
            </a:extLst>
          </p:cNvPr>
          <p:cNvSpPr/>
          <p:nvPr/>
        </p:nvSpPr>
        <p:spPr>
          <a:xfrm>
            <a:off x="6571459" y="2728806"/>
            <a:ext cx="4763143" cy="5858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SECUNDARIA 1er y 2do </a:t>
            </a:r>
            <a:endParaRPr lang="en-CA" b="1" dirty="0"/>
          </a:p>
        </p:txBody>
      </p:sp>
      <p:sp>
        <p:nvSpPr>
          <p:cNvPr id="32" name="TextBox 31">
            <a:extLst>
              <a:ext uri="{FF2B5EF4-FFF2-40B4-BE49-F238E27FC236}">
                <a16:creationId xmlns:a16="http://schemas.microsoft.com/office/drawing/2014/main" id="{C66EB404-2F7C-4328-8C2F-895D86801584}"/>
              </a:ext>
            </a:extLst>
          </p:cNvPr>
          <p:cNvSpPr txBox="1"/>
          <p:nvPr/>
        </p:nvSpPr>
        <p:spPr>
          <a:xfrm>
            <a:off x="766886" y="3835645"/>
            <a:ext cx="4763143" cy="2031325"/>
          </a:xfrm>
          <a:prstGeom prst="rect">
            <a:avLst/>
          </a:prstGeom>
          <a:noFill/>
        </p:spPr>
        <p:txBody>
          <a:bodyPr wrap="square" rtlCol="0">
            <a:spAutoFit/>
          </a:bodyPr>
          <a:lstStyle/>
          <a:p>
            <a:pPr marL="285750" indent="-285750" algn="just">
              <a:buFont typeface="Wingdings" panose="05000000000000000000" pitchFamily="2" charset="2"/>
              <a:buChar char="§"/>
            </a:pPr>
            <a:r>
              <a:rPr lang="es-PE" dirty="0">
                <a:solidFill>
                  <a:schemeClr val="tx2"/>
                </a:solidFill>
              </a:rPr>
              <a:t>Estudiantes usan el aplicativo con la finalidad de reforzar conceptos aprendidos en el aula a lo largo del año y/o reforzar conceptos  no aprendidos en grados anteriores (5to y 6to).</a:t>
            </a:r>
          </a:p>
          <a:p>
            <a:pPr marL="285750" indent="-285750" algn="just">
              <a:buFont typeface="Wingdings" panose="05000000000000000000" pitchFamily="2" charset="2"/>
              <a:buChar char="§"/>
            </a:pPr>
            <a:r>
              <a:rPr lang="en-US" sz="1800" b="1" dirty="0">
                <a:solidFill>
                  <a:schemeClr val="tx2"/>
                </a:solidFill>
              </a:rPr>
              <a:t>~</a:t>
            </a:r>
            <a:r>
              <a:rPr lang="es-PE" sz="1800" b="1" dirty="0">
                <a:solidFill>
                  <a:schemeClr val="tx2"/>
                </a:solidFill>
              </a:rPr>
              <a:t>70% de IIEE no EIB con un indicador de necesidad mayor al 0.75.</a:t>
            </a:r>
          </a:p>
        </p:txBody>
      </p:sp>
      <p:sp>
        <p:nvSpPr>
          <p:cNvPr id="34" name="TextBox 33">
            <a:extLst>
              <a:ext uri="{FF2B5EF4-FFF2-40B4-BE49-F238E27FC236}">
                <a16:creationId xmlns:a16="http://schemas.microsoft.com/office/drawing/2014/main" id="{85574791-9AA5-4DA7-8E90-1C8AB2EC901C}"/>
              </a:ext>
            </a:extLst>
          </p:cNvPr>
          <p:cNvSpPr txBox="1"/>
          <p:nvPr/>
        </p:nvSpPr>
        <p:spPr>
          <a:xfrm>
            <a:off x="6571458" y="3835645"/>
            <a:ext cx="4763143" cy="1754326"/>
          </a:xfrm>
          <a:prstGeom prst="rect">
            <a:avLst/>
          </a:prstGeom>
          <a:noFill/>
        </p:spPr>
        <p:txBody>
          <a:bodyPr wrap="square" rtlCol="0">
            <a:spAutoFit/>
          </a:bodyPr>
          <a:lstStyle/>
          <a:p>
            <a:pPr marL="285750" indent="-285750" algn="just">
              <a:buFont typeface="Wingdings" panose="05000000000000000000" pitchFamily="2" charset="2"/>
              <a:buChar char="§"/>
            </a:pPr>
            <a:r>
              <a:rPr lang="es-PE" dirty="0">
                <a:solidFill>
                  <a:schemeClr val="tx2"/>
                </a:solidFill>
              </a:rPr>
              <a:t>Estudiantes usan el aplicativo para poder alcanzar el dominio de </a:t>
            </a:r>
            <a:r>
              <a:rPr lang="es-PE" u="sng" dirty="0">
                <a:solidFill>
                  <a:schemeClr val="tx2"/>
                </a:solidFill>
              </a:rPr>
              <a:t>competencias habilitadoras no aprendidas</a:t>
            </a:r>
            <a:r>
              <a:rPr lang="es-PE" dirty="0">
                <a:solidFill>
                  <a:schemeClr val="tx2"/>
                </a:solidFill>
              </a:rPr>
              <a:t> en 5to y 6to (durante la pandemia).</a:t>
            </a:r>
          </a:p>
          <a:p>
            <a:pPr marL="285750" indent="-285750" algn="just">
              <a:buFont typeface="Wingdings" panose="05000000000000000000" pitchFamily="2" charset="2"/>
              <a:buChar char="§"/>
            </a:pPr>
            <a:r>
              <a:rPr lang="es-PE" sz="1800" b="1" dirty="0">
                <a:solidFill>
                  <a:schemeClr val="tx2"/>
                </a:solidFill>
              </a:rPr>
              <a:t>~70% de IIEE no EIB con un indicador de necesidad mayor al 0.75.</a:t>
            </a:r>
          </a:p>
        </p:txBody>
      </p:sp>
    </p:spTree>
    <p:extLst>
      <p:ext uri="{BB962C8B-B14F-4D97-AF65-F5344CB8AC3E}">
        <p14:creationId xmlns:p14="http://schemas.microsoft.com/office/powerpoint/2010/main" val="105758421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Diagonal Corners Rounded 6">
            <a:extLst>
              <a:ext uri="{FF2B5EF4-FFF2-40B4-BE49-F238E27FC236}">
                <a16:creationId xmlns:a16="http://schemas.microsoft.com/office/drawing/2014/main" id="{5DC549E6-0B6C-450B-922D-0F58D2924A72}"/>
              </a:ext>
            </a:extLst>
          </p:cNvPr>
          <p:cNvSpPr/>
          <p:nvPr/>
        </p:nvSpPr>
        <p:spPr>
          <a:xfrm>
            <a:off x="429623" y="1048649"/>
            <a:ext cx="11267440" cy="721517"/>
          </a:xfrm>
          <a:prstGeom prst="round2DiagRect">
            <a:avLst/>
          </a:prstGeom>
          <a:solidFill>
            <a:srgbClr val="C00000"/>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solidFill>
                <a:schemeClr val="bg1"/>
              </a:solidFill>
            </a:endParaRPr>
          </a:p>
        </p:txBody>
      </p:sp>
      <p:sp>
        <p:nvSpPr>
          <p:cNvPr id="2" name="Title 1">
            <a:extLst>
              <a:ext uri="{FF2B5EF4-FFF2-40B4-BE49-F238E27FC236}">
                <a16:creationId xmlns:a16="http://schemas.microsoft.com/office/drawing/2014/main" id="{16C18CE1-72D9-4719-A2FF-5C93A7E96E39}"/>
              </a:ext>
            </a:extLst>
          </p:cNvPr>
          <p:cNvSpPr>
            <a:spLocks noGrp="1"/>
          </p:cNvSpPr>
          <p:nvPr>
            <p:ph type="title"/>
          </p:nvPr>
        </p:nvSpPr>
        <p:spPr/>
        <p:txBody>
          <a:bodyPr/>
          <a:lstStyle/>
          <a:p>
            <a:r>
              <a:rPr lang="es-PE" sz="4000" dirty="0"/>
              <a:t>AGENDA</a:t>
            </a:r>
            <a:endParaRPr lang="en-CA" sz="4000" dirty="0"/>
          </a:p>
        </p:txBody>
      </p:sp>
      <p:sp>
        <p:nvSpPr>
          <p:cNvPr id="3" name="Slide Number Placeholder 2">
            <a:extLst>
              <a:ext uri="{FF2B5EF4-FFF2-40B4-BE49-F238E27FC236}">
                <a16:creationId xmlns:a16="http://schemas.microsoft.com/office/drawing/2014/main" id="{0DFD7E46-D5CE-48DD-96F3-51002A57C15D}"/>
              </a:ext>
            </a:extLst>
          </p:cNvPr>
          <p:cNvSpPr>
            <a:spLocks noGrp="1"/>
          </p:cNvSpPr>
          <p:nvPr>
            <p:ph type="sldNum" sz="quarter" idx="12"/>
          </p:nvPr>
        </p:nvSpPr>
        <p:spPr/>
        <p:txBody>
          <a:bodyPr/>
          <a:lstStyle/>
          <a:p>
            <a:fld id="{DAF31D20-51B2-49A6-91FA-1FC48A60B42D}" type="slidenum">
              <a:rPr lang="es-PE" smtClean="0"/>
              <a:t>49</a:t>
            </a:fld>
            <a:endParaRPr lang="es-PE"/>
          </a:p>
        </p:txBody>
      </p:sp>
      <p:sp>
        <p:nvSpPr>
          <p:cNvPr id="5" name="TextBox 4">
            <a:extLst>
              <a:ext uri="{FF2B5EF4-FFF2-40B4-BE49-F238E27FC236}">
                <a16:creationId xmlns:a16="http://schemas.microsoft.com/office/drawing/2014/main" id="{17CB7C5A-6404-4218-A2FD-BE386960A332}"/>
              </a:ext>
            </a:extLst>
          </p:cNvPr>
          <p:cNvSpPr txBox="1"/>
          <p:nvPr/>
        </p:nvSpPr>
        <p:spPr>
          <a:xfrm>
            <a:off x="494937" y="1249444"/>
            <a:ext cx="10739120" cy="369332"/>
          </a:xfrm>
          <a:prstGeom prst="rect">
            <a:avLst/>
          </a:prstGeom>
          <a:noFill/>
        </p:spPr>
        <p:txBody>
          <a:bodyPr wrap="square" rtlCol="0">
            <a:spAutoFit/>
          </a:bodyPr>
          <a:lstStyle/>
          <a:p>
            <a:r>
              <a:rPr lang="es-PE" b="1" dirty="0">
                <a:solidFill>
                  <a:schemeClr val="bg1"/>
                </a:solidFill>
              </a:rPr>
              <a:t>2.  Propuesta de estrategia de Educación Remedial </a:t>
            </a:r>
            <a:endParaRPr lang="en-CA" b="1" dirty="0">
              <a:solidFill>
                <a:schemeClr val="bg1"/>
              </a:solidFill>
            </a:endParaRPr>
          </a:p>
        </p:txBody>
      </p:sp>
      <p:sp>
        <p:nvSpPr>
          <p:cNvPr id="11" name="Rectangle 10">
            <a:extLst>
              <a:ext uri="{FF2B5EF4-FFF2-40B4-BE49-F238E27FC236}">
                <a16:creationId xmlns:a16="http://schemas.microsoft.com/office/drawing/2014/main" id="{73ED18D7-638E-4BF8-8DFC-833E74760777}"/>
              </a:ext>
            </a:extLst>
          </p:cNvPr>
          <p:cNvSpPr/>
          <p:nvPr/>
        </p:nvSpPr>
        <p:spPr>
          <a:xfrm>
            <a:off x="866767" y="1925671"/>
            <a:ext cx="10753725" cy="381602"/>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00050" indent="-400050">
              <a:buFont typeface="+mj-lt"/>
              <a:buAutoNum type="romanUcPeriod"/>
            </a:pPr>
            <a:r>
              <a:rPr lang="es-PE" b="1" dirty="0">
                <a:solidFill>
                  <a:schemeClr val="tx2"/>
                </a:solidFill>
              </a:rPr>
              <a:t>Información general de estrategias</a:t>
            </a:r>
            <a:endParaRPr lang="en-CA" b="1" dirty="0">
              <a:solidFill>
                <a:schemeClr val="tx2"/>
              </a:solidFill>
            </a:endParaRPr>
          </a:p>
        </p:txBody>
      </p:sp>
      <p:sp>
        <p:nvSpPr>
          <p:cNvPr id="13" name="Rectangle 12">
            <a:extLst>
              <a:ext uri="{FF2B5EF4-FFF2-40B4-BE49-F238E27FC236}">
                <a16:creationId xmlns:a16="http://schemas.microsoft.com/office/drawing/2014/main" id="{BF24706C-635F-48B8-86E0-9354C25A8312}"/>
              </a:ext>
            </a:extLst>
          </p:cNvPr>
          <p:cNvSpPr/>
          <p:nvPr/>
        </p:nvSpPr>
        <p:spPr>
          <a:xfrm>
            <a:off x="866767" y="2431388"/>
            <a:ext cx="10753725" cy="381602"/>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00050" indent="-400050">
              <a:buFont typeface="+mj-lt"/>
              <a:buAutoNum type="romanUcPeriod" startAt="2"/>
            </a:pPr>
            <a:r>
              <a:rPr lang="es-PE" b="1" dirty="0">
                <a:solidFill>
                  <a:schemeClr val="tx2"/>
                </a:solidFill>
              </a:rPr>
              <a:t>Modelo 1: Enseñanza al nivel adecuado (</a:t>
            </a:r>
            <a:r>
              <a:rPr lang="es-PE" b="1" dirty="0" err="1">
                <a:solidFill>
                  <a:schemeClr val="tx2"/>
                </a:solidFill>
              </a:rPr>
              <a:t>TaRL</a:t>
            </a:r>
            <a:r>
              <a:rPr lang="es-PE" b="1" dirty="0">
                <a:solidFill>
                  <a:schemeClr val="tx2"/>
                </a:solidFill>
              </a:rPr>
              <a:t>)</a:t>
            </a:r>
            <a:endParaRPr lang="en-CA" b="1" dirty="0">
              <a:solidFill>
                <a:schemeClr val="tx2"/>
              </a:solidFill>
            </a:endParaRPr>
          </a:p>
        </p:txBody>
      </p:sp>
      <p:sp>
        <p:nvSpPr>
          <p:cNvPr id="15" name="Rectangle 14">
            <a:extLst>
              <a:ext uri="{FF2B5EF4-FFF2-40B4-BE49-F238E27FC236}">
                <a16:creationId xmlns:a16="http://schemas.microsoft.com/office/drawing/2014/main" id="{6D048FC1-72B2-4921-BF07-AC34182DA451}"/>
              </a:ext>
            </a:extLst>
          </p:cNvPr>
          <p:cNvSpPr/>
          <p:nvPr/>
        </p:nvSpPr>
        <p:spPr>
          <a:xfrm>
            <a:off x="866767" y="4462866"/>
            <a:ext cx="10753725" cy="381602"/>
          </a:xfrm>
          <a:prstGeom prst="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00050" indent="-400050">
              <a:buFont typeface="+mj-lt"/>
              <a:buAutoNum type="romanUcPeriod" startAt="3"/>
            </a:pPr>
            <a:r>
              <a:rPr lang="es-PE" b="1" dirty="0">
                <a:solidFill>
                  <a:schemeClr val="bg1"/>
                </a:solidFill>
              </a:rPr>
              <a:t>Modelo 2: Tutoría con componente digital</a:t>
            </a:r>
            <a:endParaRPr lang="en-CA" b="1" dirty="0">
              <a:solidFill>
                <a:schemeClr val="bg1"/>
              </a:solidFill>
            </a:endParaRPr>
          </a:p>
        </p:txBody>
      </p:sp>
      <p:sp>
        <p:nvSpPr>
          <p:cNvPr id="18" name="TextBox 17">
            <a:extLst>
              <a:ext uri="{FF2B5EF4-FFF2-40B4-BE49-F238E27FC236}">
                <a16:creationId xmlns:a16="http://schemas.microsoft.com/office/drawing/2014/main" id="{1472411D-B88F-4453-A39D-EDA418DB8DC9}"/>
              </a:ext>
            </a:extLst>
          </p:cNvPr>
          <p:cNvSpPr txBox="1"/>
          <p:nvPr/>
        </p:nvSpPr>
        <p:spPr>
          <a:xfrm>
            <a:off x="1104891" y="2871988"/>
            <a:ext cx="10277475" cy="1569660"/>
          </a:xfrm>
          <a:prstGeom prst="rect">
            <a:avLst/>
          </a:prstGeom>
          <a:noFill/>
        </p:spPr>
        <p:txBody>
          <a:bodyPr wrap="square" rtlCol="0">
            <a:spAutoFit/>
          </a:bodyPr>
          <a:lstStyle/>
          <a:p>
            <a:pPr marL="285750" indent="-285750">
              <a:buFont typeface="Wingdings" panose="05000000000000000000" pitchFamily="2" charset="2"/>
              <a:buChar char="§"/>
            </a:pPr>
            <a:r>
              <a:rPr lang="es-PE" sz="1200" dirty="0">
                <a:solidFill>
                  <a:schemeClr val="bg1">
                    <a:lumMod val="65000"/>
                  </a:schemeClr>
                </a:solidFill>
              </a:rPr>
              <a:t>Antecedentes</a:t>
            </a:r>
          </a:p>
          <a:p>
            <a:pPr marL="285750" indent="-285750">
              <a:buFont typeface="Wingdings" panose="05000000000000000000" pitchFamily="2" charset="2"/>
              <a:buChar char="§"/>
            </a:pPr>
            <a:r>
              <a:rPr lang="es-PE" sz="1200" dirty="0">
                <a:solidFill>
                  <a:schemeClr val="bg1">
                    <a:lumMod val="65000"/>
                  </a:schemeClr>
                </a:solidFill>
              </a:rPr>
              <a:t>El Modelo</a:t>
            </a:r>
          </a:p>
          <a:p>
            <a:pPr marL="285750" indent="-285750">
              <a:buFont typeface="Wingdings" panose="05000000000000000000" pitchFamily="2" charset="2"/>
              <a:buChar char="§"/>
            </a:pPr>
            <a:r>
              <a:rPr lang="es-PE" sz="1200" dirty="0">
                <a:solidFill>
                  <a:schemeClr val="bg1">
                    <a:lumMod val="65000"/>
                  </a:schemeClr>
                </a:solidFill>
              </a:rPr>
              <a:t>Componentes de la estrategia</a:t>
            </a:r>
          </a:p>
          <a:p>
            <a:pPr marL="285750" indent="-285750">
              <a:buFont typeface="Wingdings" panose="05000000000000000000" pitchFamily="2" charset="2"/>
              <a:buChar char="§"/>
            </a:pPr>
            <a:r>
              <a:rPr lang="es-PE" sz="1200" dirty="0">
                <a:solidFill>
                  <a:schemeClr val="bg1">
                    <a:lumMod val="65000"/>
                  </a:schemeClr>
                </a:solidFill>
              </a:rPr>
              <a:t>Focalización</a:t>
            </a:r>
          </a:p>
          <a:p>
            <a:pPr marL="285750" indent="-285750">
              <a:buFont typeface="Wingdings" panose="05000000000000000000" pitchFamily="2" charset="2"/>
              <a:buChar char="§"/>
            </a:pPr>
            <a:r>
              <a:rPr lang="es-PE" sz="1200" dirty="0">
                <a:solidFill>
                  <a:schemeClr val="bg1">
                    <a:lumMod val="65000"/>
                  </a:schemeClr>
                </a:solidFill>
              </a:rPr>
              <a:t>Cobertura</a:t>
            </a:r>
          </a:p>
          <a:p>
            <a:pPr marL="285750" indent="-285750">
              <a:buFont typeface="Wingdings" panose="05000000000000000000" pitchFamily="2" charset="2"/>
              <a:buChar char="§"/>
            </a:pPr>
            <a:r>
              <a:rPr lang="es-PE" sz="1200" dirty="0">
                <a:solidFill>
                  <a:schemeClr val="bg1">
                    <a:lumMod val="65000"/>
                  </a:schemeClr>
                </a:solidFill>
              </a:rPr>
              <a:t>Estimación de Costos</a:t>
            </a:r>
          </a:p>
          <a:p>
            <a:pPr marL="285750" indent="-285750">
              <a:buFont typeface="Wingdings" panose="05000000000000000000" pitchFamily="2" charset="2"/>
              <a:buChar char="§"/>
            </a:pPr>
            <a:r>
              <a:rPr lang="es-PE" sz="1200" dirty="0">
                <a:solidFill>
                  <a:schemeClr val="bg1">
                    <a:lumMod val="65000"/>
                  </a:schemeClr>
                </a:solidFill>
              </a:rPr>
              <a:t>Cronograma</a:t>
            </a:r>
          </a:p>
          <a:p>
            <a:pPr marL="285750" indent="-285750">
              <a:buFont typeface="Wingdings" panose="05000000000000000000" pitchFamily="2" charset="2"/>
              <a:buChar char="§"/>
            </a:pPr>
            <a:r>
              <a:rPr lang="es-PE" sz="1200" dirty="0">
                <a:solidFill>
                  <a:schemeClr val="bg1">
                    <a:lumMod val="65000"/>
                  </a:schemeClr>
                </a:solidFill>
              </a:rPr>
              <a:t>Complementariedad con otras estrategias y recomendaciones</a:t>
            </a:r>
          </a:p>
        </p:txBody>
      </p:sp>
      <p:sp>
        <p:nvSpPr>
          <p:cNvPr id="19" name="TextBox 18">
            <a:extLst>
              <a:ext uri="{FF2B5EF4-FFF2-40B4-BE49-F238E27FC236}">
                <a16:creationId xmlns:a16="http://schemas.microsoft.com/office/drawing/2014/main" id="{5947BA55-15C3-4040-9B5B-8EAC7B3B3343}"/>
              </a:ext>
            </a:extLst>
          </p:cNvPr>
          <p:cNvSpPr txBox="1"/>
          <p:nvPr/>
        </p:nvSpPr>
        <p:spPr>
          <a:xfrm>
            <a:off x="1047755" y="4980330"/>
            <a:ext cx="10277475" cy="1754326"/>
          </a:xfrm>
          <a:prstGeom prst="rect">
            <a:avLst/>
          </a:prstGeom>
          <a:noFill/>
        </p:spPr>
        <p:txBody>
          <a:bodyPr wrap="square" rtlCol="0">
            <a:spAutoFit/>
          </a:bodyPr>
          <a:lstStyle/>
          <a:p>
            <a:pPr marL="285750" indent="-285750">
              <a:buFont typeface="Wingdings" panose="05000000000000000000" pitchFamily="2" charset="2"/>
              <a:buChar char="§"/>
            </a:pPr>
            <a:r>
              <a:rPr lang="es-PE" sz="1200" dirty="0">
                <a:solidFill>
                  <a:schemeClr val="bg1">
                    <a:lumMod val="65000"/>
                  </a:schemeClr>
                </a:solidFill>
              </a:rPr>
              <a:t>Antecedentes</a:t>
            </a:r>
          </a:p>
          <a:p>
            <a:pPr marL="285750" indent="-285750">
              <a:buFont typeface="Wingdings" panose="05000000000000000000" pitchFamily="2" charset="2"/>
              <a:buChar char="§"/>
            </a:pPr>
            <a:r>
              <a:rPr lang="es-PE" sz="1200" dirty="0">
                <a:solidFill>
                  <a:schemeClr val="bg1">
                    <a:lumMod val="65000"/>
                  </a:schemeClr>
                </a:solidFill>
              </a:rPr>
              <a:t>Oportunidades</a:t>
            </a:r>
          </a:p>
          <a:p>
            <a:pPr marL="285750" indent="-285750">
              <a:buFont typeface="Wingdings" panose="05000000000000000000" pitchFamily="2" charset="2"/>
              <a:buChar char="§"/>
            </a:pPr>
            <a:r>
              <a:rPr lang="es-PE" sz="1200" dirty="0">
                <a:solidFill>
                  <a:schemeClr val="bg1">
                    <a:lumMod val="65000"/>
                  </a:schemeClr>
                </a:solidFill>
              </a:rPr>
              <a:t>El Modelo</a:t>
            </a:r>
          </a:p>
          <a:p>
            <a:pPr marL="285750" indent="-285750">
              <a:buFont typeface="Wingdings" panose="05000000000000000000" pitchFamily="2" charset="2"/>
              <a:buChar char="§"/>
            </a:pPr>
            <a:r>
              <a:rPr lang="es-PE" sz="1200" dirty="0">
                <a:solidFill>
                  <a:schemeClr val="bg1">
                    <a:lumMod val="65000"/>
                  </a:schemeClr>
                </a:solidFill>
              </a:rPr>
              <a:t>Componentes de la estrategia</a:t>
            </a:r>
          </a:p>
          <a:p>
            <a:pPr marL="285750" indent="-285750">
              <a:buFont typeface="Wingdings" panose="05000000000000000000" pitchFamily="2" charset="2"/>
              <a:buChar char="§"/>
            </a:pPr>
            <a:r>
              <a:rPr lang="es-PE" sz="1200" dirty="0">
                <a:solidFill>
                  <a:schemeClr val="bg1">
                    <a:lumMod val="65000"/>
                  </a:schemeClr>
                </a:solidFill>
              </a:rPr>
              <a:t>Focalización</a:t>
            </a:r>
          </a:p>
          <a:p>
            <a:pPr marL="285750" indent="-285750">
              <a:buFont typeface="Wingdings" panose="05000000000000000000" pitchFamily="2" charset="2"/>
              <a:buChar char="§"/>
            </a:pPr>
            <a:r>
              <a:rPr lang="es-PE" sz="1200" dirty="0">
                <a:solidFill>
                  <a:schemeClr val="bg1">
                    <a:lumMod val="65000"/>
                  </a:schemeClr>
                </a:solidFill>
              </a:rPr>
              <a:t>Cobertura</a:t>
            </a:r>
          </a:p>
          <a:p>
            <a:pPr marL="285750" indent="-285750">
              <a:buFont typeface="Wingdings" panose="05000000000000000000" pitchFamily="2" charset="2"/>
              <a:buChar char="§"/>
            </a:pPr>
            <a:r>
              <a:rPr lang="es-PE" sz="1200" b="1" dirty="0">
                <a:solidFill>
                  <a:schemeClr val="tx2"/>
                </a:solidFill>
              </a:rPr>
              <a:t>Estimación de Costos</a:t>
            </a:r>
          </a:p>
          <a:p>
            <a:pPr marL="285750" indent="-285750">
              <a:buFont typeface="Wingdings" panose="05000000000000000000" pitchFamily="2" charset="2"/>
              <a:buChar char="§"/>
            </a:pPr>
            <a:r>
              <a:rPr lang="es-PE" sz="1200" dirty="0">
                <a:solidFill>
                  <a:schemeClr val="bg1">
                    <a:lumMod val="65000"/>
                  </a:schemeClr>
                </a:solidFill>
              </a:rPr>
              <a:t>Cronograma</a:t>
            </a:r>
          </a:p>
          <a:p>
            <a:pPr marL="285750" indent="-285750">
              <a:buFont typeface="Wingdings" panose="05000000000000000000" pitchFamily="2" charset="2"/>
              <a:buChar char="§"/>
            </a:pPr>
            <a:r>
              <a:rPr lang="es-PE" sz="1200" dirty="0">
                <a:solidFill>
                  <a:schemeClr val="bg1">
                    <a:lumMod val="65000"/>
                  </a:schemeClr>
                </a:solidFill>
              </a:rPr>
              <a:t>Complementariedad con otras estrategias y recomendaciones</a:t>
            </a:r>
          </a:p>
        </p:txBody>
      </p:sp>
    </p:spTree>
    <p:extLst>
      <p:ext uri="{BB962C8B-B14F-4D97-AF65-F5344CB8AC3E}">
        <p14:creationId xmlns:p14="http://schemas.microsoft.com/office/powerpoint/2010/main" val="415561210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DADB20-4773-4F0F-905F-8ECF4DF9722E}"/>
              </a:ext>
            </a:extLst>
          </p:cNvPr>
          <p:cNvSpPr>
            <a:spLocks noGrp="1"/>
          </p:cNvSpPr>
          <p:nvPr>
            <p:ph type="title"/>
          </p:nvPr>
        </p:nvSpPr>
        <p:spPr>
          <a:xfrm>
            <a:off x="162561" y="180022"/>
            <a:ext cx="8483600" cy="1001078"/>
          </a:xfrm>
        </p:spPr>
        <p:txBody>
          <a:bodyPr/>
          <a:lstStyle/>
          <a:p>
            <a:r>
              <a:rPr lang="es-PE" dirty="0"/>
              <a:t>Estimación de costos 2022</a:t>
            </a:r>
            <a:endParaRPr lang="en-CA" dirty="0"/>
          </a:p>
        </p:txBody>
      </p:sp>
      <p:sp>
        <p:nvSpPr>
          <p:cNvPr id="3" name="Slide Number Placeholder 2">
            <a:extLst>
              <a:ext uri="{FF2B5EF4-FFF2-40B4-BE49-F238E27FC236}">
                <a16:creationId xmlns:a16="http://schemas.microsoft.com/office/drawing/2014/main" id="{A108E1FB-E0E6-4C7E-B80E-1ABBE8595331}"/>
              </a:ext>
            </a:extLst>
          </p:cNvPr>
          <p:cNvSpPr>
            <a:spLocks noGrp="1"/>
          </p:cNvSpPr>
          <p:nvPr>
            <p:ph type="sldNum" sz="quarter" idx="12"/>
          </p:nvPr>
        </p:nvSpPr>
        <p:spPr/>
        <p:txBody>
          <a:bodyPr/>
          <a:lstStyle/>
          <a:p>
            <a:fld id="{DAF31D20-51B2-49A6-91FA-1FC48A60B42D}" type="slidenum">
              <a:rPr lang="es-PE" smtClean="0"/>
              <a:t>50</a:t>
            </a:fld>
            <a:endParaRPr lang="es-PE"/>
          </a:p>
        </p:txBody>
      </p:sp>
      <p:sp>
        <p:nvSpPr>
          <p:cNvPr id="4" name="Slide Number Placeholder 2">
            <a:extLst>
              <a:ext uri="{FF2B5EF4-FFF2-40B4-BE49-F238E27FC236}">
                <a16:creationId xmlns:a16="http://schemas.microsoft.com/office/drawing/2014/main" id="{76EA965D-D5BF-4348-9E45-586C8DFC94A6}"/>
              </a:ext>
            </a:extLst>
          </p:cNvPr>
          <p:cNvSpPr txBox="1">
            <a:spLocks/>
          </p:cNvSpPr>
          <p:nvPr/>
        </p:nvSpPr>
        <p:spPr>
          <a:xfrm>
            <a:off x="11806149" y="6595217"/>
            <a:ext cx="432000" cy="161977"/>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lIns="91440" tIns="45720" rIns="91440" bIns="45720" rtlCol="0" anchor="ctr"/>
          <a:lstStyle>
            <a:defPPr>
              <a:defRPr lang="en-US"/>
            </a:defPPr>
            <a:lvl1pPr marL="0" algn="ctr" defTabSz="914400" rtl="0" eaLnBrk="1" latinLnBrk="0" hangingPunct="1">
              <a:defRPr sz="1100" b="1" kern="1200">
                <a:solidFill>
                  <a:schemeClr val="bg1"/>
                </a:solidFill>
                <a:latin typeface="Arial Narrow" panose="020B060602020203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AF31D20-51B2-49A6-91FA-1FC48A60B42D}" type="slidenum">
              <a:rPr lang="es-PE" smtClean="0"/>
              <a:pPr/>
              <a:t>50</a:t>
            </a:fld>
            <a:endParaRPr lang="es-PE"/>
          </a:p>
        </p:txBody>
      </p:sp>
      <p:graphicFrame>
        <p:nvGraphicFramePr>
          <p:cNvPr id="7" name="Table 6">
            <a:extLst>
              <a:ext uri="{FF2B5EF4-FFF2-40B4-BE49-F238E27FC236}">
                <a16:creationId xmlns:a16="http://schemas.microsoft.com/office/drawing/2014/main" id="{3142FB2D-0BB5-467A-A7C2-85220A1CA34A}"/>
              </a:ext>
            </a:extLst>
          </p:cNvPr>
          <p:cNvGraphicFramePr>
            <a:graphicFrameLocks noGrp="1"/>
          </p:cNvGraphicFramePr>
          <p:nvPr>
            <p:extLst>
              <p:ext uri="{D42A27DB-BD31-4B8C-83A1-F6EECF244321}">
                <p14:modId xmlns:p14="http://schemas.microsoft.com/office/powerpoint/2010/main" val="2978750909"/>
              </p:ext>
            </p:extLst>
          </p:nvPr>
        </p:nvGraphicFramePr>
        <p:xfrm>
          <a:off x="441642" y="2506345"/>
          <a:ext cx="3185478" cy="1498600"/>
        </p:xfrm>
        <a:graphic>
          <a:graphicData uri="http://schemas.openxmlformats.org/drawingml/2006/table">
            <a:tbl>
              <a:tblPr firstRow="1">
                <a:tableStyleId>{6E25E649-3F16-4E02-A733-19D2CDBF48F0}</a:tableStyleId>
              </a:tblPr>
              <a:tblGrid>
                <a:gridCol w="1669011">
                  <a:extLst>
                    <a:ext uri="{9D8B030D-6E8A-4147-A177-3AD203B41FA5}">
                      <a16:colId xmlns:a16="http://schemas.microsoft.com/office/drawing/2014/main" val="2495324304"/>
                    </a:ext>
                  </a:extLst>
                </a:gridCol>
                <a:gridCol w="1516467">
                  <a:extLst>
                    <a:ext uri="{9D8B030D-6E8A-4147-A177-3AD203B41FA5}">
                      <a16:colId xmlns:a16="http://schemas.microsoft.com/office/drawing/2014/main" val="730773310"/>
                    </a:ext>
                  </a:extLst>
                </a:gridCol>
              </a:tblGrid>
              <a:tr h="133350">
                <a:tc>
                  <a:txBody>
                    <a:bodyPr/>
                    <a:lstStyle/>
                    <a:p>
                      <a:pPr rtl="0" fontAlgn="b"/>
                      <a:endParaRPr lang="en-CA" sz="1800">
                        <a:effectLst/>
                      </a:endParaRPr>
                    </a:p>
                  </a:txBody>
                  <a:tcPr marL="19050" marR="19050" marT="12700" marB="12700" anchor="b"/>
                </a:tc>
                <a:tc>
                  <a:txBody>
                    <a:bodyPr/>
                    <a:lstStyle/>
                    <a:p>
                      <a:pPr algn="ctr" rtl="0" fontAlgn="b"/>
                      <a:r>
                        <a:rPr lang="en-CA" sz="1800" b="1">
                          <a:solidFill>
                            <a:srgbClr val="FFFFFF"/>
                          </a:solidFill>
                          <a:effectLst/>
                        </a:rPr>
                        <a:t>Metas físicas</a:t>
                      </a:r>
                    </a:p>
                  </a:txBody>
                  <a:tcPr marL="19050" marR="19050" marT="12700" marB="12700" anchor="b"/>
                </a:tc>
                <a:extLst>
                  <a:ext uri="{0D108BD9-81ED-4DB2-BD59-A6C34878D82A}">
                    <a16:rowId xmlns:a16="http://schemas.microsoft.com/office/drawing/2014/main" val="2100263470"/>
                  </a:ext>
                </a:extLst>
              </a:tr>
              <a:tr h="133350">
                <a:tc>
                  <a:txBody>
                    <a:bodyPr/>
                    <a:lstStyle/>
                    <a:p>
                      <a:pPr rtl="0" fontAlgn="b"/>
                      <a:r>
                        <a:rPr lang="en-CA" sz="1800">
                          <a:solidFill>
                            <a:srgbClr val="000000"/>
                          </a:solidFill>
                          <a:effectLst/>
                        </a:rPr>
                        <a:t>IIEE</a:t>
                      </a:r>
                    </a:p>
                  </a:txBody>
                  <a:tcPr marL="19050" marR="19050" marT="12700" marB="12700" anchor="b"/>
                </a:tc>
                <a:tc>
                  <a:txBody>
                    <a:bodyPr/>
                    <a:lstStyle/>
                    <a:p>
                      <a:pPr algn="ctr" rtl="0" fontAlgn="b"/>
                      <a:r>
                        <a:rPr lang="en-CA" sz="1800" dirty="0">
                          <a:solidFill>
                            <a:srgbClr val="000000"/>
                          </a:solidFill>
                          <a:effectLst/>
                        </a:rPr>
                        <a:t>3,206</a:t>
                      </a:r>
                    </a:p>
                  </a:txBody>
                  <a:tcPr marL="19050" marR="19050" marT="12700" marB="12700" anchor="b"/>
                </a:tc>
                <a:extLst>
                  <a:ext uri="{0D108BD9-81ED-4DB2-BD59-A6C34878D82A}">
                    <a16:rowId xmlns:a16="http://schemas.microsoft.com/office/drawing/2014/main" val="2449002985"/>
                  </a:ext>
                </a:extLst>
              </a:tr>
              <a:tr h="133350">
                <a:tc>
                  <a:txBody>
                    <a:bodyPr/>
                    <a:lstStyle/>
                    <a:p>
                      <a:pPr rtl="0" fontAlgn="b"/>
                      <a:r>
                        <a:rPr lang="en-CA" sz="1800">
                          <a:solidFill>
                            <a:srgbClr val="000000"/>
                          </a:solidFill>
                          <a:effectLst/>
                        </a:rPr>
                        <a:t>Docentes</a:t>
                      </a:r>
                    </a:p>
                  </a:txBody>
                  <a:tcPr marL="19050" marR="19050" marT="12700" marB="12700" anchor="b"/>
                </a:tc>
                <a:tc>
                  <a:txBody>
                    <a:bodyPr/>
                    <a:lstStyle/>
                    <a:p>
                      <a:pPr algn="ctr" rtl="0" fontAlgn="b"/>
                      <a:r>
                        <a:rPr lang="en-CA" sz="1800" dirty="0">
                          <a:solidFill>
                            <a:srgbClr val="000000"/>
                          </a:solidFill>
                          <a:effectLst/>
                        </a:rPr>
                        <a:t>7,162</a:t>
                      </a:r>
                    </a:p>
                  </a:txBody>
                  <a:tcPr marL="19050" marR="19050" marT="12700" marB="12700" anchor="b"/>
                </a:tc>
                <a:extLst>
                  <a:ext uri="{0D108BD9-81ED-4DB2-BD59-A6C34878D82A}">
                    <a16:rowId xmlns:a16="http://schemas.microsoft.com/office/drawing/2014/main" val="1004805135"/>
                  </a:ext>
                </a:extLst>
              </a:tr>
              <a:tr h="133350">
                <a:tc>
                  <a:txBody>
                    <a:bodyPr/>
                    <a:lstStyle/>
                    <a:p>
                      <a:pPr rtl="0" fontAlgn="b"/>
                      <a:r>
                        <a:rPr lang="en-CA" sz="1800">
                          <a:solidFill>
                            <a:srgbClr val="000000"/>
                          </a:solidFill>
                          <a:effectLst/>
                        </a:rPr>
                        <a:t>PEAs</a:t>
                      </a:r>
                    </a:p>
                  </a:txBody>
                  <a:tcPr marL="19050" marR="19050" marT="12700" marB="12700" anchor="b"/>
                </a:tc>
                <a:tc>
                  <a:txBody>
                    <a:bodyPr/>
                    <a:lstStyle/>
                    <a:p>
                      <a:pPr algn="ctr" rtl="0" fontAlgn="b"/>
                      <a:r>
                        <a:rPr lang="en-CA" sz="1800" dirty="0">
                          <a:solidFill>
                            <a:srgbClr val="000000"/>
                          </a:solidFill>
                          <a:effectLst/>
                        </a:rPr>
                        <a:t>545</a:t>
                      </a:r>
                    </a:p>
                  </a:txBody>
                  <a:tcPr marL="19050" marR="19050" marT="12700" marB="12700" anchor="b"/>
                </a:tc>
                <a:extLst>
                  <a:ext uri="{0D108BD9-81ED-4DB2-BD59-A6C34878D82A}">
                    <a16:rowId xmlns:a16="http://schemas.microsoft.com/office/drawing/2014/main" val="520523620"/>
                  </a:ext>
                </a:extLst>
              </a:tr>
              <a:tr h="133350">
                <a:tc>
                  <a:txBody>
                    <a:bodyPr/>
                    <a:lstStyle/>
                    <a:p>
                      <a:pPr rtl="0" fontAlgn="b"/>
                      <a:r>
                        <a:rPr lang="en-CA" sz="1800">
                          <a:solidFill>
                            <a:srgbClr val="000000"/>
                          </a:solidFill>
                          <a:effectLst/>
                        </a:rPr>
                        <a:t>Alumnos</a:t>
                      </a:r>
                    </a:p>
                  </a:txBody>
                  <a:tcPr marL="19050" marR="19050" marT="12700" marB="12700" anchor="b"/>
                </a:tc>
                <a:tc>
                  <a:txBody>
                    <a:bodyPr/>
                    <a:lstStyle/>
                    <a:p>
                      <a:pPr algn="ctr" rtl="0" fontAlgn="b"/>
                      <a:r>
                        <a:rPr lang="en-CA" sz="1800" dirty="0">
                          <a:solidFill>
                            <a:srgbClr val="000000"/>
                          </a:solidFill>
                          <a:effectLst/>
                        </a:rPr>
                        <a:t>64,948</a:t>
                      </a:r>
                    </a:p>
                  </a:txBody>
                  <a:tcPr marL="19050" marR="19050" marT="12700" marB="12700" anchor="b"/>
                </a:tc>
                <a:extLst>
                  <a:ext uri="{0D108BD9-81ED-4DB2-BD59-A6C34878D82A}">
                    <a16:rowId xmlns:a16="http://schemas.microsoft.com/office/drawing/2014/main" val="1845252307"/>
                  </a:ext>
                </a:extLst>
              </a:tr>
            </a:tbl>
          </a:graphicData>
        </a:graphic>
      </p:graphicFrame>
      <p:graphicFrame>
        <p:nvGraphicFramePr>
          <p:cNvPr id="8" name="Table 7">
            <a:extLst>
              <a:ext uri="{FF2B5EF4-FFF2-40B4-BE49-F238E27FC236}">
                <a16:creationId xmlns:a16="http://schemas.microsoft.com/office/drawing/2014/main" id="{AFBE8E69-9BDE-4E8F-B786-6F4F7E220A2A}"/>
              </a:ext>
            </a:extLst>
          </p:cNvPr>
          <p:cNvGraphicFramePr>
            <a:graphicFrameLocks noGrp="1"/>
          </p:cNvGraphicFramePr>
          <p:nvPr>
            <p:extLst>
              <p:ext uri="{D42A27DB-BD31-4B8C-83A1-F6EECF244321}">
                <p14:modId xmlns:p14="http://schemas.microsoft.com/office/powerpoint/2010/main" val="4228986719"/>
              </p:ext>
            </p:extLst>
          </p:nvPr>
        </p:nvGraphicFramePr>
        <p:xfrm>
          <a:off x="4647882" y="1708785"/>
          <a:ext cx="6614796" cy="3725209"/>
        </p:xfrm>
        <a:graphic>
          <a:graphicData uri="http://schemas.openxmlformats.org/drawingml/2006/table">
            <a:tbl>
              <a:tblPr firstRow="1" lastRow="1">
                <a:tableStyleId>{6E25E649-3F16-4E02-A733-19D2CDBF48F0}</a:tableStyleId>
              </a:tblPr>
              <a:tblGrid>
                <a:gridCol w="4607878">
                  <a:extLst>
                    <a:ext uri="{9D8B030D-6E8A-4147-A177-3AD203B41FA5}">
                      <a16:colId xmlns:a16="http://schemas.microsoft.com/office/drawing/2014/main" val="1094172627"/>
                    </a:ext>
                  </a:extLst>
                </a:gridCol>
                <a:gridCol w="2006918">
                  <a:extLst>
                    <a:ext uri="{9D8B030D-6E8A-4147-A177-3AD203B41FA5}">
                      <a16:colId xmlns:a16="http://schemas.microsoft.com/office/drawing/2014/main" val="3421451280"/>
                    </a:ext>
                  </a:extLst>
                </a:gridCol>
              </a:tblGrid>
              <a:tr h="290425">
                <a:tc>
                  <a:txBody>
                    <a:bodyPr/>
                    <a:lstStyle/>
                    <a:p>
                      <a:pPr algn="ctr" rtl="0" fontAlgn="b"/>
                      <a:r>
                        <a:rPr lang="en-CA" sz="1800" b="1">
                          <a:solidFill>
                            <a:srgbClr val="FFFFFF"/>
                          </a:solidFill>
                          <a:effectLst/>
                        </a:rPr>
                        <a:t>Componente</a:t>
                      </a:r>
                    </a:p>
                  </a:txBody>
                  <a:tcPr marL="19050" marR="19050" marT="12700" marB="12700" anchor="b"/>
                </a:tc>
                <a:tc>
                  <a:txBody>
                    <a:bodyPr/>
                    <a:lstStyle/>
                    <a:p>
                      <a:pPr algn="ctr" rtl="0" fontAlgn="b"/>
                      <a:r>
                        <a:rPr lang="en-CA" sz="1800" b="1">
                          <a:solidFill>
                            <a:srgbClr val="FFFFFF"/>
                          </a:solidFill>
                          <a:effectLst/>
                        </a:rPr>
                        <a:t>2022 (MM)</a:t>
                      </a:r>
                    </a:p>
                  </a:txBody>
                  <a:tcPr marL="19050" marR="19050" marT="12700" marB="12700" anchor="b"/>
                </a:tc>
                <a:extLst>
                  <a:ext uri="{0D108BD9-81ED-4DB2-BD59-A6C34878D82A}">
                    <a16:rowId xmlns:a16="http://schemas.microsoft.com/office/drawing/2014/main" val="3465640666"/>
                  </a:ext>
                </a:extLst>
              </a:tr>
              <a:tr h="556238">
                <a:tc>
                  <a:txBody>
                    <a:bodyPr/>
                    <a:lstStyle/>
                    <a:p>
                      <a:pPr rtl="0" fontAlgn="b"/>
                      <a:r>
                        <a:rPr lang="es-ES" sz="1800" dirty="0">
                          <a:solidFill>
                            <a:srgbClr val="000000"/>
                          </a:solidFill>
                          <a:effectLst/>
                        </a:rPr>
                        <a:t>Contratación de personal bajo régimen CAS</a:t>
                      </a:r>
                    </a:p>
                  </a:txBody>
                  <a:tcPr marL="19050" marR="19050" marT="12700" marB="12700" anchor="b"/>
                </a:tc>
                <a:tc>
                  <a:txBody>
                    <a:bodyPr/>
                    <a:lstStyle/>
                    <a:p>
                      <a:pPr algn="ctr" rtl="0" fontAlgn="b"/>
                      <a:r>
                        <a:rPr lang="en-CA" sz="1800" dirty="0">
                          <a:solidFill>
                            <a:srgbClr val="000000"/>
                          </a:solidFill>
                          <a:effectLst/>
                        </a:rPr>
                        <a:t>25.9</a:t>
                      </a:r>
                    </a:p>
                  </a:txBody>
                  <a:tcPr marL="19050" marR="19050" marT="12700" marB="12700" anchor="b"/>
                </a:tc>
                <a:extLst>
                  <a:ext uri="{0D108BD9-81ED-4DB2-BD59-A6C34878D82A}">
                    <a16:rowId xmlns:a16="http://schemas.microsoft.com/office/drawing/2014/main" val="3057290830"/>
                  </a:ext>
                </a:extLst>
              </a:tr>
              <a:tr h="556238">
                <a:tc>
                  <a:txBody>
                    <a:bodyPr/>
                    <a:lstStyle/>
                    <a:p>
                      <a:pPr rtl="0" fontAlgn="b"/>
                      <a:r>
                        <a:rPr lang="es-ES" sz="1800" dirty="0">
                          <a:solidFill>
                            <a:srgbClr val="000000"/>
                          </a:solidFill>
                          <a:effectLst/>
                        </a:rPr>
                        <a:t>Adicional docente</a:t>
                      </a:r>
                    </a:p>
                  </a:txBody>
                  <a:tcPr marL="19050" marR="19050" marT="12700" marB="12700" anchor="b"/>
                </a:tc>
                <a:tc>
                  <a:txBody>
                    <a:bodyPr/>
                    <a:lstStyle/>
                    <a:p>
                      <a:pPr algn="ctr" rtl="0" fontAlgn="b"/>
                      <a:r>
                        <a:rPr lang="en-CA" sz="1800" dirty="0">
                          <a:solidFill>
                            <a:srgbClr val="000000"/>
                          </a:solidFill>
                          <a:effectLst/>
                        </a:rPr>
                        <a:t>30,7</a:t>
                      </a:r>
                    </a:p>
                  </a:txBody>
                  <a:tcPr marL="19050" marR="19050" marT="12700" marB="12700" anchor="b"/>
                </a:tc>
                <a:extLst>
                  <a:ext uri="{0D108BD9-81ED-4DB2-BD59-A6C34878D82A}">
                    <a16:rowId xmlns:a16="http://schemas.microsoft.com/office/drawing/2014/main" val="1988079744"/>
                  </a:ext>
                </a:extLst>
              </a:tr>
              <a:tr h="493228">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s-PE" sz="1800" dirty="0">
                          <a:solidFill>
                            <a:srgbClr val="000000"/>
                          </a:solidFill>
                          <a:effectLst/>
                        </a:rPr>
                        <a:t>Traslados (Viáticos, pasajes y movilidad local)   </a:t>
                      </a:r>
                      <a:endParaRPr lang="en-CA" sz="1800" dirty="0">
                        <a:effectLst/>
                        <a:latin typeface="Times New Roman" panose="02020603050405020304" pitchFamily="18" charset="0"/>
                        <a:ea typeface="Times New Roman" panose="02020603050405020304" pitchFamily="18" charset="0"/>
                        <a:cs typeface="Arial" panose="020B0604020202020204" pitchFamily="34" charset="0"/>
                      </a:endParaRPr>
                    </a:p>
                  </a:txBody>
                  <a:tcPr marL="19050" marR="19050" marT="12700" marB="12700" anchor="b"/>
                </a:tc>
                <a:tc>
                  <a:txBody>
                    <a:bodyPr/>
                    <a:lstStyle/>
                    <a:p>
                      <a:pPr algn="ctr" rtl="0" fontAlgn="b"/>
                      <a:r>
                        <a:rPr lang="en-CA" sz="1800" dirty="0">
                          <a:solidFill>
                            <a:srgbClr val="000000"/>
                          </a:solidFill>
                          <a:effectLst/>
                        </a:rPr>
                        <a:t>10.4</a:t>
                      </a:r>
                    </a:p>
                  </a:txBody>
                  <a:tcPr marL="19050" marR="19050" marT="12700" marB="12700" anchor="b"/>
                </a:tc>
                <a:extLst>
                  <a:ext uri="{0D108BD9-81ED-4DB2-BD59-A6C34878D82A}">
                    <a16:rowId xmlns:a16="http://schemas.microsoft.com/office/drawing/2014/main" val="4054997654"/>
                  </a:ext>
                </a:extLst>
              </a:tr>
              <a:tr h="883015">
                <a:tc>
                  <a:txBody>
                    <a:bodyPr/>
                    <a:lstStyle/>
                    <a:p>
                      <a:pPr rtl="0" fontAlgn="b"/>
                      <a:r>
                        <a:rPr lang="es-ES" sz="1800" dirty="0">
                          <a:solidFill>
                            <a:srgbClr val="000000"/>
                          </a:solidFill>
                          <a:effectLst/>
                        </a:rPr>
                        <a:t>Adquisición de material fungible, didáctico, limpieza, servicio de impresiones y/o fotocopiado</a:t>
                      </a:r>
                    </a:p>
                  </a:txBody>
                  <a:tcPr marL="19050" marR="19050" marT="12700" marB="12700" anchor="b"/>
                </a:tc>
                <a:tc>
                  <a:txBody>
                    <a:bodyPr/>
                    <a:lstStyle/>
                    <a:p>
                      <a:pPr algn="ctr" rtl="0" fontAlgn="b"/>
                      <a:r>
                        <a:rPr lang="en-CA" sz="1800" dirty="0">
                          <a:solidFill>
                            <a:srgbClr val="000000"/>
                          </a:solidFill>
                          <a:effectLst/>
                        </a:rPr>
                        <a:t>0.15</a:t>
                      </a:r>
                    </a:p>
                  </a:txBody>
                  <a:tcPr marL="19050" marR="19050" marT="12700" marB="12700" anchor="b"/>
                </a:tc>
                <a:extLst>
                  <a:ext uri="{0D108BD9-81ED-4DB2-BD59-A6C34878D82A}">
                    <a16:rowId xmlns:a16="http://schemas.microsoft.com/office/drawing/2014/main" val="3844357605"/>
                  </a:ext>
                </a:extLst>
              </a:tr>
              <a:tr h="556238">
                <a:tc>
                  <a:txBody>
                    <a:bodyPr/>
                    <a:lstStyle/>
                    <a:p>
                      <a:pPr rtl="0" fontAlgn="b"/>
                      <a:r>
                        <a:rPr lang="es-ES" sz="1800" dirty="0">
                          <a:solidFill>
                            <a:srgbClr val="000000"/>
                          </a:solidFill>
                          <a:effectLst/>
                        </a:rPr>
                        <a:t>Diseño e implementación y evaluación</a:t>
                      </a:r>
                    </a:p>
                  </a:txBody>
                  <a:tcPr marL="19050" marR="19050" marT="12700" marB="12700" anchor="b"/>
                </a:tc>
                <a:tc>
                  <a:txBody>
                    <a:bodyPr/>
                    <a:lstStyle/>
                    <a:p>
                      <a:pPr algn="ctr" rtl="0" fontAlgn="b"/>
                      <a:r>
                        <a:rPr lang="en-CA" sz="1800" dirty="0">
                          <a:solidFill>
                            <a:srgbClr val="000000"/>
                          </a:solidFill>
                          <a:effectLst/>
                        </a:rPr>
                        <a:t>0.5</a:t>
                      </a:r>
                    </a:p>
                  </a:txBody>
                  <a:tcPr marL="19050" marR="19050" marT="12700" marB="12700" anchor="b"/>
                </a:tc>
                <a:extLst>
                  <a:ext uri="{0D108BD9-81ED-4DB2-BD59-A6C34878D82A}">
                    <a16:rowId xmlns:a16="http://schemas.microsoft.com/office/drawing/2014/main" val="581812751"/>
                  </a:ext>
                </a:extLst>
              </a:tr>
              <a:tr h="290425">
                <a:tc>
                  <a:txBody>
                    <a:bodyPr/>
                    <a:lstStyle/>
                    <a:p>
                      <a:pPr algn="ctr" rtl="0" fontAlgn="b"/>
                      <a:r>
                        <a:rPr lang="en-CA" sz="1800" b="1">
                          <a:solidFill>
                            <a:srgbClr val="000000"/>
                          </a:solidFill>
                          <a:effectLst/>
                        </a:rPr>
                        <a:t>Total MM (S/)</a:t>
                      </a:r>
                    </a:p>
                  </a:txBody>
                  <a:tcPr marL="19050" marR="19050" marT="12700" marB="12700" anchor="b"/>
                </a:tc>
                <a:tc>
                  <a:txBody>
                    <a:bodyPr/>
                    <a:lstStyle/>
                    <a:p>
                      <a:pPr algn="ctr" rtl="0" fontAlgn="b"/>
                      <a:r>
                        <a:rPr lang="en-CA" sz="1800" b="1" dirty="0">
                          <a:solidFill>
                            <a:srgbClr val="000000"/>
                          </a:solidFill>
                          <a:effectLst/>
                        </a:rPr>
                        <a:t>67.47</a:t>
                      </a:r>
                      <a:endParaRPr lang="en-CA" sz="1800" b="1" dirty="0">
                        <a:solidFill>
                          <a:srgbClr val="000000"/>
                        </a:solidFill>
                        <a:effectLst/>
                        <a:latin typeface="Times New Roman" panose="02020603050405020304" pitchFamily="18" charset="0"/>
                      </a:endParaRPr>
                    </a:p>
                  </a:txBody>
                  <a:tcPr marL="19050" marR="19050" marT="12700" marB="12700" anchor="b"/>
                </a:tc>
                <a:extLst>
                  <a:ext uri="{0D108BD9-81ED-4DB2-BD59-A6C34878D82A}">
                    <a16:rowId xmlns:a16="http://schemas.microsoft.com/office/drawing/2014/main" val="3587177063"/>
                  </a:ext>
                </a:extLst>
              </a:tr>
            </a:tbl>
          </a:graphicData>
        </a:graphic>
      </p:graphicFrame>
    </p:spTree>
    <p:extLst>
      <p:ext uri="{BB962C8B-B14F-4D97-AF65-F5344CB8AC3E}">
        <p14:creationId xmlns:p14="http://schemas.microsoft.com/office/powerpoint/2010/main" val="330624046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Diagonal Corners Rounded 6">
            <a:extLst>
              <a:ext uri="{FF2B5EF4-FFF2-40B4-BE49-F238E27FC236}">
                <a16:creationId xmlns:a16="http://schemas.microsoft.com/office/drawing/2014/main" id="{5DC549E6-0B6C-450B-922D-0F58D2924A72}"/>
              </a:ext>
            </a:extLst>
          </p:cNvPr>
          <p:cNvSpPr/>
          <p:nvPr/>
        </p:nvSpPr>
        <p:spPr>
          <a:xfrm>
            <a:off x="429623" y="1048649"/>
            <a:ext cx="11267440" cy="721517"/>
          </a:xfrm>
          <a:prstGeom prst="round2DiagRect">
            <a:avLst/>
          </a:prstGeom>
          <a:solidFill>
            <a:srgbClr val="C00000"/>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solidFill>
                <a:schemeClr val="bg1"/>
              </a:solidFill>
            </a:endParaRPr>
          </a:p>
        </p:txBody>
      </p:sp>
      <p:sp>
        <p:nvSpPr>
          <p:cNvPr id="2" name="Title 1">
            <a:extLst>
              <a:ext uri="{FF2B5EF4-FFF2-40B4-BE49-F238E27FC236}">
                <a16:creationId xmlns:a16="http://schemas.microsoft.com/office/drawing/2014/main" id="{16C18CE1-72D9-4719-A2FF-5C93A7E96E39}"/>
              </a:ext>
            </a:extLst>
          </p:cNvPr>
          <p:cNvSpPr>
            <a:spLocks noGrp="1"/>
          </p:cNvSpPr>
          <p:nvPr>
            <p:ph type="title"/>
          </p:nvPr>
        </p:nvSpPr>
        <p:spPr/>
        <p:txBody>
          <a:bodyPr/>
          <a:lstStyle/>
          <a:p>
            <a:r>
              <a:rPr lang="es-PE" sz="4000" dirty="0"/>
              <a:t>AGENDA</a:t>
            </a:r>
            <a:endParaRPr lang="en-CA" sz="4000" dirty="0"/>
          </a:p>
        </p:txBody>
      </p:sp>
      <p:sp>
        <p:nvSpPr>
          <p:cNvPr id="3" name="Slide Number Placeholder 2">
            <a:extLst>
              <a:ext uri="{FF2B5EF4-FFF2-40B4-BE49-F238E27FC236}">
                <a16:creationId xmlns:a16="http://schemas.microsoft.com/office/drawing/2014/main" id="{0DFD7E46-D5CE-48DD-96F3-51002A57C15D}"/>
              </a:ext>
            </a:extLst>
          </p:cNvPr>
          <p:cNvSpPr>
            <a:spLocks noGrp="1"/>
          </p:cNvSpPr>
          <p:nvPr>
            <p:ph type="sldNum" sz="quarter" idx="12"/>
          </p:nvPr>
        </p:nvSpPr>
        <p:spPr/>
        <p:txBody>
          <a:bodyPr/>
          <a:lstStyle/>
          <a:p>
            <a:fld id="{DAF31D20-51B2-49A6-91FA-1FC48A60B42D}" type="slidenum">
              <a:rPr lang="es-PE" smtClean="0"/>
              <a:t>51</a:t>
            </a:fld>
            <a:endParaRPr lang="es-PE"/>
          </a:p>
        </p:txBody>
      </p:sp>
      <p:sp>
        <p:nvSpPr>
          <p:cNvPr id="5" name="TextBox 4">
            <a:extLst>
              <a:ext uri="{FF2B5EF4-FFF2-40B4-BE49-F238E27FC236}">
                <a16:creationId xmlns:a16="http://schemas.microsoft.com/office/drawing/2014/main" id="{17CB7C5A-6404-4218-A2FD-BE386960A332}"/>
              </a:ext>
            </a:extLst>
          </p:cNvPr>
          <p:cNvSpPr txBox="1"/>
          <p:nvPr/>
        </p:nvSpPr>
        <p:spPr>
          <a:xfrm>
            <a:off x="494937" y="1249444"/>
            <a:ext cx="10739120" cy="369332"/>
          </a:xfrm>
          <a:prstGeom prst="rect">
            <a:avLst/>
          </a:prstGeom>
          <a:noFill/>
        </p:spPr>
        <p:txBody>
          <a:bodyPr wrap="square" rtlCol="0">
            <a:spAutoFit/>
          </a:bodyPr>
          <a:lstStyle/>
          <a:p>
            <a:r>
              <a:rPr lang="es-PE" b="1" dirty="0">
                <a:solidFill>
                  <a:schemeClr val="bg1"/>
                </a:solidFill>
              </a:rPr>
              <a:t>2.  Propuesta de estrategia de Educación Remedial </a:t>
            </a:r>
            <a:endParaRPr lang="en-CA" b="1" dirty="0">
              <a:solidFill>
                <a:schemeClr val="bg1"/>
              </a:solidFill>
            </a:endParaRPr>
          </a:p>
        </p:txBody>
      </p:sp>
      <p:sp>
        <p:nvSpPr>
          <p:cNvPr id="11" name="Rectangle 10">
            <a:extLst>
              <a:ext uri="{FF2B5EF4-FFF2-40B4-BE49-F238E27FC236}">
                <a16:creationId xmlns:a16="http://schemas.microsoft.com/office/drawing/2014/main" id="{73ED18D7-638E-4BF8-8DFC-833E74760777}"/>
              </a:ext>
            </a:extLst>
          </p:cNvPr>
          <p:cNvSpPr/>
          <p:nvPr/>
        </p:nvSpPr>
        <p:spPr>
          <a:xfrm>
            <a:off x="866767" y="1925671"/>
            <a:ext cx="10753725" cy="381602"/>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00050" indent="-400050">
              <a:buFont typeface="+mj-lt"/>
              <a:buAutoNum type="romanUcPeriod"/>
            </a:pPr>
            <a:r>
              <a:rPr lang="es-PE" b="1" dirty="0">
                <a:solidFill>
                  <a:schemeClr val="tx2"/>
                </a:solidFill>
              </a:rPr>
              <a:t>Información general de estrategias</a:t>
            </a:r>
            <a:endParaRPr lang="en-CA" b="1" dirty="0">
              <a:solidFill>
                <a:schemeClr val="tx2"/>
              </a:solidFill>
            </a:endParaRPr>
          </a:p>
        </p:txBody>
      </p:sp>
      <p:sp>
        <p:nvSpPr>
          <p:cNvPr id="13" name="Rectangle 12">
            <a:extLst>
              <a:ext uri="{FF2B5EF4-FFF2-40B4-BE49-F238E27FC236}">
                <a16:creationId xmlns:a16="http://schemas.microsoft.com/office/drawing/2014/main" id="{BF24706C-635F-48B8-86E0-9354C25A8312}"/>
              </a:ext>
            </a:extLst>
          </p:cNvPr>
          <p:cNvSpPr/>
          <p:nvPr/>
        </p:nvSpPr>
        <p:spPr>
          <a:xfrm>
            <a:off x="866767" y="2431388"/>
            <a:ext cx="10753725" cy="381602"/>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00050" indent="-400050">
              <a:buFont typeface="+mj-lt"/>
              <a:buAutoNum type="romanUcPeriod" startAt="2"/>
            </a:pPr>
            <a:r>
              <a:rPr lang="es-PE" b="1" dirty="0">
                <a:solidFill>
                  <a:schemeClr val="tx2"/>
                </a:solidFill>
              </a:rPr>
              <a:t>Modelo 1: Enseñanza al nivel adecuado (</a:t>
            </a:r>
            <a:r>
              <a:rPr lang="es-PE" b="1" dirty="0" err="1">
                <a:solidFill>
                  <a:schemeClr val="tx2"/>
                </a:solidFill>
              </a:rPr>
              <a:t>TaRL</a:t>
            </a:r>
            <a:r>
              <a:rPr lang="es-PE" b="1" dirty="0">
                <a:solidFill>
                  <a:schemeClr val="tx2"/>
                </a:solidFill>
              </a:rPr>
              <a:t>)</a:t>
            </a:r>
            <a:endParaRPr lang="en-CA" b="1" dirty="0">
              <a:solidFill>
                <a:schemeClr val="tx2"/>
              </a:solidFill>
            </a:endParaRPr>
          </a:p>
        </p:txBody>
      </p:sp>
      <p:sp>
        <p:nvSpPr>
          <p:cNvPr id="15" name="Rectangle 14">
            <a:extLst>
              <a:ext uri="{FF2B5EF4-FFF2-40B4-BE49-F238E27FC236}">
                <a16:creationId xmlns:a16="http://schemas.microsoft.com/office/drawing/2014/main" id="{6D048FC1-72B2-4921-BF07-AC34182DA451}"/>
              </a:ext>
            </a:extLst>
          </p:cNvPr>
          <p:cNvSpPr/>
          <p:nvPr/>
        </p:nvSpPr>
        <p:spPr>
          <a:xfrm>
            <a:off x="866767" y="4462866"/>
            <a:ext cx="10753725" cy="381602"/>
          </a:xfrm>
          <a:prstGeom prst="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00050" indent="-400050">
              <a:buFont typeface="+mj-lt"/>
              <a:buAutoNum type="romanUcPeriod" startAt="3"/>
            </a:pPr>
            <a:r>
              <a:rPr lang="es-PE" b="1" dirty="0">
                <a:solidFill>
                  <a:schemeClr val="bg1"/>
                </a:solidFill>
              </a:rPr>
              <a:t>Modelo 2: Tutoría con componente digital</a:t>
            </a:r>
            <a:endParaRPr lang="en-CA" b="1" dirty="0">
              <a:solidFill>
                <a:schemeClr val="bg1"/>
              </a:solidFill>
            </a:endParaRPr>
          </a:p>
        </p:txBody>
      </p:sp>
      <p:sp>
        <p:nvSpPr>
          <p:cNvPr id="18" name="TextBox 17">
            <a:extLst>
              <a:ext uri="{FF2B5EF4-FFF2-40B4-BE49-F238E27FC236}">
                <a16:creationId xmlns:a16="http://schemas.microsoft.com/office/drawing/2014/main" id="{1472411D-B88F-4453-A39D-EDA418DB8DC9}"/>
              </a:ext>
            </a:extLst>
          </p:cNvPr>
          <p:cNvSpPr txBox="1"/>
          <p:nvPr/>
        </p:nvSpPr>
        <p:spPr>
          <a:xfrm>
            <a:off x="1104891" y="2871988"/>
            <a:ext cx="10277475" cy="1569660"/>
          </a:xfrm>
          <a:prstGeom prst="rect">
            <a:avLst/>
          </a:prstGeom>
          <a:noFill/>
        </p:spPr>
        <p:txBody>
          <a:bodyPr wrap="square" rtlCol="0">
            <a:spAutoFit/>
          </a:bodyPr>
          <a:lstStyle/>
          <a:p>
            <a:pPr marL="285750" indent="-285750">
              <a:buFont typeface="Wingdings" panose="05000000000000000000" pitchFamily="2" charset="2"/>
              <a:buChar char="§"/>
            </a:pPr>
            <a:r>
              <a:rPr lang="es-PE" sz="1200" dirty="0">
                <a:solidFill>
                  <a:schemeClr val="bg1">
                    <a:lumMod val="65000"/>
                  </a:schemeClr>
                </a:solidFill>
              </a:rPr>
              <a:t>Antecedentes</a:t>
            </a:r>
          </a:p>
          <a:p>
            <a:pPr marL="285750" indent="-285750">
              <a:buFont typeface="Wingdings" panose="05000000000000000000" pitchFamily="2" charset="2"/>
              <a:buChar char="§"/>
            </a:pPr>
            <a:r>
              <a:rPr lang="es-PE" sz="1200" dirty="0">
                <a:solidFill>
                  <a:schemeClr val="bg1">
                    <a:lumMod val="65000"/>
                  </a:schemeClr>
                </a:solidFill>
              </a:rPr>
              <a:t>El Modelo</a:t>
            </a:r>
          </a:p>
          <a:p>
            <a:pPr marL="285750" indent="-285750">
              <a:buFont typeface="Wingdings" panose="05000000000000000000" pitchFamily="2" charset="2"/>
              <a:buChar char="§"/>
            </a:pPr>
            <a:r>
              <a:rPr lang="es-PE" sz="1200" dirty="0">
                <a:solidFill>
                  <a:schemeClr val="bg1">
                    <a:lumMod val="65000"/>
                  </a:schemeClr>
                </a:solidFill>
              </a:rPr>
              <a:t>Componentes de la estrategia</a:t>
            </a:r>
          </a:p>
          <a:p>
            <a:pPr marL="285750" indent="-285750">
              <a:buFont typeface="Wingdings" panose="05000000000000000000" pitchFamily="2" charset="2"/>
              <a:buChar char="§"/>
            </a:pPr>
            <a:r>
              <a:rPr lang="es-PE" sz="1200" dirty="0">
                <a:solidFill>
                  <a:schemeClr val="bg1">
                    <a:lumMod val="65000"/>
                  </a:schemeClr>
                </a:solidFill>
              </a:rPr>
              <a:t>Focalización</a:t>
            </a:r>
          </a:p>
          <a:p>
            <a:pPr marL="285750" indent="-285750">
              <a:buFont typeface="Wingdings" panose="05000000000000000000" pitchFamily="2" charset="2"/>
              <a:buChar char="§"/>
            </a:pPr>
            <a:r>
              <a:rPr lang="es-PE" sz="1200" dirty="0">
                <a:solidFill>
                  <a:schemeClr val="bg1">
                    <a:lumMod val="65000"/>
                  </a:schemeClr>
                </a:solidFill>
              </a:rPr>
              <a:t>Cobertura</a:t>
            </a:r>
          </a:p>
          <a:p>
            <a:pPr marL="285750" indent="-285750">
              <a:buFont typeface="Wingdings" panose="05000000000000000000" pitchFamily="2" charset="2"/>
              <a:buChar char="§"/>
            </a:pPr>
            <a:r>
              <a:rPr lang="es-PE" sz="1200" dirty="0">
                <a:solidFill>
                  <a:schemeClr val="bg1">
                    <a:lumMod val="65000"/>
                  </a:schemeClr>
                </a:solidFill>
              </a:rPr>
              <a:t>Estimación de Costos</a:t>
            </a:r>
          </a:p>
          <a:p>
            <a:pPr marL="285750" indent="-285750">
              <a:buFont typeface="Wingdings" panose="05000000000000000000" pitchFamily="2" charset="2"/>
              <a:buChar char="§"/>
            </a:pPr>
            <a:r>
              <a:rPr lang="es-PE" sz="1200" dirty="0">
                <a:solidFill>
                  <a:schemeClr val="bg1">
                    <a:lumMod val="65000"/>
                  </a:schemeClr>
                </a:solidFill>
              </a:rPr>
              <a:t>Cronograma</a:t>
            </a:r>
          </a:p>
          <a:p>
            <a:pPr marL="285750" indent="-285750">
              <a:buFont typeface="Wingdings" panose="05000000000000000000" pitchFamily="2" charset="2"/>
              <a:buChar char="§"/>
            </a:pPr>
            <a:r>
              <a:rPr lang="es-PE" sz="1200" dirty="0">
                <a:solidFill>
                  <a:schemeClr val="bg1">
                    <a:lumMod val="65000"/>
                  </a:schemeClr>
                </a:solidFill>
              </a:rPr>
              <a:t>Complementariedad con otras estrategias y recomendaciones</a:t>
            </a:r>
          </a:p>
        </p:txBody>
      </p:sp>
      <p:sp>
        <p:nvSpPr>
          <p:cNvPr id="19" name="TextBox 18">
            <a:extLst>
              <a:ext uri="{FF2B5EF4-FFF2-40B4-BE49-F238E27FC236}">
                <a16:creationId xmlns:a16="http://schemas.microsoft.com/office/drawing/2014/main" id="{5947BA55-15C3-4040-9B5B-8EAC7B3B3343}"/>
              </a:ext>
            </a:extLst>
          </p:cNvPr>
          <p:cNvSpPr txBox="1"/>
          <p:nvPr/>
        </p:nvSpPr>
        <p:spPr>
          <a:xfrm>
            <a:off x="1047755" y="4980330"/>
            <a:ext cx="10277475" cy="1754326"/>
          </a:xfrm>
          <a:prstGeom prst="rect">
            <a:avLst/>
          </a:prstGeom>
          <a:noFill/>
        </p:spPr>
        <p:txBody>
          <a:bodyPr wrap="square" rtlCol="0">
            <a:spAutoFit/>
          </a:bodyPr>
          <a:lstStyle/>
          <a:p>
            <a:pPr marL="285750" indent="-285750">
              <a:buFont typeface="Wingdings" panose="05000000000000000000" pitchFamily="2" charset="2"/>
              <a:buChar char="§"/>
            </a:pPr>
            <a:r>
              <a:rPr lang="es-PE" sz="1200" dirty="0">
                <a:solidFill>
                  <a:schemeClr val="bg1">
                    <a:lumMod val="65000"/>
                  </a:schemeClr>
                </a:solidFill>
              </a:rPr>
              <a:t>Antecedentes</a:t>
            </a:r>
          </a:p>
          <a:p>
            <a:pPr marL="285750" indent="-285750">
              <a:buFont typeface="Wingdings" panose="05000000000000000000" pitchFamily="2" charset="2"/>
              <a:buChar char="§"/>
            </a:pPr>
            <a:r>
              <a:rPr lang="es-PE" sz="1200" dirty="0">
                <a:solidFill>
                  <a:schemeClr val="bg1">
                    <a:lumMod val="65000"/>
                  </a:schemeClr>
                </a:solidFill>
              </a:rPr>
              <a:t>Oportunidades</a:t>
            </a:r>
          </a:p>
          <a:p>
            <a:pPr marL="285750" indent="-285750">
              <a:buFont typeface="Wingdings" panose="05000000000000000000" pitchFamily="2" charset="2"/>
              <a:buChar char="§"/>
            </a:pPr>
            <a:r>
              <a:rPr lang="es-PE" sz="1200" dirty="0">
                <a:solidFill>
                  <a:schemeClr val="bg1">
                    <a:lumMod val="65000"/>
                  </a:schemeClr>
                </a:solidFill>
              </a:rPr>
              <a:t>El Modelo</a:t>
            </a:r>
          </a:p>
          <a:p>
            <a:pPr marL="285750" indent="-285750">
              <a:buFont typeface="Wingdings" panose="05000000000000000000" pitchFamily="2" charset="2"/>
              <a:buChar char="§"/>
            </a:pPr>
            <a:r>
              <a:rPr lang="es-PE" sz="1200" dirty="0">
                <a:solidFill>
                  <a:schemeClr val="bg1">
                    <a:lumMod val="65000"/>
                  </a:schemeClr>
                </a:solidFill>
              </a:rPr>
              <a:t>Componentes de la estrategia</a:t>
            </a:r>
          </a:p>
          <a:p>
            <a:pPr marL="285750" indent="-285750">
              <a:buFont typeface="Wingdings" panose="05000000000000000000" pitchFamily="2" charset="2"/>
              <a:buChar char="§"/>
            </a:pPr>
            <a:r>
              <a:rPr lang="es-PE" sz="1200" dirty="0">
                <a:solidFill>
                  <a:schemeClr val="bg1">
                    <a:lumMod val="65000"/>
                  </a:schemeClr>
                </a:solidFill>
              </a:rPr>
              <a:t>Focalización</a:t>
            </a:r>
          </a:p>
          <a:p>
            <a:pPr marL="285750" indent="-285750">
              <a:buFont typeface="Wingdings" panose="05000000000000000000" pitchFamily="2" charset="2"/>
              <a:buChar char="§"/>
            </a:pPr>
            <a:r>
              <a:rPr lang="es-PE" sz="1200" dirty="0">
                <a:solidFill>
                  <a:schemeClr val="bg1">
                    <a:lumMod val="65000"/>
                  </a:schemeClr>
                </a:solidFill>
              </a:rPr>
              <a:t>Cobertura</a:t>
            </a:r>
          </a:p>
          <a:p>
            <a:pPr marL="285750" indent="-285750">
              <a:buFont typeface="Wingdings" panose="05000000000000000000" pitchFamily="2" charset="2"/>
              <a:buChar char="§"/>
            </a:pPr>
            <a:r>
              <a:rPr lang="es-PE" sz="1200" dirty="0">
                <a:solidFill>
                  <a:schemeClr val="bg1">
                    <a:lumMod val="65000"/>
                  </a:schemeClr>
                </a:solidFill>
              </a:rPr>
              <a:t>Estimación de Costos</a:t>
            </a:r>
          </a:p>
          <a:p>
            <a:pPr marL="285750" indent="-285750">
              <a:buFont typeface="Wingdings" panose="05000000000000000000" pitchFamily="2" charset="2"/>
              <a:buChar char="§"/>
            </a:pPr>
            <a:r>
              <a:rPr lang="es-PE" sz="1200" b="1" dirty="0">
                <a:solidFill>
                  <a:schemeClr val="tx2"/>
                </a:solidFill>
              </a:rPr>
              <a:t>Cronograma</a:t>
            </a:r>
          </a:p>
          <a:p>
            <a:pPr marL="285750" indent="-285750">
              <a:buFont typeface="Wingdings" panose="05000000000000000000" pitchFamily="2" charset="2"/>
              <a:buChar char="§"/>
            </a:pPr>
            <a:r>
              <a:rPr lang="es-PE" sz="1200" dirty="0">
                <a:solidFill>
                  <a:schemeClr val="bg1">
                    <a:lumMod val="65000"/>
                  </a:schemeClr>
                </a:solidFill>
              </a:rPr>
              <a:t>Complementariedad con otras estrategias y recomendaciones</a:t>
            </a:r>
          </a:p>
        </p:txBody>
      </p:sp>
    </p:spTree>
    <p:extLst>
      <p:ext uri="{BB962C8B-B14F-4D97-AF65-F5344CB8AC3E}">
        <p14:creationId xmlns:p14="http://schemas.microsoft.com/office/powerpoint/2010/main" val="388649227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DADB20-4773-4F0F-905F-8ECF4DF9722E}"/>
              </a:ext>
            </a:extLst>
          </p:cNvPr>
          <p:cNvSpPr>
            <a:spLocks noGrp="1"/>
          </p:cNvSpPr>
          <p:nvPr>
            <p:ph type="title"/>
          </p:nvPr>
        </p:nvSpPr>
        <p:spPr>
          <a:xfrm>
            <a:off x="501762" y="289533"/>
            <a:ext cx="8483600" cy="1001078"/>
          </a:xfrm>
        </p:spPr>
        <p:txBody>
          <a:bodyPr/>
          <a:lstStyle/>
          <a:p>
            <a:r>
              <a:rPr lang="es-PE" sz="2800" dirty="0"/>
              <a:t>Fases de la estrategia y cronología  (2021 – 2022)</a:t>
            </a:r>
            <a:endParaRPr lang="en-CA" sz="2800" dirty="0"/>
          </a:p>
        </p:txBody>
      </p:sp>
      <p:sp>
        <p:nvSpPr>
          <p:cNvPr id="10" name="TextBox 9">
            <a:extLst>
              <a:ext uri="{FF2B5EF4-FFF2-40B4-BE49-F238E27FC236}">
                <a16:creationId xmlns:a16="http://schemas.microsoft.com/office/drawing/2014/main" id="{FE42D3B7-8A0A-445C-AE74-0BEB90D14ABB}"/>
              </a:ext>
            </a:extLst>
          </p:cNvPr>
          <p:cNvSpPr txBox="1"/>
          <p:nvPr/>
        </p:nvSpPr>
        <p:spPr>
          <a:xfrm>
            <a:off x="501762" y="1113813"/>
            <a:ext cx="4319451" cy="369332"/>
          </a:xfrm>
          <a:prstGeom prst="rect">
            <a:avLst/>
          </a:prstGeom>
          <a:noFill/>
        </p:spPr>
        <p:txBody>
          <a:bodyPr wrap="square" rtlCol="0">
            <a:spAutoFit/>
          </a:bodyPr>
          <a:lstStyle/>
          <a:p>
            <a:r>
              <a:rPr lang="es-PE" b="1" dirty="0">
                <a:solidFill>
                  <a:srgbClr val="C00000"/>
                </a:solidFill>
              </a:rPr>
              <a:t>Opción 1:Temporalidad regular</a:t>
            </a:r>
            <a:endParaRPr lang="en-CA" b="1" dirty="0">
              <a:solidFill>
                <a:srgbClr val="C00000"/>
              </a:solidFill>
            </a:endParaRPr>
          </a:p>
        </p:txBody>
      </p:sp>
      <p:pic>
        <p:nvPicPr>
          <p:cNvPr id="5" name="Picture 4">
            <a:extLst>
              <a:ext uri="{FF2B5EF4-FFF2-40B4-BE49-F238E27FC236}">
                <a16:creationId xmlns:a16="http://schemas.microsoft.com/office/drawing/2014/main" id="{81A6C648-2A19-4353-A3E8-9E4DFE16517E}"/>
              </a:ext>
            </a:extLst>
          </p:cNvPr>
          <p:cNvPicPr>
            <a:picLocks noChangeAspect="1"/>
          </p:cNvPicPr>
          <p:nvPr/>
        </p:nvPicPr>
        <p:blipFill>
          <a:blip r:embed="rId2"/>
          <a:stretch>
            <a:fillRect/>
          </a:stretch>
        </p:blipFill>
        <p:spPr>
          <a:xfrm>
            <a:off x="904875" y="1934187"/>
            <a:ext cx="9906000" cy="3810000"/>
          </a:xfrm>
          <a:prstGeom prst="rect">
            <a:avLst/>
          </a:prstGeom>
        </p:spPr>
      </p:pic>
    </p:spTree>
    <p:extLst>
      <p:ext uri="{BB962C8B-B14F-4D97-AF65-F5344CB8AC3E}">
        <p14:creationId xmlns:p14="http://schemas.microsoft.com/office/powerpoint/2010/main" val="273679496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Diagonal Corners Rounded 6">
            <a:extLst>
              <a:ext uri="{FF2B5EF4-FFF2-40B4-BE49-F238E27FC236}">
                <a16:creationId xmlns:a16="http://schemas.microsoft.com/office/drawing/2014/main" id="{5DC549E6-0B6C-450B-922D-0F58D2924A72}"/>
              </a:ext>
            </a:extLst>
          </p:cNvPr>
          <p:cNvSpPr/>
          <p:nvPr/>
        </p:nvSpPr>
        <p:spPr>
          <a:xfrm>
            <a:off x="429623" y="2924777"/>
            <a:ext cx="11267440" cy="721517"/>
          </a:xfrm>
          <a:prstGeom prst="round2Diag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solidFill>
                <a:schemeClr val="tx2"/>
              </a:solidFill>
            </a:endParaRPr>
          </a:p>
        </p:txBody>
      </p:sp>
      <p:sp>
        <p:nvSpPr>
          <p:cNvPr id="6" name="Rectangle: Diagonal Corners Rounded 5">
            <a:extLst>
              <a:ext uri="{FF2B5EF4-FFF2-40B4-BE49-F238E27FC236}">
                <a16:creationId xmlns:a16="http://schemas.microsoft.com/office/drawing/2014/main" id="{4E20E10E-4C87-4242-A0D4-EB119D6387FB}"/>
              </a:ext>
            </a:extLst>
          </p:cNvPr>
          <p:cNvSpPr/>
          <p:nvPr/>
        </p:nvSpPr>
        <p:spPr>
          <a:xfrm>
            <a:off x="429623" y="1595120"/>
            <a:ext cx="11267440" cy="721517"/>
          </a:xfrm>
          <a:prstGeom prst="round2Diag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solidFill>
                <a:schemeClr val="tx2"/>
              </a:solidFill>
            </a:endParaRPr>
          </a:p>
        </p:txBody>
      </p:sp>
      <p:sp>
        <p:nvSpPr>
          <p:cNvPr id="2" name="Title 1">
            <a:extLst>
              <a:ext uri="{FF2B5EF4-FFF2-40B4-BE49-F238E27FC236}">
                <a16:creationId xmlns:a16="http://schemas.microsoft.com/office/drawing/2014/main" id="{16C18CE1-72D9-4719-A2FF-5C93A7E96E39}"/>
              </a:ext>
            </a:extLst>
          </p:cNvPr>
          <p:cNvSpPr>
            <a:spLocks noGrp="1"/>
          </p:cNvSpPr>
          <p:nvPr>
            <p:ph type="title"/>
          </p:nvPr>
        </p:nvSpPr>
        <p:spPr/>
        <p:txBody>
          <a:bodyPr/>
          <a:lstStyle/>
          <a:p>
            <a:r>
              <a:rPr lang="es-PE" sz="4000" dirty="0"/>
              <a:t>AGENDA</a:t>
            </a:r>
            <a:endParaRPr lang="en-CA" sz="4000" dirty="0"/>
          </a:p>
        </p:txBody>
      </p:sp>
      <p:sp>
        <p:nvSpPr>
          <p:cNvPr id="3" name="Slide Number Placeholder 2">
            <a:extLst>
              <a:ext uri="{FF2B5EF4-FFF2-40B4-BE49-F238E27FC236}">
                <a16:creationId xmlns:a16="http://schemas.microsoft.com/office/drawing/2014/main" id="{0DFD7E46-D5CE-48DD-96F3-51002A57C15D}"/>
              </a:ext>
            </a:extLst>
          </p:cNvPr>
          <p:cNvSpPr>
            <a:spLocks noGrp="1"/>
          </p:cNvSpPr>
          <p:nvPr>
            <p:ph type="sldNum" sz="quarter" idx="12"/>
          </p:nvPr>
        </p:nvSpPr>
        <p:spPr/>
        <p:txBody>
          <a:bodyPr/>
          <a:lstStyle/>
          <a:p>
            <a:fld id="{DAF31D20-51B2-49A6-91FA-1FC48A60B42D}" type="slidenum">
              <a:rPr lang="es-PE" smtClean="0"/>
              <a:t>53</a:t>
            </a:fld>
            <a:endParaRPr lang="es-PE"/>
          </a:p>
        </p:txBody>
      </p:sp>
      <p:sp>
        <p:nvSpPr>
          <p:cNvPr id="4" name="TextBox 3">
            <a:extLst>
              <a:ext uri="{FF2B5EF4-FFF2-40B4-BE49-F238E27FC236}">
                <a16:creationId xmlns:a16="http://schemas.microsoft.com/office/drawing/2014/main" id="{708D1216-4945-42E1-8730-051FDE1086A1}"/>
              </a:ext>
            </a:extLst>
          </p:cNvPr>
          <p:cNvSpPr txBox="1"/>
          <p:nvPr/>
        </p:nvSpPr>
        <p:spPr>
          <a:xfrm>
            <a:off x="528320" y="1772921"/>
            <a:ext cx="10972800"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marL="342900" indent="-342900">
              <a:buAutoNum type="arabicPeriod"/>
            </a:pPr>
            <a:r>
              <a:rPr lang="es-PE" b="1" dirty="0">
                <a:solidFill>
                  <a:schemeClr val="tx2"/>
                </a:solidFill>
              </a:rPr>
              <a:t>¿Por qué es importante implementar un plan de Educación Remedial en el 2022?</a:t>
            </a:r>
          </a:p>
        </p:txBody>
      </p:sp>
      <p:sp>
        <p:nvSpPr>
          <p:cNvPr id="5" name="TextBox 4">
            <a:extLst>
              <a:ext uri="{FF2B5EF4-FFF2-40B4-BE49-F238E27FC236}">
                <a16:creationId xmlns:a16="http://schemas.microsoft.com/office/drawing/2014/main" id="{17CB7C5A-6404-4218-A2FD-BE386960A332}"/>
              </a:ext>
            </a:extLst>
          </p:cNvPr>
          <p:cNvSpPr txBox="1"/>
          <p:nvPr/>
        </p:nvSpPr>
        <p:spPr>
          <a:xfrm>
            <a:off x="494937" y="3100869"/>
            <a:ext cx="10739120" cy="369332"/>
          </a:xfrm>
          <a:prstGeom prst="rect">
            <a:avLst/>
          </a:prstGeom>
          <a:noFill/>
        </p:spPr>
        <p:txBody>
          <a:bodyPr wrap="square" rtlCol="0">
            <a:spAutoFit/>
          </a:bodyPr>
          <a:lstStyle/>
          <a:p>
            <a:r>
              <a:rPr lang="es-PE" b="1" dirty="0">
                <a:solidFill>
                  <a:schemeClr val="tx2"/>
                </a:solidFill>
              </a:rPr>
              <a:t>2.  Propuesta de estrategia de Educación Remedial </a:t>
            </a:r>
            <a:endParaRPr lang="en-CA" b="1" dirty="0">
              <a:solidFill>
                <a:schemeClr val="tx2"/>
              </a:solidFill>
            </a:endParaRPr>
          </a:p>
        </p:txBody>
      </p:sp>
      <p:sp>
        <p:nvSpPr>
          <p:cNvPr id="8" name="Rectangle: Diagonal Corners Rounded 7">
            <a:extLst>
              <a:ext uri="{FF2B5EF4-FFF2-40B4-BE49-F238E27FC236}">
                <a16:creationId xmlns:a16="http://schemas.microsoft.com/office/drawing/2014/main" id="{59E6A756-3695-42A0-9AB6-C0C899FB34D5}"/>
              </a:ext>
            </a:extLst>
          </p:cNvPr>
          <p:cNvSpPr/>
          <p:nvPr/>
        </p:nvSpPr>
        <p:spPr>
          <a:xfrm>
            <a:off x="429623" y="4351051"/>
            <a:ext cx="11267440" cy="721517"/>
          </a:xfrm>
          <a:prstGeom prst="round2DiagRect">
            <a:avLst/>
          </a:prstGeom>
          <a:solidFill>
            <a:srgbClr val="C00000"/>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solidFill>
                <a:schemeClr val="tx2"/>
              </a:solidFill>
            </a:endParaRPr>
          </a:p>
        </p:txBody>
      </p:sp>
      <p:sp>
        <p:nvSpPr>
          <p:cNvPr id="9" name="TextBox 8">
            <a:extLst>
              <a:ext uri="{FF2B5EF4-FFF2-40B4-BE49-F238E27FC236}">
                <a16:creationId xmlns:a16="http://schemas.microsoft.com/office/drawing/2014/main" id="{6D2632DC-3264-4A47-B18B-30D8EC5F8809}"/>
              </a:ext>
            </a:extLst>
          </p:cNvPr>
          <p:cNvSpPr txBox="1"/>
          <p:nvPr/>
        </p:nvSpPr>
        <p:spPr>
          <a:xfrm>
            <a:off x="528320" y="4511040"/>
            <a:ext cx="10739120" cy="369332"/>
          </a:xfrm>
          <a:prstGeom prst="rect">
            <a:avLst/>
          </a:prstGeom>
          <a:noFill/>
        </p:spPr>
        <p:txBody>
          <a:bodyPr wrap="square" rtlCol="0">
            <a:spAutoFit/>
          </a:bodyPr>
          <a:lstStyle/>
          <a:p>
            <a:r>
              <a:rPr lang="es-PE" b="1" dirty="0">
                <a:solidFill>
                  <a:schemeClr val="bg1"/>
                </a:solidFill>
              </a:rPr>
              <a:t>3.  Recomendaciones </a:t>
            </a:r>
            <a:endParaRPr lang="en-CA" b="1" dirty="0">
              <a:solidFill>
                <a:schemeClr val="bg1"/>
              </a:solidFill>
            </a:endParaRPr>
          </a:p>
        </p:txBody>
      </p:sp>
    </p:spTree>
    <p:extLst>
      <p:ext uri="{BB962C8B-B14F-4D97-AF65-F5344CB8AC3E}">
        <p14:creationId xmlns:p14="http://schemas.microsoft.com/office/powerpoint/2010/main" val="169000784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07A389-DC2B-4A6E-83C3-8FCE79F70439}"/>
              </a:ext>
            </a:extLst>
          </p:cNvPr>
          <p:cNvSpPr>
            <a:spLocks noGrp="1"/>
          </p:cNvSpPr>
          <p:nvPr>
            <p:ph type="title"/>
          </p:nvPr>
        </p:nvSpPr>
        <p:spPr/>
        <p:txBody>
          <a:bodyPr/>
          <a:lstStyle/>
          <a:p>
            <a:r>
              <a:rPr lang="es-PE" dirty="0"/>
              <a:t>Recomendaciones</a:t>
            </a:r>
            <a:endParaRPr lang="en-CA" dirty="0"/>
          </a:p>
        </p:txBody>
      </p:sp>
      <p:sp>
        <p:nvSpPr>
          <p:cNvPr id="3" name="Slide Number Placeholder 2">
            <a:extLst>
              <a:ext uri="{FF2B5EF4-FFF2-40B4-BE49-F238E27FC236}">
                <a16:creationId xmlns:a16="http://schemas.microsoft.com/office/drawing/2014/main" id="{3507B76E-FD0A-49DC-8649-23F050E077DE}"/>
              </a:ext>
            </a:extLst>
          </p:cNvPr>
          <p:cNvSpPr>
            <a:spLocks noGrp="1"/>
          </p:cNvSpPr>
          <p:nvPr>
            <p:ph type="sldNum" sz="quarter" idx="12"/>
          </p:nvPr>
        </p:nvSpPr>
        <p:spPr/>
        <p:txBody>
          <a:bodyPr/>
          <a:lstStyle/>
          <a:p>
            <a:fld id="{DAF31D20-51B2-49A6-91FA-1FC48A60B42D}" type="slidenum">
              <a:rPr lang="es-PE" smtClean="0"/>
              <a:t>54</a:t>
            </a:fld>
            <a:endParaRPr lang="es-PE"/>
          </a:p>
        </p:txBody>
      </p:sp>
      <p:sp>
        <p:nvSpPr>
          <p:cNvPr id="4" name="TextBox 3">
            <a:extLst>
              <a:ext uri="{FF2B5EF4-FFF2-40B4-BE49-F238E27FC236}">
                <a16:creationId xmlns:a16="http://schemas.microsoft.com/office/drawing/2014/main" id="{470D49EA-B244-4C93-8440-26B5147807A9}"/>
              </a:ext>
            </a:extLst>
          </p:cNvPr>
          <p:cNvSpPr txBox="1"/>
          <p:nvPr/>
        </p:nvSpPr>
        <p:spPr>
          <a:xfrm>
            <a:off x="467360" y="1361440"/>
            <a:ext cx="10952480" cy="4093428"/>
          </a:xfrm>
          <a:prstGeom prst="rect">
            <a:avLst/>
          </a:prstGeom>
          <a:noFill/>
        </p:spPr>
        <p:txBody>
          <a:bodyPr wrap="square" rtlCol="0">
            <a:spAutoFit/>
          </a:bodyPr>
          <a:lstStyle/>
          <a:p>
            <a:pPr algn="l"/>
            <a:r>
              <a:rPr lang="es-ES" sz="2000" b="1" i="0" u="none" strike="noStrike" baseline="0" dirty="0">
                <a:solidFill>
                  <a:schemeClr val="tx2"/>
                </a:solidFill>
                <a:latin typeface="LeMondeLivreStd-Bold"/>
              </a:rPr>
              <a:t>1. Seguir desarrollando las habilidades digitales y pedagógicas </a:t>
            </a:r>
            <a:r>
              <a:rPr lang="en-CA" sz="2000" b="1" i="0" u="none" strike="noStrike" baseline="0" dirty="0">
                <a:solidFill>
                  <a:schemeClr val="tx2"/>
                </a:solidFill>
                <a:latin typeface="LeMondeLivreStd-Bold"/>
              </a:rPr>
              <a:t>de los </a:t>
            </a:r>
            <a:r>
              <a:rPr lang="en-CA" sz="2000" b="1" i="0" u="none" strike="noStrike" baseline="0" dirty="0" err="1">
                <a:solidFill>
                  <a:schemeClr val="tx2"/>
                </a:solidFill>
                <a:latin typeface="LeMondeLivreStd-Bold"/>
              </a:rPr>
              <a:t>docentes</a:t>
            </a:r>
            <a:r>
              <a:rPr lang="en-CA" sz="2000" b="1" i="0" u="none" strike="noStrike" baseline="0" dirty="0">
                <a:solidFill>
                  <a:schemeClr val="tx2"/>
                </a:solidFill>
                <a:latin typeface="LeMondeLivreStd-Bold"/>
              </a:rPr>
              <a:t>. </a:t>
            </a:r>
            <a:r>
              <a:rPr lang="en-CA" sz="2000" b="0" i="0" u="none" strike="noStrike" baseline="0" dirty="0" err="1">
                <a:solidFill>
                  <a:schemeClr val="tx2"/>
                </a:solidFill>
                <a:latin typeface="LeMondeLivreStd-Regular"/>
              </a:rPr>
              <a:t>En</a:t>
            </a:r>
            <a:r>
              <a:rPr lang="en-CA" sz="2000" b="0" i="0" u="none" strike="noStrike" baseline="0" dirty="0">
                <a:solidFill>
                  <a:schemeClr val="tx2"/>
                </a:solidFill>
                <a:latin typeface="LeMondeLivreStd-Regular"/>
              </a:rPr>
              <a:t> </a:t>
            </a:r>
            <a:r>
              <a:rPr lang="en-CA" sz="2000" b="0" i="0" u="none" strike="noStrike" baseline="0" dirty="0" err="1">
                <a:solidFill>
                  <a:schemeClr val="tx2"/>
                </a:solidFill>
                <a:latin typeface="LeMondeLivreStd-Regular"/>
              </a:rPr>
              <a:t>consecuencia</a:t>
            </a:r>
            <a:r>
              <a:rPr lang="en-CA" sz="2000" b="0" i="0" u="none" strike="noStrike" baseline="0" dirty="0">
                <a:solidFill>
                  <a:schemeClr val="tx2"/>
                </a:solidFill>
                <a:latin typeface="LeMondeLivreStd-Regular"/>
              </a:rPr>
              <a:t>, los </a:t>
            </a:r>
            <a:r>
              <a:rPr lang="en-CA" sz="2000" b="0" i="0" u="none" strike="noStrike" baseline="0" dirty="0" err="1">
                <a:solidFill>
                  <a:schemeClr val="tx2"/>
                </a:solidFill>
                <a:latin typeface="LeMondeLivreStd-Regular"/>
              </a:rPr>
              <a:t>programas</a:t>
            </a:r>
            <a:r>
              <a:rPr lang="en-CA" sz="2000" b="0" i="0" u="none" strike="noStrike" baseline="0" dirty="0">
                <a:solidFill>
                  <a:schemeClr val="tx2"/>
                </a:solidFill>
                <a:latin typeface="LeMondeLivreStd-Regular"/>
              </a:rPr>
              <a:t> </a:t>
            </a:r>
            <a:r>
              <a:rPr lang="es-ES" sz="2000" b="0" i="0" u="none" strike="noStrike" baseline="0" dirty="0">
                <a:solidFill>
                  <a:schemeClr val="tx2"/>
                </a:solidFill>
                <a:latin typeface="LeMondeLivreStd-Regular"/>
              </a:rPr>
              <a:t>de capacitación docentes no solo deben concentrarse en el desarrollo de las capacidades instrumentales para la docencia a distancia utilizando TIC, sino también en el desarrollo de las habilidades pedagógicas necesarias.</a:t>
            </a:r>
          </a:p>
          <a:p>
            <a:pPr algn="l"/>
            <a:endParaRPr lang="es-ES" sz="2000" dirty="0">
              <a:solidFill>
                <a:schemeClr val="tx2"/>
              </a:solidFill>
              <a:latin typeface="LeMondeLivreStd-Regular"/>
            </a:endParaRPr>
          </a:p>
          <a:p>
            <a:pPr algn="l"/>
            <a:r>
              <a:rPr lang="es-ES" sz="2000" dirty="0">
                <a:solidFill>
                  <a:schemeClr val="tx2"/>
                </a:solidFill>
                <a:latin typeface="LeMondeLivreStd-Regular"/>
              </a:rPr>
              <a:t>2. Fomentar el uso de la estrategia de Conecta Ideas en sectores urbanos con mejor conectividad y acceso a dispositivos digitales.</a:t>
            </a:r>
          </a:p>
          <a:p>
            <a:pPr algn="l"/>
            <a:endParaRPr lang="es-ES" sz="2000" dirty="0">
              <a:solidFill>
                <a:schemeClr val="tx2"/>
              </a:solidFill>
              <a:latin typeface="LeMondeLivreStd-Regular"/>
            </a:endParaRPr>
          </a:p>
          <a:p>
            <a:pPr algn="l"/>
            <a:r>
              <a:rPr lang="es-ES" sz="2000" dirty="0">
                <a:solidFill>
                  <a:schemeClr val="tx2"/>
                </a:solidFill>
                <a:latin typeface="LeMondeLivreStd-Regular"/>
              </a:rPr>
              <a:t>3. Extender el alcance de las herramientas digitales de Educación remedial para estudiantes en 4to – 5to de secundaria.</a:t>
            </a:r>
          </a:p>
          <a:p>
            <a:pPr algn="l"/>
            <a:endParaRPr lang="es-ES" sz="2000" dirty="0">
              <a:solidFill>
                <a:schemeClr val="tx2"/>
              </a:solidFill>
              <a:latin typeface="LeMondeLivreStd-Regular"/>
            </a:endParaRPr>
          </a:p>
          <a:p>
            <a:pPr algn="l"/>
            <a:r>
              <a:rPr lang="es-ES" sz="2000" dirty="0">
                <a:solidFill>
                  <a:schemeClr val="tx2"/>
                </a:solidFill>
                <a:latin typeface="LeMondeLivreStd-Regular"/>
              </a:rPr>
              <a:t>4. Como política nacional se debería mejorar los niveles de conectividad en IIEE para poder doblegar esfuerzos mayores de educación remedial de mayor alcance.</a:t>
            </a:r>
            <a:endParaRPr lang="en-CA" sz="2000" dirty="0">
              <a:solidFill>
                <a:schemeClr val="tx2"/>
              </a:solidFill>
            </a:endParaRPr>
          </a:p>
        </p:txBody>
      </p:sp>
    </p:spTree>
    <p:extLst>
      <p:ext uri="{BB962C8B-B14F-4D97-AF65-F5344CB8AC3E}">
        <p14:creationId xmlns:p14="http://schemas.microsoft.com/office/powerpoint/2010/main" val="58256243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9374744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A12E4A-6D21-452F-BC27-783C8F2F3100}"/>
              </a:ext>
            </a:extLst>
          </p:cNvPr>
          <p:cNvSpPr>
            <a:spLocks noGrp="1"/>
          </p:cNvSpPr>
          <p:nvPr>
            <p:ph type="title"/>
          </p:nvPr>
        </p:nvSpPr>
        <p:spPr/>
        <p:txBody>
          <a:bodyPr/>
          <a:lstStyle/>
          <a:p>
            <a:r>
              <a:rPr lang="es-PE" dirty="0"/>
              <a:t>ANEXO I: Evidencia sobre </a:t>
            </a:r>
            <a:r>
              <a:rPr lang="es-PE" dirty="0" err="1"/>
              <a:t>TaRL</a:t>
            </a:r>
            <a:endParaRPr lang="en-CA" dirty="0"/>
          </a:p>
        </p:txBody>
      </p:sp>
      <p:sp>
        <p:nvSpPr>
          <p:cNvPr id="3" name="Slide Number Placeholder 2">
            <a:extLst>
              <a:ext uri="{FF2B5EF4-FFF2-40B4-BE49-F238E27FC236}">
                <a16:creationId xmlns:a16="http://schemas.microsoft.com/office/drawing/2014/main" id="{C628A816-1556-44B2-BC8B-82A3EAE021C6}"/>
              </a:ext>
            </a:extLst>
          </p:cNvPr>
          <p:cNvSpPr>
            <a:spLocks noGrp="1"/>
          </p:cNvSpPr>
          <p:nvPr>
            <p:ph type="sldNum" sz="quarter" idx="12"/>
          </p:nvPr>
        </p:nvSpPr>
        <p:spPr/>
        <p:txBody>
          <a:bodyPr/>
          <a:lstStyle/>
          <a:p>
            <a:fld id="{DAF31D20-51B2-49A6-91FA-1FC48A60B42D}" type="slidenum">
              <a:rPr lang="es-PE" smtClean="0"/>
              <a:t>56</a:t>
            </a:fld>
            <a:endParaRPr lang="es-PE"/>
          </a:p>
        </p:txBody>
      </p:sp>
      <p:graphicFrame>
        <p:nvGraphicFramePr>
          <p:cNvPr id="4" name="Table 3">
            <a:extLst>
              <a:ext uri="{FF2B5EF4-FFF2-40B4-BE49-F238E27FC236}">
                <a16:creationId xmlns:a16="http://schemas.microsoft.com/office/drawing/2014/main" id="{AC4E9489-CC06-4328-95DF-96AFD47D9FAD}"/>
              </a:ext>
            </a:extLst>
          </p:cNvPr>
          <p:cNvGraphicFramePr>
            <a:graphicFrameLocks noGrp="1"/>
          </p:cNvGraphicFramePr>
          <p:nvPr>
            <p:extLst>
              <p:ext uri="{D42A27DB-BD31-4B8C-83A1-F6EECF244321}">
                <p14:modId xmlns:p14="http://schemas.microsoft.com/office/powerpoint/2010/main" val="2856648573"/>
              </p:ext>
            </p:extLst>
          </p:nvPr>
        </p:nvGraphicFramePr>
        <p:xfrm>
          <a:off x="359774" y="1164921"/>
          <a:ext cx="11472451" cy="5675629"/>
        </p:xfrm>
        <a:graphic>
          <a:graphicData uri="http://schemas.openxmlformats.org/drawingml/2006/table">
            <a:tbl>
              <a:tblPr firstRow="1">
                <a:tableStyleId>{6E25E649-3F16-4E02-A733-19D2CDBF48F0}</a:tableStyleId>
              </a:tblPr>
              <a:tblGrid>
                <a:gridCol w="1325167">
                  <a:extLst>
                    <a:ext uri="{9D8B030D-6E8A-4147-A177-3AD203B41FA5}">
                      <a16:colId xmlns:a16="http://schemas.microsoft.com/office/drawing/2014/main" val="312879148"/>
                    </a:ext>
                  </a:extLst>
                </a:gridCol>
                <a:gridCol w="948540">
                  <a:extLst>
                    <a:ext uri="{9D8B030D-6E8A-4147-A177-3AD203B41FA5}">
                      <a16:colId xmlns:a16="http://schemas.microsoft.com/office/drawing/2014/main" val="349491453"/>
                    </a:ext>
                  </a:extLst>
                </a:gridCol>
                <a:gridCol w="1380964">
                  <a:extLst>
                    <a:ext uri="{9D8B030D-6E8A-4147-A177-3AD203B41FA5}">
                      <a16:colId xmlns:a16="http://schemas.microsoft.com/office/drawing/2014/main" val="1586179236"/>
                    </a:ext>
                  </a:extLst>
                </a:gridCol>
                <a:gridCol w="1199624">
                  <a:extLst>
                    <a:ext uri="{9D8B030D-6E8A-4147-A177-3AD203B41FA5}">
                      <a16:colId xmlns:a16="http://schemas.microsoft.com/office/drawing/2014/main" val="1937774917"/>
                    </a:ext>
                  </a:extLst>
                </a:gridCol>
                <a:gridCol w="1199624">
                  <a:extLst>
                    <a:ext uri="{9D8B030D-6E8A-4147-A177-3AD203B41FA5}">
                      <a16:colId xmlns:a16="http://schemas.microsoft.com/office/drawing/2014/main" val="791818164"/>
                    </a:ext>
                  </a:extLst>
                </a:gridCol>
                <a:gridCol w="2950904">
                  <a:extLst>
                    <a:ext uri="{9D8B030D-6E8A-4147-A177-3AD203B41FA5}">
                      <a16:colId xmlns:a16="http://schemas.microsoft.com/office/drawing/2014/main" val="3821992195"/>
                    </a:ext>
                  </a:extLst>
                </a:gridCol>
                <a:gridCol w="2467628">
                  <a:extLst>
                    <a:ext uri="{9D8B030D-6E8A-4147-A177-3AD203B41FA5}">
                      <a16:colId xmlns:a16="http://schemas.microsoft.com/office/drawing/2014/main" val="2550462172"/>
                    </a:ext>
                  </a:extLst>
                </a:gridCol>
              </a:tblGrid>
              <a:tr h="471929">
                <a:tc>
                  <a:txBody>
                    <a:bodyPr/>
                    <a:lstStyle/>
                    <a:p>
                      <a:pPr algn="ctr" fontAlgn="ctr"/>
                      <a:r>
                        <a:rPr lang="en-CA" sz="1200" b="1" u="none" strike="noStrike">
                          <a:solidFill>
                            <a:srgbClr val="FFFFFF"/>
                          </a:solidFill>
                          <a:effectLst/>
                        </a:rPr>
                        <a:t>Intervención</a:t>
                      </a:r>
                      <a:endParaRPr lang="en-CA" sz="1200" b="1" i="0" u="none" strike="noStrike">
                        <a:solidFill>
                          <a:srgbClr val="FFFFFF"/>
                        </a:solidFill>
                        <a:effectLst/>
                        <a:latin typeface="Calibri" panose="020F0502020204030204" pitchFamily="34" charset="0"/>
                      </a:endParaRPr>
                    </a:p>
                  </a:txBody>
                  <a:tcPr marL="6350" marR="6350" marT="6350" marB="0" anchor="ctr"/>
                </a:tc>
                <a:tc>
                  <a:txBody>
                    <a:bodyPr/>
                    <a:lstStyle/>
                    <a:p>
                      <a:pPr algn="ctr" fontAlgn="ctr"/>
                      <a:r>
                        <a:rPr lang="en-CA" sz="1200" b="1" u="none" strike="noStrike">
                          <a:solidFill>
                            <a:srgbClr val="FFFFFF"/>
                          </a:solidFill>
                          <a:effectLst/>
                        </a:rPr>
                        <a:t>Quien enseñó clases TaRL?</a:t>
                      </a:r>
                      <a:endParaRPr lang="en-CA" sz="1200" b="1" i="0" u="none" strike="noStrike">
                        <a:solidFill>
                          <a:srgbClr val="FFFFFF"/>
                        </a:solidFill>
                        <a:effectLst/>
                        <a:latin typeface="Calibri" panose="020F0502020204030204" pitchFamily="34" charset="0"/>
                      </a:endParaRPr>
                    </a:p>
                  </a:txBody>
                  <a:tcPr marL="6350" marR="6350" marT="6350" marB="0" anchor="ctr"/>
                </a:tc>
                <a:tc>
                  <a:txBody>
                    <a:bodyPr/>
                    <a:lstStyle/>
                    <a:p>
                      <a:pPr algn="ctr" fontAlgn="ctr"/>
                      <a:r>
                        <a:rPr lang="en-CA" sz="1200" b="1" u="none" strike="noStrike">
                          <a:solidFill>
                            <a:srgbClr val="FFFFFF"/>
                          </a:solidFill>
                          <a:effectLst/>
                        </a:rPr>
                        <a:t>Duración de la intervención</a:t>
                      </a:r>
                      <a:endParaRPr lang="en-CA" sz="1200" b="1" i="0" u="none" strike="noStrike">
                        <a:solidFill>
                          <a:srgbClr val="FFFFFF"/>
                        </a:solidFill>
                        <a:effectLst/>
                        <a:latin typeface="Calibri" panose="020F0502020204030204" pitchFamily="34" charset="0"/>
                      </a:endParaRPr>
                    </a:p>
                  </a:txBody>
                  <a:tcPr marL="6350" marR="6350" marT="6350" marB="0" anchor="ctr"/>
                </a:tc>
                <a:tc>
                  <a:txBody>
                    <a:bodyPr/>
                    <a:lstStyle/>
                    <a:p>
                      <a:pPr algn="ctr" fontAlgn="ctr"/>
                      <a:r>
                        <a:rPr lang="es-ES" sz="1200" b="1" u="none" strike="noStrike">
                          <a:solidFill>
                            <a:srgbClr val="FFFFFF"/>
                          </a:solidFill>
                          <a:effectLst/>
                        </a:rPr>
                        <a:t>Cuándo se daban las clases TaRL?</a:t>
                      </a:r>
                      <a:endParaRPr lang="es-ES" sz="1200" b="1" i="0" u="none" strike="noStrike">
                        <a:solidFill>
                          <a:srgbClr val="FFFFFF"/>
                        </a:solidFill>
                        <a:effectLst/>
                        <a:latin typeface="Calibri" panose="020F0502020204030204" pitchFamily="34" charset="0"/>
                      </a:endParaRPr>
                    </a:p>
                  </a:txBody>
                  <a:tcPr marL="6350" marR="6350" marT="6350" marB="0" anchor="ctr"/>
                </a:tc>
                <a:tc>
                  <a:txBody>
                    <a:bodyPr/>
                    <a:lstStyle/>
                    <a:p>
                      <a:pPr algn="ctr" fontAlgn="ctr"/>
                      <a:r>
                        <a:rPr lang="en-CA" sz="1200" b="1" u="none" strike="noStrike">
                          <a:solidFill>
                            <a:srgbClr val="FFFFFF"/>
                          </a:solidFill>
                          <a:effectLst/>
                        </a:rPr>
                        <a:t>Qué niños participaron?</a:t>
                      </a:r>
                      <a:endParaRPr lang="en-CA" sz="1200" b="1" i="0" u="none" strike="noStrike">
                        <a:solidFill>
                          <a:srgbClr val="FFFFFF"/>
                        </a:solidFill>
                        <a:effectLst/>
                        <a:latin typeface="Calibri" panose="020F0502020204030204" pitchFamily="34" charset="0"/>
                      </a:endParaRPr>
                    </a:p>
                  </a:txBody>
                  <a:tcPr marL="6350" marR="6350" marT="6350" marB="0" anchor="ctr"/>
                </a:tc>
                <a:tc>
                  <a:txBody>
                    <a:bodyPr/>
                    <a:lstStyle/>
                    <a:p>
                      <a:pPr algn="ctr" fontAlgn="ctr"/>
                      <a:r>
                        <a:rPr lang="en-CA" sz="1200" b="1" u="none" strike="noStrike">
                          <a:solidFill>
                            <a:srgbClr val="FFFFFF"/>
                          </a:solidFill>
                          <a:effectLst/>
                        </a:rPr>
                        <a:t>Características especiales del programa</a:t>
                      </a:r>
                      <a:endParaRPr lang="en-CA" sz="1200" b="1" i="0" u="none" strike="noStrike">
                        <a:solidFill>
                          <a:srgbClr val="FFFFFF"/>
                        </a:solidFill>
                        <a:effectLst/>
                        <a:latin typeface="Calibri" panose="020F0502020204030204" pitchFamily="34" charset="0"/>
                      </a:endParaRPr>
                    </a:p>
                  </a:txBody>
                  <a:tcPr marL="6350" marR="6350" marT="6350" marB="0" anchor="ctr"/>
                </a:tc>
                <a:tc>
                  <a:txBody>
                    <a:bodyPr/>
                    <a:lstStyle/>
                    <a:p>
                      <a:pPr algn="ctr" fontAlgn="ctr"/>
                      <a:r>
                        <a:rPr lang="en-CA" sz="1200" b="1" u="none" strike="noStrike">
                          <a:solidFill>
                            <a:srgbClr val="FFFFFF"/>
                          </a:solidFill>
                          <a:effectLst/>
                        </a:rPr>
                        <a:t>Resultados</a:t>
                      </a:r>
                      <a:endParaRPr lang="en-CA" sz="1200" b="1" i="0" u="none" strike="noStrike">
                        <a:solidFill>
                          <a:srgbClr val="FFFFFF"/>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3438896090"/>
                  </a:ext>
                </a:extLst>
              </a:tr>
              <a:tr h="1456689">
                <a:tc>
                  <a:txBody>
                    <a:bodyPr/>
                    <a:lstStyle/>
                    <a:p>
                      <a:pPr algn="l" fontAlgn="ctr"/>
                      <a:r>
                        <a:rPr lang="en-CA" sz="1200" b="1" u="sng" strike="noStrike" dirty="0">
                          <a:solidFill>
                            <a:srgbClr val="0563C1"/>
                          </a:solidFill>
                          <a:effectLst/>
                        </a:rPr>
                        <a:t>Learning Camps,</a:t>
                      </a:r>
                      <a:r>
                        <a:rPr lang="en-CA" sz="1200" b="1" u="none" strike="noStrike" dirty="0">
                          <a:solidFill>
                            <a:srgbClr val="0563C1"/>
                          </a:solidFill>
                          <a:effectLst/>
                        </a:rPr>
                        <a:t> </a:t>
                      </a:r>
                      <a:r>
                        <a:rPr lang="en-CA" sz="1200" b="1" u="sng" strike="noStrike" dirty="0">
                          <a:solidFill>
                            <a:srgbClr val="0563C1"/>
                          </a:solidFill>
                          <a:effectLst/>
                        </a:rPr>
                        <a:t>India</a:t>
                      </a:r>
                      <a:br>
                        <a:rPr lang="en-CA" sz="1200" b="1" u="sng" strike="noStrike" dirty="0">
                          <a:solidFill>
                            <a:srgbClr val="0563C1"/>
                          </a:solidFill>
                          <a:effectLst/>
                        </a:rPr>
                      </a:br>
                      <a:r>
                        <a:rPr lang="en-CA" sz="1200" b="1" u="sng" strike="noStrike" dirty="0">
                          <a:solidFill>
                            <a:srgbClr val="0563C1"/>
                          </a:solidFill>
                          <a:effectLst/>
                        </a:rPr>
                        <a:t>2013-14</a:t>
                      </a:r>
                      <a:endParaRPr lang="en-CA" sz="12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l" fontAlgn="ctr"/>
                      <a:r>
                        <a:rPr lang="es-ES" sz="1200" b="0" u="none" strike="noStrike" dirty="0">
                          <a:solidFill>
                            <a:srgbClr val="000000"/>
                          </a:solidFill>
                          <a:effectLst/>
                        </a:rPr>
                        <a:t>Voluntarios y staff de Pratham</a:t>
                      </a:r>
                      <a:endParaRPr lang="es-ES" sz="12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l" fontAlgn="ctr"/>
                      <a:r>
                        <a:rPr lang="es-ES" sz="1200" b="0" u="none" strike="noStrike">
                          <a:solidFill>
                            <a:srgbClr val="000000"/>
                          </a:solidFill>
                          <a:effectLst/>
                        </a:rPr>
                        <a:t>40 días (en 20</a:t>
                      </a:r>
                      <a:br>
                        <a:rPr lang="es-ES" sz="1200" b="0" u="none" strike="noStrike">
                          <a:solidFill>
                            <a:srgbClr val="000000"/>
                          </a:solidFill>
                          <a:effectLst/>
                        </a:rPr>
                      </a:br>
                      <a:r>
                        <a:rPr lang="es-ES" sz="1200" b="0" u="none" strike="noStrike">
                          <a:solidFill>
                            <a:srgbClr val="000000"/>
                          </a:solidFill>
                          <a:effectLst/>
                        </a:rPr>
                        <a:t>o ráfagas de 10 días), y un campamento de verano de refuerzo de 10 días durante tres horas al día</a:t>
                      </a:r>
                      <a:endParaRPr lang="es-ES" sz="1200" b="0" i="0" u="none" strike="noStrike">
                        <a:solidFill>
                          <a:srgbClr val="000000"/>
                        </a:solidFill>
                        <a:effectLst/>
                        <a:latin typeface="Calibri" panose="020F0502020204030204" pitchFamily="34" charset="0"/>
                      </a:endParaRPr>
                    </a:p>
                  </a:txBody>
                  <a:tcPr marL="6350" marR="6350" marT="6350" marB="0" anchor="ctr"/>
                </a:tc>
                <a:tc>
                  <a:txBody>
                    <a:bodyPr/>
                    <a:lstStyle/>
                    <a:p>
                      <a:pPr algn="l" fontAlgn="ctr"/>
                      <a:r>
                        <a:rPr lang="en-CA" sz="1200" b="0" u="none" strike="noStrike">
                          <a:solidFill>
                            <a:srgbClr val="000000"/>
                          </a:solidFill>
                          <a:effectLst/>
                        </a:rPr>
                        <a:t>Campamento intensivo durante el horario escolar</a:t>
                      </a:r>
                      <a:br>
                        <a:rPr lang="en-CA" sz="1200" b="0" u="none" strike="noStrike">
                          <a:solidFill>
                            <a:srgbClr val="000000"/>
                          </a:solidFill>
                          <a:effectLst/>
                        </a:rPr>
                      </a:br>
                      <a:endParaRPr lang="en-CA" sz="1200" b="0" i="0" u="none" strike="noStrike">
                        <a:solidFill>
                          <a:srgbClr val="000000"/>
                        </a:solidFill>
                        <a:effectLst/>
                        <a:latin typeface="Calibri" panose="020F0502020204030204" pitchFamily="34" charset="0"/>
                      </a:endParaRPr>
                    </a:p>
                  </a:txBody>
                  <a:tcPr marL="6350" marR="6350" marT="6350" marB="0" anchor="ctr"/>
                </a:tc>
                <a:tc>
                  <a:txBody>
                    <a:bodyPr/>
                    <a:lstStyle/>
                    <a:p>
                      <a:pPr algn="l" fontAlgn="ctr"/>
                      <a:r>
                        <a:rPr lang="es-ES" sz="1200" b="0" u="none" strike="noStrike" dirty="0">
                          <a:solidFill>
                            <a:srgbClr val="000000"/>
                          </a:solidFill>
                          <a:effectLst/>
                        </a:rPr>
                        <a:t>Todos los niños de tercer a quinto grado</a:t>
                      </a:r>
                      <a:br>
                        <a:rPr lang="es-ES" sz="1200" b="0" u="none" strike="noStrike" dirty="0">
                          <a:solidFill>
                            <a:srgbClr val="000000"/>
                          </a:solidFill>
                          <a:effectLst/>
                        </a:rPr>
                      </a:br>
                      <a:endParaRPr lang="es-ES" sz="12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l" fontAlgn="ctr"/>
                      <a:r>
                        <a:rPr lang="es-ES" sz="1200" b="0" u="none" strike="noStrike" dirty="0">
                          <a:solidFill>
                            <a:srgbClr val="000000"/>
                          </a:solidFill>
                          <a:effectLst/>
                        </a:rPr>
                        <a:t>Aunque este modelo fue implementado por voluntarios de la aldea apoyados por el personal de Pratham, se implementó durante la jornada escolar, evitando así el problema de baja asistencia experimentado con muchos modelos extraescolares.</a:t>
                      </a:r>
                      <a:endParaRPr lang="es-ES" sz="12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l" fontAlgn="ctr"/>
                      <a:r>
                        <a:rPr lang="es-ES" sz="1200" b="0" u="none" strike="noStrike" dirty="0">
                          <a:solidFill>
                            <a:srgbClr val="000000"/>
                          </a:solidFill>
                          <a:effectLst/>
                        </a:rPr>
                        <a:t>Se encontró que 0,60 desviaciones estándar aumentan (para niños en el modelo de ráfaga de 20 días) a 0,70 desviaciones estándar (para niños en el modelo de ráfaga de 10 días)</a:t>
                      </a:r>
                      <a:br>
                        <a:rPr lang="es-ES" sz="1200" b="0" u="none" strike="noStrike" dirty="0">
                          <a:solidFill>
                            <a:srgbClr val="000000"/>
                          </a:solidFill>
                          <a:effectLst/>
                        </a:rPr>
                      </a:br>
                      <a:endParaRPr lang="es-ES" sz="12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3711659090"/>
                  </a:ext>
                </a:extLst>
              </a:tr>
              <a:tr h="3269682">
                <a:tc>
                  <a:txBody>
                    <a:bodyPr/>
                    <a:lstStyle/>
                    <a:p>
                      <a:pPr algn="l" fontAlgn="ctr"/>
                      <a:r>
                        <a:rPr lang="en-US" sz="1200" b="1" u="sng" strike="noStrike" dirty="0">
                          <a:solidFill>
                            <a:srgbClr val="0563C1"/>
                          </a:solidFill>
                          <a:effectLst/>
                        </a:rPr>
                        <a:t>Learning</a:t>
                      </a:r>
                      <a:r>
                        <a:rPr lang="en-US" sz="1200" b="1" u="none" strike="noStrike" dirty="0">
                          <a:solidFill>
                            <a:srgbClr val="0563C1"/>
                          </a:solidFill>
                          <a:effectLst/>
                        </a:rPr>
                        <a:t> </a:t>
                      </a:r>
                      <a:r>
                        <a:rPr lang="en-US" sz="1200" b="1" u="sng" strike="noStrike" dirty="0">
                          <a:solidFill>
                            <a:srgbClr val="0563C1"/>
                          </a:solidFill>
                          <a:effectLst/>
                        </a:rPr>
                        <a:t>Enhancement</a:t>
                      </a:r>
                      <a:r>
                        <a:rPr lang="en-US" sz="1200" b="1" u="none" strike="noStrike" dirty="0">
                          <a:solidFill>
                            <a:srgbClr val="0563C1"/>
                          </a:solidFill>
                          <a:effectLst/>
                        </a:rPr>
                        <a:t> </a:t>
                      </a:r>
                      <a:r>
                        <a:rPr lang="en-US" sz="1200" b="1" u="sng" strike="noStrike" dirty="0" err="1">
                          <a:solidFill>
                            <a:srgbClr val="0563C1"/>
                          </a:solidFill>
                          <a:effectLst/>
                        </a:rPr>
                        <a:t>Programme</a:t>
                      </a:r>
                      <a:r>
                        <a:rPr lang="en-US" sz="1200" b="1" u="sng" strike="noStrike" dirty="0">
                          <a:solidFill>
                            <a:srgbClr val="0563C1"/>
                          </a:solidFill>
                          <a:effectLst/>
                        </a:rPr>
                        <a:t>,</a:t>
                      </a:r>
                      <a:r>
                        <a:rPr lang="en-US" sz="1200" b="1" u="none" strike="noStrike" dirty="0">
                          <a:solidFill>
                            <a:srgbClr val="0563C1"/>
                          </a:solidFill>
                          <a:effectLst/>
                        </a:rPr>
                        <a:t> </a:t>
                      </a:r>
                      <a:r>
                        <a:rPr lang="en-US" sz="1200" b="1" u="sng" strike="noStrike" dirty="0">
                          <a:solidFill>
                            <a:srgbClr val="0563C1"/>
                          </a:solidFill>
                          <a:effectLst/>
                        </a:rPr>
                        <a:t>India</a:t>
                      </a:r>
                      <a:br>
                        <a:rPr lang="en-US" sz="1200" b="1" u="sng" strike="noStrike" dirty="0">
                          <a:solidFill>
                            <a:srgbClr val="0563C1"/>
                          </a:solidFill>
                          <a:effectLst/>
                        </a:rPr>
                      </a:br>
                      <a:r>
                        <a:rPr lang="en-US" sz="1200" b="1" u="sng" strike="noStrike" dirty="0">
                          <a:solidFill>
                            <a:srgbClr val="0563C1"/>
                          </a:solidFill>
                          <a:effectLst/>
                        </a:rPr>
                        <a:t>2012-13</a:t>
                      </a:r>
                      <a:endParaRPr lang="en-US" sz="12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l" fontAlgn="ctr"/>
                      <a:r>
                        <a:rPr lang="es-ES" sz="1200" b="0" u="none" strike="noStrike" dirty="0">
                          <a:solidFill>
                            <a:srgbClr val="000000"/>
                          </a:solidFill>
                          <a:effectLst/>
                        </a:rPr>
                        <a:t>Profesores contratados por el gobierno</a:t>
                      </a:r>
                      <a:endParaRPr lang="es-ES" sz="12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l" fontAlgn="ctr"/>
                      <a:r>
                        <a:rPr lang="en-CA" sz="1200" b="0" u="none" strike="noStrike" dirty="0">
                          <a:solidFill>
                            <a:srgbClr val="000000"/>
                          </a:solidFill>
                          <a:effectLst/>
                        </a:rPr>
                        <a:t>1 </a:t>
                      </a:r>
                      <a:r>
                        <a:rPr lang="en-CA" sz="1200" b="0" u="none" strike="noStrike" dirty="0" err="1">
                          <a:solidFill>
                            <a:srgbClr val="000000"/>
                          </a:solidFill>
                          <a:effectLst/>
                        </a:rPr>
                        <a:t>año</a:t>
                      </a:r>
                      <a:r>
                        <a:rPr lang="en-CA" sz="1200" b="0" u="none" strike="noStrike" dirty="0">
                          <a:solidFill>
                            <a:srgbClr val="000000"/>
                          </a:solidFill>
                          <a:effectLst/>
                        </a:rPr>
                        <a:t> escolar</a:t>
                      </a:r>
                      <a:endParaRPr lang="en-CA" sz="12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l" fontAlgn="ctr"/>
                      <a:r>
                        <a:rPr lang="es-ES" sz="1200" b="0" u="none" strike="noStrike" dirty="0">
                          <a:solidFill>
                            <a:srgbClr val="000000"/>
                          </a:solidFill>
                          <a:effectLst/>
                        </a:rPr>
                        <a:t>En la escuela durante una hora </a:t>
                      </a:r>
                      <a:r>
                        <a:rPr lang="es-ES" sz="1200" b="0" u="none" strike="noStrike" dirty="0" err="1">
                          <a:solidFill>
                            <a:srgbClr val="000000"/>
                          </a:solidFill>
                          <a:effectLst/>
                        </a:rPr>
                        <a:t>TaRL</a:t>
                      </a:r>
                      <a:r>
                        <a:rPr lang="es-ES" sz="1200" b="0" u="none" strike="noStrike" dirty="0">
                          <a:solidFill>
                            <a:srgbClr val="000000"/>
                          </a:solidFill>
                          <a:effectLst/>
                        </a:rPr>
                        <a:t> dedicada</a:t>
                      </a:r>
                      <a:endParaRPr lang="es-ES" sz="12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l" fontAlgn="ctr"/>
                      <a:r>
                        <a:rPr lang="es-ES" sz="1200" b="0" u="none" strike="noStrike" dirty="0">
                          <a:solidFill>
                            <a:srgbClr val="000000"/>
                          </a:solidFill>
                          <a:effectLst/>
                        </a:rPr>
                        <a:t>Todos los niños de tercer a quinto grado</a:t>
                      </a:r>
                      <a:endParaRPr lang="es-ES" sz="12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l" fontAlgn="ctr"/>
                      <a:r>
                        <a:rPr lang="es-ES" sz="1200" b="0" u="none" strike="noStrike" dirty="0">
                          <a:solidFill>
                            <a:srgbClr val="000000"/>
                          </a:solidFill>
                          <a:effectLst/>
                        </a:rPr>
                        <a:t>En el segundo año de la intervención, se pidió a los maestros que reagruparan las aulas según el nivel en lugar del grado.</a:t>
                      </a:r>
                    </a:p>
                    <a:p>
                      <a:pPr algn="l" fontAlgn="ctr"/>
                      <a:endParaRPr lang="es-ES" sz="1200" b="0" u="none" strike="noStrike" dirty="0">
                        <a:solidFill>
                          <a:srgbClr val="000000"/>
                        </a:solidFill>
                        <a:effectLst/>
                      </a:endParaRPr>
                    </a:p>
                    <a:p>
                      <a:pPr algn="l" fontAlgn="ctr"/>
                      <a:r>
                        <a:rPr lang="es-ES" sz="1200" b="0" u="none" strike="noStrike" dirty="0">
                          <a:solidFill>
                            <a:srgbClr val="000000"/>
                          </a:solidFill>
                          <a:effectLst/>
                        </a:rPr>
                        <a:t>Un equipo ya existente de supervisores gubernamentales, llamado ABRC, estaba equipado para asumir roles de tutoría y monitoreo para la implementación de </a:t>
                      </a:r>
                      <a:r>
                        <a:rPr lang="es-ES" sz="1200" b="0" u="none" strike="noStrike" dirty="0" err="1">
                          <a:solidFill>
                            <a:srgbClr val="000000"/>
                          </a:solidFill>
                          <a:effectLst/>
                        </a:rPr>
                        <a:t>TaRL</a:t>
                      </a:r>
                      <a:r>
                        <a:rPr lang="es-ES" sz="1200" b="0" u="none" strike="noStrike" dirty="0">
                          <a:solidFill>
                            <a:srgbClr val="000000"/>
                          </a:solidFill>
                          <a:effectLst/>
                        </a:rPr>
                        <a:t>. Al aclarar los roles de tutoría y monitoreo, brindar capacitación en profundidad y práctica en el aula, los maestros que implementaron </a:t>
                      </a:r>
                      <a:r>
                        <a:rPr lang="es-ES" sz="1200" b="0" u="none" strike="noStrike" dirty="0" err="1">
                          <a:solidFill>
                            <a:srgbClr val="000000"/>
                          </a:solidFill>
                          <a:effectLst/>
                        </a:rPr>
                        <a:t>TaRL</a:t>
                      </a:r>
                      <a:r>
                        <a:rPr lang="es-ES" sz="1200" b="0" u="none" strike="noStrike" dirty="0">
                          <a:solidFill>
                            <a:srgbClr val="000000"/>
                          </a:solidFill>
                          <a:effectLst/>
                        </a:rPr>
                        <a:t> tenían un sólido sistema de apoyo, lo que les permitía implementar consistentemente el enfoque. Además, el gobierno de </a:t>
                      </a:r>
                      <a:r>
                        <a:rPr lang="es-ES" sz="1200" b="0" u="none" strike="noStrike" dirty="0" err="1">
                          <a:solidFill>
                            <a:srgbClr val="000000"/>
                          </a:solidFill>
                          <a:effectLst/>
                        </a:rPr>
                        <a:t>Haryana</a:t>
                      </a:r>
                      <a:r>
                        <a:rPr lang="es-ES" sz="1200" b="0" u="none" strike="noStrike" dirty="0">
                          <a:solidFill>
                            <a:srgbClr val="000000"/>
                          </a:solidFill>
                          <a:effectLst/>
                        </a:rPr>
                        <a:t> creó una hora dedicada para </a:t>
                      </a:r>
                      <a:r>
                        <a:rPr lang="es-ES" sz="1200" b="0" u="none" strike="noStrike" dirty="0" err="1">
                          <a:solidFill>
                            <a:srgbClr val="000000"/>
                          </a:solidFill>
                          <a:effectLst/>
                        </a:rPr>
                        <a:t>TaRL</a:t>
                      </a:r>
                      <a:r>
                        <a:rPr lang="es-ES" sz="1200" b="0" u="none" strike="noStrike" dirty="0">
                          <a:solidFill>
                            <a:srgbClr val="000000"/>
                          </a:solidFill>
                          <a:effectLst/>
                        </a:rPr>
                        <a:t>, durante la cual los maestros reagruparon las clases de tercer a quinto grado por nivel de aprendizaje en lugar de por edad o grado.</a:t>
                      </a:r>
                      <a:endParaRPr lang="es-ES" sz="12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l" fontAlgn="ctr"/>
                      <a:r>
                        <a:rPr lang="es-ES" sz="1200" b="0" u="none" strike="noStrike" dirty="0">
                          <a:solidFill>
                            <a:srgbClr val="000000"/>
                          </a:solidFill>
                          <a:effectLst/>
                        </a:rPr>
                        <a:t>La puntuación de hindi oral básico aumentó en 0,15 desviaciones estándar El hindi escrito básico aumentó en 0,135 desviaciones estándar</a:t>
                      </a:r>
                      <a:endParaRPr lang="es-ES" sz="12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1748030512"/>
                  </a:ext>
                </a:extLst>
              </a:tr>
            </a:tbl>
          </a:graphicData>
        </a:graphic>
      </p:graphicFrame>
    </p:spTree>
    <p:extLst>
      <p:ext uri="{BB962C8B-B14F-4D97-AF65-F5344CB8AC3E}">
        <p14:creationId xmlns:p14="http://schemas.microsoft.com/office/powerpoint/2010/main" val="10005155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A12E4A-6D21-452F-BC27-783C8F2F3100}"/>
              </a:ext>
            </a:extLst>
          </p:cNvPr>
          <p:cNvSpPr>
            <a:spLocks noGrp="1"/>
          </p:cNvSpPr>
          <p:nvPr>
            <p:ph type="title"/>
          </p:nvPr>
        </p:nvSpPr>
        <p:spPr/>
        <p:txBody>
          <a:bodyPr/>
          <a:lstStyle/>
          <a:p>
            <a:r>
              <a:rPr lang="es-PE" dirty="0"/>
              <a:t>ANEXO I: Evidencia sobre </a:t>
            </a:r>
            <a:r>
              <a:rPr lang="es-PE" dirty="0" err="1"/>
              <a:t>TaRL</a:t>
            </a:r>
            <a:endParaRPr lang="en-CA" dirty="0"/>
          </a:p>
        </p:txBody>
      </p:sp>
      <p:sp>
        <p:nvSpPr>
          <p:cNvPr id="3" name="Slide Number Placeholder 2">
            <a:extLst>
              <a:ext uri="{FF2B5EF4-FFF2-40B4-BE49-F238E27FC236}">
                <a16:creationId xmlns:a16="http://schemas.microsoft.com/office/drawing/2014/main" id="{C628A816-1556-44B2-BC8B-82A3EAE021C6}"/>
              </a:ext>
            </a:extLst>
          </p:cNvPr>
          <p:cNvSpPr>
            <a:spLocks noGrp="1"/>
          </p:cNvSpPr>
          <p:nvPr>
            <p:ph type="sldNum" sz="quarter" idx="12"/>
          </p:nvPr>
        </p:nvSpPr>
        <p:spPr/>
        <p:txBody>
          <a:bodyPr/>
          <a:lstStyle/>
          <a:p>
            <a:fld id="{DAF31D20-51B2-49A6-91FA-1FC48A60B42D}" type="slidenum">
              <a:rPr lang="es-PE" smtClean="0"/>
              <a:t>57</a:t>
            </a:fld>
            <a:endParaRPr lang="es-PE"/>
          </a:p>
        </p:txBody>
      </p:sp>
      <p:graphicFrame>
        <p:nvGraphicFramePr>
          <p:cNvPr id="4" name="Table 3">
            <a:extLst>
              <a:ext uri="{FF2B5EF4-FFF2-40B4-BE49-F238E27FC236}">
                <a16:creationId xmlns:a16="http://schemas.microsoft.com/office/drawing/2014/main" id="{1EC71F15-11AF-47DC-BD08-11958292B1EA}"/>
              </a:ext>
            </a:extLst>
          </p:cNvPr>
          <p:cNvGraphicFramePr>
            <a:graphicFrameLocks noGrp="1"/>
          </p:cNvGraphicFramePr>
          <p:nvPr>
            <p:extLst>
              <p:ext uri="{D42A27DB-BD31-4B8C-83A1-F6EECF244321}">
                <p14:modId xmlns:p14="http://schemas.microsoft.com/office/powerpoint/2010/main" val="1356233130"/>
              </p:ext>
            </p:extLst>
          </p:nvPr>
        </p:nvGraphicFramePr>
        <p:xfrm>
          <a:off x="359078" y="1290181"/>
          <a:ext cx="11478017" cy="5213158"/>
        </p:xfrm>
        <a:graphic>
          <a:graphicData uri="http://schemas.openxmlformats.org/drawingml/2006/table">
            <a:tbl>
              <a:tblPr firstRow="1">
                <a:tableStyleId>{6E25E649-3F16-4E02-A733-19D2CDBF48F0}</a:tableStyleId>
              </a:tblPr>
              <a:tblGrid>
                <a:gridCol w="1293779">
                  <a:extLst>
                    <a:ext uri="{9D8B030D-6E8A-4147-A177-3AD203B41FA5}">
                      <a16:colId xmlns:a16="http://schemas.microsoft.com/office/drawing/2014/main" val="1973082820"/>
                    </a:ext>
                  </a:extLst>
                </a:gridCol>
                <a:gridCol w="1085638">
                  <a:extLst>
                    <a:ext uri="{9D8B030D-6E8A-4147-A177-3AD203B41FA5}">
                      <a16:colId xmlns:a16="http://schemas.microsoft.com/office/drawing/2014/main" val="2907167709"/>
                    </a:ext>
                  </a:extLst>
                </a:gridCol>
                <a:gridCol w="1085638">
                  <a:extLst>
                    <a:ext uri="{9D8B030D-6E8A-4147-A177-3AD203B41FA5}">
                      <a16:colId xmlns:a16="http://schemas.microsoft.com/office/drawing/2014/main" val="2092384704"/>
                    </a:ext>
                  </a:extLst>
                </a:gridCol>
                <a:gridCol w="1812579">
                  <a:extLst>
                    <a:ext uri="{9D8B030D-6E8A-4147-A177-3AD203B41FA5}">
                      <a16:colId xmlns:a16="http://schemas.microsoft.com/office/drawing/2014/main" val="2827807725"/>
                    </a:ext>
                  </a:extLst>
                </a:gridCol>
                <a:gridCol w="1427967">
                  <a:extLst>
                    <a:ext uri="{9D8B030D-6E8A-4147-A177-3AD203B41FA5}">
                      <a16:colId xmlns:a16="http://schemas.microsoft.com/office/drawing/2014/main" val="2919555927"/>
                    </a:ext>
                  </a:extLst>
                </a:gridCol>
                <a:gridCol w="2812709">
                  <a:extLst>
                    <a:ext uri="{9D8B030D-6E8A-4147-A177-3AD203B41FA5}">
                      <a16:colId xmlns:a16="http://schemas.microsoft.com/office/drawing/2014/main" val="1974860162"/>
                    </a:ext>
                  </a:extLst>
                </a:gridCol>
                <a:gridCol w="1959707">
                  <a:extLst>
                    <a:ext uri="{9D8B030D-6E8A-4147-A177-3AD203B41FA5}">
                      <a16:colId xmlns:a16="http://schemas.microsoft.com/office/drawing/2014/main" val="2201733483"/>
                    </a:ext>
                  </a:extLst>
                </a:gridCol>
              </a:tblGrid>
              <a:tr h="623514">
                <a:tc>
                  <a:txBody>
                    <a:bodyPr/>
                    <a:lstStyle/>
                    <a:p>
                      <a:pPr algn="ctr" fontAlgn="ctr"/>
                      <a:r>
                        <a:rPr lang="en-CA" sz="1200" b="1" u="none" strike="noStrike">
                          <a:solidFill>
                            <a:srgbClr val="FFFFFF"/>
                          </a:solidFill>
                          <a:effectLst/>
                        </a:rPr>
                        <a:t>Intervención</a:t>
                      </a:r>
                      <a:endParaRPr lang="en-CA" sz="1200" b="1" i="0" u="none" strike="noStrike">
                        <a:solidFill>
                          <a:srgbClr val="FFFFFF"/>
                        </a:solidFill>
                        <a:effectLst/>
                        <a:latin typeface="Calibri" panose="020F0502020204030204" pitchFamily="34" charset="0"/>
                      </a:endParaRPr>
                    </a:p>
                  </a:txBody>
                  <a:tcPr marL="6350" marR="6350" marT="6350" marB="0" anchor="ctr"/>
                </a:tc>
                <a:tc>
                  <a:txBody>
                    <a:bodyPr/>
                    <a:lstStyle/>
                    <a:p>
                      <a:pPr algn="ctr" fontAlgn="ctr"/>
                      <a:r>
                        <a:rPr lang="en-CA" sz="1200" b="1" u="none" strike="noStrike">
                          <a:solidFill>
                            <a:srgbClr val="FFFFFF"/>
                          </a:solidFill>
                          <a:effectLst/>
                        </a:rPr>
                        <a:t>Quien enseñó clases TaRL?</a:t>
                      </a:r>
                      <a:endParaRPr lang="en-CA" sz="1200" b="1" i="0" u="none" strike="noStrike">
                        <a:solidFill>
                          <a:srgbClr val="FFFFFF"/>
                        </a:solidFill>
                        <a:effectLst/>
                        <a:latin typeface="Calibri" panose="020F0502020204030204" pitchFamily="34" charset="0"/>
                      </a:endParaRPr>
                    </a:p>
                  </a:txBody>
                  <a:tcPr marL="6350" marR="6350" marT="6350" marB="0" anchor="ctr"/>
                </a:tc>
                <a:tc>
                  <a:txBody>
                    <a:bodyPr/>
                    <a:lstStyle/>
                    <a:p>
                      <a:pPr algn="ctr" fontAlgn="ctr"/>
                      <a:r>
                        <a:rPr lang="en-CA" sz="1200" b="1" u="none" strike="noStrike">
                          <a:solidFill>
                            <a:srgbClr val="FFFFFF"/>
                          </a:solidFill>
                          <a:effectLst/>
                        </a:rPr>
                        <a:t>Duración de la intervención</a:t>
                      </a:r>
                      <a:endParaRPr lang="en-CA" sz="1200" b="1" i="0" u="none" strike="noStrike">
                        <a:solidFill>
                          <a:srgbClr val="FFFFFF"/>
                        </a:solidFill>
                        <a:effectLst/>
                        <a:latin typeface="Calibri" panose="020F0502020204030204" pitchFamily="34" charset="0"/>
                      </a:endParaRPr>
                    </a:p>
                  </a:txBody>
                  <a:tcPr marL="6350" marR="6350" marT="6350" marB="0" anchor="ctr"/>
                </a:tc>
                <a:tc>
                  <a:txBody>
                    <a:bodyPr/>
                    <a:lstStyle/>
                    <a:p>
                      <a:pPr algn="ctr" fontAlgn="ctr"/>
                      <a:r>
                        <a:rPr lang="es-ES" sz="1200" b="1" u="none" strike="noStrike">
                          <a:solidFill>
                            <a:srgbClr val="FFFFFF"/>
                          </a:solidFill>
                          <a:effectLst/>
                        </a:rPr>
                        <a:t>Cuándo se daban las clases TaRL?</a:t>
                      </a:r>
                      <a:endParaRPr lang="es-ES" sz="1200" b="1" i="0" u="none" strike="noStrike">
                        <a:solidFill>
                          <a:srgbClr val="FFFFFF"/>
                        </a:solidFill>
                        <a:effectLst/>
                        <a:latin typeface="Calibri" panose="020F0502020204030204" pitchFamily="34" charset="0"/>
                      </a:endParaRPr>
                    </a:p>
                  </a:txBody>
                  <a:tcPr marL="6350" marR="6350" marT="6350" marB="0" anchor="ctr"/>
                </a:tc>
                <a:tc>
                  <a:txBody>
                    <a:bodyPr/>
                    <a:lstStyle/>
                    <a:p>
                      <a:pPr algn="ctr" fontAlgn="ctr"/>
                      <a:r>
                        <a:rPr lang="en-CA" sz="1200" b="1" u="none" strike="noStrike">
                          <a:solidFill>
                            <a:srgbClr val="FFFFFF"/>
                          </a:solidFill>
                          <a:effectLst/>
                        </a:rPr>
                        <a:t>Qué niños participaron?</a:t>
                      </a:r>
                      <a:endParaRPr lang="en-CA" sz="1200" b="1" i="0" u="none" strike="noStrike">
                        <a:solidFill>
                          <a:srgbClr val="FFFFFF"/>
                        </a:solidFill>
                        <a:effectLst/>
                        <a:latin typeface="Calibri" panose="020F0502020204030204" pitchFamily="34" charset="0"/>
                      </a:endParaRPr>
                    </a:p>
                  </a:txBody>
                  <a:tcPr marL="6350" marR="6350" marT="6350" marB="0" anchor="ctr"/>
                </a:tc>
                <a:tc>
                  <a:txBody>
                    <a:bodyPr/>
                    <a:lstStyle/>
                    <a:p>
                      <a:pPr algn="ctr" fontAlgn="ctr"/>
                      <a:r>
                        <a:rPr lang="en-CA" sz="1200" b="1" u="none" strike="noStrike">
                          <a:solidFill>
                            <a:srgbClr val="FFFFFF"/>
                          </a:solidFill>
                          <a:effectLst/>
                        </a:rPr>
                        <a:t>Características especiales del programa</a:t>
                      </a:r>
                      <a:endParaRPr lang="en-CA" sz="1200" b="1" i="0" u="none" strike="noStrike">
                        <a:solidFill>
                          <a:srgbClr val="FFFFFF"/>
                        </a:solidFill>
                        <a:effectLst/>
                        <a:latin typeface="Calibri" panose="020F0502020204030204" pitchFamily="34" charset="0"/>
                      </a:endParaRPr>
                    </a:p>
                  </a:txBody>
                  <a:tcPr marL="6350" marR="6350" marT="6350" marB="0" anchor="ctr"/>
                </a:tc>
                <a:tc>
                  <a:txBody>
                    <a:bodyPr/>
                    <a:lstStyle/>
                    <a:p>
                      <a:pPr algn="ctr" fontAlgn="ctr"/>
                      <a:r>
                        <a:rPr lang="en-CA" sz="1200" b="1" u="none" strike="noStrike">
                          <a:solidFill>
                            <a:srgbClr val="FFFFFF"/>
                          </a:solidFill>
                          <a:effectLst/>
                        </a:rPr>
                        <a:t>Resultados</a:t>
                      </a:r>
                      <a:endParaRPr lang="en-CA" sz="1200" b="1" i="0" u="none" strike="noStrike">
                        <a:solidFill>
                          <a:srgbClr val="FFFFFF"/>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3619134448"/>
                  </a:ext>
                </a:extLst>
              </a:tr>
              <a:tr h="1869166">
                <a:tc rowSpan="2">
                  <a:txBody>
                    <a:bodyPr/>
                    <a:lstStyle/>
                    <a:p>
                      <a:pPr algn="l" fontAlgn="ctr"/>
                      <a:r>
                        <a:rPr lang="en-US" sz="1200" b="1" u="sng" strike="noStrike" dirty="0">
                          <a:solidFill>
                            <a:srgbClr val="0563C1"/>
                          </a:solidFill>
                          <a:effectLst/>
                        </a:rPr>
                        <a:t>Teacher</a:t>
                      </a:r>
                      <a:r>
                        <a:rPr lang="en-US" sz="1200" b="1" u="none" strike="noStrike" dirty="0">
                          <a:solidFill>
                            <a:srgbClr val="000000"/>
                          </a:solidFill>
                          <a:effectLst/>
                        </a:rPr>
                        <a:t> </a:t>
                      </a:r>
                      <a:r>
                        <a:rPr lang="en-US" sz="1200" b="1" u="sng" strike="noStrike" kern="1200" dirty="0">
                          <a:solidFill>
                            <a:srgbClr val="0563C1"/>
                          </a:solidFill>
                          <a:effectLst/>
                        </a:rPr>
                        <a:t>Community Assistant Initiative, Ghana</a:t>
                      </a:r>
                      <a:br>
                        <a:rPr lang="en-US" sz="1200" b="1" u="none" strike="noStrike" dirty="0">
                          <a:solidFill>
                            <a:srgbClr val="000000"/>
                          </a:solidFill>
                          <a:effectLst/>
                        </a:rPr>
                      </a:br>
                      <a:r>
                        <a:rPr lang="en-US" sz="1200" b="1" u="sng" strike="noStrike" kern="1200" dirty="0">
                          <a:solidFill>
                            <a:srgbClr val="0563C1"/>
                          </a:solidFill>
                          <a:effectLst/>
                        </a:rPr>
                        <a:t>2012-2013</a:t>
                      </a:r>
                      <a:endParaRPr lang="en-US" sz="1200" b="1" i="0" u="sng" strike="noStrike" kern="1200" dirty="0">
                        <a:solidFill>
                          <a:srgbClr val="0563C1"/>
                        </a:solidFill>
                        <a:effectLst/>
                        <a:latin typeface="Calibri" panose="020F0502020204030204" pitchFamily="34" charset="0"/>
                        <a:ea typeface="+mn-ea"/>
                        <a:cs typeface="+mn-cs"/>
                      </a:endParaRPr>
                    </a:p>
                  </a:txBody>
                  <a:tcPr marL="6350" marR="6350" marT="6350" marB="0" anchor="ctr"/>
                </a:tc>
                <a:tc>
                  <a:txBody>
                    <a:bodyPr/>
                    <a:lstStyle/>
                    <a:p>
                      <a:pPr algn="l" fontAlgn="ctr"/>
                      <a:r>
                        <a:rPr lang="es-ES" sz="1200" b="0" u="none" strike="noStrike" dirty="0">
                          <a:solidFill>
                            <a:srgbClr val="000000"/>
                          </a:solidFill>
                          <a:effectLst/>
                        </a:rPr>
                        <a:t>Asistentes de la comunidad de maestros </a:t>
                      </a:r>
                      <a:endParaRPr lang="es-ES" sz="12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ctr"/>
                      <a:r>
                        <a:rPr lang="en-CA" sz="1200" b="0" u="none" strike="noStrike" dirty="0">
                          <a:solidFill>
                            <a:srgbClr val="000000"/>
                          </a:solidFill>
                          <a:effectLst/>
                        </a:rPr>
                        <a:t>2 </a:t>
                      </a:r>
                      <a:r>
                        <a:rPr lang="en-CA" sz="1200" b="0" u="none" strike="noStrike" dirty="0" err="1">
                          <a:solidFill>
                            <a:srgbClr val="000000"/>
                          </a:solidFill>
                          <a:effectLst/>
                        </a:rPr>
                        <a:t>años</a:t>
                      </a:r>
                      <a:r>
                        <a:rPr lang="en-CA" sz="1200" b="0" u="none" strike="noStrike" dirty="0">
                          <a:solidFill>
                            <a:srgbClr val="000000"/>
                          </a:solidFill>
                          <a:effectLst/>
                        </a:rPr>
                        <a:t> </a:t>
                      </a:r>
                      <a:r>
                        <a:rPr lang="en-CA" sz="1200" b="0" u="none" strike="noStrike" dirty="0" err="1">
                          <a:solidFill>
                            <a:srgbClr val="000000"/>
                          </a:solidFill>
                          <a:effectLst/>
                        </a:rPr>
                        <a:t>escolares</a:t>
                      </a:r>
                      <a:endParaRPr lang="en-CA" sz="12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l" fontAlgn="ctr"/>
                      <a:r>
                        <a:rPr lang="es-ES" sz="1200" b="0" u="none" strike="noStrike" dirty="0">
                          <a:solidFill>
                            <a:srgbClr val="000000"/>
                          </a:solidFill>
                          <a:effectLst/>
                        </a:rPr>
                        <a:t>Clases extraescolares dirigidas a niños con habilidades básicas más bajas; y clases de recuperación para niños con habilidades básicas inferiores durante la jornada escolar durante una hora.</a:t>
                      </a:r>
                      <a:endParaRPr lang="es-ES" sz="12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l" fontAlgn="ctr"/>
                      <a:r>
                        <a:rPr lang="es-ES" sz="1200" b="0" u="none" strike="noStrike">
                          <a:solidFill>
                            <a:srgbClr val="000000"/>
                          </a:solidFill>
                          <a:effectLst/>
                        </a:rPr>
                        <a:t>Dirigido a niños de grado 1 a 3 con niveles más bajos de habilidades básicas</a:t>
                      </a:r>
                      <a:br>
                        <a:rPr lang="es-ES" sz="1200" b="0" u="none" strike="noStrike">
                          <a:solidFill>
                            <a:srgbClr val="000000"/>
                          </a:solidFill>
                          <a:effectLst/>
                        </a:rPr>
                      </a:br>
                      <a:endParaRPr lang="es-ES" sz="1200" b="0" i="0" u="none" strike="noStrike">
                        <a:solidFill>
                          <a:srgbClr val="000000"/>
                        </a:solidFill>
                        <a:effectLst/>
                        <a:latin typeface="Calibri" panose="020F0502020204030204" pitchFamily="34" charset="0"/>
                      </a:endParaRPr>
                    </a:p>
                  </a:txBody>
                  <a:tcPr marL="6350" marR="6350" marT="6350" marB="0" anchor="ctr"/>
                </a:tc>
                <a:tc>
                  <a:txBody>
                    <a:bodyPr/>
                    <a:lstStyle/>
                    <a:p>
                      <a:pPr algn="l" fontAlgn="ctr"/>
                      <a:r>
                        <a:rPr lang="es-ES" sz="1200" b="0" u="none" strike="noStrike" dirty="0">
                          <a:solidFill>
                            <a:srgbClr val="000000"/>
                          </a:solidFill>
                          <a:effectLst/>
                        </a:rPr>
                        <a:t>El Programa Nacional de Empleo Juvenil (NYEP) proporcionó un marco existente a través del cual reclutar y financiar el equipo de TCA y fue apoyado por la Asociación Nacional de Maestros de Ghana (GNAT) en la contratación de TCA.</a:t>
                      </a:r>
                      <a:br>
                        <a:rPr lang="es-ES" sz="1200" b="0" u="none" strike="noStrike" dirty="0">
                          <a:solidFill>
                            <a:srgbClr val="000000"/>
                          </a:solidFill>
                          <a:effectLst/>
                        </a:rPr>
                      </a:br>
                      <a:endParaRPr lang="es-ES" sz="12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l" fontAlgn="ctr"/>
                      <a:r>
                        <a:rPr lang="es-ES" sz="1200" b="0" u="none" strike="noStrike" dirty="0">
                          <a:solidFill>
                            <a:srgbClr val="000000"/>
                          </a:solidFill>
                          <a:effectLst/>
                        </a:rPr>
                        <a:t>Las desviaciones estándar aumentan de 0,12 a 0,18 para los niños evaluados en el tercer y cuarto grado que estuvieron en el programa durante dos años o más</a:t>
                      </a:r>
                      <a:endParaRPr lang="es-ES" sz="12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4144432467"/>
                  </a:ext>
                </a:extLst>
              </a:tr>
              <a:tr h="2720478">
                <a:tc vMerge="1">
                  <a:txBody>
                    <a:bodyPr/>
                    <a:lstStyle/>
                    <a:p>
                      <a:endParaRPr lang="en-CA"/>
                    </a:p>
                  </a:txBody>
                  <a:tcPr/>
                </a:tc>
                <a:tc>
                  <a:txBody>
                    <a:bodyPr/>
                    <a:lstStyle/>
                    <a:p>
                      <a:pPr algn="l" fontAlgn="ctr"/>
                      <a:r>
                        <a:rPr lang="es-ES" sz="1200" b="0" u="none" strike="noStrike">
                          <a:solidFill>
                            <a:srgbClr val="000000"/>
                          </a:solidFill>
                          <a:effectLst/>
                        </a:rPr>
                        <a:t>Profesores contratados por el gobierno</a:t>
                      </a:r>
                      <a:endParaRPr lang="es-ES" sz="12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ctr"/>
                      <a:r>
                        <a:rPr lang="en-CA" sz="1200" b="0" u="none" strike="noStrike" dirty="0">
                          <a:solidFill>
                            <a:srgbClr val="000000"/>
                          </a:solidFill>
                          <a:effectLst/>
                        </a:rPr>
                        <a:t>2 </a:t>
                      </a:r>
                      <a:r>
                        <a:rPr lang="en-CA" sz="1200" b="0" u="none" strike="noStrike" dirty="0" err="1">
                          <a:solidFill>
                            <a:srgbClr val="000000"/>
                          </a:solidFill>
                          <a:effectLst/>
                        </a:rPr>
                        <a:t>años</a:t>
                      </a:r>
                      <a:r>
                        <a:rPr lang="en-CA" sz="1200" b="0" u="none" strike="noStrike" dirty="0">
                          <a:solidFill>
                            <a:srgbClr val="000000"/>
                          </a:solidFill>
                          <a:effectLst/>
                        </a:rPr>
                        <a:t> </a:t>
                      </a:r>
                      <a:r>
                        <a:rPr lang="en-CA" sz="1200" b="0" u="none" strike="noStrike" dirty="0" err="1">
                          <a:solidFill>
                            <a:srgbClr val="000000"/>
                          </a:solidFill>
                          <a:effectLst/>
                        </a:rPr>
                        <a:t>escolares</a:t>
                      </a:r>
                      <a:endParaRPr lang="en-CA" sz="12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ctr"/>
                      <a:r>
                        <a:rPr lang="en-CA" sz="1200" b="0" u="none" strike="noStrike" dirty="0">
                          <a:solidFill>
                            <a:srgbClr val="000000"/>
                          </a:solidFill>
                          <a:effectLst/>
                        </a:rPr>
                        <a:t>Durante </a:t>
                      </a:r>
                      <a:r>
                        <a:rPr lang="en-CA" sz="1200" b="0" u="none" strike="noStrike" dirty="0" err="1">
                          <a:solidFill>
                            <a:srgbClr val="000000"/>
                          </a:solidFill>
                          <a:effectLst/>
                        </a:rPr>
                        <a:t>horario</a:t>
                      </a:r>
                      <a:r>
                        <a:rPr lang="en-CA" sz="1200" b="0" u="none" strike="noStrike" dirty="0">
                          <a:solidFill>
                            <a:srgbClr val="000000"/>
                          </a:solidFill>
                          <a:effectLst/>
                        </a:rPr>
                        <a:t> escolar</a:t>
                      </a:r>
                      <a:endParaRPr lang="en-CA" sz="12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ctr"/>
                      <a:r>
                        <a:rPr lang="es-ES" sz="1200" b="0" u="none" strike="noStrike" dirty="0">
                          <a:solidFill>
                            <a:srgbClr val="000000"/>
                          </a:solidFill>
                          <a:effectLst/>
                        </a:rPr>
                        <a:t>Todos los niños en los grados 1 a 3</a:t>
                      </a:r>
                      <a:endParaRPr lang="es-ES" sz="12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l" fontAlgn="ctr"/>
                      <a:r>
                        <a:rPr lang="es-ES" sz="1200" b="0" u="none" strike="noStrike">
                          <a:solidFill>
                            <a:srgbClr val="000000"/>
                          </a:solidFill>
                          <a:effectLst/>
                        </a:rPr>
                        <a:t>Los maestros recibieron capacitación y materiales para orientar las lecciones a los niveles de aprendizaje de los niños en sus clases. Sin embargo, la estructura de supervisión del gobierno no se modificó para ayudar a los maestros a adoptar este nuevo enfoque y los maestros tendieron a implementar la intervención de manera inconsistente. Los investigadores notaron que un sistema de seguimiento y tutoría más sólido podría ayudar a los maestros a implementar la intervención de manera completa y consistente.</a:t>
                      </a:r>
                      <a:endParaRPr lang="es-ES" sz="1200" b="0" i="0" u="none" strike="noStrike">
                        <a:solidFill>
                          <a:srgbClr val="000000"/>
                        </a:solidFill>
                        <a:effectLst/>
                        <a:latin typeface="Calibri" panose="020F0502020204030204" pitchFamily="34" charset="0"/>
                      </a:endParaRPr>
                    </a:p>
                  </a:txBody>
                  <a:tcPr marL="6350" marR="6350" marT="6350" marB="0" anchor="ctr"/>
                </a:tc>
                <a:tc>
                  <a:txBody>
                    <a:bodyPr/>
                    <a:lstStyle/>
                    <a:p>
                      <a:pPr algn="l" fontAlgn="ctr"/>
                      <a:br>
                        <a:rPr lang="es-ES" sz="1200" b="0" u="none" strike="noStrike" dirty="0">
                          <a:solidFill>
                            <a:srgbClr val="000000"/>
                          </a:solidFill>
                          <a:effectLst/>
                        </a:rPr>
                      </a:br>
                      <a:r>
                        <a:rPr lang="es-ES" sz="1200" b="0" u="none" strike="noStrike" dirty="0">
                          <a:solidFill>
                            <a:srgbClr val="000000"/>
                          </a:solidFill>
                          <a:effectLst/>
                        </a:rPr>
                        <a:t>Aumento de 0.08 a 0.17 desviaciones estándar para los niños evaluados en los grados 3 y 4 que habían estado en el programa durante dos años o más</a:t>
                      </a:r>
                      <a:br>
                        <a:rPr lang="es-ES" sz="1200" b="0" u="none" strike="noStrike" dirty="0">
                          <a:solidFill>
                            <a:srgbClr val="000000"/>
                          </a:solidFill>
                          <a:effectLst/>
                        </a:rPr>
                      </a:br>
                      <a:endParaRPr lang="es-ES" sz="12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1750373230"/>
                  </a:ext>
                </a:extLst>
              </a:tr>
            </a:tbl>
          </a:graphicData>
        </a:graphic>
      </p:graphicFrame>
    </p:spTree>
    <p:extLst>
      <p:ext uri="{BB962C8B-B14F-4D97-AF65-F5344CB8AC3E}">
        <p14:creationId xmlns:p14="http://schemas.microsoft.com/office/powerpoint/2010/main" val="90996791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385849806"/>
      </p:ext>
    </p:extLst>
  </p:cSld>
  <p:clrMapOvr>
    <a:masterClrMapping/>
  </p:clrMapOvr>
</p:sld>
</file>

<file path=ppt/theme/theme1.xml><?xml version="1.0" encoding="utf-8"?>
<a:theme xmlns:a="http://schemas.openxmlformats.org/drawingml/2006/main" name="Contenido titulo separado">
  <a:themeElements>
    <a:clrScheme name="COLORR">
      <a:dk1>
        <a:srgbClr val="000000"/>
      </a:dk1>
      <a:lt1>
        <a:srgbClr val="FFFFFF"/>
      </a:lt1>
      <a:dk2>
        <a:srgbClr val="324B6E"/>
      </a:dk2>
      <a:lt2>
        <a:srgbClr val="EBECEE"/>
      </a:lt2>
      <a:accent1>
        <a:srgbClr val="AF0D15"/>
      </a:accent1>
      <a:accent2>
        <a:srgbClr val="E62949"/>
      </a:accent2>
      <a:accent3>
        <a:srgbClr val="F07624"/>
      </a:accent3>
      <a:accent4>
        <a:srgbClr val="F4BD2D"/>
      </a:accent4>
      <a:accent5>
        <a:srgbClr val="1ED4DE"/>
      </a:accent5>
      <a:accent6>
        <a:srgbClr val="1C7DE1"/>
      </a:accent6>
      <a:hlink>
        <a:srgbClr val="44546A"/>
      </a:hlink>
      <a:folHlink>
        <a:srgbClr val="8496B0"/>
      </a:folHlink>
    </a:clrScheme>
    <a:fontScheme name="Arial Minedu">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Custom 1">
    <a:dk1>
      <a:srgbClr val="000000"/>
    </a:dk1>
    <a:lt1>
      <a:sysClr val="window" lastClr="FFFFFF"/>
    </a:lt1>
    <a:dk2>
      <a:srgbClr val="5E5E5E"/>
    </a:dk2>
    <a:lt2>
      <a:srgbClr val="DDDDDD"/>
    </a:lt2>
    <a:accent1>
      <a:srgbClr val="418AB3"/>
    </a:accent1>
    <a:accent2>
      <a:srgbClr val="9E9E9E"/>
    </a:accent2>
    <a:accent3>
      <a:srgbClr val="F69200"/>
    </a:accent3>
    <a:accent4>
      <a:srgbClr val="838383"/>
    </a:accent4>
    <a:accent5>
      <a:srgbClr val="FEC306"/>
    </a:accent5>
    <a:accent6>
      <a:srgbClr val="DF5327"/>
    </a:accent6>
    <a:hlink>
      <a:srgbClr val="F59E00"/>
    </a:hlink>
    <a:folHlink>
      <a:srgbClr val="B2B2B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otalTime>4051</TotalTime>
  <Words>6602</Words>
  <Application>Microsoft Macintosh PowerPoint</Application>
  <PresentationFormat>Widescreen</PresentationFormat>
  <Paragraphs>1152</Paragraphs>
  <Slides>58</Slides>
  <Notes>1</Notes>
  <HiddenSlides>0</HiddenSlides>
  <MMClips>0</MMClips>
  <ScaleCrop>false</ScaleCrop>
  <HeadingPairs>
    <vt:vector size="8" baseType="variant">
      <vt:variant>
        <vt:lpstr>Fonts Used</vt:lpstr>
      </vt:variant>
      <vt:variant>
        <vt:i4>12</vt:i4>
      </vt:variant>
      <vt:variant>
        <vt:lpstr>Theme</vt:lpstr>
      </vt:variant>
      <vt:variant>
        <vt:i4>1</vt:i4>
      </vt:variant>
      <vt:variant>
        <vt:lpstr>Embedded OLE Servers</vt:lpstr>
      </vt:variant>
      <vt:variant>
        <vt:i4>1</vt:i4>
      </vt:variant>
      <vt:variant>
        <vt:lpstr>Slide Titles</vt:lpstr>
      </vt:variant>
      <vt:variant>
        <vt:i4>58</vt:i4>
      </vt:variant>
    </vt:vector>
  </HeadingPairs>
  <TitlesOfParts>
    <vt:vector size="72" baseType="lpstr">
      <vt:lpstr>Arial Unicode MS</vt:lpstr>
      <vt:lpstr>Arial</vt:lpstr>
      <vt:lpstr>Arial Narrow</vt:lpstr>
      <vt:lpstr>Calibri</vt:lpstr>
      <vt:lpstr>Calibri Light</vt:lpstr>
      <vt:lpstr>Cambria Math</vt:lpstr>
      <vt:lpstr>Leelawadee</vt:lpstr>
      <vt:lpstr>LeMondeLivreStd-Bold</vt:lpstr>
      <vt:lpstr>LeMondeLivreStd-Regular</vt:lpstr>
      <vt:lpstr>Stag Book</vt:lpstr>
      <vt:lpstr>Times New Roman</vt:lpstr>
      <vt:lpstr>Wingdings</vt:lpstr>
      <vt:lpstr>Contenido titulo separado</vt:lpstr>
      <vt:lpstr>Worksheet</vt:lpstr>
      <vt:lpstr>PowerPoint Presentation</vt:lpstr>
      <vt:lpstr>AGENDA</vt:lpstr>
      <vt:lpstr>1. Parte I:  ¿Por qué es importante implementar un plan de Educación Remedial en el 2022?</vt:lpstr>
      <vt:lpstr>1. Parte I:  ¿Por qué es importante implementar un plan de Educación Remedial en el 2022?</vt:lpstr>
      <vt:lpstr>1. Parte I:  ¿Por qué es importante implementar un plan de Educación Remedial en el 2022?</vt:lpstr>
      <vt:lpstr>1. Parte I:  ¿Por qué es importante implementar un plan de Educación Remedial en el 2022?</vt:lpstr>
      <vt:lpstr>1. Parte I:  ¿Por qué es importante implementar un plan de Educación Remedial en el 2022?</vt:lpstr>
      <vt:lpstr>AGENDA</vt:lpstr>
      <vt:lpstr>AGENDA</vt:lpstr>
      <vt:lpstr>PowerPoint Presentation</vt:lpstr>
      <vt:lpstr>PowerPoint Presentation</vt:lpstr>
      <vt:lpstr>AGENDA</vt:lpstr>
      <vt:lpstr>Antecedentes</vt:lpstr>
      <vt:lpstr>AGENDA</vt:lpstr>
      <vt:lpstr>El Modelo “Teaching at the Right Level”</vt:lpstr>
      <vt:lpstr>El Modelo “Teaching at the Right Level”</vt:lpstr>
      <vt:lpstr>AGENDA</vt:lpstr>
      <vt:lpstr>Componentes de la estrategia</vt:lpstr>
      <vt:lpstr>Equipos de Implementación</vt:lpstr>
      <vt:lpstr>Evaluación de Estudiantes</vt:lpstr>
      <vt:lpstr>Metodología en clase</vt:lpstr>
      <vt:lpstr>Monitoreo</vt:lpstr>
      <vt:lpstr>AGENDA</vt:lpstr>
      <vt:lpstr>Focalización de IIEE y priorización</vt:lpstr>
      <vt:lpstr>PowerPoint Presentation</vt:lpstr>
      <vt:lpstr>AGENDA</vt:lpstr>
      <vt:lpstr>Meta de cobertura TaRL 2022 - 2024</vt:lpstr>
      <vt:lpstr>AGENDA</vt:lpstr>
      <vt:lpstr>Estimación de costos 2022</vt:lpstr>
      <vt:lpstr>Estimación de costos 2023 - 2024</vt:lpstr>
      <vt:lpstr>AGENDA</vt:lpstr>
      <vt:lpstr>Fases de la estrategia y cronología  (2021 – 2022)</vt:lpstr>
      <vt:lpstr>AGENDA</vt:lpstr>
      <vt:lpstr>Alcance de atención: Complementariedad de la estrategia remedial con otras estrategias de refuerzo en el 2022 - PRIMARIA</vt:lpstr>
      <vt:lpstr>Recomendaciones</vt:lpstr>
      <vt:lpstr>AGENDA</vt:lpstr>
      <vt:lpstr>Antecedentes</vt:lpstr>
      <vt:lpstr>AGENDA</vt:lpstr>
      <vt:lpstr>Oportunidades</vt:lpstr>
      <vt:lpstr>AGENDA</vt:lpstr>
      <vt:lpstr>El Modelo</vt:lpstr>
      <vt:lpstr>AGENDA</vt:lpstr>
      <vt:lpstr>Componentes de la estrategia</vt:lpstr>
      <vt:lpstr>AGENDA</vt:lpstr>
      <vt:lpstr>Focalización de IIEE y priorización</vt:lpstr>
      <vt:lpstr>PowerPoint Presentation</vt:lpstr>
      <vt:lpstr>AGENDA</vt:lpstr>
      <vt:lpstr>Cobertura de la estrategia 2022:</vt:lpstr>
      <vt:lpstr>AGENDA</vt:lpstr>
      <vt:lpstr>Estimación de costos 2022</vt:lpstr>
      <vt:lpstr>AGENDA</vt:lpstr>
      <vt:lpstr>Fases de la estrategia y cronología  (2021 – 2022)</vt:lpstr>
      <vt:lpstr>AGENDA</vt:lpstr>
      <vt:lpstr>Recomendaciones</vt:lpstr>
      <vt:lpstr>PowerPoint Presentation</vt:lpstr>
      <vt:lpstr>ANEXO I: Evidencia sobre TaRL</vt:lpstr>
      <vt:lpstr>ANEXO I: Evidencia sobre TaRL</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Lucia Carrillo</dc:creator>
  <cp:lastModifiedBy>Brandon Mora</cp:lastModifiedBy>
  <cp:revision>154</cp:revision>
  <dcterms:created xsi:type="dcterms:W3CDTF">2021-07-08T01:40:07Z</dcterms:created>
  <dcterms:modified xsi:type="dcterms:W3CDTF">2021-07-21T02:48:50Z</dcterms:modified>
</cp:coreProperties>
</file>